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2"/>
            <c:spPr>
              <a:solidFill>
                <a:srgbClr val="F2A900"/>
              </a:solidFill>
            </c:spPr>
          </c:dPt>
          <c:cat>
            <c:strRef>
              <c:f>Sheet1!$A$2:$A$4</c:f>
              <c:strCache>
                <c:ptCount val="3"/>
                <c:pt idx="0">
                  <c:v>2025</c:v>
                </c:pt>
                <c:pt idx="1">
                  <c:v>2026</c:v>
                </c:pt>
                <c:pt idx="2">
                  <c:v>2031 (forecast)</c:v>
                </c:pt>
              </c:strCache>
            </c:strRef>
          </c:cat>
          <c:val>
            <c:numRef>
              <c:f>Sheet1!$B$2:$B$4</c:f>
              <c:numCache>
                <c:formatCode>#,##0</c:formatCode>
                <c:ptCount val="3"/>
                <c:pt idx="0">
                  <c:v>230.03</c:v>
                </c:pt>
                <c:pt idx="1">
                  <c:v>253.77</c:v>
                </c:pt>
                <c:pt idx="2">
                  <c:v>414.92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Sheet1!$A$2:$A$6</c:f>
              <c:strCache>
                <c:ptCount val="5"/>
                <c:pt idx="0">
                  <c:v>Cybersecurity</c:v>
                </c:pt>
                <c:pt idx="1">
                  <c:v>Digital Marketing</c:v>
                </c:pt>
                <c:pt idx="2">
                  <c:v>Data Analytics</c:v>
                </c:pt>
                <c:pt idx="3">
                  <c:v>GenAI &amp; Prompt Engineering</c:v>
                </c:pt>
                <c:pt idx="4">
                  <c:v>Web Development</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Sheet1!$A$2:$A$4</c:f>
              <c:strCache>
                <c:ptCount val="3"/>
                <c:pt idx="0">
                  <c:v>Facebook</c:v>
                </c:pt>
                <c:pt idx="1">
                  <c:v>LinkedIn</c:v>
                </c:pt>
                <c:pt idx="2">
                  <c:v>Instagram</c:v>
                </c:pt>
              </c:strCache>
            </c:strRef>
          </c:cat>
          <c:val>
            <c:numRef>
              <c:f>Sheet1!$B$2:$B$4</c:f>
              <c:numCache>
                <c:formatCode>0.0</c:formatCode>
                <c:ptCount val="3"/>
                <c:pt idx="0">
                  <c:v>42.1</c:v>
                </c:pt>
                <c:pt idx="1">
                  <c:v>14.0</c:v>
                </c:pt>
                <c:pt idx="2">
                  <c:v>9.6</c:v>
                </c:pt>
              </c:numCache>
            </c:numRef>
          </c:val>
        </c:ser>
        <c:dLbls>
          <c:numFmt formatCode="0.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dPt>
            <c:idx val="1"/>
            <c:spPr>
              <a:solidFill>
                <a:srgbClr val="F2A900"/>
              </a:solidFill>
            </c:spPr>
          </c:dPt>
          <c:cat>
            <c:strRef>
              <c:f>Sheet1!$A$2:$A$8</c:f>
              <c:strCache>
                <c:ptCount val="7"/>
                <c:pt idx="0">
                  <c:v>Affordable courses with live support</c:v>
                </c:pt>
                <c:pt idx="1">
                  <c:v>Hands-on practice</c:v>
                </c:pt>
                <c:pt idx="2">
                  <c:v>A route from course to job</c:v>
                </c:pt>
                <c:pt idx="3">
                  <c:v>Reliable support</c:v>
                </c:pt>
                <c:pt idx="4">
                  <c:v>Clear prices online</c:v>
                </c:pt>
                <c:pt idx="5">
                  <c:v>Up-to-date, local content</c:v>
                </c:pt>
                <c:pt idx="6">
                  <c:v>Trusted local providers</c:v>
                </c:pt>
              </c:strCache>
            </c:strRef>
          </c:cat>
          <c:val>
            <c:numRef>
              <c:f>Sheet1!$B$2:$B$8</c:f>
              <c:numCache>
                <c:formatCode>0</c:formatCode>
                <c:ptCount val="7"/>
                <c:pt idx="0">
                  <c:v>25</c:v>
                </c:pt>
                <c:pt idx="1">
                  <c:v>25</c:v>
                </c:pt>
                <c:pt idx="2">
                  <c:v>20</c:v>
                </c:pt>
                <c:pt idx="3">
                  <c:v>20</c:v>
                </c:pt>
                <c:pt idx="4">
                  <c:v>16</c:v>
                </c:pt>
                <c:pt idx="5">
                  <c:v>15</c:v>
                </c:pt>
                <c:pt idx="6">
                  <c:v>12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capstone project is customer research for CyberStart, a beginner cybersecurity course from SkillUp Academy. I used Google Search, Google Trends, social media trends, competitor reviews and marketplace reviews to find the gaps and opportunities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is a digital-skills training business. Its product, CyberStart, is a 12-week course for beginners, taught online with weekend labs in Lagos and Abuja, that prepares people for a first certificate and a first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beginner cybersecurity training in Nigeria. The customers are young people who want a cybersecurity job, and the employers who pay to train their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Nigeria's cybersecurity market was worth about 230 million US dollars in 2025 and is forecast to reach about 415 million by 2031, about 10 percent a year. Attacks are rising, but the country has very few trained experts.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five methods: Google Search, Google Trends, social media trends, competitor reviews and marketplace reviews on Udemy and Coursera.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searched for course fees, free training, how to start a career, and jobs. Naira prices are hard to find and vary a lot, free programmes fill fast, and every guide tells beginners to practise in labs and get a first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is the most searched digital skill in Nigeria, with an average of about 43. It reached 100 in April 2026 when the CAC confirmed a cyber breach, and it led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Facebook is the biggest platform in Nigeria, LinkedIn reaches professionals and employers, and cybersecurity content is popular on Instagram and TikTok. Learners also complain in public on X, so service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rated rivals score well, but learners complain about slow support, billing problems, missing lectures and weak grading. Free programmes are very hard to get into, and classroom providers have almost no reviews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online courses average 4.7 stars and have over 2.2 million learners between them, so demand is real. Their low reviews complain about outdated content, too much theory and weak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research together, I found seven gaps. The biggest are affordable courses with live support and hands-on practice, then a route from course to job and reliable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gap for how much customers want it and how well it fits SkillUp Academy. Affordable courses with live support and hands-on practice score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growing, experts are scarce, attacks are rising, employers in banking pay for training, interest is nationwide, and the free ISC2 exam offer has ended, so learners need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CyberStart answers each gap: weekly labs, a fair price in parts, published online, fast support and job help. In year one I estimate 375 learners.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market is growing and customers are searching, but today's options leave clear gaps. CyberStart can win by filling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5400" b="0">
                <a:solidFill>
                  <a:srgbClr val="FFFFFF"/>
                </a:solidFill>
                <a:latin typeface="Calibri Light"/>
              </a:rPr>
              <a:t>Capstone Project</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Market gaps and opportunities for CyberStart, a beginner cybersecurity course</a:t>
            </a:r>
          </a:p>
          <a:p>
            <a:pPr algn="l">
              <a:spcAft>
                <a:spcPts val="800"/>
              </a:spcAft>
            </a:pPr>
            <a:r>
              <a:rPr sz="1600" b="0">
                <a:solidFill>
                  <a:srgbClr val="D6D6D6"/>
                </a:solidFill>
                <a:latin typeface="Calibri"/>
              </a:rPr>
              <a:t>SkillUp Academy  ·  Market Research Lab</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Business and Product</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200" b="1">
                <a:solidFill>
                  <a:srgbClr val="8A6100"/>
                </a:solidFill>
                <a:latin typeface="Calibri"/>
              </a:rPr>
              <a:t>Business: </a:t>
            </a:r>
            <a:r>
              <a:rPr sz="2200" b="0">
                <a:solidFill>
                  <a:srgbClr val="202124"/>
                </a:solidFill>
                <a:latin typeface="Calibri"/>
              </a:rPr>
              <a:t>SkillUp Academy, a new digital-skills training business in Nigeria.</a:t>
            </a:r>
          </a:p>
          <a:p>
            <a:pPr>
              <a:spcAft>
                <a:spcPts val="1000"/>
              </a:spcAft>
              <a:buClr>
                <a:srgbClr val="F2A900"/>
              </a:buClr>
            </a:pPr>
            <a:r>
              <a:rPr sz="2200" b="1">
                <a:solidFill>
                  <a:srgbClr val="8A6100"/>
                </a:solidFill>
                <a:latin typeface="Calibri"/>
              </a:rPr>
              <a:t>Product: </a:t>
            </a:r>
            <a:r>
              <a:rPr sz="2200" b="0">
                <a:solidFill>
                  <a:srgbClr val="202124"/>
                </a:solidFill>
                <a:latin typeface="Calibri"/>
              </a:rPr>
              <a:t>CyberStart, a 12-week beginner cybersecurity course in Nigeria, for people with no IT background.</a:t>
            </a:r>
          </a:p>
          <a:p>
            <a:pPr>
              <a:spcAft>
                <a:spcPts val="1000"/>
              </a:spcAft>
              <a:buClr>
                <a:srgbClr val="F2A900"/>
              </a:buClr>
            </a:pPr>
            <a:r>
              <a:rPr sz="2200" b="1">
                <a:solidFill>
                  <a:srgbClr val="8A6100"/>
                </a:solidFill>
                <a:latin typeface="Calibri"/>
              </a:rPr>
              <a:t>How it runs: </a:t>
            </a:r>
            <a:r>
              <a:rPr sz="2200" b="0">
                <a:solidFill>
                  <a:srgbClr val="202124"/>
                </a:solidFill>
                <a:latin typeface="Calibri"/>
              </a:rPr>
              <a:t>Live online classes, plus weekend practical labs in Lagos and Abuja.</a:t>
            </a:r>
          </a:p>
          <a:p>
            <a:pPr>
              <a:spcAft>
                <a:spcPts val="1000"/>
              </a:spcAft>
              <a:buClr>
                <a:srgbClr val="F2A900"/>
              </a:buClr>
            </a:pPr>
            <a:r>
              <a:rPr sz="2200" b="1">
                <a:solidFill>
                  <a:srgbClr val="8A6100"/>
                </a:solidFill>
                <a:latin typeface="Calibri"/>
              </a:rPr>
              <a:t>Outcome: </a:t>
            </a:r>
            <a:r>
              <a:rPr sz="2200" b="0">
                <a:solidFill>
                  <a:srgbClr val="202124"/>
                </a:solidFill>
                <a:latin typeface="Calibri"/>
              </a:rPr>
              <a:t>Ready for a first certificate (ISC2 CC or CompTIA Security+) and a first job.</a:t>
            </a:r>
          </a:p>
          <a:p>
            <a:pPr>
              <a:spcAft>
                <a:spcPts val="1000"/>
              </a:spcAft>
              <a:buClr>
                <a:srgbClr val="F2A900"/>
              </a:buClr>
            </a:pPr>
            <a:r>
              <a:rPr sz="2200" b="1">
                <a:solidFill>
                  <a:srgbClr val="8A6100"/>
                </a:solidFill>
                <a:latin typeface="Calibri"/>
              </a:rPr>
              <a:t>Proposed price: </a:t>
            </a:r>
            <a:r>
              <a:rPr sz="2200" b="0">
                <a:solidFill>
                  <a:srgbClr val="202124"/>
                </a:solidFill>
                <a:latin typeface="Calibri"/>
              </a:rPr>
              <a:t>₦150,000, paid in 3 parts of ₦50,000.</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I plan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2</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Defining the Market</a:t>
            </a:r>
          </a:p>
        </p:txBody>
      </p:sp>
      <p:graphicFrame>
        <p:nvGraphicFramePr>
          <p:cNvPr id="3" name="Content Placeholder 2"/>
          <p:cNvGraphicFramePr>
            <a:graphicFrameLocks noGrp="1"/>
          </p:cNvGraphicFramePr>
          <p:nvPr>
            <p:ph idx="1"/>
          </p:nvPr>
        </p:nvGraphicFramePr>
        <p:xfrm>
          <a:off x="701040" y="1965960"/>
          <a:ext cx="10789920" cy="3794760"/>
        </p:xfrm>
        <a:graphic>
          <a:graphicData uri="http://schemas.openxmlformats.org/drawingml/2006/table">
            <a:tbl>
              <a:tblPr firstRow="1">
                <a:tableStyleId>{5940675A-B579-460E-94D1-54222C63F5DA}</a:tableStyleId>
              </a:tblPr>
              <a:tblGrid>
                <a:gridCol w="2377440"/>
                <a:gridCol w="8412480"/>
              </a:tblGrid>
              <a:tr h="502920">
                <a:tc>
                  <a:txBody>
                    <a:bodyPr/>
                    <a:lstStyle/>
                    <a:p>
                      <a:pPr algn="l"/>
                      <a:r>
                        <a:rPr sz="1800" b="1">
                          <a:solidFill>
                            <a:srgbClr val="FFFFFF"/>
                          </a:solidFill>
                          <a:latin typeface="Calibri"/>
                        </a:rPr>
                        <a:t>Part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Our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58368">
                <a:tc>
                  <a:txBody>
                    <a:bodyPr/>
                    <a:lstStyle/>
                    <a:p>
                      <a:pPr algn="l"/>
                      <a:r>
                        <a:rPr sz="1800" b="1">
                          <a:solidFill>
                            <a:srgbClr val="202124"/>
                          </a:solidFill>
                          <a:latin typeface="Calibri"/>
                        </a:rPr>
                        <a:t>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Beginner cybersecurity training (education services)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Students, graduates and career changers aged about 18 to 35; employers who sponsor staff</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Location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Nigeria: online nationwide, with labs in Lagos and Abuja, where most jobs are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 need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A low-cost, practical route into a well-paid cybersecurity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Competition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tech schools, free programmes, course marketplaces and classroom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Who the customers are, where they are and what they need</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Market in Numbers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Nigeria's cybersecurity market, US$ million (Mordor Intelligence)</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4</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Growing: </a:t>
            </a:r>
            <a:r>
              <a:rPr sz="1600" b="0">
                <a:solidFill>
                  <a:srgbClr val="202124"/>
                </a:solidFill>
                <a:latin typeface="Calibri"/>
              </a:rPr>
              <a:t>about 10% a year to 2031.</a:t>
            </a:r>
          </a:p>
          <a:p>
            <a:pPr>
              <a:spcAft>
                <a:spcPts val="1200"/>
              </a:spcAft>
            </a:pPr>
            <a:r>
              <a:rPr sz="1600" b="1">
                <a:solidFill>
                  <a:srgbClr val="202124"/>
                </a:solidFill>
                <a:latin typeface="Calibri"/>
              </a:rPr>
              <a:t>Few experts: </a:t>
            </a:r>
            <a:r>
              <a:rPr sz="1600" b="0">
                <a:solidFill>
                  <a:srgbClr val="202124"/>
                </a:solidFill>
                <a:latin typeface="Calibri"/>
              </a:rPr>
              <a:t>8,352 in Nigeria (2023), 7 times fewer than South Africa.</a:t>
            </a:r>
          </a:p>
          <a:p>
            <a:pPr>
              <a:spcAft>
                <a:spcPts val="1200"/>
              </a:spcAft>
            </a:pPr>
            <a:r>
              <a:rPr sz="1600" b="1">
                <a:solidFill>
                  <a:srgbClr val="202124"/>
                </a:solidFill>
                <a:latin typeface="Calibri"/>
              </a:rPr>
              <a:t>More attacks: </a:t>
            </a:r>
            <a:r>
              <a:rPr sz="1600" b="0">
                <a:solidFill>
                  <a:srgbClr val="202124"/>
                </a:solidFill>
                <a:latin typeface="Calibri"/>
              </a:rPr>
              <a:t>4,388 a week on each organisation in early 2025, up 47%.</a:t>
            </a:r>
          </a:p>
          <a:p>
            <a:pPr>
              <a:spcAft>
                <a:spcPts val="1200"/>
              </a:spcAft>
            </a:pPr>
            <a:r>
              <a:rPr sz="1600" b="1">
                <a:solidFill>
                  <a:srgbClr val="202124"/>
                </a:solidFill>
                <a:latin typeface="Calibri"/>
              </a:rPr>
              <a:t>Online: </a:t>
            </a:r>
            <a:r>
              <a:rPr sz="1600" b="0">
                <a:solidFill>
                  <a:srgbClr val="202124"/>
                </a:solidFill>
                <a:latin typeface="Calibri"/>
              </a:rPr>
              <a:t>109 million Nigerians use the internet.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Customer Research Methods</a:t>
            </a:r>
          </a:p>
        </p:txBody>
      </p:sp>
      <p:graphicFrame>
        <p:nvGraphicFramePr>
          <p:cNvPr id="3" name="Content Placeholder 2"/>
          <p:cNvGraphicFramePr>
            <a:graphicFrameLocks noGrp="1"/>
          </p:cNvGraphicFramePr>
          <p:nvPr>
            <p:ph idx="1"/>
          </p:nvPr>
        </p:nvGraphicFramePr>
        <p:xfrm>
          <a:off x="701040" y="1965960"/>
          <a:ext cx="10789920" cy="4023360"/>
        </p:xfrm>
        <a:graphic>
          <a:graphicData uri="http://schemas.openxmlformats.org/drawingml/2006/table">
            <a:tbl>
              <a:tblPr firstRow="1">
                <a:tableStyleId>{5940675A-B579-460E-94D1-54222C63F5DA}</a:tableStyleId>
              </a:tblPr>
              <a:tblGrid>
                <a:gridCol w="2468880"/>
                <a:gridCol w="4297680"/>
                <a:gridCol w="4023360"/>
              </a:tblGrid>
              <a:tr h="457200">
                <a:tc>
                  <a:txBody>
                    <a:bodyPr/>
                    <a:lstStyle/>
                    <a:p>
                      <a:pPr algn="l"/>
                      <a:r>
                        <a:rPr sz="1500" b="1">
                          <a:solidFill>
                            <a:srgbClr val="FFFFFF"/>
                          </a:solidFill>
                          <a:latin typeface="Calibri"/>
                        </a:rPr>
                        <a:t>Method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Where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What I looked for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500" b="1">
                          <a:solidFill>
                            <a:srgbClr val="202124"/>
                          </a:solidFill>
                          <a:latin typeface="Calibri"/>
                        </a:rPr>
                        <a:t>Google Search</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Search results for five searches a customer would make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Prices, free options, the steps beginners are told to take, jobs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Google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Five digital skills compared, Nigeria, past 12 months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How much interest, when it peaked, where, and the rising searches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Social media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Facebook, Instagram, LinkedIn, TikTok and 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Where the audience is, and how people talk about cybersecurity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Competitor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Trustpilot and news about ALX Africa, AltSchool Africa, TryHackMe and others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What learners like and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Marketplace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Udemy and Coursera cybersecurity courses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Ratings, number of learners, praise and complaints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Five ways I studied the customers and the competition</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5</a:t>
            </a:r>
          </a:p>
        </p:txBody>
      </p:sp>
      <p:sp>
        <p:nvSpPr>
          <p:cNvPr id="9" name="TextBox 8"/>
          <p:cNvSpPr txBox="1"/>
          <p:nvPr/>
        </p:nvSpPr>
        <p:spPr>
          <a:xfrm>
            <a:off x="640080" y="6099048"/>
            <a:ext cx="10911840" cy="365760"/>
          </a:xfrm>
          <a:prstGeom prst="rect">
            <a:avLst/>
          </a:prstGeom>
          <a:noFill/>
        </p:spPr>
        <p:txBody>
          <a:bodyPr wrap="square">
            <a:spAutoFit/>
          </a:bodyPr>
          <a:lstStyle/>
          <a:p>
            <a:r>
              <a:rPr sz="1400" b="0">
                <a:solidFill>
                  <a:srgbClr val="57575A"/>
                </a:solidFill>
                <a:latin typeface="Calibri"/>
              </a:rPr>
              <a:t>Web research done on 8 and 9 October 2026; Google Trends screenshots of 28 September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Search</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Prices are hard to find: </a:t>
            </a:r>
            <a:r>
              <a:rPr sz="2000" b="0">
                <a:solidFill>
                  <a:srgbClr val="202124"/>
                </a:solidFill>
                <a:latin typeface="Calibri"/>
              </a:rPr>
              <a:t>few results show a naira price.</a:t>
            </a:r>
          </a:p>
          <a:p>
            <a:pPr>
              <a:spcAft>
                <a:spcPts val="1000"/>
              </a:spcAft>
              <a:buClr>
                <a:srgbClr val="F2A900"/>
              </a:buClr>
            </a:pPr>
            <a:r>
              <a:rPr sz="2000" b="1">
                <a:solidFill>
                  <a:srgbClr val="8A6100"/>
                </a:solidFill>
                <a:latin typeface="Calibri"/>
              </a:rPr>
              <a:t>Prices vary widely: </a:t>
            </a:r>
            <a:r>
              <a:rPr sz="2000" b="0">
                <a:solidFill>
                  <a:srgbClr val="202124"/>
                </a:solidFill>
                <a:latin typeface="Calibri"/>
              </a:rPr>
              <a:t>₦100,000 to start a 12-week course; ₦250,000 for 5 days in a Lagos classroom; US$1,000 or more for a bootcamp track.</a:t>
            </a:r>
          </a:p>
          <a:p>
            <a:pPr>
              <a:spcAft>
                <a:spcPts val="1000"/>
              </a:spcAft>
              <a:buClr>
                <a:srgbClr val="F2A900"/>
              </a:buClr>
            </a:pPr>
            <a:r>
              <a:rPr sz="2000" b="1">
                <a:solidFill>
                  <a:srgbClr val="8A6100"/>
                </a:solidFill>
                <a:latin typeface="Calibri"/>
              </a:rPr>
              <a:t>Free options: </a:t>
            </a:r>
            <a:r>
              <a:rPr sz="2000" b="0">
                <a:solidFill>
                  <a:srgbClr val="202124"/>
                </a:solidFill>
                <a:latin typeface="Calibri"/>
              </a:rPr>
              <a:t>NITDA, Cisco and CyberGirls run free training, but places are few and close fast.</a:t>
            </a:r>
          </a:p>
          <a:p>
            <a:pPr>
              <a:spcAft>
                <a:spcPts val="1000"/>
              </a:spcAft>
              <a:buClr>
                <a:srgbClr val="F2A900"/>
              </a:buClr>
            </a:pPr>
            <a:r>
              <a:rPr sz="2000" b="1">
                <a:solidFill>
                  <a:srgbClr val="8A6100"/>
                </a:solidFill>
                <a:latin typeface="Calibri"/>
              </a:rPr>
              <a:t>Beginner guides agree: </a:t>
            </a:r>
            <a:r>
              <a:rPr sz="2000" b="0">
                <a:solidFill>
                  <a:srgbClr val="202124"/>
                </a:solidFill>
                <a:latin typeface="Calibri"/>
              </a:rPr>
              <a:t>get Security+ first, practise in labs, build a portfolio.</a:t>
            </a:r>
          </a:p>
          <a:p>
            <a:pPr>
              <a:spcAft>
                <a:spcPts val="1000"/>
              </a:spcAft>
              <a:buClr>
                <a:srgbClr val="F2A900"/>
              </a:buClr>
            </a:pPr>
            <a:r>
              <a:rPr sz="2000" b="1">
                <a:solidFill>
                  <a:srgbClr val="8A6100"/>
                </a:solidFill>
                <a:latin typeface="Calibri"/>
              </a:rPr>
              <a:t>Jobs: </a:t>
            </a:r>
            <a:r>
              <a:rPr sz="2000" b="0">
                <a:solidFill>
                  <a:srgbClr val="202124"/>
                </a:solidFill>
                <a:latin typeface="Calibri"/>
              </a:rPr>
              <a:t>junior analysts earn about ₦150,000 to ₦300,000 a month, mostly in Lagos and Abuja.</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a customer finds when searching for cybersecurity courses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Average search interest in Nigeria over the past 12 months (0 to 100)</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7</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Highest interest: </a:t>
            </a:r>
            <a:r>
              <a:rPr sz="1600" b="0">
                <a:solidFill>
                  <a:srgbClr val="202124"/>
                </a:solidFill>
                <a:latin typeface="Calibri"/>
              </a:rPr>
              <a:t>Cybersecurity led almost all year.</a:t>
            </a:r>
          </a:p>
          <a:p>
            <a:pPr>
              <a:spcAft>
                <a:spcPts val="1200"/>
              </a:spcAft>
            </a:pPr>
            <a:r>
              <a:rPr sz="1600" b="1">
                <a:solidFill>
                  <a:srgbClr val="202124"/>
                </a:solidFill>
                <a:latin typeface="Calibri"/>
              </a:rPr>
              <a:t>Peak: </a:t>
            </a:r>
            <a:r>
              <a:rPr sz="1600" b="0">
                <a:solidFill>
                  <a:srgbClr val="202124"/>
                </a:solidFill>
                <a:latin typeface="Calibri"/>
              </a:rPr>
              <a:t>it hit 100 in April 2026, when the CAC confirmed a cyber breach.</a:t>
            </a:r>
          </a:p>
          <a:p>
            <a:pPr>
              <a:spcAft>
                <a:spcPts val="1200"/>
              </a:spcAft>
            </a:pPr>
            <a:r>
              <a:rPr sz="1600" b="1">
                <a:solidFill>
                  <a:srgbClr val="202124"/>
                </a:solidFill>
                <a:latin typeface="Calibri"/>
              </a:rPr>
              <a:t>Where: </a:t>
            </a:r>
            <a:r>
              <a:rPr sz="1600" b="0">
                <a:solidFill>
                  <a:srgbClr val="202124"/>
                </a:solidFill>
                <a:latin typeface="Calibri"/>
              </a:rPr>
              <a:t>the most searched skill in most states, especially in the north and the middle.</a:t>
            </a:r>
          </a:p>
          <a:p>
            <a:pPr>
              <a:spcAft>
                <a:spcPts val="1200"/>
              </a:spcAft>
            </a:pPr>
            <a:r>
              <a:rPr sz="1600" b="1">
                <a:solidFill>
                  <a:srgbClr val="202124"/>
                </a:solidFill>
                <a:latin typeface="Calibri"/>
              </a:rPr>
              <a:t>Rising searches: </a:t>
            </a:r>
            <a:r>
              <a:rPr sz="1600" b="0">
                <a:solidFill>
                  <a:srgbClr val="202124"/>
                </a:solidFill>
                <a:latin typeface="Calibri"/>
              </a:rPr>
              <a:t>“cac cybersecurity breach”, “cybersecurity news today”, “lagos cybersecurity guidelines”.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Social Media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Users in Nigeria by platform, millions (NapoleonCat, 2026)</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8</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Facebook is the biggest: </a:t>
            </a:r>
            <a:r>
              <a:rPr sz="1600" b="0">
                <a:solidFill>
                  <a:srgbClr val="202124"/>
                </a:solidFill>
                <a:latin typeface="Calibri"/>
              </a:rPr>
              <a:t>about 42 million users in Nigeria.</a:t>
            </a:r>
          </a:p>
          <a:p>
            <a:pPr>
              <a:spcAft>
                <a:spcPts val="1200"/>
              </a:spcAft>
            </a:pPr>
            <a:r>
              <a:rPr sz="1600" b="1">
                <a:solidFill>
                  <a:srgbClr val="202124"/>
                </a:solidFill>
                <a:latin typeface="Calibri"/>
              </a:rPr>
              <a:t>LinkedIn: </a:t>
            </a:r>
            <a:r>
              <a:rPr sz="1600" b="0">
                <a:solidFill>
                  <a:srgbClr val="202124"/>
                </a:solidFill>
                <a:latin typeface="Calibri"/>
              </a:rPr>
              <a:t>14 million professionals and employers.</a:t>
            </a:r>
          </a:p>
          <a:p>
            <a:pPr>
              <a:spcAft>
                <a:spcPts val="1200"/>
              </a:spcAft>
            </a:pPr>
            <a:r>
              <a:rPr sz="1600" b="1">
                <a:solidFill>
                  <a:srgbClr val="202124"/>
                </a:solidFill>
                <a:latin typeface="Calibri"/>
              </a:rPr>
              <a:t>Content: </a:t>
            </a:r>
            <a:r>
              <a:rPr sz="1600" b="0">
                <a:solidFill>
                  <a:srgbClr val="202124"/>
                </a:solidFill>
                <a:latin typeface="Calibri"/>
              </a:rPr>
              <a:t>#cybersecurity has millions of Instagram posts; short how-to videos do well on TikTok.</a:t>
            </a:r>
          </a:p>
          <a:p>
            <a:pPr>
              <a:spcAft>
                <a:spcPts val="1200"/>
              </a:spcAft>
            </a:pPr>
            <a:r>
              <a:rPr sz="1600" b="1">
                <a:solidFill>
                  <a:srgbClr val="202124"/>
                </a:solidFill>
                <a:latin typeface="Calibri"/>
              </a:rPr>
              <a:t>Reputation: </a:t>
            </a:r>
            <a:r>
              <a:rPr sz="1600" b="0">
                <a:solidFill>
                  <a:srgbClr val="202124"/>
                </a:solidFill>
                <a:latin typeface="Calibri"/>
              </a:rPr>
              <a:t>learners complain in public on X.</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Competitor Reviews</a:t>
            </a:r>
          </a:p>
        </p:txBody>
      </p:sp>
      <p:graphicFrame>
        <p:nvGraphicFramePr>
          <p:cNvPr id="3" name="Content Placeholder 2"/>
          <p:cNvGraphicFramePr>
            <a:graphicFrameLocks noGrp="1"/>
          </p:cNvGraphicFramePr>
          <p:nvPr>
            <p:ph idx="1"/>
          </p:nvPr>
        </p:nvGraphicFramePr>
        <p:xfrm>
          <a:off x="655320" y="1965960"/>
          <a:ext cx="10881360" cy="3977640"/>
        </p:xfrm>
        <a:graphic>
          <a:graphicData uri="http://schemas.openxmlformats.org/drawingml/2006/table">
            <a:tbl>
              <a:tblPr firstRow="1">
                <a:tableStyleId>{5940675A-B579-460E-94D1-54222C63F5DA}</a:tableStyleId>
              </a:tblPr>
              <a:tblGrid>
                <a:gridCol w="2651760"/>
                <a:gridCol w="1005840"/>
                <a:gridCol w="3383280"/>
                <a:gridCol w="3840480"/>
              </a:tblGrid>
              <a:tr h="411480">
                <a:tc>
                  <a:txBody>
                    <a:bodyPr/>
                    <a:lstStyle/>
                    <a:p>
                      <a:pPr algn="l"/>
                      <a:r>
                        <a:rPr sz="1300" b="1">
                          <a:solidFill>
                            <a:srgbClr val="FFFFFF"/>
                          </a:solidFill>
                          <a:latin typeface="Calibri"/>
                        </a:rPr>
                        <a:t>Competitor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300" b="1">
                          <a:solidFill>
                            <a:srgbClr val="202124"/>
                          </a:solidFill>
                          <a:latin typeface="Calibri"/>
                        </a:rPr>
                        <a:t>ALX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Self-paced, strong community, personal follow-up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Billing and access problems slow to fix; very demanding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TryHackMe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Beginner-friendly, hands-on rooms, browser AttackBox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Slow support, discount problems, data privacy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AltSchool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Affordable for self-motivated 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Weak grading, missing lectures, login problems (X, Oct 2025)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CyberGirls (CyberSafe Foundation)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Free, with mentoring and internships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Very hard to get in: 20,000+ applications a year for about 500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NIIT Nigeria,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Classroom teaching; NIIT says 16,000 students a year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Reviews are hard to find; ₦250,000 for 5 days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learners say about the rivals (Trustpilot and the news)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9</a:t>
            </a:r>
          </a:p>
        </p:txBody>
      </p:sp>
      <p:sp>
        <p:nvSpPr>
          <p:cNvPr id="9" name="TextBox 8"/>
          <p:cNvSpPr txBox="1"/>
          <p:nvPr/>
        </p:nvSpPr>
        <p:spPr>
          <a:xfrm>
            <a:off x="640080" y="6053328"/>
            <a:ext cx="10911840" cy="365760"/>
          </a:xfrm>
          <a:prstGeom prst="rect">
            <a:avLst/>
          </a:prstGeom>
          <a:noFill/>
        </p:spPr>
        <p:txBody>
          <a:bodyPr wrap="square">
            <a:spAutoFit/>
          </a:bodyPr>
          <a:lstStyle/>
          <a:p>
            <a:r>
              <a:rPr sz="1400" b="0">
                <a:solidFill>
                  <a:srgbClr val="57575A"/>
                </a:solidFill>
                <a:latin typeface="Calibri"/>
              </a:rPr>
              <a:t>Ratings out of 5 on Trustpilot: ALX Africa from 544 reviews, TryHackMe from 867.</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Marketplace Reviews</a:t>
            </a:r>
          </a:p>
        </p:txBody>
      </p:sp>
      <p:graphicFrame>
        <p:nvGraphicFramePr>
          <p:cNvPr id="3" name="Content Placeholder 2"/>
          <p:cNvGraphicFramePr>
            <a:graphicFrameLocks noGrp="1"/>
          </p:cNvGraphicFramePr>
          <p:nvPr>
            <p:ph idx="1"/>
          </p:nvPr>
        </p:nvGraphicFramePr>
        <p:xfrm>
          <a:off x="655320" y="1965960"/>
          <a:ext cx="10881359" cy="3520440"/>
        </p:xfrm>
        <a:graphic>
          <a:graphicData uri="http://schemas.openxmlformats.org/drawingml/2006/table">
            <a:tbl>
              <a:tblPr firstRow="1">
                <a:tableStyleId>{5940675A-B579-460E-94D1-54222C63F5DA}</a:tableStyleId>
              </a:tblPr>
              <a:tblGrid>
                <a:gridCol w="3749039"/>
                <a:gridCol w="914400"/>
                <a:gridCol w="1371600"/>
                <a:gridCol w="2286000"/>
                <a:gridCol w="2560320"/>
              </a:tblGrid>
              <a:tr h="411480">
                <a:tc>
                  <a:txBody>
                    <a:bodyPr/>
                    <a:lstStyle/>
                    <a:p>
                      <a:pPr algn="l"/>
                      <a:r>
                        <a:rPr sz="1300" b="1">
                          <a:solidFill>
                            <a:srgbClr val="FFFFFF"/>
                          </a:solidFill>
                          <a:latin typeface="Calibri"/>
                        </a:rPr>
                        <a:t>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300" b="1">
                          <a:solidFill>
                            <a:srgbClr val="202124"/>
                          </a:solidFill>
                          <a:latin typeface="Calibri"/>
                        </a:rPr>
                        <a:t>Google Cybersecurity Certificate</a:t>
                      </a:r>
                    </a:p>
                    <a:p>
                      <a:pPr algn="l"/>
                      <a:r>
                        <a:rPr sz="1300" b="0">
                          <a:solidFill>
                            <a:srgbClr val="202124"/>
                          </a:solidFill>
                          <a:latin typeface="Calibri"/>
                        </a:rPr>
                        <a:t>Coursera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1,367,882</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Great for beginners; good pacing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Some mistakes in a final quiz</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CompTIA Security+ Complete Course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479,288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Clear, thorough instructor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Exam questions harder than the 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300" b="1">
                          <a:solidFill>
                            <a:srgbClr val="202124"/>
                          </a:solidFill>
                          <a:latin typeface="Calibri"/>
                        </a:rPr>
                        <a:t>The Complete Cyber Security Course (Nathan House)</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320,293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Wide coverage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Last updated March 2024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Security+ Practice Exams, Set 1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49,004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Good exam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Practice only, no teaching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top cybersecurity courses on Coursera and Udemy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10</a:t>
            </a:r>
          </a:p>
        </p:txBody>
      </p:sp>
      <p:sp>
        <p:nvSpPr>
          <p:cNvPr id="9" name="TextBox 8"/>
          <p:cNvSpPr txBox="1"/>
          <p:nvPr/>
        </p:nvSpPr>
        <p:spPr>
          <a:xfrm>
            <a:off x="640080" y="5596128"/>
            <a:ext cx="10911840" cy="365760"/>
          </a:xfrm>
          <a:prstGeom prst="rect">
            <a:avLst/>
          </a:prstGeom>
          <a:noFill/>
        </p:spPr>
        <p:txBody>
          <a:bodyPr wrap="square">
            <a:spAutoFit/>
          </a:bodyPr>
          <a:lstStyle/>
          <a:p>
            <a:r>
              <a:rPr sz="1400" b="0">
                <a:solidFill>
                  <a:srgbClr val="57575A"/>
                </a:solidFill>
                <a:latin typeface="Calibri"/>
              </a:rPr>
              <a:t>Common complaints in low reviews: outdated content; too much theory, no hands-on labs; weak support from the instructor.</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Gaps in the Market</a:t>
            </a:r>
          </a:p>
        </p:txBody>
      </p:sp>
      <p:graphicFrame>
        <p:nvGraphicFramePr>
          <p:cNvPr id="3" name="Content Placeholder 2"/>
          <p:cNvGraphicFramePr>
            <a:graphicFrameLocks noGrp="1"/>
          </p:cNvGraphicFramePr>
          <p:nvPr>
            <p:ph idx="1"/>
          </p:nvPr>
        </p:nvGraphicFramePr>
        <p:xfrm>
          <a:off x="655320" y="1965960"/>
          <a:ext cx="10881360" cy="4224528"/>
        </p:xfrm>
        <a:graphic>
          <a:graphicData uri="http://schemas.openxmlformats.org/drawingml/2006/table">
            <a:tbl>
              <a:tblPr firstRow="1">
                <a:tableStyleId>{5940675A-B579-460E-94D1-54222C63F5DA}</a:tableStyleId>
              </a:tblPr>
              <a:tblGrid>
                <a:gridCol w="2560320"/>
                <a:gridCol w="5120640"/>
                <a:gridCol w="3200400"/>
              </a:tblGrid>
              <a:tr h="384048">
                <a:tc>
                  <a:txBody>
                    <a:bodyPr/>
                    <a:lstStyle/>
                    <a:p>
                      <a:pPr algn="l"/>
                      <a:r>
                        <a:rPr sz="1200" b="1">
                          <a:solidFill>
                            <a:srgbClr val="FFFFFF"/>
                          </a:solidFill>
                          <a:latin typeface="Calibri"/>
                        </a:rPr>
                        <a:t>Gap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Opportunity for 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548640">
                <a:tc>
                  <a:txBody>
                    <a:bodyPr/>
                    <a:lstStyle/>
                    <a:p>
                      <a:pPr algn="l"/>
                      <a:r>
                        <a:rPr sz="1200" b="1">
                          <a:solidFill>
                            <a:srgbClr val="202124"/>
                          </a:solidFill>
                          <a:latin typeface="Calibri"/>
                        </a:rPr>
                        <a:t>Affordable courses with live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Free places are scarce (CyberGirls: 20,000+ applications for about 500 places); paid options cost ₦250,000 for 5 days or US$1,000+</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A mid-price course: ₦150,000 in 3 parts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Hands-on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“No labs” and “too much theory” drive low course ratings; TryHackMe is praised for its labs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lab every week and a final project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A route from course to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Guides say to get Security+ and a portfolio; banks and insurers are 29% of the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Exam preparation, CV help and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Reliable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AltSchool backlash on X; ALX billing fix took 9 days; TryHackMe support is slow</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Replies within 24 hours and recorded classes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Clear prices online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Few search results show a naira 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Publish the price; a free first class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Up-to-date, local content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top Udemy course was last updated in March 2024; the CAC breach drove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Update every cohort with Nigerian cases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Trusted local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No independent reviews found for NIIT Nigeria or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Collect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customers want but do not get today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11</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Gaps, Ranked</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Priority = demand × fit, each scored 1 to 5 (out of 25)</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12</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202124"/>
                </a:solidFill>
                <a:latin typeface="Calibri"/>
              </a:rPr>
              <a:t>Biggest gaps: </a:t>
            </a:r>
            <a:r>
              <a:rPr sz="1700" b="0">
                <a:solidFill>
                  <a:srgbClr val="202124"/>
                </a:solidFill>
                <a:latin typeface="Calibri"/>
              </a:rPr>
              <a:t>affordable courses with live support and hands-on practice (25 of 25).</a:t>
            </a:r>
          </a:p>
          <a:p>
            <a:pPr>
              <a:spcAft>
                <a:spcPts val="1200"/>
              </a:spcAft>
            </a:pPr>
            <a:r>
              <a:rPr sz="1700" b="1">
                <a:solidFill>
                  <a:srgbClr val="202124"/>
                </a:solidFill>
                <a:latin typeface="Calibri"/>
              </a:rPr>
              <a:t>Next: </a:t>
            </a:r>
            <a:r>
              <a:rPr sz="1700" b="0">
                <a:solidFill>
                  <a:srgbClr val="202124"/>
                </a:solidFill>
                <a:latin typeface="Calibri"/>
              </a:rPr>
              <a:t>a route from course to job, and reliable support.</a:t>
            </a:r>
          </a:p>
          <a:p>
            <a:pPr>
              <a:spcAft>
                <a:spcPts val="1200"/>
              </a:spcAft>
            </a:pPr>
            <a:r>
              <a:rPr sz="1700" b="1">
                <a:solidFill>
                  <a:srgbClr val="202124"/>
                </a:solidFill>
                <a:latin typeface="Calibri"/>
              </a:rPr>
              <a:t>CyberStart </a:t>
            </a:r>
            <a:r>
              <a:rPr sz="1700" b="0">
                <a:solidFill>
                  <a:srgbClr val="202124"/>
                </a:solidFill>
                <a:latin typeface="Calibri"/>
              </a:rPr>
              <a:t>is built around these gaps.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 Opportunities</a:t>
            </a:r>
          </a:p>
        </p:txBody>
      </p:sp>
      <p:graphicFrame>
        <p:nvGraphicFramePr>
          <p:cNvPr id="3" name="Content Placeholder 2"/>
          <p:cNvGraphicFramePr>
            <a:graphicFrameLocks noGrp="1"/>
          </p:cNvGraphicFramePr>
          <p:nvPr>
            <p:ph idx="1"/>
          </p:nvPr>
        </p:nvGraphicFramePr>
        <p:xfrm>
          <a:off x="701040" y="1965960"/>
          <a:ext cx="10789920" cy="4032504"/>
        </p:xfrm>
        <a:graphic>
          <a:graphicData uri="http://schemas.openxmlformats.org/drawingml/2006/table">
            <a:tbl>
              <a:tblPr firstRow="1">
                <a:tableStyleId>{5940675A-B579-460E-94D1-54222C63F5DA}</a:tableStyleId>
              </a:tblPr>
              <a:tblGrid>
                <a:gridCol w="2926080"/>
                <a:gridCol w="7863840"/>
              </a:tblGrid>
              <a:tr h="411480">
                <a:tc>
                  <a:txBody>
                    <a:bodyPr/>
                    <a:lstStyle/>
                    <a:p>
                      <a:pPr algn="l"/>
                      <a:r>
                        <a:rPr sz="1600" b="1">
                          <a:solidFill>
                            <a:srgbClr val="FFFFFF"/>
                          </a:solidFill>
                          <a:latin typeface="Calibri"/>
                        </a:rPr>
                        <a:t>Opportunity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6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03504">
                <a:tc>
                  <a:txBody>
                    <a:bodyPr/>
                    <a:lstStyle/>
                    <a:p>
                      <a:pPr algn="l"/>
                      <a:r>
                        <a:rPr sz="1600" b="1">
                          <a:solidFill>
                            <a:srgbClr val="202124"/>
                          </a:solidFill>
                          <a:latin typeface="Calibri"/>
                        </a:rPr>
                        <a:t>A growing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US$230 million in 2025, growing about 10% a year to 2031</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shortage of experts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About 8,352 professionals in Nigeria against 57,269 in South Africa (2023)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Rising threats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4,388 attacks a week on each organisation in early 2025, up 47%; the CAC breach in April 2026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Employers who pay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Banks, finance and insurance are 29.2% of the cybersecurity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Nationwide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Cybersecurity is the most searched digital skill in most states, not only Lagos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free exam offer ended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ISC2 closed its free CC exam programme on 20 May 2026, so learners need exam preparation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Why now is a good time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How CyberStart Fills the Gaps</a:t>
            </a:r>
          </a:p>
        </p:txBody>
      </p:sp>
      <p:graphicFrame>
        <p:nvGraphicFramePr>
          <p:cNvPr id="3" name="Content Placeholder 2"/>
          <p:cNvGraphicFramePr>
            <a:graphicFrameLocks noGrp="1"/>
          </p:cNvGraphicFramePr>
          <p:nvPr>
            <p:ph idx="1"/>
          </p:nvPr>
        </p:nvGraphicFramePr>
        <p:xfrm>
          <a:off x="701040" y="1965960"/>
          <a:ext cx="10789920" cy="3566160"/>
        </p:xfrm>
        <a:graphic>
          <a:graphicData uri="http://schemas.openxmlformats.org/drawingml/2006/table">
            <a:tbl>
              <a:tblPr firstRow="1">
                <a:tableStyleId>{5940675A-B579-460E-94D1-54222C63F5DA}</a:tableStyleId>
              </a:tblPr>
              <a:tblGrid>
                <a:gridCol w="2194560"/>
                <a:gridCol w="8595360"/>
              </a:tblGrid>
              <a:tr h="457200">
                <a:tc>
                  <a:txBody>
                    <a:bodyPr/>
                    <a:lstStyle/>
                    <a:p>
                      <a:pPr algn="l"/>
                      <a:r>
                        <a:rPr sz="1800" b="1">
                          <a:solidFill>
                            <a:srgbClr val="FFFFFF"/>
                          </a:solidFill>
                          <a:latin typeface="Calibri"/>
                        </a:rPr>
                        <a:t>The 4 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800" b="1">
                          <a:solidFill>
                            <a:srgbClr val="202124"/>
                          </a:solidFill>
                          <a:latin typeface="Calibri"/>
                        </a:rPr>
                        <a:t>Product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12-week beginner course: live classes, weekly labs, final project, exam preparation, job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₦150,000 in 3 parts of ₦50,000; free first class;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800" b="1">
                          <a:solidFill>
                            <a:srgbClr val="202124"/>
                          </a:solidFill>
                          <a:latin typeface="Calibri"/>
                        </a:rPr>
                        <a:t>Place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nationwide, with weekend labs in Lagos and Abuja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Promotion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Facebook and Instagram adverts, TikTok how-to videos, LinkedIn for employers,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marketing mix</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14</a:t>
            </a:r>
          </a:p>
        </p:txBody>
      </p:sp>
      <p:sp>
        <p:nvSpPr>
          <p:cNvPr id="9" name="TextBox 8"/>
          <p:cNvSpPr txBox="1"/>
          <p:nvPr/>
        </p:nvSpPr>
        <p:spPr>
          <a:xfrm>
            <a:off x="640080" y="5641848"/>
            <a:ext cx="10911840" cy="365760"/>
          </a:xfrm>
          <a:prstGeom prst="rect">
            <a:avLst/>
          </a:prstGeom>
          <a:noFill/>
        </p:spPr>
        <p:txBody>
          <a:bodyPr wrap="square">
            <a:spAutoFit/>
          </a:bodyPr>
          <a:lstStyle/>
          <a:p>
            <a:r>
              <a:rPr sz="1400" b="0">
                <a:solidFill>
                  <a:srgbClr val="57575A"/>
                </a:solidFill>
                <a:latin typeface="Calibri"/>
              </a:rPr>
              <a:t>Year 1 estimate: 375 learners and ₦56.25 million (see the Market sheet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Conclusion</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The market is growing: </a:t>
            </a:r>
            <a:r>
              <a:rPr sz="2000" b="0">
                <a:solidFill>
                  <a:srgbClr val="202124"/>
                </a:solidFill>
                <a:latin typeface="Calibri"/>
              </a:rPr>
              <a:t>Nigeria's cybersecurity market is worth about US$230 million (2025) and grows about 10% a year, while trained experts are scarce.</a:t>
            </a:r>
          </a:p>
          <a:p>
            <a:pPr>
              <a:spcAft>
                <a:spcPts val="1000"/>
              </a:spcAft>
              <a:buClr>
                <a:srgbClr val="F2A900"/>
              </a:buClr>
            </a:pPr>
            <a:r>
              <a:rPr sz="2000" b="1">
                <a:solidFill>
                  <a:srgbClr val="8A6100"/>
                </a:solidFill>
                <a:latin typeface="Calibri"/>
              </a:rPr>
              <a:t>Customers are searching: </a:t>
            </a:r>
            <a:r>
              <a:rPr sz="2000" b="0">
                <a:solidFill>
                  <a:srgbClr val="202124"/>
                </a:solidFill>
                <a:latin typeface="Calibri"/>
              </a:rPr>
              <a:t>cybersecurity is the most searched digital skill on Google Trends in Nigeria.</a:t>
            </a:r>
          </a:p>
          <a:p>
            <a:pPr>
              <a:spcAft>
                <a:spcPts val="1000"/>
              </a:spcAft>
              <a:buClr>
                <a:srgbClr val="F2A900"/>
              </a:buClr>
            </a:pPr>
            <a:r>
              <a:rPr sz="2000" b="1">
                <a:solidFill>
                  <a:srgbClr val="8A6100"/>
                </a:solidFill>
                <a:latin typeface="Calibri"/>
              </a:rPr>
              <a:t>Rivals are rated well, </a:t>
            </a:r>
            <a:r>
              <a:rPr sz="2000" b="0">
                <a:solidFill>
                  <a:srgbClr val="202124"/>
                </a:solidFill>
                <a:latin typeface="Calibri"/>
              </a:rPr>
              <a:t>but learners complain about support, missing labs, outdated content and unclear prices.</a:t>
            </a:r>
          </a:p>
          <a:p>
            <a:pPr>
              <a:spcAft>
                <a:spcPts val="1000"/>
              </a:spcAft>
              <a:buClr>
                <a:srgbClr val="F2A900"/>
              </a:buClr>
            </a:pPr>
            <a:r>
              <a:rPr sz="2000" b="1">
                <a:solidFill>
                  <a:srgbClr val="8A6100"/>
                </a:solidFill>
                <a:latin typeface="Calibri"/>
              </a:rPr>
              <a:t>CyberStart wins by: </a:t>
            </a:r>
            <a:r>
              <a:rPr sz="2000" b="0">
                <a:solidFill>
                  <a:srgbClr val="202124"/>
                </a:solidFill>
                <a:latin typeface="Calibri"/>
              </a:rPr>
              <a:t>clear prices, weekly labs, fast support and a path to a first job.</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the research shows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Any questions?</a:t>
            </a:r>
          </a:p>
          <a:p>
            <a:pPr algn="l">
              <a:spcAft>
                <a:spcPts val="800"/>
              </a:spcAft>
            </a:pPr>
            <a:r>
              <a:rPr sz="1600" b="0">
                <a:solidFill>
                  <a:srgbClr val="D6D6D6"/>
                </a:solidFill>
                <a:latin typeface="Calibri"/>
              </a:rPr>
              <a:t>SkillUp Academy  ·  Capstone Project</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16</Slides>
  <Notes>16</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Project: CyberStart by SkillUp Academy</dc:title>
  <dc:subject>Customer research to find market gaps and opportunities</dc:subject>
  <dc:creator/>
  <cp:keywords>market research, Google Trends, reviews, market gaps, opportunities</cp:keywords>
  <dc:description/>
  <cp:lastModifiedBy/>
  <cp:revision>1</cp:revision>
  <dcterms:created xsi:type="dcterms:W3CDTF">2026-10-11T18:57:01Z</dcterms:created>
  <dcterms:modified xsi:type="dcterms:W3CDTF">2026-10-11T18:57:01Z</dcterms:modified>
  <cp:category/>
</cp:coreProperties>
</file>