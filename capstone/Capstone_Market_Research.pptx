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notesMaster" Target="notesMasters/notesMaster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Value</c:v>
                </c:pt>
              </c:strCache>
            </c:strRef>
          </c:tx>
          <c:spPr>
            <a:solidFill>
              <a:srgbClr val="C8C8C4"/>
            </a:solidFill>
          </c:spPr>
          <c:dPt>
            <c:idx val="2"/>
            <c:spPr>
              <a:solidFill>
                <a:srgbClr val="F2A900"/>
              </a:solidFill>
            </c:spPr>
          </c:dPt>
          <c:cat>
            <c:strRef>
              <c:f>Sheet1!$A$2:$A$4</c:f>
              <c:strCache>
                <c:ptCount val="3"/>
                <c:pt idx="0">
                  <c:v>2025</c:v>
                </c:pt>
                <c:pt idx="1">
                  <c:v>2026</c:v>
                </c:pt>
                <c:pt idx="2">
                  <c:v>2031 (forecast)</c:v>
                </c:pt>
              </c:strCache>
            </c:strRef>
          </c:cat>
          <c:val>
            <c:numRef>
              <c:f>Sheet1!$B$2:$B$4</c:f>
              <c:numCache>
                <c:formatCode>#,##0</c:formatCode>
                <c:ptCount val="3"/>
                <c:pt idx="0">
                  <c:v>230.03</c:v>
                </c:pt>
                <c:pt idx="1">
                  <c:v>253.77</c:v>
                </c:pt>
                <c:pt idx="2">
                  <c:v>414.92</c:v>
                </c:pt>
              </c:numCache>
            </c:numRef>
          </c:val>
        </c:ser>
        <c:dLbls>
          <c:numFmt formatCode="#,##0" sourceLinked="0"/>
          <c:txPr>
            <a:bodyPr wrap="none"/>
            <a:lstStyle/>
            <a:p>
              <a:pPr>
                <a:defRPr sz="1600" b="1">
                  <a:solidFill>
                    <a:srgbClr val="202124"/>
                  </a:solidFill>
                </a:defRPr>
              </a:pPr>
            </a:p>
          </c:txPr>
          <c:dLblPos val="outEnd"/>
          <c:showLegendKey val="0"/>
          <c:showVal val="1"/>
          <c:showCatName val="0"/>
          <c:showSerName val="0"/>
          <c:showPercent val="0"/>
          <c:showBubbleSize val="0"/>
          <c:showLeaderLines val="1"/>
        </c:dLbls>
        <c:gapWidth val="60"/>
        <c:axId val="79456312"/>
        <c:axId val="33489208"/>
      </c:barChart>
      <c:catAx>
        <c:axId val="79456312"/>
        <c:scaling>
          <c:orientation val="maxMin"/>
        </c:scaling>
        <c:delete val="0"/>
        <c:axPos val="l"/>
        <c:majorTickMark val="none"/>
        <c:minorTickMark val="none"/>
        <c:tickLblPos val="nextTo"/>
        <c:spPr>
          <a:ln>
            <a:solidFill>
              <a:srgbClr val="BFBFBF"/>
            </a:solidFill>
          </a:ln>
        </c:spPr>
        <c:txPr>
          <a:bodyPr/>
          <a:lstStyle/>
          <a:p>
            <a:pPr>
              <a:defRPr sz="1600"/>
            </a:pPr>
          </a:p>
        </c:txPr>
        <c:crossAx val="33489208"/>
        <c:crosses val="autoZero"/>
        <c:auto val="1"/>
        <c:lblAlgn val="ctr"/>
        <c:lblOffset val="100"/>
        <c:noMultiLvlLbl val="0"/>
      </c:catAx>
      <c:valAx>
        <c:axId val="33489208"/>
        <c:scaling>
          <c:max val="500.0"/>
          <c:min val="0.0"/>
        </c:scaling>
        <c:delete val="0"/>
        <c:axPos val="b"/>
        <c:majorTickMark val="none"/>
        <c:minorTickMark val="none"/>
        <c:tickLblPos val="none"/>
        <c:spPr>
          <a:ln>
            <a:noFill/>
          </a:ln>
        </c:spPr>
        <c:crossAx val="79456312"/>
        <c:crosses val="autoZero"/>
      </c:valAx>
    </c:plotArea>
    <c:dispBlanksAs val="gap"/>
  </c:chart>
  <c:spPr>
    <a:noFill/>
    <a:ln>
      <a:noFill/>
    </a:ln>
  </c:spPr>
  <c:txPr>
    <a:bodyPr/>
    <a:lstStyle/>
    <a:p>
      <a:pPr>
        <a:defRPr sz="1600">
          <a:solidFill>
            <a:srgbClr val="202124"/>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Value</c:v>
                </c:pt>
              </c:strCache>
            </c:strRef>
          </c:tx>
          <c:spPr>
            <a:solidFill>
              <a:srgbClr val="C8C8C4"/>
            </a:solidFill>
          </c:spPr>
          <c:dPt>
            <c:idx val="0"/>
            <c:spPr>
              <a:solidFill>
                <a:srgbClr val="F2A900"/>
              </a:solidFill>
            </c:spPr>
          </c:dPt>
          <c:cat>
            <c:strRef>
              <c:f>Sheet1!$A$2:$A$6</c:f>
              <c:strCache>
                <c:ptCount val="5"/>
                <c:pt idx="0">
                  <c:v>Cybersecurity</c:v>
                </c:pt>
                <c:pt idx="1">
                  <c:v>Digital Marketing</c:v>
                </c:pt>
                <c:pt idx="2">
                  <c:v>Data Analytics</c:v>
                </c:pt>
                <c:pt idx="3">
                  <c:v>GenAI &amp; Prompt Engineering</c:v>
                </c:pt>
                <c:pt idx="4">
                  <c:v>Web Development</c:v>
                </c:pt>
              </c:strCache>
            </c:strRef>
          </c:cat>
          <c:val>
            <c:numRef>
              <c:f>Sheet1!$B$2:$B$6</c:f>
              <c:numCache>
                <c:formatCode>0</c:formatCode>
                <c:ptCount val="5"/>
                <c:pt idx="0">
                  <c:v>43</c:v>
                </c:pt>
                <c:pt idx="1">
                  <c:v>33</c:v>
                </c:pt>
                <c:pt idx="2">
                  <c:v>18</c:v>
                </c:pt>
                <c:pt idx="3">
                  <c:v>13</c:v>
                </c:pt>
                <c:pt idx="4">
                  <c:v>13</c:v>
                </c:pt>
              </c:numCache>
            </c:numRef>
          </c:val>
        </c:ser>
        <c:dLbls>
          <c:numFmt formatCode="0" sourceLinked="0"/>
          <c:txPr>
            <a:bodyPr wrap="none"/>
            <a:lstStyle/>
            <a:p>
              <a:pPr>
                <a:defRPr sz="1600" b="1">
                  <a:solidFill>
                    <a:srgbClr val="202124"/>
                  </a:solidFill>
                </a:defRPr>
              </a:pPr>
            </a:p>
          </c:txPr>
          <c:dLblPos val="outEnd"/>
          <c:showLegendKey val="0"/>
          <c:showVal val="1"/>
          <c:showCatName val="0"/>
          <c:showSerName val="0"/>
          <c:showPercent val="0"/>
          <c:showBubbleSize val="0"/>
          <c:showLeaderLines val="1"/>
        </c:dLbls>
        <c:gapWidth val="60"/>
        <c:axId val="79456312"/>
        <c:axId val="33489208"/>
      </c:barChart>
      <c:catAx>
        <c:axId val="79456312"/>
        <c:scaling>
          <c:orientation val="maxMin"/>
        </c:scaling>
        <c:delete val="0"/>
        <c:axPos val="l"/>
        <c:majorTickMark val="none"/>
        <c:minorTickMark val="none"/>
        <c:tickLblPos val="nextTo"/>
        <c:spPr>
          <a:ln>
            <a:solidFill>
              <a:srgbClr val="BFBFBF"/>
            </a:solidFill>
          </a:ln>
        </c:spPr>
        <c:txPr>
          <a:bodyPr/>
          <a:lstStyle/>
          <a:p>
            <a:pPr>
              <a:defRPr sz="1600"/>
            </a:pPr>
          </a:p>
        </c:txPr>
        <c:crossAx val="33489208"/>
        <c:crosses val="autoZero"/>
        <c:auto val="1"/>
        <c:lblAlgn val="ctr"/>
        <c:lblOffset val="100"/>
        <c:noMultiLvlLbl val="0"/>
      </c:catAx>
      <c:valAx>
        <c:axId val="33489208"/>
        <c:scaling>
          <c:max val="50.0"/>
          <c:min val="0.0"/>
        </c:scaling>
        <c:delete val="0"/>
        <c:axPos val="b"/>
        <c:majorTickMark val="none"/>
        <c:minorTickMark val="none"/>
        <c:tickLblPos val="none"/>
        <c:spPr>
          <a:ln>
            <a:noFill/>
          </a:ln>
        </c:spPr>
        <c:crossAx val="79456312"/>
        <c:crosses val="autoZero"/>
      </c:valAx>
    </c:plotArea>
    <c:dispBlanksAs val="gap"/>
  </c:chart>
  <c:spPr>
    <a:noFill/>
    <a:ln>
      <a:noFill/>
    </a:ln>
  </c:spPr>
  <c:txPr>
    <a:bodyPr/>
    <a:lstStyle/>
    <a:p>
      <a:pPr>
        <a:defRPr sz="1600">
          <a:solidFill>
            <a:srgbClr val="202124"/>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Value</c:v>
                </c:pt>
              </c:strCache>
            </c:strRef>
          </c:tx>
          <c:spPr>
            <a:solidFill>
              <a:srgbClr val="C8C8C4"/>
            </a:solidFill>
          </c:spPr>
          <c:dPt>
            <c:idx val="0"/>
            <c:spPr>
              <a:solidFill>
                <a:srgbClr val="F2A900"/>
              </a:solidFill>
            </c:spPr>
          </c:dPt>
          <c:cat>
            <c:strRef>
              <c:f>Sheet1!$A$2:$A$4</c:f>
              <c:strCache>
                <c:ptCount val="3"/>
                <c:pt idx="0">
                  <c:v>Facebook</c:v>
                </c:pt>
                <c:pt idx="1">
                  <c:v>LinkedIn</c:v>
                </c:pt>
                <c:pt idx="2">
                  <c:v>Instagram</c:v>
                </c:pt>
              </c:strCache>
            </c:strRef>
          </c:cat>
          <c:val>
            <c:numRef>
              <c:f>Sheet1!$B$2:$B$4</c:f>
              <c:numCache>
                <c:formatCode>0.0</c:formatCode>
                <c:ptCount val="3"/>
                <c:pt idx="0">
                  <c:v>42.1</c:v>
                </c:pt>
                <c:pt idx="1">
                  <c:v>14.0</c:v>
                </c:pt>
                <c:pt idx="2">
                  <c:v>9.6</c:v>
                </c:pt>
              </c:numCache>
            </c:numRef>
          </c:val>
        </c:ser>
        <c:dLbls>
          <c:numFmt formatCode="0.0" sourceLinked="0"/>
          <c:txPr>
            <a:bodyPr wrap="none"/>
            <a:lstStyle/>
            <a:p>
              <a:pPr>
                <a:defRPr sz="1600" b="1">
                  <a:solidFill>
                    <a:srgbClr val="202124"/>
                  </a:solidFill>
                </a:defRPr>
              </a:pPr>
            </a:p>
          </c:txPr>
          <c:dLblPos val="outEnd"/>
          <c:showLegendKey val="0"/>
          <c:showVal val="1"/>
          <c:showCatName val="0"/>
          <c:showSerName val="0"/>
          <c:showPercent val="0"/>
          <c:showBubbleSize val="0"/>
          <c:showLeaderLines val="1"/>
        </c:dLbls>
        <c:gapWidth val="60"/>
        <c:axId val="79456312"/>
        <c:axId val="33489208"/>
      </c:barChart>
      <c:catAx>
        <c:axId val="79456312"/>
        <c:scaling>
          <c:orientation val="maxMin"/>
        </c:scaling>
        <c:delete val="0"/>
        <c:axPos val="l"/>
        <c:majorTickMark val="none"/>
        <c:minorTickMark val="none"/>
        <c:tickLblPos val="nextTo"/>
        <c:spPr>
          <a:ln>
            <a:solidFill>
              <a:srgbClr val="BFBFBF"/>
            </a:solidFill>
          </a:ln>
        </c:spPr>
        <c:txPr>
          <a:bodyPr/>
          <a:lstStyle/>
          <a:p>
            <a:pPr>
              <a:defRPr sz="1600"/>
            </a:pPr>
          </a:p>
        </c:txPr>
        <c:crossAx val="33489208"/>
        <c:crosses val="autoZero"/>
        <c:auto val="1"/>
        <c:lblAlgn val="ctr"/>
        <c:lblOffset val="100"/>
        <c:noMultiLvlLbl val="0"/>
      </c:catAx>
      <c:valAx>
        <c:axId val="33489208"/>
        <c:scaling>
          <c:max val="50.0"/>
          <c:min val="0.0"/>
        </c:scaling>
        <c:delete val="0"/>
        <c:axPos val="b"/>
        <c:majorTickMark val="none"/>
        <c:minorTickMark val="none"/>
        <c:tickLblPos val="none"/>
        <c:spPr>
          <a:ln>
            <a:noFill/>
          </a:ln>
        </c:spPr>
        <c:crossAx val="79456312"/>
        <c:crosses val="autoZero"/>
      </c:valAx>
    </c:plotArea>
    <c:dispBlanksAs val="gap"/>
  </c:chart>
  <c:spPr>
    <a:noFill/>
    <a:ln>
      <a:noFill/>
    </a:ln>
  </c:spPr>
  <c:txPr>
    <a:bodyPr/>
    <a:lstStyle/>
    <a:p>
      <a:pPr>
        <a:defRPr sz="1600">
          <a:solidFill>
            <a:srgbClr val="202124"/>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Value</c:v>
                </c:pt>
              </c:strCache>
            </c:strRef>
          </c:tx>
          <c:spPr>
            <a:solidFill>
              <a:srgbClr val="C8C8C4"/>
            </a:solidFill>
          </c:spPr>
          <c:dPt>
            <c:idx val="0"/>
            <c:spPr>
              <a:solidFill>
                <a:srgbClr val="F2A900"/>
              </a:solidFill>
            </c:spPr>
          </c:dPt>
          <c:dPt>
            <c:idx val="1"/>
            <c:spPr>
              <a:solidFill>
                <a:srgbClr val="F2A900"/>
              </a:solidFill>
            </c:spPr>
          </c:dPt>
          <c:cat>
            <c:strRef>
              <c:f>Sheet1!$A$2:$A$8</c:f>
              <c:strCache>
                <c:ptCount val="7"/>
                <c:pt idx="0">
                  <c:v>Affordable courses with live support</c:v>
                </c:pt>
                <c:pt idx="1">
                  <c:v>Hands-on practice</c:v>
                </c:pt>
                <c:pt idx="2">
                  <c:v>A route from course to job</c:v>
                </c:pt>
                <c:pt idx="3">
                  <c:v>Reliable support</c:v>
                </c:pt>
                <c:pt idx="4">
                  <c:v>Clear prices online</c:v>
                </c:pt>
                <c:pt idx="5">
                  <c:v>Up-to-date, local content</c:v>
                </c:pt>
                <c:pt idx="6">
                  <c:v>Trusted local providers</c:v>
                </c:pt>
              </c:strCache>
            </c:strRef>
          </c:cat>
          <c:val>
            <c:numRef>
              <c:f>Sheet1!$B$2:$B$8</c:f>
              <c:numCache>
                <c:formatCode>0</c:formatCode>
                <c:ptCount val="7"/>
                <c:pt idx="0">
                  <c:v>25</c:v>
                </c:pt>
                <c:pt idx="1">
                  <c:v>25</c:v>
                </c:pt>
                <c:pt idx="2">
                  <c:v>20</c:v>
                </c:pt>
                <c:pt idx="3">
                  <c:v>20</c:v>
                </c:pt>
                <c:pt idx="4">
                  <c:v>16</c:v>
                </c:pt>
                <c:pt idx="5">
                  <c:v>15</c:v>
                </c:pt>
                <c:pt idx="6">
                  <c:v>12</c:v>
                </c:pt>
              </c:numCache>
            </c:numRef>
          </c:val>
        </c:ser>
        <c:dLbls>
          <c:numFmt formatCode="0" sourceLinked="0"/>
          <c:txPr>
            <a:bodyPr wrap="none"/>
            <a:lstStyle/>
            <a:p>
              <a:pPr>
                <a:defRPr sz="1600" b="1">
                  <a:solidFill>
                    <a:srgbClr val="202124"/>
                  </a:solidFill>
                </a:defRPr>
              </a:pPr>
            </a:p>
          </c:txPr>
          <c:dLblPos val="outEnd"/>
          <c:showLegendKey val="0"/>
          <c:showVal val="1"/>
          <c:showCatName val="0"/>
          <c:showSerName val="0"/>
          <c:showPercent val="0"/>
          <c:showBubbleSize val="0"/>
          <c:showLeaderLines val="1"/>
        </c:dLbls>
        <c:gapWidth val="60"/>
        <c:axId val="79456312"/>
        <c:axId val="33489208"/>
      </c:barChart>
      <c:catAx>
        <c:axId val="79456312"/>
        <c:scaling>
          <c:orientation val="maxMin"/>
        </c:scaling>
        <c:delete val="0"/>
        <c:axPos val="l"/>
        <c:majorTickMark val="none"/>
        <c:minorTickMark val="none"/>
        <c:tickLblPos val="nextTo"/>
        <c:spPr>
          <a:ln>
            <a:solidFill>
              <a:srgbClr val="BFBFBF"/>
            </a:solidFill>
          </a:ln>
        </c:spPr>
        <c:txPr>
          <a:bodyPr/>
          <a:lstStyle/>
          <a:p>
            <a:pPr>
              <a:defRPr sz="1600"/>
            </a:pPr>
          </a:p>
        </c:txPr>
        <c:crossAx val="33489208"/>
        <c:crosses val="autoZero"/>
        <c:auto val="1"/>
        <c:lblAlgn val="ctr"/>
        <c:lblOffset val="100"/>
        <c:noMultiLvlLbl val="0"/>
      </c:catAx>
      <c:valAx>
        <c:axId val="33489208"/>
        <c:scaling>
          <c:max val="25.0"/>
          <c:min val="0.0"/>
        </c:scaling>
        <c:delete val="0"/>
        <c:axPos val="b"/>
        <c:majorTickMark val="none"/>
        <c:minorTickMark val="none"/>
        <c:tickLblPos val="none"/>
        <c:spPr>
          <a:ln>
            <a:noFill/>
          </a:ln>
        </c:spPr>
        <c:crossAx val="79456312"/>
        <c:crosses val="autoZero"/>
      </c:valAx>
    </c:plotArea>
    <c:dispBlanksAs val="gap"/>
  </c:chart>
  <c:spPr>
    <a:noFill/>
    <a:ln>
      <a:noFill/>
    </a:ln>
  </c:spPr>
  <c:txPr>
    <a:bodyPr/>
    <a:lstStyle/>
    <a:p>
      <a:pPr>
        <a:defRPr sz="1600">
          <a:solidFill>
            <a:srgbClr val="202124"/>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capstone project is customer research for CyberStart, a beginner cybersecurity course from SkillUp Academy. I used Google Search, Google Trends, social media trends, competitor reviews and marketplace reviews to find the gaps and opportunities in the market.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SkillUp Academy is a digital-skills training business. Its product, CyberStart, is a 12-week course for beginners, taught online with weekend labs in Lagos and Abuja, that prepares people for a first certificate and a first job.</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market is beginner cybersecurity training in Nigeria. The customers are young people who want a cybersecurity job, and the employers who pay to train their staff.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Nigeria's cybersecurity market was worth about 230 million US dollars in 2025 and is forecast to reach about 415 million by 2031, about 10 percent a year. Attacks are rising, but the country has very few trained experts.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used five methods: Google Search, Google Trends, social media trends, competitor reviews and marketplace reviews on Udemy and Coursera.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searched for course fees, free training, how to start a career, and jobs. Naira prices are hard to find and vary a lot, free programmes fill fast, and every guide tells beginners to practise in labs and get a first certificate.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is the most searched digital skill in Nigeria, with an average of about 43. It reached 100 in April 2026 when the CAC confirmed a cyber breach, and it led in most states.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Facebook is the biggest platform in Nigeria, LinkedIn reaches professionals and employers, and cybersecurity content is popular on Instagram and TikTok. Learners also complain in public on X, so service matters.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rated rivals score well, but learners complain about slow support, billing problems, missing lectures and weak grading. Free programmes are very hard to get into, and classroom providers have almost no reviews online.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top online courses average 4.7 stars and have over 2.2 million learners between them, so demand is real. Their low reviews complain about outdated content, too much theory and weak support.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Putting the research together, I found seven gaps. The biggest are affordable courses with live support and hands-on practice, then a route from course to job and reliable support.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scored each gap for how much customers want it and how well it fits SkillUp Academy. Affordable courses with live support and hands-on practice score highest.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market is growing, experts are scarce, attacks are rising, employers in banking pay for training, interest is nationwide, and the free ISC2 exam offer has ended, so learners need exam preparation.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CyberStart answers each gap: weekly labs, a fair price in parts, published online, fast support and job help. In year one I estimate 375 learners.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the market is growing and customers are searching, but today's options leave clear gaps. CyberStart can win by filling them.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listening.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nchor="b"/>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02124"/>
        </a:solidFill>
        <a:effectLst/>
      </p:bgPr>
    </p:bg>
    <p:spTree>
      <p:nvGrpSpPr>
        <p:cNvPr id="1" name=""/>
        <p:cNvGrpSpPr/>
        <p:nvPr/>
      </p:nvGrpSpPr>
      <p:grpSpPr/>
      <p:sp>
        <p:nvSpPr>
          <p:cNvPr id="4" name="Rectangle 3"/>
          <p:cNvSpPr/>
          <p:nvPr/>
        </p:nvSpPr>
        <p:spPr>
          <a:xfrm>
            <a:off x="8900160" y="0"/>
            <a:ext cx="3291840" cy="6858000"/>
          </a:xfrm>
          <a:prstGeom prst="rect">
            <a:avLst/>
          </a:prstGeom>
          <a:solidFill>
            <a:srgbClr val="3031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900160" y="0"/>
            <a:ext cx="109728" cy="685800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ctrTitle"/>
          </p:nvPr>
        </p:nvSpPr>
        <p:spPr>
          <a:xfrm>
            <a:off x="914400" y="2057400"/>
            <a:ext cx="7437120" cy="1371600"/>
          </a:xfrm>
        </p:spPr>
        <p:txBody>
          <a:bodyPr anchor="b"/>
          <a:lstStyle/>
          <a:p>
            <a:pPr algn="l"/>
            <a:r>
              <a:rPr sz="5400" b="0">
                <a:solidFill>
                  <a:srgbClr val="FFFFFF"/>
                </a:solidFill>
                <a:latin typeface="Calibri Light"/>
              </a:rPr>
              <a:t>Capstone Project</a:t>
            </a:r>
          </a:p>
        </p:txBody>
      </p:sp>
      <p:sp>
        <p:nvSpPr>
          <p:cNvPr id="3" name="Subtitle 2"/>
          <p:cNvSpPr>
            <a:spLocks noGrp="1"/>
          </p:cNvSpPr>
          <p:nvPr>
            <p:ph type="subTitle" idx="1"/>
          </p:nvPr>
        </p:nvSpPr>
        <p:spPr>
          <a:xfrm>
            <a:off x="914400" y="3840480"/>
            <a:ext cx="7437120" cy="1828800"/>
          </a:xfrm>
        </p:spPr>
        <p:txBody>
          <a:bodyPr anchor="t"/>
          <a:lstStyle/>
          <a:p>
            <a:pPr algn="l">
              <a:spcAft>
                <a:spcPts val="800"/>
              </a:spcAft>
            </a:pPr>
            <a:r>
              <a:rPr sz="2200" b="0">
                <a:solidFill>
                  <a:srgbClr val="D6D6D6"/>
                </a:solidFill>
                <a:latin typeface="Calibri"/>
              </a:rPr>
              <a:t>Market gaps and opportunities for CyberStart, a beginner cybersecurity course</a:t>
            </a:r>
          </a:p>
          <a:p>
            <a:pPr algn="l">
              <a:spcAft>
                <a:spcPts val="800"/>
              </a:spcAft>
            </a:pPr>
            <a:r>
              <a:rPr sz="1600" b="0">
                <a:solidFill>
                  <a:srgbClr val="D6D6D6"/>
                </a:solidFill>
                <a:latin typeface="Calibri"/>
              </a:rPr>
              <a:t>SkillUp Academy  ·  Market Research Lab</a:t>
            </a:r>
          </a:p>
        </p:txBody>
      </p:sp>
      <p:cxnSp>
        <p:nvCxnSpPr>
          <p:cNvPr id="6" name="Straight Connector 5"/>
          <p:cNvCxnSpPr/>
          <p:nvPr/>
        </p:nvCxnSpPr>
        <p:spPr>
          <a:xfrm>
            <a:off x="1005840" y="3630168"/>
            <a:ext cx="1371600" cy="0"/>
          </a:xfrm>
          <a:prstGeom prst="line">
            <a:avLst/>
          </a:prstGeom>
          <a:ln w="50800">
            <a:solidFill>
              <a:srgbClr val="F2A900"/>
            </a:solidFill>
          </a:ln>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500" advTm="10000">
        <p:push dir="u"/>
      </p:transition>
    </mc:Choice>
    <mc:Fallback>
      <p:transition spd="slow" advTm="10000">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right)">
                                      <p:cBhvr>
                                        <p:cTn id="11" dur="500"/>
                                        <p:tgtEl>
                                          <p:spTgt spid="6"/>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4" name="Rectangle 3"/>
          <p:cNvSpPr/>
          <p:nvPr/>
        </p:nvSpPr>
        <p:spPr>
          <a:xfrm>
            <a:off x="0" y="0"/>
            <a:ext cx="12192000" cy="1188720"/>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640080" y="256032"/>
            <a:ext cx="10911840" cy="731520"/>
          </a:xfrm>
        </p:spPr>
        <p:txBody>
          <a:bodyPr anchor="ctr"/>
          <a:lstStyle/>
          <a:p>
            <a:pPr algn="l"/>
            <a:r>
              <a:rPr sz="3200" b="0">
                <a:solidFill>
                  <a:srgbClr val="FFFFFF"/>
                </a:solidFill>
                <a:latin typeface="Calibri Light"/>
              </a:rPr>
              <a:t>The Business and Product</a:t>
            </a:r>
          </a:p>
        </p:txBody>
      </p:sp>
      <p:sp>
        <p:nvSpPr>
          <p:cNvPr id="9" name="Rectangle 8"/>
          <p:cNvSpPr/>
          <p:nvPr/>
        </p:nvSpPr>
        <p:spPr>
          <a:xfrm>
            <a:off x="731520" y="1965960"/>
            <a:ext cx="10728960" cy="4069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965960"/>
            <a:ext cx="64008" cy="406908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ontent Placeholder 2"/>
          <p:cNvSpPr>
            <a:spLocks noGrp="1"/>
          </p:cNvSpPr>
          <p:nvPr>
            <p:ph idx="1"/>
          </p:nvPr>
        </p:nvSpPr>
        <p:spPr>
          <a:xfrm>
            <a:off x="1051560" y="2148840"/>
            <a:ext cx="10088880" cy="3703320"/>
          </a:xfrm>
        </p:spPr>
        <p:txBody>
          <a:bodyPr anchor="ctr"/>
          <a:lstStyle/>
          <a:p>
            <a:pPr>
              <a:spcAft>
                <a:spcPts val="1000"/>
              </a:spcAft>
              <a:buClr>
                <a:srgbClr val="F2A900"/>
              </a:buClr>
            </a:pPr>
            <a:r>
              <a:rPr sz="2200" b="1">
                <a:solidFill>
                  <a:srgbClr val="8A6100"/>
                </a:solidFill>
                <a:latin typeface="Calibri"/>
              </a:rPr>
              <a:t>Business: </a:t>
            </a:r>
            <a:r>
              <a:rPr sz="2200" b="0">
                <a:solidFill>
                  <a:srgbClr val="202124"/>
                </a:solidFill>
                <a:latin typeface="Calibri"/>
              </a:rPr>
              <a:t>SkillUp Academy, a new digital-skills training business in Nigeria.</a:t>
            </a:r>
          </a:p>
          <a:p>
            <a:pPr>
              <a:spcAft>
                <a:spcPts val="1000"/>
              </a:spcAft>
              <a:buClr>
                <a:srgbClr val="F2A900"/>
              </a:buClr>
            </a:pPr>
            <a:r>
              <a:rPr sz="2200" b="1">
                <a:solidFill>
                  <a:srgbClr val="8A6100"/>
                </a:solidFill>
                <a:latin typeface="Calibri"/>
              </a:rPr>
              <a:t>Product: </a:t>
            </a:r>
            <a:r>
              <a:rPr sz="2200" b="0">
                <a:solidFill>
                  <a:srgbClr val="202124"/>
                </a:solidFill>
                <a:latin typeface="Calibri"/>
              </a:rPr>
              <a:t>CyberStart, a 12-week beginner cybersecurity course in Nigeria, for people with no IT background.</a:t>
            </a:r>
          </a:p>
          <a:p>
            <a:pPr>
              <a:spcAft>
                <a:spcPts val="1000"/>
              </a:spcAft>
              <a:buClr>
                <a:srgbClr val="F2A900"/>
              </a:buClr>
            </a:pPr>
            <a:r>
              <a:rPr sz="2200" b="1">
                <a:solidFill>
                  <a:srgbClr val="8A6100"/>
                </a:solidFill>
                <a:latin typeface="Calibri"/>
              </a:rPr>
              <a:t>How it runs: </a:t>
            </a:r>
            <a:r>
              <a:rPr sz="2200" b="0">
                <a:solidFill>
                  <a:srgbClr val="202124"/>
                </a:solidFill>
                <a:latin typeface="Calibri"/>
              </a:rPr>
              <a:t>Live online classes, plus weekend practical labs in Lagos and Abuja.</a:t>
            </a:r>
          </a:p>
          <a:p>
            <a:pPr>
              <a:spcAft>
                <a:spcPts val="1000"/>
              </a:spcAft>
              <a:buClr>
                <a:srgbClr val="F2A900"/>
              </a:buClr>
            </a:pPr>
            <a:r>
              <a:rPr sz="2200" b="1">
                <a:solidFill>
                  <a:srgbClr val="8A6100"/>
                </a:solidFill>
                <a:latin typeface="Calibri"/>
              </a:rPr>
              <a:t>Outcome: </a:t>
            </a:r>
            <a:r>
              <a:rPr sz="2200" b="0">
                <a:solidFill>
                  <a:srgbClr val="202124"/>
                </a:solidFill>
                <a:latin typeface="Calibri"/>
              </a:rPr>
              <a:t>Ready for a first certificate (ISC2 CC or CompTIA Security+) and a first job.</a:t>
            </a:r>
          </a:p>
          <a:p>
            <a:pPr>
              <a:spcAft>
                <a:spcPts val="1000"/>
              </a:spcAft>
              <a:buClr>
                <a:srgbClr val="F2A900"/>
              </a:buClr>
            </a:pPr>
            <a:r>
              <a:rPr sz="2200" b="1">
                <a:solidFill>
                  <a:srgbClr val="8A6100"/>
                </a:solidFill>
                <a:latin typeface="Calibri"/>
              </a:rPr>
              <a:t>Proposed price: </a:t>
            </a:r>
            <a:r>
              <a:rPr sz="2200" b="0">
                <a:solidFill>
                  <a:srgbClr val="202124"/>
                </a:solidFill>
                <a:latin typeface="Calibri"/>
              </a:rPr>
              <a:t>₦150,000, paid in 3 parts of ₦50,000.</a:t>
            </a:r>
          </a:p>
        </p:txBody>
      </p:sp>
      <p:cxnSp>
        <p:nvCxnSpPr>
          <p:cNvPr id="5" name="Straight Connector 4"/>
          <p:cNvCxnSpPr/>
          <p:nvPr/>
        </p:nvCxnSpPr>
        <p:spPr>
          <a:xfrm>
            <a:off x="0" y="1207008"/>
            <a:ext cx="12192000" cy="0"/>
          </a:xfrm>
          <a:prstGeom prst="line">
            <a:avLst/>
          </a:prstGeom>
          <a:ln w="50800">
            <a:solidFill>
              <a:srgbClr val="F2A9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325880"/>
            <a:ext cx="10911840" cy="384048"/>
          </a:xfrm>
          <a:prstGeom prst="rect">
            <a:avLst/>
          </a:prstGeom>
          <a:noFill/>
        </p:spPr>
        <p:txBody>
          <a:bodyPr wrap="square">
            <a:spAutoFit/>
          </a:bodyPr>
          <a:lstStyle/>
          <a:p>
            <a:pPr algn="l"/>
            <a:r>
              <a:rPr sz="1600" b="0">
                <a:solidFill>
                  <a:srgbClr val="57575A"/>
                </a:solidFill>
                <a:latin typeface="Calibri"/>
              </a:rPr>
              <a:t>What I plan to launch</a:t>
            </a:r>
          </a:p>
        </p:txBody>
      </p:sp>
      <p:sp>
        <p:nvSpPr>
          <p:cNvPr id="7" name="TextBox 6"/>
          <p:cNvSpPr txBox="1"/>
          <p:nvPr/>
        </p:nvSpPr>
        <p:spPr>
          <a:xfrm>
            <a:off x="640080" y="6400800"/>
            <a:ext cx="7315200" cy="274320"/>
          </a:xfrm>
          <a:prstGeom prst="rect">
            <a:avLst/>
          </a:prstGeom>
          <a:noFill/>
        </p:spPr>
        <p:txBody>
          <a:bodyPr wrap="square">
            <a:spAutoFit/>
          </a:bodyPr>
          <a:lstStyle/>
          <a:p>
            <a:r>
              <a:rPr sz="1000" b="0">
                <a:solidFill>
                  <a:srgbClr val="57575A"/>
                </a:solidFill>
                <a:latin typeface="Calibri"/>
              </a:rPr>
              <a:t>SkillUp Academy  ·  Capstone Project</a:t>
            </a:r>
          </a:p>
        </p:txBody>
      </p:sp>
      <p:sp>
        <p:nvSpPr>
          <p:cNvPr id="8" name="TextBox 7"/>
          <p:cNvSpPr txBox="1"/>
          <p:nvPr/>
        </p:nvSpPr>
        <p:spPr>
          <a:xfrm>
            <a:off x="10637520" y="6400800"/>
            <a:ext cx="914400" cy="274320"/>
          </a:xfrm>
          <a:prstGeom prst="rect">
            <a:avLst/>
          </a:prstGeom>
          <a:noFill/>
        </p:spPr>
        <p:txBody>
          <a:bodyPr wrap="square">
            <a:spAutoFit/>
          </a:bodyPr>
          <a:lstStyle/>
          <a:p>
            <a:pPr algn="r"/>
            <a:r>
              <a:rPr sz="1000" b="0">
                <a:solidFill>
                  <a:srgbClr val="57575A"/>
                </a:solidFill>
                <a:latin typeface="Calibri"/>
              </a:rPr>
              <a:t>2</a:t>
            </a:r>
          </a:p>
        </p:txBody>
      </p:sp>
    </p:spTree>
  </p:cSld>
  <p:clrMapOvr>
    <a:masterClrMapping/>
  </p:clrMapOvr>
  <mc:AlternateContent xmlns:mc="http://schemas.openxmlformats.org/markup-compatibility/2006">
    <mc:Choice xmlns:p14="http://schemas.microsoft.com/office/powerpoint/2010/main" Requires="p14">
      <p:transition spd="slow" p14:dur="1500" advTm="10000">
        <p:push dir="u"/>
      </p:transition>
    </mc:Choice>
    <mc:Fallback>
      <p:transition spd="slow" advTm="10000">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right)">
                                      <p:cBhvr>
                                        <p:cTn id="10" dur="500"/>
                                        <p:tgtEl>
                                          <p:spTgt spid="5"/>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9" grpId="0" animBg="1"/>
      <p:bldP spid="10" grpId="0" animBg="1"/>
      <p:bldP spid="3"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4" name="Rectangle 3"/>
          <p:cNvSpPr/>
          <p:nvPr/>
        </p:nvSpPr>
        <p:spPr>
          <a:xfrm>
            <a:off x="0" y="0"/>
            <a:ext cx="12192000" cy="1188720"/>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640080" y="256032"/>
            <a:ext cx="10911840" cy="731520"/>
          </a:xfrm>
        </p:spPr>
        <p:txBody>
          <a:bodyPr anchor="ctr"/>
          <a:lstStyle/>
          <a:p>
            <a:pPr algn="l"/>
            <a:r>
              <a:rPr sz="3200" b="0">
                <a:solidFill>
                  <a:srgbClr val="FFFFFF"/>
                </a:solidFill>
                <a:latin typeface="Calibri Light"/>
              </a:rPr>
              <a:t>Defining the Market</a:t>
            </a:r>
          </a:p>
        </p:txBody>
      </p:sp>
      <p:graphicFrame>
        <p:nvGraphicFramePr>
          <p:cNvPr id="3" name="Content Placeholder 2"/>
          <p:cNvGraphicFramePr>
            <a:graphicFrameLocks noGrp="1"/>
          </p:cNvGraphicFramePr>
          <p:nvPr>
            <p:ph idx="1"/>
          </p:nvPr>
        </p:nvGraphicFramePr>
        <p:xfrm>
          <a:off x="701040" y="1965960"/>
          <a:ext cx="10789920" cy="3794760"/>
        </p:xfrm>
        <a:graphic>
          <a:graphicData uri="http://schemas.openxmlformats.org/drawingml/2006/table">
            <a:tbl>
              <a:tblPr firstRow="1">
                <a:tableStyleId>{5940675A-B579-460E-94D1-54222C63F5DA}</a:tableStyleId>
              </a:tblPr>
              <a:tblGrid>
                <a:gridCol w="2377440"/>
                <a:gridCol w="8412480"/>
              </a:tblGrid>
              <a:tr h="502920">
                <a:tc>
                  <a:txBody>
                    <a:bodyPr/>
                    <a:lstStyle/>
                    <a:p>
                      <a:pPr algn="l"/>
                      <a:r>
                        <a:rPr sz="1800" b="1">
                          <a:solidFill>
                            <a:srgbClr val="FFFFFF"/>
                          </a:solidFill>
                          <a:latin typeface="Calibri"/>
                        </a:rPr>
                        <a:t>Part</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202124"/>
                    </a:solidFill>
                  </a:tcPr>
                </a:tc>
                <a:tc>
                  <a:txBody>
                    <a:bodyPr/>
                    <a:lstStyle/>
                    <a:p>
                      <a:pPr algn="l"/>
                      <a:r>
                        <a:rPr sz="1800" b="1">
                          <a:solidFill>
                            <a:srgbClr val="FFFFFF"/>
                          </a:solidFill>
                          <a:latin typeface="Calibri"/>
                        </a:rPr>
                        <a:t>Our market</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202124"/>
                    </a:solidFill>
                  </a:tcPr>
                </a:tc>
              </a:tr>
              <a:tr h="658368">
                <a:tc>
                  <a:txBody>
                    <a:bodyPr/>
                    <a:lstStyle/>
                    <a:p>
                      <a:pPr algn="l"/>
                      <a:r>
                        <a:rPr sz="1800" b="1">
                          <a:solidFill>
                            <a:srgbClr val="202124"/>
                          </a:solidFill>
                          <a:latin typeface="Calibri"/>
                        </a:rPr>
                        <a:t>Market</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c>
                  <a:txBody>
                    <a:bodyPr/>
                    <a:lstStyle/>
                    <a:p>
                      <a:pPr algn="l"/>
                      <a:r>
                        <a:rPr sz="1800" b="0">
                          <a:solidFill>
                            <a:srgbClr val="202124"/>
                          </a:solidFill>
                          <a:latin typeface="Calibri"/>
                        </a:rPr>
                        <a:t>Beginner cybersecurity training (education services)</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r>
              <a:tr h="658368">
                <a:tc>
                  <a:txBody>
                    <a:bodyPr/>
                    <a:lstStyle/>
                    <a:p>
                      <a:pPr algn="l"/>
                      <a:r>
                        <a:rPr sz="1800" b="1">
                          <a:solidFill>
                            <a:srgbClr val="202124"/>
                          </a:solidFill>
                          <a:latin typeface="Calibri"/>
                        </a:rPr>
                        <a:t>Customers</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c>
                  <a:txBody>
                    <a:bodyPr/>
                    <a:lstStyle/>
                    <a:p>
                      <a:pPr algn="l"/>
                      <a:r>
                        <a:rPr sz="1800" b="0">
                          <a:solidFill>
                            <a:srgbClr val="202124"/>
                          </a:solidFill>
                          <a:latin typeface="Calibri"/>
                        </a:rPr>
                        <a:t>Students, graduates and career changers aged about 18 to 35; employers who sponsor staff</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r>
              <a:tr h="658368">
                <a:tc>
                  <a:txBody>
                    <a:bodyPr/>
                    <a:lstStyle/>
                    <a:p>
                      <a:pPr algn="l"/>
                      <a:r>
                        <a:rPr sz="1800" b="1">
                          <a:solidFill>
                            <a:srgbClr val="202124"/>
                          </a:solidFill>
                          <a:latin typeface="Calibri"/>
                        </a:rPr>
                        <a:t>Location</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c>
                  <a:txBody>
                    <a:bodyPr/>
                    <a:lstStyle/>
                    <a:p>
                      <a:pPr algn="l"/>
                      <a:r>
                        <a:rPr sz="1800" b="0">
                          <a:solidFill>
                            <a:srgbClr val="202124"/>
                          </a:solidFill>
                          <a:latin typeface="Calibri"/>
                        </a:rPr>
                        <a:t>Nigeria: online nationwide, with labs in Lagos and Abuja, where most jobs are</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r>
              <a:tr h="658368">
                <a:tc>
                  <a:txBody>
                    <a:bodyPr/>
                    <a:lstStyle/>
                    <a:p>
                      <a:pPr algn="l"/>
                      <a:r>
                        <a:rPr sz="1800" b="1">
                          <a:solidFill>
                            <a:srgbClr val="202124"/>
                          </a:solidFill>
                          <a:latin typeface="Calibri"/>
                        </a:rPr>
                        <a:t>Customer need</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c>
                  <a:txBody>
                    <a:bodyPr/>
                    <a:lstStyle/>
                    <a:p>
                      <a:pPr algn="l"/>
                      <a:r>
                        <a:rPr sz="1800" b="0">
                          <a:solidFill>
                            <a:srgbClr val="202124"/>
                          </a:solidFill>
                          <a:latin typeface="Calibri"/>
                        </a:rPr>
                        <a:t>A low-cost, practical route into a well-paid cybersecurity job</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r>
              <a:tr h="658368">
                <a:tc>
                  <a:txBody>
                    <a:bodyPr/>
                    <a:lstStyle/>
                    <a:p>
                      <a:pPr algn="l"/>
                      <a:r>
                        <a:rPr sz="1800" b="1">
                          <a:solidFill>
                            <a:srgbClr val="202124"/>
                          </a:solidFill>
                          <a:latin typeface="Calibri"/>
                        </a:rPr>
                        <a:t>Competition</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c>
                  <a:txBody>
                    <a:bodyPr/>
                    <a:lstStyle/>
                    <a:p>
                      <a:pPr algn="l"/>
                      <a:r>
                        <a:rPr sz="1800" b="0">
                          <a:solidFill>
                            <a:srgbClr val="202124"/>
                          </a:solidFill>
                          <a:latin typeface="Calibri"/>
                        </a:rPr>
                        <a:t>Online tech schools, free programmes, course marketplaces and classroom providers</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r>
            </a:tbl>
          </a:graphicData>
        </a:graphic>
      </p:graphicFrame>
      <p:cxnSp>
        <p:nvCxnSpPr>
          <p:cNvPr id="5" name="Straight Connector 4"/>
          <p:cNvCxnSpPr/>
          <p:nvPr/>
        </p:nvCxnSpPr>
        <p:spPr>
          <a:xfrm>
            <a:off x="0" y="1207008"/>
            <a:ext cx="12192000" cy="0"/>
          </a:xfrm>
          <a:prstGeom prst="line">
            <a:avLst/>
          </a:prstGeom>
          <a:ln w="50800">
            <a:solidFill>
              <a:srgbClr val="F2A9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325880"/>
            <a:ext cx="10911840" cy="384048"/>
          </a:xfrm>
          <a:prstGeom prst="rect">
            <a:avLst/>
          </a:prstGeom>
          <a:noFill/>
        </p:spPr>
        <p:txBody>
          <a:bodyPr wrap="square">
            <a:spAutoFit/>
          </a:bodyPr>
          <a:lstStyle/>
          <a:p>
            <a:pPr algn="l"/>
            <a:r>
              <a:rPr sz="1600" b="0">
                <a:solidFill>
                  <a:srgbClr val="57575A"/>
                </a:solidFill>
                <a:latin typeface="Calibri"/>
              </a:rPr>
              <a:t>Who the customers are, where they are and what they need</a:t>
            </a:r>
          </a:p>
        </p:txBody>
      </p:sp>
      <p:sp>
        <p:nvSpPr>
          <p:cNvPr id="7" name="TextBox 6"/>
          <p:cNvSpPr txBox="1"/>
          <p:nvPr/>
        </p:nvSpPr>
        <p:spPr>
          <a:xfrm>
            <a:off x="640080" y="6400800"/>
            <a:ext cx="7315200" cy="274320"/>
          </a:xfrm>
          <a:prstGeom prst="rect">
            <a:avLst/>
          </a:prstGeom>
          <a:noFill/>
        </p:spPr>
        <p:txBody>
          <a:bodyPr wrap="square">
            <a:spAutoFit/>
          </a:bodyPr>
          <a:lstStyle/>
          <a:p>
            <a:r>
              <a:rPr sz="1000" b="0">
                <a:solidFill>
                  <a:srgbClr val="57575A"/>
                </a:solidFill>
                <a:latin typeface="Calibri"/>
              </a:rPr>
              <a:t>SkillUp Academy  ·  Capstone Project</a:t>
            </a:r>
          </a:p>
        </p:txBody>
      </p:sp>
      <p:sp>
        <p:nvSpPr>
          <p:cNvPr id="8" name="TextBox 7"/>
          <p:cNvSpPr txBox="1"/>
          <p:nvPr/>
        </p:nvSpPr>
        <p:spPr>
          <a:xfrm>
            <a:off x="10637520" y="6400800"/>
            <a:ext cx="914400" cy="274320"/>
          </a:xfrm>
          <a:prstGeom prst="rect">
            <a:avLst/>
          </a:prstGeom>
          <a:noFill/>
        </p:spPr>
        <p:txBody>
          <a:bodyPr wrap="square">
            <a:spAutoFit/>
          </a:bodyPr>
          <a:lstStyle/>
          <a:p>
            <a:pPr algn="r"/>
            <a:r>
              <a:rPr sz="1000" b="0">
                <a:solidFill>
                  <a:srgbClr val="57575A"/>
                </a:solidFill>
                <a:latin typeface="Calibri"/>
              </a:rPr>
              <a:t>3</a:t>
            </a:r>
          </a:p>
        </p:txBody>
      </p:sp>
    </p:spTree>
  </p:cSld>
  <p:clrMapOvr>
    <a:masterClrMapping/>
  </p:clrMapOvr>
  <mc:AlternateContent xmlns:mc="http://schemas.openxmlformats.org/markup-compatibility/2006">
    <mc:Choice xmlns:p14="http://schemas.microsoft.com/office/powerpoint/2010/main" Requires="p14">
      <p:transition spd="slow" p14:dur="1500" advTm="10000">
        <p:push dir="u"/>
      </p:transition>
    </mc:Choice>
    <mc:Fallback>
      <p:transition spd="slow" advTm="10000">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right)">
                                      <p:cBhvr>
                                        <p:cTn id="10" dur="500"/>
                                        <p:tgtEl>
                                          <p:spTgt spid="5"/>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par>
                          <p:cTn id="15" fill="hold">
                            <p:stCondLst>
                              <p:cond delay="1000"/>
                            </p:stCondLst>
                            <p:childTnLst>
                              <p:par>
                                <p:cTn id="16" presetID="22" presetClass="entr" presetSubtype="1"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down)">
                                      <p:cBhvr>
                                        <p:cTn id="1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4" name="Rectangle 3"/>
          <p:cNvSpPr/>
          <p:nvPr/>
        </p:nvSpPr>
        <p:spPr>
          <a:xfrm>
            <a:off x="0" y="0"/>
            <a:ext cx="12192000" cy="1188720"/>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640080" y="256032"/>
            <a:ext cx="10911840" cy="731520"/>
          </a:xfrm>
        </p:spPr>
        <p:txBody>
          <a:bodyPr anchor="ctr"/>
          <a:lstStyle/>
          <a:p>
            <a:pPr algn="l"/>
            <a:r>
              <a:rPr sz="3200" b="0">
                <a:solidFill>
                  <a:srgbClr val="FFFFFF"/>
                </a:solidFill>
                <a:latin typeface="Calibri Light"/>
              </a:rPr>
              <a:t>The Market in Numbers</a:t>
            </a:r>
          </a:p>
        </p:txBody>
      </p:sp>
      <p:graphicFrame>
        <p:nvGraphicFramePr>
          <p:cNvPr id="3" name="Content Placeholder 2"/>
          <p:cNvGraphicFramePr>
            <a:graphicFrameLocks noGrp="1"/>
          </p:cNvGraphicFramePr>
          <p:nvPr>
            <p:ph idx="1"/>
          </p:nvPr>
        </p:nvGraphicFramePr>
        <p:xfrm>
          <a:off x="822960" y="1874520"/>
          <a:ext cx="6812280" cy="4160520"/>
        </p:xfrm>
        <a:graphic>
          <a:graphicData uri="http://schemas.openxmlformats.org/drawingml/2006/chart">
            <c:chart xmlns:c="http://schemas.openxmlformats.org/drawingml/2006/chart" r:id="rId2"/>
          </a:graphicData>
        </a:graphic>
      </p:graphicFrame>
      <p:cxnSp>
        <p:nvCxnSpPr>
          <p:cNvPr id="5" name="Straight Connector 4"/>
          <p:cNvCxnSpPr/>
          <p:nvPr/>
        </p:nvCxnSpPr>
        <p:spPr>
          <a:xfrm>
            <a:off x="0" y="1207008"/>
            <a:ext cx="12192000" cy="0"/>
          </a:xfrm>
          <a:prstGeom prst="line">
            <a:avLst/>
          </a:prstGeom>
          <a:ln w="50800">
            <a:solidFill>
              <a:srgbClr val="F2A9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325880"/>
            <a:ext cx="10911840" cy="384048"/>
          </a:xfrm>
          <a:prstGeom prst="rect">
            <a:avLst/>
          </a:prstGeom>
          <a:noFill/>
        </p:spPr>
        <p:txBody>
          <a:bodyPr wrap="square">
            <a:spAutoFit/>
          </a:bodyPr>
          <a:lstStyle/>
          <a:p>
            <a:pPr algn="l"/>
            <a:r>
              <a:rPr sz="1600" b="0">
                <a:solidFill>
                  <a:srgbClr val="57575A"/>
                </a:solidFill>
                <a:latin typeface="Calibri"/>
              </a:rPr>
              <a:t>Nigeria's cybersecurity market, US$ million (Mordor Intelligence)</a:t>
            </a:r>
          </a:p>
        </p:txBody>
      </p:sp>
      <p:sp>
        <p:nvSpPr>
          <p:cNvPr id="7" name="TextBox 6"/>
          <p:cNvSpPr txBox="1"/>
          <p:nvPr/>
        </p:nvSpPr>
        <p:spPr>
          <a:xfrm>
            <a:off x="640080" y="6400800"/>
            <a:ext cx="7315200" cy="274320"/>
          </a:xfrm>
          <a:prstGeom prst="rect">
            <a:avLst/>
          </a:prstGeom>
          <a:noFill/>
        </p:spPr>
        <p:txBody>
          <a:bodyPr wrap="square">
            <a:spAutoFit/>
          </a:bodyPr>
          <a:lstStyle/>
          <a:p>
            <a:r>
              <a:rPr sz="1000" b="0">
                <a:solidFill>
                  <a:srgbClr val="57575A"/>
                </a:solidFill>
                <a:latin typeface="Calibri"/>
              </a:rPr>
              <a:t>SkillUp Academy  ·  Capstone Project</a:t>
            </a:r>
          </a:p>
        </p:txBody>
      </p:sp>
      <p:sp>
        <p:nvSpPr>
          <p:cNvPr id="8" name="TextBox 7"/>
          <p:cNvSpPr txBox="1"/>
          <p:nvPr/>
        </p:nvSpPr>
        <p:spPr>
          <a:xfrm>
            <a:off x="10637520" y="6400800"/>
            <a:ext cx="914400" cy="274320"/>
          </a:xfrm>
          <a:prstGeom prst="rect">
            <a:avLst/>
          </a:prstGeom>
          <a:noFill/>
        </p:spPr>
        <p:txBody>
          <a:bodyPr wrap="square">
            <a:spAutoFit/>
          </a:bodyPr>
          <a:lstStyle/>
          <a:p>
            <a:pPr algn="r"/>
            <a:r>
              <a:rPr sz="1000" b="0">
                <a:solidFill>
                  <a:srgbClr val="57575A"/>
                </a:solidFill>
                <a:latin typeface="Calibri"/>
              </a:rPr>
              <a:t>4</a:t>
            </a:r>
          </a:p>
        </p:txBody>
      </p:sp>
      <p:sp>
        <p:nvSpPr>
          <p:cNvPr id="9" name="Rectangle 8"/>
          <p:cNvSpPr/>
          <p:nvPr/>
        </p:nvSpPr>
        <p:spPr>
          <a:xfrm>
            <a:off x="7818120" y="1965960"/>
            <a:ext cx="3596640" cy="4023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818120" y="1965960"/>
            <a:ext cx="64008" cy="402336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0" y="2148840"/>
            <a:ext cx="3139440" cy="3657600"/>
          </a:xfrm>
          <a:prstGeom prst="rect">
            <a:avLst/>
          </a:prstGeom>
          <a:noFill/>
        </p:spPr>
        <p:txBody>
          <a:bodyPr wrap="square" anchor="ctr">
            <a:spAutoFit/>
          </a:bodyPr>
          <a:lstStyle/>
          <a:p>
            <a:pPr>
              <a:spcAft>
                <a:spcPts val="1200"/>
              </a:spcAft>
            </a:pPr>
            <a:r>
              <a:rPr sz="1600" b="1">
                <a:solidFill>
                  <a:srgbClr val="202124"/>
                </a:solidFill>
                <a:latin typeface="Calibri"/>
              </a:rPr>
              <a:t>Growing: </a:t>
            </a:r>
            <a:r>
              <a:rPr sz="1600" b="0">
                <a:solidFill>
                  <a:srgbClr val="202124"/>
                </a:solidFill>
                <a:latin typeface="Calibri"/>
              </a:rPr>
              <a:t>about 10% a year to 2031.</a:t>
            </a:r>
          </a:p>
          <a:p>
            <a:pPr>
              <a:spcAft>
                <a:spcPts val="1200"/>
              </a:spcAft>
            </a:pPr>
            <a:r>
              <a:rPr sz="1600" b="1">
                <a:solidFill>
                  <a:srgbClr val="202124"/>
                </a:solidFill>
                <a:latin typeface="Calibri"/>
              </a:rPr>
              <a:t>Few experts: </a:t>
            </a:r>
            <a:r>
              <a:rPr sz="1600" b="0">
                <a:solidFill>
                  <a:srgbClr val="202124"/>
                </a:solidFill>
                <a:latin typeface="Calibri"/>
              </a:rPr>
              <a:t>8,352 in Nigeria (2023), 7 times fewer than South Africa.</a:t>
            </a:r>
          </a:p>
          <a:p>
            <a:pPr>
              <a:spcAft>
                <a:spcPts val="1200"/>
              </a:spcAft>
            </a:pPr>
            <a:r>
              <a:rPr sz="1600" b="1">
                <a:solidFill>
                  <a:srgbClr val="202124"/>
                </a:solidFill>
                <a:latin typeface="Calibri"/>
              </a:rPr>
              <a:t>More attacks: </a:t>
            </a:r>
            <a:r>
              <a:rPr sz="1600" b="0">
                <a:solidFill>
                  <a:srgbClr val="202124"/>
                </a:solidFill>
                <a:latin typeface="Calibri"/>
              </a:rPr>
              <a:t>4,388 a week on each organisation in early 2025, up 47%.</a:t>
            </a:r>
          </a:p>
          <a:p>
            <a:pPr>
              <a:spcAft>
                <a:spcPts val="1200"/>
              </a:spcAft>
            </a:pPr>
            <a:r>
              <a:rPr sz="1600" b="1">
                <a:solidFill>
                  <a:srgbClr val="202124"/>
                </a:solidFill>
                <a:latin typeface="Calibri"/>
              </a:rPr>
              <a:t>Online: </a:t>
            </a:r>
            <a:r>
              <a:rPr sz="1600" b="0">
                <a:solidFill>
                  <a:srgbClr val="202124"/>
                </a:solidFill>
                <a:latin typeface="Calibri"/>
              </a:rPr>
              <a:t>109 million Nigerians use the internet.</a:t>
            </a:r>
          </a:p>
        </p:txBody>
      </p:sp>
    </p:spTree>
  </p:cSld>
  <p:clrMapOvr>
    <a:masterClrMapping/>
  </p:clrMapOvr>
  <mc:AlternateContent xmlns:mc="http://schemas.openxmlformats.org/markup-compatibility/2006">
    <mc:Choice xmlns:p14="http://schemas.microsoft.com/office/powerpoint/2010/main" Requires="p14">
      <p:transition spd="slow" p14:dur="1500" advTm="10000">
        <p:push dir="u"/>
      </p:transition>
    </mc:Choice>
    <mc:Fallback>
      <p:transition spd="slow" advTm="10000">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right)">
                                      <p:cBhvr>
                                        <p:cTn id="10" dur="500"/>
                                        <p:tgtEl>
                                          <p:spTgt spid="5"/>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right)">
                                      <p:cBhvr>
                                        <p:cTn id="18" dur="500"/>
                                        <p:tgtEl>
                                          <p:spTgt spid="3"/>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Graphic spid="3" grpId="0">
        <p:bldAsOne/>
      </p:bldGraphic>
      <p:bldP spid="9" grpId="0" animBg="1"/>
      <p:bldP spid="10" grpId="0" animBg="1"/>
      <p:bldP spid="11"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4" name="Rectangle 3"/>
          <p:cNvSpPr/>
          <p:nvPr/>
        </p:nvSpPr>
        <p:spPr>
          <a:xfrm>
            <a:off x="0" y="0"/>
            <a:ext cx="12192000" cy="1188720"/>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640080" y="256032"/>
            <a:ext cx="10911840" cy="731520"/>
          </a:xfrm>
        </p:spPr>
        <p:txBody>
          <a:bodyPr anchor="ctr"/>
          <a:lstStyle/>
          <a:p>
            <a:pPr algn="l"/>
            <a:r>
              <a:rPr sz="3200" b="0">
                <a:solidFill>
                  <a:srgbClr val="FFFFFF"/>
                </a:solidFill>
                <a:latin typeface="Calibri Light"/>
              </a:rPr>
              <a:t>Customer Research Methods</a:t>
            </a:r>
          </a:p>
        </p:txBody>
      </p:sp>
      <p:graphicFrame>
        <p:nvGraphicFramePr>
          <p:cNvPr id="3" name="Content Placeholder 2"/>
          <p:cNvGraphicFramePr>
            <a:graphicFrameLocks noGrp="1"/>
          </p:cNvGraphicFramePr>
          <p:nvPr>
            <p:ph idx="1"/>
          </p:nvPr>
        </p:nvGraphicFramePr>
        <p:xfrm>
          <a:off x="701040" y="1965960"/>
          <a:ext cx="10789920" cy="4023360"/>
        </p:xfrm>
        <a:graphic>
          <a:graphicData uri="http://schemas.openxmlformats.org/drawingml/2006/table">
            <a:tbl>
              <a:tblPr firstRow="1">
                <a:tableStyleId>{5940675A-B579-460E-94D1-54222C63F5DA}</a:tableStyleId>
              </a:tblPr>
              <a:tblGrid>
                <a:gridCol w="2468880"/>
                <a:gridCol w="4297680"/>
                <a:gridCol w="4023360"/>
              </a:tblGrid>
              <a:tr h="457200">
                <a:tc>
                  <a:txBody>
                    <a:bodyPr/>
                    <a:lstStyle/>
                    <a:p>
                      <a:pPr algn="l"/>
                      <a:r>
                        <a:rPr sz="1500" b="1">
                          <a:solidFill>
                            <a:srgbClr val="FFFFFF"/>
                          </a:solidFill>
                          <a:latin typeface="Calibri"/>
                        </a:rPr>
                        <a:t>Method</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202124"/>
                    </a:solidFill>
                  </a:tcPr>
                </a:tc>
                <a:tc>
                  <a:txBody>
                    <a:bodyPr/>
                    <a:lstStyle/>
                    <a:p>
                      <a:pPr algn="l"/>
                      <a:r>
                        <a:rPr sz="1500" b="1">
                          <a:solidFill>
                            <a:srgbClr val="FFFFFF"/>
                          </a:solidFill>
                          <a:latin typeface="Calibri"/>
                        </a:rPr>
                        <a:t>Where</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202124"/>
                    </a:solidFill>
                  </a:tcPr>
                </a:tc>
                <a:tc>
                  <a:txBody>
                    <a:bodyPr/>
                    <a:lstStyle/>
                    <a:p>
                      <a:pPr algn="l"/>
                      <a:r>
                        <a:rPr sz="1500" b="1">
                          <a:solidFill>
                            <a:srgbClr val="FFFFFF"/>
                          </a:solidFill>
                          <a:latin typeface="Calibri"/>
                        </a:rPr>
                        <a:t>What I looked for</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202124"/>
                    </a:solidFill>
                  </a:tcPr>
                </a:tc>
              </a:tr>
              <a:tr h="713232">
                <a:tc>
                  <a:txBody>
                    <a:bodyPr/>
                    <a:lstStyle/>
                    <a:p>
                      <a:pPr algn="l"/>
                      <a:r>
                        <a:rPr sz="1500" b="1">
                          <a:solidFill>
                            <a:srgbClr val="202124"/>
                          </a:solidFill>
                          <a:latin typeface="Calibri"/>
                        </a:rPr>
                        <a:t>Google Search</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c>
                  <a:txBody>
                    <a:bodyPr/>
                    <a:lstStyle/>
                    <a:p>
                      <a:pPr algn="l"/>
                      <a:r>
                        <a:rPr sz="1500" b="0">
                          <a:solidFill>
                            <a:srgbClr val="202124"/>
                          </a:solidFill>
                          <a:latin typeface="Calibri"/>
                        </a:rPr>
                        <a:t>Search results for five searches a customer would make</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c>
                  <a:txBody>
                    <a:bodyPr/>
                    <a:lstStyle/>
                    <a:p>
                      <a:pPr algn="l"/>
                      <a:r>
                        <a:rPr sz="1500" b="0">
                          <a:solidFill>
                            <a:srgbClr val="202124"/>
                          </a:solidFill>
                          <a:latin typeface="Calibri"/>
                        </a:rPr>
                        <a:t>Prices, free options, the steps beginners are told to take, jobs</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r>
              <a:tr h="713232">
                <a:tc>
                  <a:txBody>
                    <a:bodyPr/>
                    <a:lstStyle/>
                    <a:p>
                      <a:pPr algn="l"/>
                      <a:r>
                        <a:rPr sz="1500" b="1">
                          <a:solidFill>
                            <a:srgbClr val="202124"/>
                          </a:solidFill>
                          <a:latin typeface="Calibri"/>
                        </a:rPr>
                        <a:t>Google Trends</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c>
                  <a:txBody>
                    <a:bodyPr/>
                    <a:lstStyle/>
                    <a:p>
                      <a:pPr algn="l"/>
                      <a:r>
                        <a:rPr sz="1500" b="0">
                          <a:solidFill>
                            <a:srgbClr val="202124"/>
                          </a:solidFill>
                          <a:latin typeface="Calibri"/>
                        </a:rPr>
                        <a:t>Five digital skills compared, Nigeria, past 12 months</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c>
                  <a:txBody>
                    <a:bodyPr/>
                    <a:lstStyle/>
                    <a:p>
                      <a:pPr algn="l"/>
                      <a:r>
                        <a:rPr sz="1500" b="0">
                          <a:solidFill>
                            <a:srgbClr val="202124"/>
                          </a:solidFill>
                          <a:latin typeface="Calibri"/>
                        </a:rPr>
                        <a:t>How much interest, when it peaked, where, and the rising searches</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r>
              <a:tr h="713232">
                <a:tc>
                  <a:txBody>
                    <a:bodyPr/>
                    <a:lstStyle/>
                    <a:p>
                      <a:pPr algn="l"/>
                      <a:r>
                        <a:rPr sz="1500" b="1">
                          <a:solidFill>
                            <a:srgbClr val="202124"/>
                          </a:solidFill>
                          <a:latin typeface="Calibri"/>
                        </a:rPr>
                        <a:t>Social media trends</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c>
                  <a:txBody>
                    <a:bodyPr/>
                    <a:lstStyle/>
                    <a:p>
                      <a:pPr algn="l"/>
                      <a:r>
                        <a:rPr sz="1500" b="0">
                          <a:solidFill>
                            <a:srgbClr val="202124"/>
                          </a:solidFill>
                          <a:latin typeface="Calibri"/>
                        </a:rPr>
                        <a:t>Facebook, Instagram, LinkedIn, TikTok and X</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c>
                  <a:txBody>
                    <a:bodyPr/>
                    <a:lstStyle/>
                    <a:p>
                      <a:pPr algn="l"/>
                      <a:r>
                        <a:rPr sz="1500" b="0">
                          <a:solidFill>
                            <a:srgbClr val="202124"/>
                          </a:solidFill>
                          <a:latin typeface="Calibri"/>
                        </a:rPr>
                        <a:t>Where the audience is, and how people talk about cybersecurity</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r>
              <a:tr h="713232">
                <a:tc>
                  <a:txBody>
                    <a:bodyPr/>
                    <a:lstStyle/>
                    <a:p>
                      <a:pPr algn="l"/>
                      <a:r>
                        <a:rPr sz="1500" b="1">
                          <a:solidFill>
                            <a:srgbClr val="202124"/>
                          </a:solidFill>
                          <a:latin typeface="Calibri"/>
                        </a:rPr>
                        <a:t>Competitor reviews</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c>
                  <a:txBody>
                    <a:bodyPr/>
                    <a:lstStyle/>
                    <a:p>
                      <a:pPr algn="l"/>
                      <a:r>
                        <a:rPr sz="1500" b="0">
                          <a:solidFill>
                            <a:srgbClr val="202124"/>
                          </a:solidFill>
                          <a:latin typeface="Calibri"/>
                        </a:rPr>
                        <a:t>Trustpilot and news about ALX Africa, AltSchool Africa, TryHackMe and others</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c>
                  <a:txBody>
                    <a:bodyPr/>
                    <a:lstStyle/>
                    <a:p>
                      <a:pPr algn="l"/>
                      <a:r>
                        <a:rPr sz="1500" b="0">
                          <a:solidFill>
                            <a:srgbClr val="202124"/>
                          </a:solidFill>
                          <a:latin typeface="Calibri"/>
                        </a:rPr>
                        <a:t>What learners like and complain about</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r>
              <a:tr h="713232">
                <a:tc>
                  <a:txBody>
                    <a:bodyPr/>
                    <a:lstStyle/>
                    <a:p>
                      <a:pPr algn="l"/>
                      <a:r>
                        <a:rPr sz="1500" b="1">
                          <a:solidFill>
                            <a:srgbClr val="202124"/>
                          </a:solidFill>
                          <a:latin typeface="Calibri"/>
                        </a:rPr>
                        <a:t>Marketplace reviews</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c>
                  <a:txBody>
                    <a:bodyPr/>
                    <a:lstStyle/>
                    <a:p>
                      <a:pPr algn="l"/>
                      <a:r>
                        <a:rPr sz="1500" b="0">
                          <a:solidFill>
                            <a:srgbClr val="202124"/>
                          </a:solidFill>
                          <a:latin typeface="Calibri"/>
                        </a:rPr>
                        <a:t>Udemy and Coursera cybersecurity courses</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c>
                  <a:txBody>
                    <a:bodyPr/>
                    <a:lstStyle/>
                    <a:p>
                      <a:pPr algn="l"/>
                      <a:r>
                        <a:rPr sz="1500" b="0">
                          <a:solidFill>
                            <a:srgbClr val="202124"/>
                          </a:solidFill>
                          <a:latin typeface="Calibri"/>
                        </a:rPr>
                        <a:t>Ratings, number of learners, praise and complaints</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r>
            </a:tbl>
          </a:graphicData>
        </a:graphic>
      </p:graphicFrame>
      <p:cxnSp>
        <p:nvCxnSpPr>
          <p:cNvPr id="5" name="Straight Connector 4"/>
          <p:cNvCxnSpPr/>
          <p:nvPr/>
        </p:nvCxnSpPr>
        <p:spPr>
          <a:xfrm>
            <a:off x="0" y="1207008"/>
            <a:ext cx="12192000" cy="0"/>
          </a:xfrm>
          <a:prstGeom prst="line">
            <a:avLst/>
          </a:prstGeom>
          <a:ln w="50800">
            <a:solidFill>
              <a:srgbClr val="F2A9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325880"/>
            <a:ext cx="10911840" cy="384048"/>
          </a:xfrm>
          <a:prstGeom prst="rect">
            <a:avLst/>
          </a:prstGeom>
          <a:noFill/>
        </p:spPr>
        <p:txBody>
          <a:bodyPr wrap="square">
            <a:spAutoFit/>
          </a:bodyPr>
          <a:lstStyle/>
          <a:p>
            <a:pPr algn="l"/>
            <a:r>
              <a:rPr sz="1600" b="0">
                <a:solidFill>
                  <a:srgbClr val="57575A"/>
                </a:solidFill>
                <a:latin typeface="Calibri"/>
              </a:rPr>
              <a:t>Five ways I studied the customers and the competition</a:t>
            </a:r>
          </a:p>
        </p:txBody>
      </p:sp>
      <p:sp>
        <p:nvSpPr>
          <p:cNvPr id="7" name="TextBox 6"/>
          <p:cNvSpPr txBox="1"/>
          <p:nvPr/>
        </p:nvSpPr>
        <p:spPr>
          <a:xfrm>
            <a:off x="640080" y="6400800"/>
            <a:ext cx="7315200" cy="274320"/>
          </a:xfrm>
          <a:prstGeom prst="rect">
            <a:avLst/>
          </a:prstGeom>
          <a:noFill/>
        </p:spPr>
        <p:txBody>
          <a:bodyPr wrap="square">
            <a:spAutoFit/>
          </a:bodyPr>
          <a:lstStyle/>
          <a:p>
            <a:r>
              <a:rPr sz="1000" b="0">
                <a:solidFill>
                  <a:srgbClr val="57575A"/>
                </a:solidFill>
                <a:latin typeface="Calibri"/>
              </a:rPr>
              <a:t>SkillUp Academy  ·  Capstone Project</a:t>
            </a:r>
          </a:p>
        </p:txBody>
      </p:sp>
      <p:sp>
        <p:nvSpPr>
          <p:cNvPr id="8" name="TextBox 7"/>
          <p:cNvSpPr txBox="1"/>
          <p:nvPr/>
        </p:nvSpPr>
        <p:spPr>
          <a:xfrm>
            <a:off x="10637520" y="6400800"/>
            <a:ext cx="914400" cy="274320"/>
          </a:xfrm>
          <a:prstGeom prst="rect">
            <a:avLst/>
          </a:prstGeom>
          <a:noFill/>
        </p:spPr>
        <p:txBody>
          <a:bodyPr wrap="square">
            <a:spAutoFit/>
          </a:bodyPr>
          <a:lstStyle/>
          <a:p>
            <a:pPr algn="r"/>
            <a:r>
              <a:rPr sz="1000" b="0">
                <a:solidFill>
                  <a:srgbClr val="57575A"/>
                </a:solidFill>
                <a:latin typeface="Calibri"/>
              </a:rPr>
              <a:t>5</a:t>
            </a:r>
          </a:p>
        </p:txBody>
      </p:sp>
      <p:sp>
        <p:nvSpPr>
          <p:cNvPr id="9" name="TextBox 8"/>
          <p:cNvSpPr txBox="1"/>
          <p:nvPr/>
        </p:nvSpPr>
        <p:spPr>
          <a:xfrm>
            <a:off x="640080" y="6099048"/>
            <a:ext cx="10911840" cy="365760"/>
          </a:xfrm>
          <a:prstGeom prst="rect">
            <a:avLst/>
          </a:prstGeom>
          <a:noFill/>
        </p:spPr>
        <p:txBody>
          <a:bodyPr wrap="square">
            <a:spAutoFit/>
          </a:bodyPr>
          <a:lstStyle/>
          <a:p>
            <a:r>
              <a:rPr sz="1400" b="0">
                <a:solidFill>
                  <a:srgbClr val="57575A"/>
                </a:solidFill>
                <a:latin typeface="Calibri"/>
              </a:rPr>
              <a:t>Web research done on 8 and 9 October 2026; Google Trends screenshots of 28 September 2026.</a:t>
            </a:r>
          </a:p>
        </p:txBody>
      </p:sp>
    </p:spTree>
  </p:cSld>
  <p:clrMapOvr>
    <a:masterClrMapping/>
  </p:clrMapOvr>
  <mc:AlternateContent xmlns:mc="http://schemas.openxmlformats.org/markup-compatibility/2006">
    <mc:Choice xmlns:p14="http://schemas.microsoft.com/office/powerpoint/2010/main" Requires="p14">
      <p:transition spd="slow" p14:dur="1500" advTm="10000">
        <p:push dir="u"/>
      </p:transition>
    </mc:Choice>
    <mc:Fallback>
      <p:transition spd="slow" advTm="10000">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right)">
                                      <p:cBhvr>
                                        <p:cTn id="10" dur="500"/>
                                        <p:tgtEl>
                                          <p:spTgt spid="5"/>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par>
                          <p:cTn id="15" fill="hold">
                            <p:stCondLst>
                              <p:cond delay="1000"/>
                            </p:stCondLst>
                            <p:childTnLst>
                              <p:par>
                                <p:cTn id="16" presetID="22" presetClass="entr" presetSubtype="1"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down)">
                                      <p:cBhvr>
                                        <p:cTn id="18" dur="500"/>
                                        <p:tgtEl>
                                          <p:spTgt spid="3"/>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9"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4" name="Rectangle 3"/>
          <p:cNvSpPr/>
          <p:nvPr/>
        </p:nvSpPr>
        <p:spPr>
          <a:xfrm>
            <a:off x="0" y="0"/>
            <a:ext cx="12192000" cy="1188720"/>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640080" y="256032"/>
            <a:ext cx="10911840" cy="731520"/>
          </a:xfrm>
        </p:spPr>
        <p:txBody>
          <a:bodyPr anchor="ctr"/>
          <a:lstStyle/>
          <a:p>
            <a:pPr algn="l"/>
            <a:r>
              <a:rPr sz="3200" b="0">
                <a:solidFill>
                  <a:srgbClr val="FFFFFF"/>
                </a:solidFill>
                <a:latin typeface="Calibri Light"/>
              </a:rPr>
              <a:t>Google Search</a:t>
            </a:r>
          </a:p>
        </p:txBody>
      </p:sp>
      <p:sp>
        <p:nvSpPr>
          <p:cNvPr id="9" name="Rectangle 8"/>
          <p:cNvSpPr/>
          <p:nvPr/>
        </p:nvSpPr>
        <p:spPr>
          <a:xfrm>
            <a:off x="731520" y="1965960"/>
            <a:ext cx="10728960" cy="4069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965960"/>
            <a:ext cx="64008" cy="406908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ontent Placeholder 2"/>
          <p:cNvSpPr>
            <a:spLocks noGrp="1"/>
          </p:cNvSpPr>
          <p:nvPr>
            <p:ph idx="1"/>
          </p:nvPr>
        </p:nvSpPr>
        <p:spPr>
          <a:xfrm>
            <a:off x="1051560" y="2148840"/>
            <a:ext cx="10088880" cy="3703320"/>
          </a:xfrm>
        </p:spPr>
        <p:txBody>
          <a:bodyPr anchor="ctr"/>
          <a:lstStyle/>
          <a:p>
            <a:pPr>
              <a:spcAft>
                <a:spcPts val="1000"/>
              </a:spcAft>
              <a:buClr>
                <a:srgbClr val="F2A900"/>
              </a:buClr>
            </a:pPr>
            <a:r>
              <a:rPr sz="2000" b="1">
                <a:solidFill>
                  <a:srgbClr val="8A6100"/>
                </a:solidFill>
                <a:latin typeface="Calibri"/>
              </a:rPr>
              <a:t>Prices are hard to find: </a:t>
            </a:r>
            <a:r>
              <a:rPr sz="2000" b="0">
                <a:solidFill>
                  <a:srgbClr val="202124"/>
                </a:solidFill>
                <a:latin typeface="Calibri"/>
              </a:rPr>
              <a:t>few results show a naira price.</a:t>
            </a:r>
          </a:p>
          <a:p>
            <a:pPr>
              <a:spcAft>
                <a:spcPts val="1000"/>
              </a:spcAft>
              <a:buClr>
                <a:srgbClr val="F2A900"/>
              </a:buClr>
            </a:pPr>
            <a:r>
              <a:rPr sz="2000" b="1">
                <a:solidFill>
                  <a:srgbClr val="8A6100"/>
                </a:solidFill>
                <a:latin typeface="Calibri"/>
              </a:rPr>
              <a:t>Prices vary widely: </a:t>
            </a:r>
            <a:r>
              <a:rPr sz="2000" b="0">
                <a:solidFill>
                  <a:srgbClr val="202124"/>
                </a:solidFill>
                <a:latin typeface="Calibri"/>
              </a:rPr>
              <a:t>₦100,000 to start a 12-week course; ₦250,000 for 5 days in a Lagos classroom; US$1,000 or more for a bootcamp track.</a:t>
            </a:r>
          </a:p>
          <a:p>
            <a:pPr>
              <a:spcAft>
                <a:spcPts val="1000"/>
              </a:spcAft>
              <a:buClr>
                <a:srgbClr val="F2A900"/>
              </a:buClr>
            </a:pPr>
            <a:r>
              <a:rPr sz="2000" b="1">
                <a:solidFill>
                  <a:srgbClr val="8A6100"/>
                </a:solidFill>
                <a:latin typeface="Calibri"/>
              </a:rPr>
              <a:t>Free options: </a:t>
            </a:r>
            <a:r>
              <a:rPr sz="2000" b="0">
                <a:solidFill>
                  <a:srgbClr val="202124"/>
                </a:solidFill>
                <a:latin typeface="Calibri"/>
              </a:rPr>
              <a:t>NITDA, Cisco and CyberGirls run free training, but places are few and close fast.</a:t>
            </a:r>
          </a:p>
          <a:p>
            <a:pPr>
              <a:spcAft>
                <a:spcPts val="1000"/>
              </a:spcAft>
              <a:buClr>
                <a:srgbClr val="F2A900"/>
              </a:buClr>
            </a:pPr>
            <a:r>
              <a:rPr sz="2000" b="1">
                <a:solidFill>
                  <a:srgbClr val="8A6100"/>
                </a:solidFill>
                <a:latin typeface="Calibri"/>
              </a:rPr>
              <a:t>Beginner guides agree: </a:t>
            </a:r>
            <a:r>
              <a:rPr sz="2000" b="0">
                <a:solidFill>
                  <a:srgbClr val="202124"/>
                </a:solidFill>
                <a:latin typeface="Calibri"/>
              </a:rPr>
              <a:t>get Security+ first, practise in labs, build a portfolio.</a:t>
            </a:r>
          </a:p>
          <a:p>
            <a:pPr>
              <a:spcAft>
                <a:spcPts val="1000"/>
              </a:spcAft>
              <a:buClr>
                <a:srgbClr val="F2A900"/>
              </a:buClr>
            </a:pPr>
            <a:r>
              <a:rPr sz="2000" b="1">
                <a:solidFill>
                  <a:srgbClr val="8A6100"/>
                </a:solidFill>
                <a:latin typeface="Calibri"/>
              </a:rPr>
              <a:t>Jobs: </a:t>
            </a:r>
            <a:r>
              <a:rPr sz="2000" b="0">
                <a:solidFill>
                  <a:srgbClr val="202124"/>
                </a:solidFill>
                <a:latin typeface="Calibri"/>
              </a:rPr>
              <a:t>junior analysts earn about ₦150,000 to ₦300,000 a month, mostly in Lagos and Abuja.</a:t>
            </a:r>
          </a:p>
        </p:txBody>
      </p:sp>
      <p:cxnSp>
        <p:nvCxnSpPr>
          <p:cNvPr id="5" name="Straight Connector 4"/>
          <p:cNvCxnSpPr/>
          <p:nvPr/>
        </p:nvCxnSpPr>
        <p:spPr>
          <a:xfrm>
            <a:off x="0" y="1207008"/>
            <a:ext cx="12192000" cy="0"/>
          </a:xfrm>
          <a:prstGeom prst="line">
            <a:avLst/>
          </a:prstGeom>
          <a:ln w="50800">
            <a:solidFill>
              <a:srgbClr val="F2A9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325880"/>
            <a:ext cx="10911840" cy="384048"/>
          </a:xfrm>
          <a:prstGeom prst="rect">
            <a:avLst/>
          </a:prstGeom>
          <a:noFill/>
        </p:spPr>
        <p:txBody>
          <a:bodyPr wrap="square">
            <a:spAutoFit/>
          </a:bodyPr>
          <a:lstStyle/>
          <a:p>
            <a:pPr algn="l"/>
            <a:r>
              <a:rPr sz="1600" b="0">
                <a:solidFill>
                  <a:srgbClr val="57575A"/>
                </a:solidFill>
                <a:latin typeface="Calibri"/>
              </a:rPr>
              <a:t>What a customer finds when searching for cybersecurity courses</a:t>
            </a:r>
          </a:p>
        </p:txBody>
      </p:sp>
      <p:sp>
        <p:nvSpPr>
          <p:cNvPr id="7" name="TextBox 6"/>
          <p:cNvSpPr txBox="1"/>
          <p:nvPr/>
        </p:nvSpPr>
        <p:spPr>
          <a:xfrm>
            <a:off x="640080" y="6400800"/>
            <a:ext cx="7315200" cy="274320"/>
          </a:xfrm>
          <a:prstGeom prst="rect">
            <a:avLst/>
          </a:prstGeom>
          <a:noFill/>
        </p:spPr>
        <p:txBody>
          <a:bodyPr wrap="square">
            <a:spAutoFit/>
          </a:bodyPr>
          <a:lstStyle/>
          <a:p>
            <a:r>
              <a:rPr sz="1000" b="0">
                <a:solidFill>
                  <a:srgbClr val="57575A"/>
                </a:solidFill>
                <a:latin typeface="Calibri"/>
              </a:rPr>
              <a:t>SkillUp Academy  ·  Capstone Project</a:t>
            </a:r>
          </a:p>
        </p:txBody>
      </p:sp>
      <p:sp>
        <p:nvSpPr>
          <p:cNvPr id="8" name="TextBox 7"/>
          <p:cNvSpPr txBox="1"/>
          <p:nvPr/>
        </p:nvSpPr>
        <p:spPr>
          <a:xfrm>
            <a:off x="10637520" y="6400800"/>
            <a:ext cx="914400" cy="274320"/>
          </a:xfrm>
          <a:prstGeom prst="rect">
            <a:avLst/>
          </a:prstGeom>
          <a:noFill/>
        </p:spPr>
        <p:txBody>
          <a:bodyPr wrap="square">
            <a:spAutoFit/>
          </a:bodyPr>
          <a:lstStyle/>
          <a:p>
            <a:pPr algn="r"/>
            <a:r>
              <a:rPr sz="1000" b="0">
                <a:solidFill>
                  <a:srgbClr val="57575A"/>
                </a:solidFill>
                <a:latin typeface="Calibri"/>
              </a:rPr>
              <a:t>6</a:t>
            </a:r>
          </a:p>
        </p:txBody>
      </p:sp>
    </p:spTree>
  </p:cSld>
  <p:clrMapOvr>
    <a:masterClrMapping/>
  </p:clrMapOvr>
  <mc:AlternateContent xmlns:mc="http://schemas.openxmlformats.org/markup-compatibility/2006">
    <mc:Choice xmlns:p14="http://schemas.microsoft.com/office/powerpoint/2010/main" Requires="p14">
      <p:transition spd="slow" p14:dur="1500" advTm="10000">
        <p:push dir="u"/>
      </p:transition>
    </mc:Choice>
    <mc:Fallback>
      <p:transition spd="slow" advTm="10000">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right)">
                                      <p:cBhvr>
                                        <p:cTn id="10" dur="500"/>
                                        <p:tgtEl>
                                          <p:spTgt spid="5"/>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9" grpId="0" animBg="1"/>
      <p:bldP spid="10" grpId="0" animBg="1"/>
      <p:bldP spid="3"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4" name="Rectangle 3"/>
          <p:cNvSpPr/>
          <p:nvPr/>
        </p:nvSpPr>
        <p:spPr>
          <a:xfrm>
            <a:off x="0" y="0"/>
            <a:ext cx="12192000" cy="1188720"/>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640080" y="256032"/>
            <a:ext cx="10911840" cy="731520"/>
          </a:xfrm>
        </p:spPr>
        <p:txBody>
          <a:bodyPr anchor="ctr"/>
          <a:lstStyle/>
          <a:p>
            <a:pPr algn="l"/>
            <a:r>
              <a:rPr sz="3200" b="0">
                <a:solidFill>
                  <a:srgbClr val="FFFFFF"/>
                </a:solidFill>
                <a:latin typeface="Calibri Light"/>
              </a:rPr>
              <a:t>Google Trends</a:t>
            </a:r>
          </a:p>
        </p:txBody>
      </p:sp>
      <p:graphicFrame>
        <p:nvGraphicFramePr>
          <p:cNvPr id="3" name="Content Placeholder 2"/>
          <p:cNvGraphicFramePr>
            <a:graphicFrameLocks noGrp="1"/>
          </p:cNvGraphicFramePr>
          <p:nvPr>
            <p:ph idx="1"/>
          </p:nvPr>
        </p:nvGraphicFramePr>
        <p:xfrm>
          <a:off x="822960" y="1874520"/>
          <a:ext cx="6812280" cy="4160520"/>
        </p:xfrm>
        <a:graphic>
          <a:graphicData uri="http://schemas.openxmlformats.org/drawingml/2006/chart">
            <c:chart xmlns:c="http://schemas.openxmlformats.org/drawingml/2006/chart" r:id="rId2"/>
          </a:graphicData>
        </a:graphic>
      </p:graphicFrame>
      <p:cxnSp>
        <p:nvCxnSpPr>
          <p:cNvPr id="5" name="Straight Connector 4"/>
          <p:cNvCxnSpPr/>
          <p:nvPr/>
        </p:nvCxnSpPr>
        <p:spPr>
          <a:xfrm>
            <a:off x="0" y="1207008"/>
            <a:ext cx="12192000" cy="0"/>
          </a:xfrm>
          <a:prstGeom prst="line">
            <a:avLst/>
          </a:prstGeom>
          <a:ln w="50800">
            <a:solidFill>
              <a:srgbClr val="F2A9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325880"/>
            <a:ext cx="10911840" cy="384048"/>
          </a:xfrm>
          <a:prstGeom prst="rect">
            <a:avLst/>
          </a:prstGeom>
          <a:noFill/>
        </p:spPr>
        <p:txBody>
          <a:bodyPr wrap="square">
            <a:spAutoFit/>
          </a:bodyPr>
          <a:lstStyle/>
          <a:p>
            <a:pPr algn="l"/>
            <a:r>
              <a:rPr sz="1600" b="0">
                <a:solidFill>
                  <a:srgbClr val="57575A"/>
                </a:solidFill>
                <a:latin typeface="Calibri"/>
              </a:rPr>
              <a:t>Average search interest in Nigeria over the past 12 months (0 to 100)</a:t>
            </a:r>
          </a:p>
        </p:txBody>
      </p:sp>
      <p:sp>
        <p:nvSpPr>
          <p:cNvPr id="7" name="TextBox 6"/>
          <p:cNvSpPr txBox="1"/>
          <p:nvPr/>
        </p:nvSpPr>
        <p:spPr>
          <a:xfrm>
            <a:off x="640080" y="6400800"/>
            <a:ext cx="7315200" cy="274320"/>
          </a:xfrm>
          <a:prstGeom prst="rect">
            <a:avLst/>
          </a:prstGeom>
          <a:noFill/>
        </p:spPr>
        <p:txBody>
          <a:bodyPr wrap="square">
            <a:spAutoFit/>
          </a:bodyPr>
          <a:lstStyle/>
          <a:p>
            <a:r>
              <a:rPr sz="1000" b="0">
                <a:solidFill>
                  <a:srgbClr val="57575A"/>
                </a:solidFill>
                <a:latin typeface="Calibri"/>
              </a:rPr>
              <a:t>SkillUp Academy  ·  Capstone Project</a:t>
            </a:r>
          </a:p>
        </p:txBody>
      </p:sp>
      <p:sp>
        <p:nvSpPr>
          <p:cNvPr id="8" name="TextBox 7"/>
          <p:cNvSpPr txBox="1"/>
          <p:nvPr/>
        </p:nvSpPr>
        <p:spPr>
          <a:xfrm>
            <a:off x="10637520" y="6400800"/>
            <a:ext cx="914400" cy="274320"/>
          </a:xfrm>
          <a:prstGeom prst="rect">
            <a:avLst/>
          </a:prstGeom>
          <a:noFill/>
        </p:spPr>
        <p:txBody>
          <a:bodyPr wrap="square">
            <a:spAutoFit/>
          </a:bodyPr>
          <a:lstStyle/>
          <a:p>
            <a:pPr algn="r"/>
            <a:r>
              <a:rPr sz="1000" b="0">
                <a:solidFill>
                  <a:srgbClr val="57575A"/>
                </a:solidFill>
                <a:latin typeface="Calibri"/>
              </a:rPr>
              <a:t>7</a:t>
            </a:r>
          </a:p>
        </p:txBody>
      </p:sp>
      <p:sp>
        <p:nvSpPr>
          <p:cNvPr id="9" name="Rectangle 8"/>
          <p:cNvSpPr/>
          <p:nvPr/>
        </p:nvSpPr>
        <p:spPr>
          <a:xfrm>
            <a:off x="7818120" y="1965960"/>
            <a:ext cx="3596640" cy="4023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818120" y="1965960"/>
            <a:ext cx="64008" cy="402336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0" y="2148840"/>
            <a:ext cx="3139440" cy="3657600"/>
          </a:xfrm>
          <a:prstGeom prst="rect">
            <a:avLst/>
          </a:prstGeom>
          <a:noFill/>
        </p:spPr>
        <p:txBody>
          <a:bodyPr wrap="square" anchor="ctr">
            <a:spAutoFit/>
          </a:bodyPr>
          <a:lstStyle/>
          <a:p>
            <a:pPr>
              <a:spcAft>
                <a:spcPts val="1200"/>
              </a:spcAft>
            </a:pPr>
            <a:r>
              <a:rPr sz="1600" b="1">
                <a:solidFill>
                  <a:srgbClr val="202124"/>
                </a:solidFill>
                <a:latin typeface="Calibri"/>
              </a:rPr>
              <a:t>Highest interest: </a:t>
            </a:r>
            <a:r>
              <a:rPr sz="1600" b="0">
                <a:solidFill>
                  <a:srgbClr val="202124"/>
                </a:solidFill>
                <a:latin typeface="Calibri"/>
              </a:rPr>
              <a:t>Cybersecurity led almost all year.</a:t>
            </a:r>
          </a:p>
          <a:p>
            <a:pPr>
              <a:spcAft>
                <a:spcPts val="1200"/>
              </a:spcAft>
            </a:pPr>
            <a:r>
              <a:rPr sz="1600" b="1">
                <a:solidFill>
                  <a:srgbClr val="202124"/>
                </a:solidFill>
                <a:latin typeface="Calibri"/>
              </a:rPr>
              <a:t>Peak: </a:t>
            </a:r>
            <a:r>
              <a:rPr sz="1600" b="0">
                <a:solidFill>
                  <a:srgbClr val="202124"/>
                </a:solidFill>
                <a:latin typeface="Calibri"/>
              </a:rPr>
              <a:t>it hit 100 in April 2026, when the CAC confirmed a cyber breach.</a:t>
            </a:r>
          </a:p>
          <a:p>
            <a:pPr>
              <a:spcAft>
                <a:spcPts val="1200"/>
              </a:spcAft>
            </a:pPr>
            <a:r>
              <a:rPr sz="1600" b="1">
                <a:solidFill>
                  <a:srgbClr val="202124"/>
                </a:solidFill>
                <a:latin typeface="Calibri"/>
              </a:rPr>
              <a:t>Where: </a:t>
            </a:r>
            <a:r>
              <a:rPr sz="1600" b="0">
                <a:solidFill>
                  <a:srgbClr val="202124"/>
                </a:solidFill>
                <a:latin typeface="Calibri"/>
              </a:rPr>
              <a:t>the most searched skill in most states, especially in the north and the middle.</a:t>
            </a:r>
          </a:p>
          <a:p>
            <a:pPr>
              <a:spcAft>
                <a:spcPts val="1200"/>
              </a:spcAft>
            </a:pPr>
            <a:r>
              <a:rPr sz="1600" b="1">
                <a:solidFill>
                  <a:srgbClr val="202124"/>
                </a:solidFill>
                <a:latin typeface="Calibri"/>
              </a:rPr>
              <a:t>Rising searches: </a:t>
            </a:r>
            <a:r>
              <a:rPr sz="1600" b="0">
                <a:solidFill>
                  <a:srgbClr val="202124"/>
                </a:solidFill>
                <a:latin typeface="Calibri"/>
              </a:rPr>
              <a:t>“cac cybersecurity breach”, “cybersecurity news today”, “lagos cybersecurity guidelines”.</a:t>
            </a:r>
          </a:p>
        </p:txBody>
      </p:sp>
    </p:spTree>
  </p:cSld>
  <p:clrMapOvr>
    <a:masterClrMapping/>
  </p:clrMapOvr>
  <mc:AlternateContent xmlns:mc="http://schemas.openxmlformats.org/markup-compatibility/2006">
    <mc:Choice xmlns:p14="http://schemas.microsoft.com/office/powerpoint/2010/main" Requires="p14">
      <p:transition spd="slow" p14:dur="1500" advTm="10000">
        <p:push dir="u"/>
      </p:transition>
    </mc:Choice>
    <mc:Fallback>
      <p:transition spd="slow" advTm="10000">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right)">
                                      <p:cBhvr>
                                        <p:cTn id="10" dur="500"/>
                                        <p:tgtEl>
                                          <p:spTgt spid="5"/>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right)">
                                      <p:cBhvr>
                                        <p:cTn id="18" dur="500"/>
                                        <p:tgtEl>
                                          <p:spTgt spid="3"/>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Graphic spid="3" grpId="0">
        <p:bldAsOne/>
      </p:bldGraphic>
      <p:bldP spid="9" grpId="0" animBg="1"/>
      <p:bldP spid="10" grpId="0" animBg="1"/>
      <p:bldP spid="11"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4" name="Rectangle 3"/>
          <p:cNvSpPr/>
          <p:nvPr/>
        </p:nvSpPr>
        <p:spPr>
          <a:xfrm>
            <a:off x="0" y="0"/>
            <a:ext cx="12192000" cy="1188720"/>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640080" y="256032"/>
            <a:ext cx="10911840" cy="731520"/>
          </a:xfrm>
        </p:spPr>
        <p:txBody>
          <a:bodyPr anchor="ctr"/>
          <a:lstStyle/>
          <a:p>
            <a:pPr algn="l"/>
            <a:r>
              <a:rPr sz="3200" b="0">
                <a:solidFill>
                  <a:srgbClr val="FFFFFF"/>
                </a:solidFill>
                <a:latin typeface="Calibri Light"/>
              </a:rPr>
              <a:t>Social Media Trends</a:t>
            </a:r>
          </a:p>
        </p:txBody>
      </p:sp>
      <p:graphicFrame>
        <p:nvGraphicFramePr>
          <p:cNvPr id="3" name="Content Placeholder 2"/>
          <p:cNvGraphicFramePr>
            <a:graphicFrameLocks noGrp="1"/>
          </p:cNvGraphicFramePr>
          <p:nvPr>
            <p:ph idx="1"/>
          </p:nvPr>
        </p:nvGraphicFramePr>
        <p:xfrm>
          <a:off x="822960" y="1874520"/>
          <a:ext cx="6812280" cy="4160520"/>
        </p:xfrm>
        <a:graphic>
          <a:graphicData uri="http://schemas.openxmlformats.org/drawingml/2006/chart">
            <c:chart xmlns:c="http://schemas.openxmlformats.org/drawingml/2006/chart" r:id="rId2"/>
          </a:graphicData>
        </a:graphic>
      </p:graphicFrame>
      <p:cxnSp>
        <p:nvCxnSpPr>
          <p:cNvPr id="5" name="Straight Connector 4"/>
          <p:cNvCxnSpPr/>
          <p:nvPr/>
        </p:nvCxnSpPr>
        <p:spPr>
          <a:xfrm>
            <a:off x="0" y="1207008"/>
            <a:ext cx="12192000" cy="0"/>
          </a:xfrm>
          <a:prstGeom prst="line">
            <a:avLst/>
          </a:prstGeom>
          <a:ln w="50800">
            <a:solidFill>
              <a:srgbClr val="F2A9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325880"/>
            <a:ext cx="10911840" cy="384048"/>
          </a:xfrm>
          <a:prstGeom prst="rect">
            <a:avLst/>
          </a:prstGeom>
          <a:noFill/>
        </p:spPr>
        <p:txBody>
          <a:bodyPr wrap="square">
            <a:spAutoFit/>
          </a:bodyPr>
          <a:lstStyle/>
          <a:p>
            <a:pPr algn="l"/>
            <a:r>
              <a:rPr sz="1600" b="0">
                <a:solidFill>
                  <a:srgbClr val="57575A"/>
                </a:solidFill>
                <a:latin typeface="Calibri"/>
              </a:rPr>
              <a:t>Users in Nigeria by platform, millions (NapoleonCat, 2026)</a:t>
            </a:r>
          </a:p>
        </p:txBody>
      </p:sp>
      <p:sp>
        <p:nvSpPr>
          <p:cNvPr id="7" name="TextBox 6"/>
          <p:cNvSpPr txBox="1"/>
          <p:nvPr/>
        </p:nvSpPr>
        <p:spPr>
          <a:xfrm>
            <a:off x="640080" y="6400800"/>
            <a:ext cx="7315200" cy="274320"/>
          </a:xfrm>
          <a:prstGeom prst="rect">
            <a:avLst/>
          </a:prstGeom>
          <a:noFill/>
        </p:spPr>
        <p:txBody>
          <a:bodyPr wrap="square">
            <a:spAutoFit/>
          </a:bodyPr>
          <a:lstStyle/>
          <a:p>
            <a:r>
              <a:rPr sz="1000" b="0">
                <a:solidFill>
                  <a:srgbClr val="57575A"/>
                </a:solidFill>
                <a:latin typeface="Calibri"/>
              </a:rPr>
              <a:t>SkillUp Academy  ·  Capstone Project</a:t>
            </a:r>
          </a:p>
        </p:txBody>
      </p:sp>
      <p:sp>
        <p:nvSpPr>
          <p:cNvPr id="8" name="TextBox 7"/>
          <p:cNvSpPr txBox="1"/>
          <p:nvPr/>
        </p:nvSpPr>
        <p:spPr>
          <a:xfrm>
            <a:off x="10637520" y="6400800"/>
            <a:ext cx="914400" cy="274320"/>
          </a:xfrm>
          <a:prstGeom prst="rect">
            <a:avLst/>
          </a:prstGeom>
          <a:noFill/>
        </p:spPr>
        <p:txBody>
          <a:bodyPr wrap="square">
            <a:spAutoFit/>
          </a:bodyPr>
          <a:lstStyle/>
          <a:p>
            <a:pPr algn="r"/>
            <a:r>
              <a:rPr sz="1000" b="0">
                <a:solidFill>
                  <a:srgbClr val="57575A"/>
                </a:solidFill>
                <a:latin typeface="Calibri"/>
              </a:rPr>
              <a:t>8</a:t>
            </a:r>
          </a:p>
        </p:txBody>
      </p:sp>
      <p:sp>
        <p:nvSpPr>
          <p:cNvPr id="9" name="Rectangle 8"/>
          <p:cNvSpPr/>
          <p:nvPr/>
        </p:nvSpPr>
        <p:spPr>
          <a:xfrm>
            <a:off x="7818120" y="1965960"/>
            <a:ext cx="3596640" cy="4023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818120" y="1965960"/>
            <a:ext cx="64008" cy="402336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0" y="2148840"/>
            <a:ext cx="3139440" cy="3657600"/>
          </a:xfrm>
          <a:prstGeom prst="rect">
            <a:avLst/>
          </a:prstGeom>
          <a:noFill/>
        </p:spPr>
        <p:txBody>
          <a:bodyPr wrap="square" anchor="ctr">
            <a:spAutoFit/>
          </a:bodyPr>
          <a:lstStyle/>
          <a:p>
            <a:pPr>
              <a:spcAft>
                <a:spcPts val="1200"/>
              </a:spcAft>
            </a:pPr>
            <a:r>
              <a:rPr sz="1600" b="1">
                <a:solidFill>
                  <a:srgbClr val="202124"/>
                </a:solidFill>
                <a:latin typeface="Calibri"/>
              </a:rPr>
              <a:t>Facebook is the biggest: </a:t>
            </a:r>
            <a:r>
              <a:rPr sz="1600" b="0">
                <a:solidFill>
                  <a:srgbClr val="202124"/>
                </a:solidFill>
                <a:latin typeface="Calibri"/>
              </a:rPr>
              <a:t>about 42 million users in Nigeria.</a:t>
            </a:r>
          </a:p>
          <a:p>
            <a:pPr>
              <a:spcAft>
                <a:spcPts val="1200"/>
              </a:spcAft>
            </a:pPr>
            <a:r>
              <a:rPr sz="1600" b="1">
                <a:solidFill>
                  <a:srgbClr val="202124"/>
                </a:solidFill>
                <a:latin typeface="Calibri"/>
              </a:rPr>
              <a:t>LinkedIn: </a:t>
            </a:r>
            <a:r>
              <a:rPr sz="1600" b="0">
                <a:solidFill>
                  <a:srgbClr val="202124"/>
                </a:solidFill>
                <a:latin typeface="Calibri"/>
              </a:rPr>
              <a:t>14 million professionals and employers.</a:t>
            </a:r>
          </a:p>
          <a:p>
            <a:pPr>
              <a:spcAft>
                <a:spcPts val="1200"/>
              </a:spcAft>
            </a:pPr>
            <a:r>
              <a:rPr sz="1600" b="1">
                <a:solidFill>
                  <a:srgbClr val="202124"/>
                </a:solidFill>
                <a:latin typeface="Calibri"/>
              </a:rPr>
              <a:t>Content: </a:t>
            </a:r>
            <a:r>
              <a:rPr sz="1600" b="0">
                <a:solidFill>
                  <a:srgbClr val="202124"/>
                </a:solidFill>
                <a:latin typeface="Calibri"/>
              </a:rPr>
              <a:t>#cybersecurity has millions of Instagram posts; short how-to videos do well on TikTok.</a:t>
            </a:r>
          </a:p>
          <a:p>
            <a:pPr>
              <a:spcAft>
                <a:spcPts val="1200"/>
              </a:spcAft>
            </a:pPr>
            <a:r>
              <a:rPr sz="1600" b="1">
                <a:solidFill>
                  <a:srgbClr val="202124"/>
                </a:solidFill>
                <a:latin typeface="Calibri"/>
              </a:rPr>
              <a:t>Reputation: </a:t>
            </a:r>
            <a:r>
              <a:rPr sz="1600" b="0">
                <a:solidFill>
                  <a:srgbClr val="202124"/>
                </a:solidFill>
                <a:latin typeface="Calibri"/>
              </a:rPr>
              <a:t>learners complain in public on X.</a:t>
            </a:r>
          </a:p>
        </p:txBody>
      </p:sp>
    </p:spTree>
  </p:cSld>
  <p:clrMapOvr>
    <a:masterClrMapping/>
  </p:clrMapOvr>
  <mc:AlternateContent xmlns:mc="http://schemas.openxmlformats.org/markup-compatibility/2006">
    <mc:Choice xmlns:p14="http://schemas.microsoft.com/office/powerpoint/2010/main" Requires="p14">
      <p:transition spd="slow" p14:dur="1500" advTm="10000">
        <p:push dir="u"/>
      </p:transition>
    </mc:Choice>
    <mc:Fallback>
      <p:transition spd="slow" advTm="10000">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right)">
                                      <p:cBhvr>
                                        <p:cTn id="10" dur="500"/>
                                        <p:tgtEl>
                                          <p:spTgt spid="5"/>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right)">
                                      <p:cBhvr>
                                        <p:cTn id="18" dur="500"/>
                                        <p:tgtEl>
                                          <p:spTgt spid="3"/>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Graphic spid="3" grpId="0">
        <p:bldAsOne/>
      </p:bldGraphic>
      <p:bldP spid="9" grpId="0" animBg="1"/>
      <p:bldP spid="10" grpId="0" animBg="1"/>
      <p:bldP spid="11"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4" name="Rectangle 3"/>
          <p:cNvSpPr/>
          <p:nvPr/>
        </p:nvSpPr>
        <p:spPr>
          <a:xfrm>
            <a:off x="0" y="0"/>
            <a:ext cx="12192000" cy="1188720"/>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640080" y="256032"/>
            <a:ext cx="10911840" cy="731520"/>
          </a:xfrm>
        </p:spPr>
        <p:txBody>
          <a:bodyPr anchor="ctr"/>
          <a:lstStyle/>
          <a:p>
            <a:pPr algn="l"/>
            <a:r>
              <a:rPr sz="3200" b="0">
                <a:solidFill>
                  <a:srgbClr val="FFFFFF"/>
                </a:solidFill>
                <a:latin typeface="Calibri Light"/>
              </a:rPr>
              <a:t>Competitor Reviews</a:t>
            </a:r>
          </a:p>
        </p:txBody>
      </p:sp>
      <p:graphicFrame>
        <p:nvGraphicFramePr>
          <p:cNvPr id="3" name="Content Placeholder 2"/>
          <p:cNvGraphicFramePr>
            <a:graphicFrameLocks noGrp="1"/>
          </p:cNvGraphicFramePr>
          <p:nvPr>
            <p:ph idx="1"/>
          </p:nvPr>
        </p:nvGraphicFramePr>
        <p:xfrm>
          <a:off x="655320" y="1965960"/>
          <a:ext cx="10881360" cy="3977640"/>
        </p:xfrm>
        <a:graphic>
          <a:graphicData uri="http://schemas.openxmlformats.org/drawingml/2006/table">
            <a:tbl>
              <a:tblPr firstRow="1">
                <a:tableStyleId>{5940675A-B579-460E-94D1-54222C63F5DA}</a:tableStyleId>
              </a:tblPr>
              <a:tblGrid>
                <a:gridCol w="2651760"/>
                <a:gridCol w="1005840"/>
                <a:gridCol w="3383280"/>
                <a:gridCol w="3840480"/>
              </a:tblGrid>
              <a:tr h="411480">
                <a:tc>
                  <a:txBody>
                    <a:bodyPr/>
                    <a:lstStyle/>
                    <a:p>
                      <a:pPr algn="l"/>
                      <a:r>
                        <a:rPr sz="1300" b="1">
                          <a:solidFill>
                            <a:srgbClr val="FFFFFF"/>
                          </a:solidFill>
                          <a:latin typeface="Calibri"/>
                        </a:rPr>
                        <a:t>Competitor</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202124"/>
                    </a:solidFill>
                  </a:tcPr>
                </a:tc>
                <a:tc>
                  <a:txBody>
                    <a:bodyPr/>
                    <a:lstStyle/>
                    <a:p>
                      <a:pPr algn="ctr"/>
                      <a:r>
                        <a:rPr sz="1300" b="1">
                          <a:solidFill>
                            <a:srgbClr val="FFFFFF"/>
                          </a:solidFill>
                          <a:latin typeface="Calibri"/>
                        </a:rPr>
                        <a:t>Rating</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202124"/>
                    </a:solidFill>
                  </a:tcPr>
                </a:tc>
                <a:tc>
                  <a:txBody>
                    <a:bodyPr/>
                    <a:lstStyle/>
                    <a:p>
                      <a:pPr algn="ctr"/>
                      <a:r>
                        <a:rPr sz="1300" b="1">
                          <a:solidFill>
                            <a:srgbClr val="FFFFFF"/>
                          </a:solidFill>
                          <a:latin typeface="Calibri"/>
                        </a:rPr>
                        <a:t>Learners like</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202124"/>
                    </a:solidFill>
                  </a:tcPr>
                </a:tc>
                <a:tc>
                  <a:txBody>
                    <a:bodyPr/>
                    <a:lstStyle/>
                    <a:p>
                      <a:pPr algn="ctr"/>
                      <a:r>
                        <a:rPr sz="1300" b="1">
                          <a:solidFill>
                            <a:srgbClr val="FFFFFF"/>
                          </a:solidFill>
                          <a:latin typeface="Calibri"/>
                        </a:rPr>
                        <a:t>Learners complain about</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202124"/>
                    </a:solidFill>
                  </a:tcPr>
                </a:tc>
              </a:tr>
              <a:tr h="713232">
                <a:tc>
                  <a:txBody>
                    <a:bodyPr/>
                    <a:lstStyle/>
                    <a:p>
                      <a:pPr algn="l"/>
                      <a:r>
                        <a:rPr sz="1300" b="1">
                          <a:solidFill>
                            <a:srgbClr val="202124"/>
                          </a:solidFill>
                          <a:latin typeface="Calibri"/>
                        </a:rPr>
                        <a:t>ALX Africa</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c>
                  <a:txBody>
                    <a:bodyPr/>
                    <a:lstStyle/>
                    <a:p>
                      <a:pPr algn="ctr"/>
                      <a:r>
                        <a:rPr sz="1300" b="0">
                          <a:solidFill>
                            <a:srgbClr val="202124"/>
                          </a:solidFill>
                          <a:latin typeface="Calibri"/>
                        </a:rPr>
                        <a:t>4.7</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c>
                  <a:txBody>
                    <a:bodyPr/>
                    <a:lstStyle/>
                    <a:p>
                      <a:pPr algn="ctr"/>
                      <a:r>
                        <a:rPr sz="1300" b="0">
                          <a:solidFill>
                            <a:srgbClr val="202124"/>
                          </a:solidFill>
                          <a:latin typeface="Calibri"/>
                        </a:rPr>
                        <a:t>Self-paced, strong community, personal follow-up</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c>
                  <a:txBody>
                    <a:bodyPr/>
                    <a:lstStyle/>
                    <a:p>
                      <a:pPr algn="ctr"/>
                      <a:r>
                        <a:rPr sz="1300" b="0">
                          <a:solidFill>
                            <a:srgbClr val="202124"/>
                          </a:solidFill>
                          <a:latin typeface="Calibri"/>
                        </a:rPr>
                        <a:t>Billing and access problems slow to fix; very demanding</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r>
              <a:tr h="713232">
                <a:tc>
                  <a:txBody>
                    <a:bodyPr/>
                    <a:lstStyle/>
                    <a:p>
                      <a:pPr algn="l"/>
                      <a:r>
                        <a:rPr sz="1300" b="1">
                          <a:solidFill>
                            <a:srgbClr val="202124"/>
                          </a:solidFill>
                          <a:latin typeface="Calibri"/>
                        </a:rPr>
                        <a:t>TryHackMe</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c>
                  <a:txBody>
                    <a:bodyPr/>
                    <a:lstStyle/>
                    <a:p>
                      <a:pPr algn="ctr"/>
                      <a:r>
                        <a:rPr sz="1300" b="0">
                          <a:solidFill>
                            <a:srgbClr val="202124"/>
                          </a:solidFill>
                          <a:latin typeface="Calibri"/>
                        </a:rPr>
                        <a:t>4.5</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c>
                  <a:txBody>
                    <a:bodyPr/>
                    <a:lstStyle/>
                    <a:p>
                      <a:pPr algn="ctr"/>
                      <a:r>
                        <a:rPr sz="1300" b="0">
                          <a:solidFill>
                            <a:srgbClr val="202124"/>
                          </a:solidFill>
                          <a:latin typeface="Calibri"/>
                        </a:rPr>
                        <a:t>Beginner-friendly, hands-on rooms, browser AttackBox</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c>
                  <a:txBody>
                    <a:bodyPr/>
                    <a:lstStyle/>
                    <a:p>
                      <a:pPr algn="ctr"/>
                      <a:r>
                        <a:rPr sz="1300" b="0">
                          <a:solidFill>
                            <a:srgbClr val="202124"/>
                          </a:solidFill>
                          <a:latin typeface="Calibri"/>
                        </a:rPr>
                        <a:t>Slow support, discount problems, data privacy</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r>
              <a:tr h="713232">
                <a:tc>
                  <a:txBody>
                    <a:bodyPr/>
                    <a:lstStyle/>
                    <a:p>
                      <a:pPr algn="l"/>
                      <a:r>
                        <a:rPr sz="1300" b="1">
                          <a:solidFill>
                            <a:srgbClr val="202124"/>
                          </a:solidFill>
                          <a:latin typeface="Calibri"/>
                        </a:rPr>
                        <a:t>AltSchool Africa</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c>
                  <a:txBody>
                    <a:bodyPr/>
                    <a:lstStyle/>
                    <a:p>
                      <a:pPr algn="ctr"/>
                      <a:r>
                        <a:rPr sz="1300" b="0">
                          <a:solidFill>
                            <a:srgbClr val="202124"/>
                          </a:solidFill>
                          <a:latin typeface="Calibri"/>
                        </a:rPr>
                        <a:t>None</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c>
                  <a:txBody>
                    <a:bodyPr/>
                    <a:lstStyle/>
                    <a:p>
                      <a:pPr algn="ctr"/>
                      <a:r>
                        <a:rPr sz="1300" b="0">
                          <a:solidFill>
                            <a:srgbClr val="202124"/>
                          </a:solidFill>
                          <a:latin typeface="Calibri"/>
                        </a:rPr>
                        <a:t>Affordable for self-motivated learners</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c>
                  <a:txBody>
                    <a:bodyPr/>
                    <a:lstStyle/>
                    <a:p>
                      <a:pPr algn="ctr"/>
                      <a:r>
                        <a:rPr sz="1300" b="0">
                          <a:solidFill>
                            <a:srgbClr val="202124"/>
                          </a:solidFill>
                          <a:latin typeface="Calibri"/>
                        </a:rPr>
                        <a:t>Weak grading, missing lectures, login problems (X, Oct 2025)</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r>
              <a:tr h="713232">
                <a:tc>
                  <a:txBody>
                    <a:bodyPr/>
                    <a:lstStyle/>
                    <a:p>
                      <a:pPr algn="l"/>
                      <a:r>
                        <a:rPr sz="1300" b="1">
                          <a:solidFill>
                            <a:srgbClr val="202124"/>
                          </a:solidFill>
                          <a:latin typeface="Calibri"/>
                        </a:rPr>
                        <a:t>CyberGirls (CyberSafe Foundation)</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c>
                  <a:txBody>
                    <a:bodyPr/>
                    <a:lstStyle/>
                    <a:p>
                      <a:pPr algn="ctr"/>
                      <a:r>
                        <a:rPr sz="1300" b="0">
                          <a:solidFill>
                            <a:srgbClr val="202124"/>
                          </a:solidFill>
                          <a:latin typeface="Calibri"/>
                        </a:rPr>
                        <a:t>None</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c>
                  <a:txBody>
                    <a:bodyPr/>
                    <a:lstStyle/>
                    <a:p>
                      <a:pPr algn="ctr"/>
                      <a:r>
                        <a:rPr sz="1300" b="0">
                          <a:solidFill>
                            <a:srgbClr val="202124"/>
                          </a:solidFill>
                          <a:latin typeface="Calibri"/>
                        </a:rPr>
                        <a:t>Free, with mentoring and internships</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c>
                  <a:txBody>
                    <a:bodyPr/>
                    <a:lstStyle/>
                    <a:p>
                      <a:pPr algn="ctr"/>
                      <a:r>
                        <a:rPr sz="1300" b="0">
                          <a:solidFill>
                            <a:srgbClr val="202124"/>
                          </a:solidFill>
                          <a:latin typeface="Calibri"/>
                        </a:rPr>
                        <a:t>Very hard to get in: 20,000+ applications a year for about 500 places</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r>
              <a:tr h="713232">
                <a:tc>
                  <a:txBody>
                    <a:bodyPr/>
                    <a:lstStyle/>
                    <a:p>
                      <a:pPr algn="l"/>
                      <a:r>
                        <a:rPr sz="1300" b="1">
                          <a:solidFill>
                            <a:srgbClr val="202124"/>
                          </a:solidFill>
                          <a:latin typeface="Calibri"/>
                        </a:rPr>
                        <a:t>NIIT Nigeria, Phillips Consulting</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c>
                  <a:txBody>
                    <a:bodyPr/>
                    <a:lstStyle/>
                    <a:p>
                      <a:pPr algn="ctr"/>
                      <a:r>
                        <a:rPr sz="1300" b="0">
                          <a:solidFill>
                            <a:srgbClr val="202124"/>
                          </a:solidFill>
                          <a:latin typeface="Calibri"/>
                        </a:rPr>
                        <a:t>None</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c>
                  <a:txBody>
                    <a:bodyPr/>
                    <a:lstStyle/>
                    <a:p>
                      <a:pPr algn="ctr"/>
                      <a:r>
                        <a:rPr sz="1300" b="0">
                          <a:solidFill>
                            <a:srgbClr val="202124"/>
                          </a:solidFill>
                          <a:latin typeface="Calibri"/>
                        </a:rPr>
                        <a:t>Classroom teaching; NIIT says 16,000 students a year</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c>
                  <a:txBody>
                    <a:bodyPr/>
                    <a:lstStyle/>
                    <a:p>
                      <a:pPr algn="ctr"/>
                      <a:r>
                        <a:rPr sz="1300" b="0">
                          <a:solidFill>
                            <a:srgbClr val="202124"/>
                          </a:solidFill>
                          <a:latin typeface="Calibri"/>
                        </a:rPr>
                        <a:t>Reviews are hard to find; ₦250,000 for 5 days</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r>
            </a:tbl>
          </a:graphicData>
        </a:graphic>
      </p:graphicFrame>
      <p:cxnSp>
        <p:nvCxnSpPr>
          <p:cNvPr id="5" name="Straight Connector 4"/>
          <p:cNvCxnSpPr/>
          <p:nvPr/>
        </p:nvCxnSpPr>
        <p:spPr>
          <a:xfrm>
            <a:off x="0" y="1207008"/>
            <a:ext cx="12192000" cy="0"/>
          </a:xfrm>
          <a:prstGeom prst="line">
            <a:avLst/>
          </a:prstGeom>
          <a:ln w="50800">
            <a:solidFill>
              <a:srgbClr val="F2A9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325880"/>
            <a:ext cx="10911840" cy="384048"/>
          </a:xfrm>
          <a:prstGeom prst="rect">
            <a:avLst/>
          </a:prstGeom>
          <a:noFill/>
        </p:spPr>
        <p:txBody>
          <a:bodyPr wrap="square">
            <a:spAutoFit/>
          </a:bodyPr>
          <a:lstStyle/>
          <a:p>
            <a:pPr algn="l"/>
            <a:r>
              <a:rPr sz="1600" b="0">
                <a:solidFill>
                  <a:srgbClr val="57575A"/>
                </a:solidFill>
                <a:latin typeface="Calibri"/>
              </a:rPr>
              <a:t>What learners say about the rivals (Trustpilot and the news)</a:t>
            </a:r>
          </a:p>
        </p:txBody>
      </p:sp>
      <p:sp>
        <p:nvSpPr>
          <p:cNvPr id="7" name="TextBox 6"/>
          <p:cNvSpPr txBox="1"/>
          <p:nvPr/>
        </p:nvSpPr>
        <p:spPr>
          <a:xfrm>
            <a:off x="640080" y="6400800"/>
            <a:ext cx="7315200" cy="274320"/>
          </a:xfrm>
          <a:prstGeom prst="rect">
            <a:avLst/>
          </a:prstGeom>
          <a:noFill/>
        </p:spPr>
        <p:txBody>
          <a:bodyPr wrap="square">
            <a:spAutoFit/>
          </a:bodyPr>
          <a:lstStyle/>
          <a:p>
            <a:r>
              <a:rPr sz="1000" b="0">
                <a:solidFill>
                  <a:srgbClr val="57575A"/>
                </a:solidFill>
                <a:latin typeface="Calibri"/>
              </a:rPr>
              <a:t>SkillUp Academy  ·  Capstone Project</a:t>
            </a:r>
          </a:p>
        </p:txBody>
      </p:sp>
      <p:sp>
        <p:nvSpPr>
          <p:cNvPr id="8" name="TextBox 7"/>
          <p:cNvSpPr txBox="1"/>
          <p:nvPr/>
        </p:nvSpPr>
        <p:spPr>
          <a:xfrm>
            <a:off x="10637520" y="6400800"/>
            <a:ext cx="914400" cy="274320"/>
          </a:xfrm>
          <a:prstGeom prst="rect">
            <a:avLst/>
          </a:prstGeom>
          <a:noFill/>
        </p:spPr>
        <p:txBody>
          <a:bodyPr wrap="square">
            <a:spAutoFit/>
          </a:bodyPr>
          <a:lstStyle/>
          <a:p>
            <a:pPr algn="r"/>
            <a:r>
              <a:rPr sz="1000" b="0">
                <a:solidFill>
                  <a:srgbClr val="57575A"/>
                </a:solidFill>
                <a:latin typeface="Calibri"/>
              </a:rPr>
              <a:t>9</a:t>
            </a:r>
          </a:p>
        </p:txBody>
      </p:sp>
      <p:sp>
        <p:nvSpPr>
          <p:cNvPr id="9" name="TextBox 8"/>
          <p:cNvSpPr txBox="1"/>
          <p:nvPr/>
        </p:nvSpPr>
        <p:spPr>
          <a:xfrm>
            <a:off x="640080" y="6053328"/>
            <a:ext cx="10911840" cy="365760"/>
          </a:xfrm>
          <a:prstGeom prst="rect">
            <a:avLst/>
          </a:prstGeom>
          <a:noFill/>
        </p:spPr>
        <p:txBody>
          <a:bodyPr wrap="square">
            <a:spAutoFit/>
          </a:bodyPr>
          <a:lstStyle/>
          <a:p>
            <a:r>
              <a:rPr sz="1400" b="0">
                <a:solidFill>
                  <a:srgbClr val="57575A"/>
                </a:solidFill>
                <a:latin typeface="Calibri"/>
              </a:rPr>
              <a:t>Ratings out of 5 on Trustpilot: ALX Africa from 544 reviews, TryHackMe from 867.</a:t>
            </a:r>
          </a:p>
        </p:txBody>
      </p:sp>
    </p:spTree>
  </p:cSld>
  <p:clrMapOvr>
    <a:masterClrMapping/>
  </p:clrMapOvr>
  <mc:AlternateContent xmlns:mc="http://schemas.openxmlformats.org/markup-compatibility/2006">
    <mc:Choice xmlns:p14="http://schemas.microsoft.com/office/powerpoint/2010/main" Requires="p14">
      <p:transition spd="slow" p14:dur="1500" advTm="10000">
        <p:push dir="u"/>
      </p:transition>
    </mc:Choice>
    <mc:Fallback>
      <p:transition spd="slow" advTm="10000">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right)">
                                      <p:cBhvr>
                                        <p:cTn id="10" dur="500"/>
                                        <p:tgtEl>
                                          <p:spTgt spid="5"/>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par>
                          <p:cTn id="15" fill="hold">
                            <p:stCondLst>
                              <p:cond delay="1000"/>
                            </p:stCondLst>
                            <p:childTnLst>
                              <p:par>
                                <p:cTn id="16" presetID="22" presetClass="entr" presetSubtype="1"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down)">
                                      <p:cBhvr>
                                        <p:cTn id="18" dur="500"/>
                                        <p:tgtEl>
                                          <p:spTgt spid="3"/>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9"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4" name="Rectangle 3"/>
          <p:cNvSpPr/>
          <p:nvPr/>
        </p:nvSpPr>
        <p:spPr>
          <a:xfrm>
            <a:off x="0" y="0"/>
            <a:ext cx="12192000" cy="1188720"/>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640080" y="256032"/>
            <a:ext cx="10911840" cy="731520"/>
          </a:xfrm>
        </p:spPr>
        <p:txBody>
          <a:bodyPr anchor="ctr"/>
          <a:lstStyle/>
          <a:p>
            <a:pPr algn="l"/>
            <a:r>
              <a:rPr sz="3200" b="0">
                <a:solidFill>
                  <a:srgbClr val="FFFFFF"/>
                </a:solidFill>
                <a:latin typeface="Calibri Light"/>
              </a:rPr>
              <a:t>Marketplace Reviews</a:t>
            </a:r>
          </a:p>
        </p:txBody>
      </p:sp>
      <p:graphicFrame>
        <p:nvGraphicFramePr>
          <p:cNvPr id="3" name="Content Placeholder 2"/>
          <p:cNvGraphicFramePr>
            <a:graphicFrameLocks noGrp="1"/>
          </p:cNvGraphicFramePr>
          <p:nvPr>
            <p:ph idx="1"/>
          </p:nvPr>
        </p:nvGraphicFramePr>
        <p:xfrm>
          <a:off x="655320" y="1965960"/>
          <a:ext cx="10881359" cy="3520440"/>
        </p:xfrm>
        <a:graphic>
          <a:graphicData uri="http://schemas.openxmlformats.org/drawingml/2006/table">
            <a:tbl>
              <a:tblPr firstRow="1">
                <a:tableStyleId>{5940675A-B579-460E-94D1-54222C63F5DA}</a:tableStyleId>
              </a:tblPr>
              <a:tblGrid>
                <a:gridCol w="3749039"/>
                <a:gridCol w="914400"/>
                <a:gridCol w="1371600"/>
                <a:gridCol w="2286000"/>
                <a:gridCol w="2560320"/>
              </a:tblGrid>
              <a:tr h="411480">
                <a:tc>
                  <a:txBody>
                    <a:bodyPr/>
                    <a:lstStyle/>
                    <a:p>
                      <a:pPr algn="l"/>
                      <a:r>
                        <a:rPr sz="1300" b="1">
                          <a:solidFill>
                            <a:srgbClr val="FFFFFF"/>
                          </a:solidFill>
                          <a:latin typeface="Calibri"/>
                        </a:rPr>
                        <a:t>Course</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202124"/>
                    </a:solidFill>
                  </a:tcPr>
                </a:tc>
                <a:tc>
                  <a:txBody>
                    <a:bodyPr/>
                    <a:lstStyle/>
                    <a:p>
                      <a:pPr algn="ctr"/>
                      <a:r>
                        <a:rPr sz="1300" b="1">
                          <a:solidFill>
                            <a:srgbClr val="FFFFFF"/>
                          </a:solidFill>
                          <a:latin typeface="Calibri"/>
                        </a:rPr>
                        <a:t>Rating</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202124"/>
                    </a:solidFill>
                  </a:tcPr>
                </a:tc>
                <a:tc>
                  <a:txBody>
                    <a:bodyPr/>
                    <a:lstStyle/>
                    <a:p>
                      <a:pPr algn="ctr"/>
                      <a:r>
                        <a:rPr sz="1300" b="1">
                          <a:solidFill>
                            <a:srgbClr val="FFFFFF"/>
                          </a:solidFill>
                          <a:latin typeface="Calibri"/>
                        </a:rPr>
                        <a:t>Learners</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202124"/>
                    </a:solidFill>
                  </a:tcPr>
                </a:tc>
                <a:tc>
                  <a:txBody>
                    <a:bodyPr/>
                    <a:lstStyle/>
                    <a:p>
                      <a:pPr algn="ctr"/>
                      <a:r>
                        <a:rPr sz="1300" b="1">
                          <a:solidFill>
                            <a:srgbClr val="FFFFFF"/>
                          </a:solidFill>
                          <a:latin typeface="Calibri"/>
                        </a:rPr>
                        <a:t>Learners like</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202124"/>
                    </a:solidFill>
                  </a:tcPr>
                </a:tc>
                <a:tc>
                  <a:txBody>
                    <a:bodyPr/>
                    <a:lstStyle/>
                    <a:p>
                      <a:pPr algn="ctr"/>
                      <a:r>
                        <a:rPr sz="1300" b="1">
                          <a:solidFill>
                            <a:srgbClr val="FFFFFF"/>
                          </a:solidFill>
                          <a:latin typeface="Calibri"/>
                        </a:rPr>
                        <a:t>Learners complain about</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202124"/>
                    </a:solidFill>
                  </a:tcPr>
                </a:tc>
              </a:tr>
              <a:tr h="777240">
                <a:tc>
                  <a:txBody>
                    <a:bodyPr/>
                    <a:lstStyle/>
                    <a:p>
                      <a:pPr algn="l"/>
                      <a:r>
                        <a:rPr sz="1300" b="1">
                          <a:solidFill>
                            <a:srgbClr val="202124"/>
                          </a:solidFill>
                          <a:latin typeface="Calibri"/>
                        </a:rPr>
                        <a:t>Google Cybersecurity Certificate</a:t>
                      </a:r>
                    </a:p>
                    <a:p>
                      <a:pPr algn="l"/>
                      <a:r>
                        <a:rPr sz="1300" b="0">
                          <a:solidFill>
                            <a:srgbClr val="202124"/>
                          </a:solidFill>
                          <a:latin typeface="Calibri"/>
                        </a:rPr>
                        <a:t>Coursera</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c>
                  <a:txBody>
                    <a:bodyPr/>
                    <a:lstStyle/>
                    <a:p>
                      <a:pPr algn="ctr"/>
                      <a:r>
                        <a:rPr sz="1300" b="0">
                          <a:solidFill>
                            <a:srgbClr val="202124"/>
                          </a:solidFill>
                          <a:latin typeface="Calibri"/>
                        </a:rPr>
                        <a:t>4.8</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c>
                  <a:txBody>
                    <a:bodyPr/>
                    <a:lstStyle/>
                    <a:p>
                      <a:pPr algn="ctr"/>
                      <a:r>
                        <a:rPr sz="1300" b="0">
                          <a:solidFill>
                            <a:srgbClr val="202124"/>
                          </a:solidFill>
                          <a:latin typeface="Calibri"/>
                        </a:rPr>
                        <a:t>1,367,882</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c>
                  <a:txBody>
                    <a:bodyPr/>
                    <a:lstStyle/>
                    <a:p>
                      <a:pPr algn="ctr"/>
                      <a:r>
                        <a:rPr sz="1300" b="0">
                          <a:solidFill>
                            <a:srgbClr val="202124"/>
                          </a:solidFill>
                          <a:latin typeface="Calibri"/>
                        </a:rPr>
                        <a:t>Great for beginners; good pacing</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c>
                  <a:txBody>
                    <a:bodyPr/>
                    <a:lstStyle/>
                    <a:p>
                      <a:pPr algn="ctr"/>
                      <a:r>
                        <a:rPr sz="1300" b="0">
                          <a:solidFill>
                            <a:srgbClr val="202124"/>
                          </a:solidFill>
                          <a:latin typeface="Calibri"/>
                        </a:rPr>
                        <a:t>Some mistakes in a final quiz</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r>
              <a:tr h="777240">
                <a:tc>
                  <a:txBody>
                    <a:bodyPr/>
                    <a:lstStyle/>
                    <a:p>
                      <a:pPr algn="l"/>
                      <a:r>
                        <a:rPr sz="1300" b="1">
                          <a:solidFill>
                            <a:srgbClr val="202124"/>
                          </a:solidFill>
                          <a:latin typeface="Calibri"/>
                        </a:rPr>
                        <a:t>CompTIA Security+ Complete Course (Jason Dion)</a:t>
                      </a:r>
                    </a:p>
                    <a:p>
                      <a:pPr algn="l"/>
                      <a:r>
                        <a:rPr sz="1300" b="0">
                          <a:solidFill>
                            <a:srgbClr val="202124"/>
                          </a:solidFill>
                          <a:latin typeface="Calibri"/>
                        </a:rPr>
                        <a:t>Udemy</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c>
                  <a:txBody>
                    <a:bodyPr/>
                    <a:lstStyle/>
                    <a:p>
                      <a:pPr algn="ctr"/>
                      <a:r>
                        <a:rPr sz="1300" b="0">
                          <a:solidFill>
                            <a:srgbClr val="202124"/>
                          </a:solidFill>
                          <a:latin typeface="Calibri"/>
                        </a:rPr>
                        <a:t>4.7</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c>
                  <a:txBody>
                    <a:bodyPr/>
                    <a:lstStyle/>
                    <a:p>
                      <a:pPr algn="ctr"/>
                      <a:r>
                        <a:rPr sz="1300" b="0">
                          <a:solidFill>
                            <a:srgbClr val="202124"/>
                          </a:solidFill>
                          <a:latin typeface="Calibri"/>
                        </a:rPr>
                        <a:t>479,288</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c>
                  <a:txBody>
                    <a:bodyPr/>
                    <a:lstStyle/>
                    <a:p>
                      <a:pPr algn="ctr"/>
                      <a:r>
                        <a:rPr sz="1300" b="0">
                          <a:solidFill>
                            <a:srgbClr val="202124"/>
                          </a:solidFill>
                          <a:latin typeface="Calibri"/>
                        </a:rPr>
                        <a:t>Clear, thorough instructor</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c>
                  <a:txBody>
                    <a:bodyPr/>
                    <a:lstStyle/>
                    <a:p>
                      <a:pPr algn="ctr"/>
                      <a:r>
                        <a:rPr sz="1300" b="0">
                          <a:solidFill>
                            <a:srgbClr val="202124"/>
                          </a:solidFill>
                          <a:latin typeface="Calibri"/>
                        </a:rPr>
                        <a:t>Exam questions harder than the course</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r>
              <a:tr h="777240">
                <a:tc>
                  <a:txBody>
                    <a:bodyPr/>
                    <a:lstStyle/>
                    <a:p>
                      <a:pPr algn="l"/>
                      <a:r>
                        <a:rPr sz="1300" b="1">
                          <a:solidFill>
                            <a:srgbClr val="202124"/>
                          </a:solidFill>
                          <a:latin typeface="Calibri"/>
                        </a:rPr>
                        <a:t>The Complete Cyber Security Course (Nathan House)</a:t>
                      </a:r>
                    </a:p>
                    <a:p>
                      <a:pPr algn="l"/>
                      <a:r>
                        <a:rPr sz="1300" b="0">
                          <a:solidFill>
                            <a:srgbClr val="202124"/>
                          </a:solidFill>
                          <a:latin typeface="Calibri"/>
                        </a:rPr>
                        <a:t>Udemy</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c>
                  <a:txBody>
                    <a:bodyPr/>
                    <a:lstStyle/>
                    <a:p>
                      <a:pPr algn="ctr"/>
                      <a:r>
                        <a:rPr sz="1300" b="0">
                          <a:solidFill>
                            <a:srgbClr val="202124"/>
                          </a:solidFill>
                          <a:latin typeface="Calibri"/>
                        </a:rPr>
                        <a:t>4.6</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c>
                  <a:txBody>
                    <a:bodyPr/>
                    <a:lstStyle/>
                    <a:p>
                      <a:pPr algn="ctr"/>
                      <a:r>
                        <a:rPr sz="1300" b="0">
                          <a:solidFill>
                            <a:srgbClr val="202124"/>
                          </a:solidFill>
                          <a:latin typeface="Calibri"/>
                        </a:rPr>
                        <a:t>320,293</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c>
                  <a:txBody>
                    <a:bodyPr/>
                    <a:lstStyle/>
                    <a:p>
                      <a:pPr algn="ctr"/>
                      <a:r>
                        <a:rPr sz="1300" b="0">
                          <a:solidFill>
                            <a:srgbClr val="202124"/>
                          </a:solidFill>
                          <a:latin typeface="Calibri"/>
                        </a:rPr>
                        <a:t>Wide coverage</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c>
                  <a:txBody>
                    <a:bodyPr/>
                    <a:lstStyle/>
                    <a:p>
                      <a:pPr algn="ctr"/>
                      <a:r>
                        <a:rPr sz="1300" b="0">
                          <a:solidFill>
                            <a:srgbClr val="202124"/>
                          </a:solidFill>
                          <a:latin typeface="Calibri"/>
                        </a:rPr>
                        <a:t>Last updated March 2024</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r>
              <a:tr h="777240">
                <a:tc>
                  <a:txBody>
                    <a:bodyPr/>
                    <a:lstStyle/>
                    <a:p>
                      <a:pPr algn="l"/>
                      <a:r>
                        <a:rPr sz="1300" b="1">
                          <a:solidFill>
                            <a:srgbClr val="202124"/>
                          </a:solidFill>
                          <a:latin typeface="Calibri"/>
                        </a:rPr>
                        <a:t>Security+ Practice Exams, Set 1 (Jason Dion)</a:t>
                      </a:r>
                    </a:p>
                    <a:p>
                      <a:pPr algn="l"/>
                      <a:r>
                        <a:rPr sz="1300" b="0">
                          <a:solidFill>
                            <a:srgbClr val="202124"/>
                          </a:solidFill>
                          <a:latin typeface="Calibri"/>
                        </a:rPr>
                        <a:t>Udemy</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c>
                  <a:txBody>
                    <a:bodyPr/>
                    <a:lstStyle/>
                    <a:p>
                      <a:pPr algn="ctr"/>
                      <a:r>
                        <a:rPr sz="1300" b="0">
                          <a:solidFill>
                            <a:srgbClr val="202124"/>
                          </a:solidFill>
                          <a:latin typeface="Calibri"/>
                        </a:rPr>
                        <a:t>4.5</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c>
                  <a:txBody>
                    <a:bodyPr/>
                    <a:lstStyle/>
                    <a:p>
                      <a:pPr algn="ctr"/>
                      <a:r>
                        <a:rPr sz="1300" b="0">
                          <a:solidFill>
                            <a:srgbClr val="202124"/>
                          </a:solidFill>
                          <a:latin typeface="Calibri"/>
                        </a:rPr>
                        <a:t>49,004</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c>
                  <a:txBody>
                    <a:bodyPr/>
                    <a:lstStyle/>
                    <a:p>
                      <a:pPr algn="ctr"/>
                      <a:r>
                        <a:rPr sz="1300" b="0">
                          <a:solidFill>
                            <a:srgbClr val="202124"/>
                          </a:solidFill>
                          <a:latin typeface="Calibri"/>
                        </a:rPr>
                        <a:t>Good exam practice</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c>
                  <a:txBody>
                    <a:bodyPr/>
                    <a:lstStyle/>
                    <a:p>
                      <a:pPr algn="ctr"/>
                      <a:r>
                        <a:rPr sz="1300" b="0">
                          <a:solidFill>
                            <a:srgbClr val="202124"/>
                          </a:solidFill>
                          <a:latin typeface="Calibri"/>
                        </a:rPr>
                        <a:t>Practice only, no teaching</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r>
            </a:tbl>
          </a:graphicData>
        </a:graphic>
      </p:graphicFrame>
      <p:cxnSp>
        <p:nvCxnSpPr>
          <p:cNvPr id="5" name="Straight Connector 4"/>
          <p:cNvCxnSpPr/>
          <p:nvPr/>
        </p:nvCxnSpPr>
        <p:spPr>
          <a:xfrm>
            <a:off x="0" y="1207008"/>
            <a:ext cx="12192000" cy="0"/>
          </a:xfrm>
          <a:prstGeom prst="line">
            <a:avLst/>
          </a:prstGeom>
          <a:ln w="50800">
            <a:solidFill>
              <a:srgbClr val="F2A9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325880"/>
            <a:ext cx="10911840" cy="384048"/>
          </a:xfrm>
          <a:prstGeom prst="rect">
            <a:avLst/>
          </a:prstGeom>
          <a:noFill/>
        </p:spPr>
        <p:txBody>
          <a:bodyPr wrap="square">
            <a:spAutoFit/>
          </a:bodyPr>
          <a:lstStyle/>
          <a:p>
            <a:pPr algn="l"/>
            <a:r>
              <a:rPr sz="1600" b="0">
                <a:solidFill>
                  <a:srgbClr val="57575A"/>
                </a:solidFill>
                <a:latin typeface="Calibri"/>
              </a:rPr>
              <a:t>The top cybersecurity courses on Coursera and Udemy</a:t>
            </a:r>
          </a:p>
        </p:txBody>
      </p:sp>
      <p:sp>
        <p:nvSpPr>
          <p:cNvPr id="7" name="TextBox 6"/>
          <p:cNvSpPr txBox="1"/>
          <p:nvPr/>
        </p:nvSpPr>
        <p:spPr>
          <a:xfrm>
            <a:off x="640080" y="6400800"/>
            <a:ext cx="7315200" cy="274320"/>
          </a:xfrm>
          <a:prstGeom prst="rect">
            <a:avLst/>
          </a:prstGeom>
          <a:noFill/>
        </p:spPr>
        <p:txBody>
          <a:bodyPr wrap="square">
            <a:spAutoFit/>
          </a:bodyPr>
          <a:lstStyle/>
          <a:p>
            <a:r>
              <a:rPr sz="1000" b="0">
                <a:solidFill>
                  <a:srgbClr val="57575A"/>
                </a:solidFill>
                <a:latin typeface="Calibri"/>
              </a:rPr>
              <a:t>SkillUp Academy  ·  Capstone Project</a:t>
            </a:r>
          </a:p>
        </p:txBody>
      </p:sp>
      <p:sp>
        <p:nvSpPr>
          <p:cNvPr id="8" name="TextBox 7"/>
          <p:cNvSpPr txBox="1"/>
          <p:nvPr/>
        </p:nvSpPr>
        <p:spPr>
          <a:xfrm>
            <a:off x="10637520" y="6400800"/>
            <a:ext cx="914400" cy="274320"/>
          </a:xfrm>
          <a:prstGeom prst="rect">
            <a:avLst/>
          </a:prstGeom>
          <a:noFill/>
        </p:spPr>
        <p:txBody>
          <a:bodyPr wrap="square">
            <a:spAutoFit/>
          </a:bodyPr>
          <a:lstStyle/>
          <a:p>
            <a:pPr algn="r"/>
            <a:r>
              <a:rPr sz="1000" b="0">
                <a:solidFill>
                  <a:srgbClr val="57575A"/>
                </a:solidFill>
                <a:latin typeface="Calibri"/>
              </a:rPr>
              <a:t>10</a:t>
            </a:r>
          </a:p>
        </p:txBody>
      </p:sp>
      <p:sp>
        <p:nvSpPr>
          <p:cNvPr id="9" name="TextBox 8"/>
          <p:cNvSpPr txBox="1"/>
          <p:nvPr/>
        </p:nvSpPr>
        <p:spPr>
          <a:xfrm>
            <a:off x="640080" y="5596128"/>
            <a:ext cx="10911840" cy="365760"/>
          </a:xfrm>
          <a:prstGeom prst="rect">
            <a:avLst/>
          </a:prstGeom>
          <a:noFill/>
        </p:spPr>
        <p:txBody>
          <a:bodyPr wrap="square">
            <a:spAutoFit/>
          </a:bodyPr>
          <a:lstStyle/>
          <a:p>
            <a:r>
              <a:rPr sz="1400" b="0">
                <a:solidFill>
                  <a:srgbClr val="57575A"/>
                </a:solidFill>
                <a:latin typeface="Calibri"/>
              </a:rPr>
              <a:t>Common complaints in low reviews: outdated content; too much theory, no hands-on labs; weak support from the instructor.</a:t>
            </a:r>
          </a:p>
        </p:txBody>
      </p:sp>
    </p:spTree>
  </p:cSld>
  <p:clrMapOvr>
    <a:masterClrMapping/>
  </p:clrMapOvr>
  <mc:AlternateContent xmlns:mc="http://schemas.openxmlformats.org/markup-compatibility/2006">
    <mc:Choice xmlns:p14="http://schemas.microsoft.com/office/powerpoint/2010/main" Requires="p14">
      <p:transition spd="slow" p14:dur="1500" advTm="10000">
        <p:push dir="u"/>
      </p:transition>
    </mc:Choice>
    <mc:Fallback>
      <p:transition spd="slow" advTm="10000">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right)">
                                      <p:cBhvr>
                                        <p:cTn id="10" dur="500"/>
                                        <p:tgtEl>
                                          <p:spTgt spid="5"/>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par>
                          <p:cTn id="15" fill="hold">
                            <p:stCondLst>
                              <p:cond delay="1000"/>
                            </p:stCondLst>
                            <p:childTnLst>
                              <p:par>
                                <p:cTn id="16" presetID="22" presetClass="entr" presetSubtype="1"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down)">
                                      <p:cBhvr>
                                        <p:cTn id="18" dur="500"/>
                                        <p:tgtEl>
                                          <p:spTgt spid="3"/>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9"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4" name="Rectangle 3"/>
          <p:cNvSpPr/>
          <p:nvPr/>
        </p:nvSpPr>
        <p:spPr>
          <a:xfrm>
            <a:off x="0" y="0"/>
            <a:ext cx="12192000" cy="1188720"/>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640080" y="256032"/>
            <a:ext cx="10911840" cy="731520"/>
          </a:xfrm>
        </p:spPr>
        <p:txBody>
          <a:bodyPr anchor="ctr"/>
          <a:lstStyle/>
          <a:p>
            <a:pPr algn="l"/>
            <a:r>
              <a:rPr sz="3200" b="0">
                <a:solidFill>
                  <a:srgbClr val="FFFFFF"/>
                </a:solidFill>
                <a:latin typeface="Calibri Light"/>
              </a:rPr>
              <a:t>Gaps in the Market</a:t>
            </a:r>
          </a:p>
        </p:txBody>
      </p:sp>
      <p:graphicFrame>
        <p:nvGraphicFramePr>
          <p:cNvPr id="3" name="Content Placeholder 2"/>
          <p:cNvGraphicFramePr>
            <a:graphicFrameLocks noGrp="1"/>
          </p:cNvGraphicFramePr>
          <p:nvPr>
            <p:ph idx="1"/>
          </p:nvPr>
        </p:nvGraphicFramePr>
        <p:xfrm>
          <a:off x="655320" y="1965960"/>
          <a:ext cx="10881360" cy="4224528"/>
        </p:xfrm>
        <a:graphic>
          <a:graphicData uri="http://schemas.openxmlformats.org/drawingml/2006/table">
            <a:tbl>
              <a:tblPr firstRow="1">
                <a:tableStyleId>{5940675A-B579-460E-94D1-54222C63F5DA}</a:tableStyleId>
              </a:tblPr>
              <a:tblGrid>
                <a:gridCol w="2560320"/>
                <a:gridCol w="5120640"/>
                <a:gridCol w="3200400"/>
              </a:tblGrid>
              <a:tr h="384048">
                <a:tc>
                  <a:txBody>
                    <a:bodyPr/>
                    <a:lstStyle/>
                    <a:p>
                      <a:pPr algn="l"/>
                      <a:r>
                        <a:rPr sz="1200" b="1">
                          <a:solidFill>
                            <a:srgbClr val="FFFFFF"/>
                          </a:solidFill>
                          <a:latin typeface="Calibri"/>
                        </a:rPr>
                        <a:t>Gap</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202124"/>
                    </a:solidFill>
                  </a:tcPr>
                </a:tc>
                <a:tc>
                  <a:txBody>
                    <a:bodyPr/>
                    <a:lstStyle/>
                    <a:p>
                      <a:pPr algn="l"/>
                      <a:r>
                        <a:rPr sz="1200" b="1">
                          <a:solidFill>
                            <a:srgbClr val="FFFFFF"/>
                          </a:solidFill>
                          <a:latin typeface="Calibri"/>
                        </a:rPr>
                        <a:t>Evidence</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202124"/>
                    </a:solidFill>
                  </a:tcPr>
                </a:tc>
                <a:tc>
                  <a:txBody>
                    <a:bodyPr/>
                    <a:lstStyle/>
                    <a:p>
                      <a:pPr algn="l"/>
                      <a:r>
                        <a:rPr sz="1200" b="1">
                          <a:solidFill>
                            <a:srgbClr val="FFFFFF"/>
                          </a:solidFill>
                          <a:latin typeface="Calibri"/>
                        </a:rPr>
                        <a:t>Opportunity for CyberStart</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202124"/>
                    </a:solidFill>
                  </a:tcPr>
                </a:tc>
              </a:tr>
              <a:tr h="548640">
                <a:tc>
                  <a:txBody>
                    <a:bodyPr/>
                    <a:lstStyle/>
                    <a:p>
                      <a:pPr algn="l"/>
                      <a:r>
                        <a:rPr sz="1200" b="1">
                          <a:solidFill>
                            <a:srgbClr val="202124"/>
                          </a:solidFill>
                          <a:latin typeface="Calibri"/>
                        </a:rPr>
                        <a:t>Affordable courses with live support</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c>
                  <a:txBody>
                    <a:bodyPr/>
                    <a:lstStyle/>
                    <a:p>
                      <a:pPr algn="l"/>
                      <a:r>
                        <a:rPr sz="1200" b="0">
                          <a:solidFill>
                            <a:srgbClr val="202124"/>
                          </a:solidFill>
                          <a:latin typeface="Calibri"/>
                        </a:rPr>
                        <a:t>Free places are scarce (CyberGirls: 20,000+ applications for about 500 places); paid options cost ₦250,000 for 5 days or US$1,000+</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c>
                  <a:txBody>
                    <a:bodyPr/>
                    <a:lstStyle/>
                    <a:p>
                      <a:pPr algn="l"/>
                      <a:r>
                        <a:rPr sz="1200" b="0">
                          <a:solidFill>
                            <a:srgbClr val="202124"/>
                          </a:solidFill>
                          <a:latin typeface="Calibri"/>
                        </a:rPr>
                        <a:t>A mid-price course: ₦150,000 in 3 parts</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r>
              <a:tr h="548640">
                <a:tc>
                  <a:txBody>
                    <a:bodyPr/>
                    <a:lstStyle/>
                    <a:p>
                      <a:pPr algn="l"/>
                      <a:r>
                        <a:rPr sz="1200" b="1">
                          <a:solidFill>
                            <a:srgbClr val="202124"/>
                          </a:solidFill>
                          <a:latin typeface="Calibri"/>
                        </a:rPr>
                        <a:t>Hands-on practice</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c>
                  <a:txBody>
                    <a:bodyPr/>
                    <a:lstStyle/>
                    <a:p>
                      <a:pPr algn="l"/>
                      <a:r>
                        <a:rPr sz="1200" b="0">
                          <a:solidFill>
                            <a:srgbClr val="202124"/>
                          </a:solidFill>
                          <a:latin typeface="Calibri"/>
                        </a:rPr>
                        <a:t>“No labs” and “too much theory” drive low course ratings; TryHackMe is praised for its labs</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c>
                  <a:txBody>
                    <a:bodyPr/>
                    <a:lstStyle/>
                    <a:p>
                      <a:pPr algn="l"/>
                      <a:r>
                        <a:rPr sz="1200" b="0">
                          <a:solidFill>
                            <a:srgbClr val="202124"/>
                          </a:solidFill>
                          <a:latin typeface="Calibri"/>
                        </a:rPr>
                        <a:t>A lab every week and a final project</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r>
              <a:tr h="548640">
                <a:tc>
                  <a:txBody>
                    <a:bodyPr/>
                    <a:lstStyle/>
                    <a:p>
                      <a:pPr algn="l"/>
                      <a:r>
                        <a:rPr sz="1200" b="1">
                          <a:solidFill>
                            <a:srgbClr val="202124"/>
                          </a:solidFill>
                          <a:latin typeface="Calibri"/>
                        </a:rPr>
                        <a:t>A route from course to job</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c>
                  <a:txBody>
                    <a:bodyPr/>
                    <a:lstStyle/>
                    <a:p>
                      <a:pPr algn="l"/>
                      <a:r>
                        <a:rPr sz="1200" b="0">
                          <a:solidFill>
                            <a:srgbClr val="202124"/>
                          </a:solidFill>
                          <a:latin typeface="Calibri"/>
                        </a:rPr>
                        <a:t>Guides say to get Security+ and a portfolio; banks and insurers are 29% of the market</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c>
                  <a:txBody>
                    <a:bodyPr/>
                    <a:lstStyle/>
                    <a:p>
                      <a:pPr algn="l"/>
                      <a:r>
                        <a:rPr sz="1200" b="0">
                          <a:solidFill>
                            <a:srgbClr val="202124"/>
                          </a:solidFill>
                          <a:latin typeface="Calibri"/>
                        </a:rPr>
                        <a:t>Exam preparation, CV help and employer-sponsored places</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r>
              <a:tr h="548640">
                <a:tc>
                  <a:txBody>
                    <a:bodyPr/>
                    <a:lstStyle/>
                    <a:p>
                      <a:pPr algn="l"/>
                      <a:r>
                        <a:rPr sz="1200" b="1">
                          <a:solidFill>
                            <a:srgbClr val="202124"/>
                          </a:solidFill>
                          <a:latin typeface="Calibri"/>
                        </a:rPr>
                        <a:t>Reliable support</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c>
                  <a:txBody>
                    <a:bodyPr/>
                    <a:lstStyle/>
                    <a:p>
                      <a:pPr algn="l"/>
                      <a:r>
                        <a:rPr sz="1200" b="0">
                          <a:solidFill>
                            <a:srgbClr val="202124"/>
                          </a:solidFill>
                          <a:latin typeface="Calibri"/>
                        </a:rPr>
                        <a:t>AltSchool backlash on X; ALX billing fix took 9 days; TryHackMe support is slow</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c>
                  <a:txBody>
                    <a:bodyPr/>
                    <a:lstStyle/>
                    <a:p>
                      <a:pPr algn="l"/>
                      <a:r>
                        <a:rPr sz="1200" b="0">
                          <a:solidFill>
                            <a:srgbClr val="202124"/>
                          </a:solidFill>
                          <a:latin typeface="Calibri"/>
                        </a:rPr>
                        <a:t>Replies within 24 hours and recorded classes</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r>
              <a:tr h="548640">
                <a:tc>
                  <a:txBody>
                    <a:bodyPr/>
                    <a:lstStyle/>
                    <a:p>
                      <a:pPr algn="l"/>
                      <a:r>
                        <a:rPr sz="1200" b="1">
                          <a:solidFill>
                            <a:srgbClr val="202124"/>
                          </a:solidFill>
                          <a:latin typeface="Calibri"/>
                        </a:rPr>
                        <a:t>Clear prices online</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c>
                  <a:txBody>
                    <a:bodyPr/>
                    <a:lstStyle/>
                    <a:p>
                      <a:pPr algn="l"/>
                      <a:r>
                        <a:rPr sz="1200" b="0">
                          <a:solidFill>
                            <a:srgbClr val="202124"/>
                          </a:solidFill>
                          <a:latin typeface="Calibri"/>
                        </a:rPr>
                        <a:t>Few search results show a naira price</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c>
                  <a:txBody>
                    <a:bodyPr/>
                    <a:lstStyle/>
                    <a:p>
                      <a:pPr algn="l"/>
                      <a:r>
                        <a:rPr sz="1200" b="0">
                          <a:solidFill>
                            <a:srgbClr val="202124"/>
                          </a:solidFill>
                          <a:latin typeface="Calibri"/>
                        </a:rPr>
                        <a:t>Publish the price; a free first class</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r>
              <a:tr h="548640">
                <a:tc>
                  <a:txBody>
                    <a:bodyPr/>
                    <a:lstStyle/>
                    <a:p>
                      <a:pPr algn="l"/>
                      <a:r>
                        <a:rPr sz="1200" b="1">
                          <a:solidFill>
                            <a:srgbClr val="202124"/>
                          </a:solidFill>
                          <a:latin typeface="Calibri"/>
                        </a:rPr>
                        <a:t>Up-to-date, local content</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c>
                  <a:txBody>
                    <a:bodyPr/>
                    <a:lstStyle/>
                    <a:p>
                      <a:pPr algn="l"/>
                      <a:r>
                        <a:rPr sz="1200" b="0">
                          <a:solidFill>
                            <a:srgbClr val="202124"/>
                          </a:solidFill>
                          <a:latin typeface="Calibri"/>
                        </a:rPr>
                        <a:t>A top Udemy course was last updated in March 2024; the CAC breach drove interest</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c>
                  <a:txBody>
                    <a:bodyPr/>
                    <a:lstStyle/>
                    <a:p>
                      <a:pPr algn="l"/>
                      <a:r>
                        <a:rPr sz="1200" b="0">
                          <a:solidFill>
                            <a:srgbClr val="202124"/>
                          </a:solidFill>
                          <a:latin typeface="Calibri"/>
                        </a:rPr>
                        <a:t>Update every cohort with Nigerian cases</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r>
              <a:tr h="548640">
                <a:tc>
                  <a:txBody>
                    <a:bodyPr/>
                    <a:lstStyle/>
                    <a:p>
                      <a:pPr algn="l"/>
                      <a:r>
                        <a:rPr sz="1200" b="1">
                          <a:solidFill>
                            <a:srgbClr val="202124"/>
                          </a:solidFill>
                          <a:latin typeface="Calibri"/>
                        </a:rPr>
                        <a:t>Trusted local providers</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c>
                  <a:txBody>
                    <a:bodyPr/>
                    <a:lstStyle/>
                    <a:p>
                      <a:pPr algn="l"/>
                      <a:r>
                        <a:rPr sz="1200" b="0">
                          <a:solidFill>
                            <a:srgbClr val="202124"/>
                          </a:solidFill>
                          <a:latin typeface="Calibri"/>
                        </a:rPr>
                        <a:t>No independent reviews found for NIIT Nigeria or Phillips Consulting</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c>
                  <a:txBody>
                    <a:bodyPr/>
                    <a:lstStyle/>
                    <a:p>
                      <a:pPr algn="l"/>
                      <a:r>
                        <a:rPr sz="1200" b="0">
                          <a:solidFill>
                            <a:srgbClr val="202124"/>
                          </a:solidFill>
                          <a:latin typeface="Calibri"/>
                        </a:rPr>
                        <a:t>Collect reviews on Google and Trustpilot</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r>
            </a:tbl>
          </a:graphicData>
        </a:graphic>
      </p:graphicFrame>
      <p:cxnSp>
        <p:nvCxnSpPr>
          <p:cNvPr id="5" name="Straight Connector 4"/>
          <p:cNvCxnSpPr/>
          <p:nvPr/>
        </p:nvCxnSpPr>
        <p:spPr>
          <a:xfrm>
            <a:off x="0" y="1207008"/>
            <a:ext cx="12192000" cy="0"/>
          </a:xfrm>
          <a:prstGeom prst="line">
            <a:avLst/>
          </a:prstGeom>
          <a:ln w="50800">
            <a:solidFill>
              <a:srgbClr val="F2A9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325880"/>
            <a:ext cx="10911840" cy="384048"/>
          </a:xfrm>
          <a:prstGeom prst="rect">
            <a:avLst/>
          </a:prstGeom>
          <a:noFill/>
        </p:spPr>
        <p:txBody>
          <a:bodyPr wrap="square">
            <a:spAutoFit/>
          </a:bodyPr>
          <a:lstStyle/>
          <a:p>
            <a:pPr algn="l"/>
            <a:r>
              <a:rPr sz="1600" b="0">
                <a:solidFill>
                  <a:srgbClr val="57575A"/>
                </a:solidFill>
                <a:latin typeface="Calibri"/>
              </a:rPr>
              <a:t>What customers want but do not get today</a:t>
            </a:r>
          </a:p>
        </p:txBody>
      </p:sp>
      <p:sp>
        <p:nvSpPr>
          <p:cNvPr id="7" name="TextBox 6"/>
          <p:cNvSpPr txBox="1"/>
          <p:nvPr/>
        </p:nvSpPr>
        <p:spPr>
          <a:xfrm>
            <a:off x="640080" y="6400800"/>
            <a:ext cx="7315200" cy="274320"/>
          </a:xfrm>
          <a:prstGeom prst="rect">
            <a:avLst/>
          </a:prstGeom>
          <a:noFill/>
        </p:spPr>
        <p:txBody>
          <a:bodyPr wrap="square">
            <a:spAutoFit/>
          </a:bodyPr>
          <a:lstStyle/>
          <a:p>
            <a:r>
              <a:rPr sz="1000" b="0">
                <a:solidFill>
                  <a:srgbClr val="57575A"/>
                </a:solidFill>
                <a:latin typeface="Calibri"/>
              </a:rPr>
              <a:t>SkillUp Academy  ·  Capstone Project</a:t>
            </a:r>
          </a:p>
        </p:txBody>
      </p:sp>
      <p:sp>
        <p:nvSpPr>
          <p:cNvPr id="8" name="TextBox 7"/>
          <p:cNvSpPr txBox="1"/>
          <p:nvPr/>
        </p:nvSpPr>
        <p:spPr>
          <a:xfrm>
            <a:off x="10637520" y="6400800"/>
            <a:ext cx="914400" cy="274320"/>
          </a:xfrm>
          <a:prstGeom prst="rect">
            <a:avLst/>
          </a:prstGeom>
          <a:noFill/>
        </p:spPr>
        <p:txBody>
          <a:bodyPr wrap="square">
            <a:spAutoFit/>
          </a:bodyPr>
          <a:lstStyle/>
          <a:p>
            <a:pPr algn="r"/>
            <a:r>
              <a:rPr sz="1000" b="0">
                <a:solidFill>
                  <a:srgbClr val="57575A"/>
                </a:solidFill>
                <a:latin typeface="Calibri"/>
              </a:rPr>
              <a:t>11</a:t>
            </a:r>
          </a:p>
        </p:txBody>
      </p:sp>
    </p:spTree>
  </p:cSld>
  <p:clrMapOvr>
    <a:masterClrMapping/>
  </p:clrMapOvr>
  <mc:AlternateContent xmlns:mc="http://schemas.openxmlformats.org/markup-compatibility/2006">
    <mc:Choice xmlns:p14="http://schemas.microsoft.com/office/powerpoint/2010/main" Requires="p14">
      <p:transition spd="slow" p14:dur="1500" advTm="10000">
        <p:push dir="u"/>
      </p:transition>
    </mc:Choice>
    <mc:Fallback>
      <p:transition spd="slow" advTm="10000">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right)">
                                      <p:cBhvr>
                                        <p:cTn id="10" dur="500"/>
                                        <p:tgtEl>
                                          <p:spTgt spid="5"/>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par>
                          <p:cTn id="15" fill="hold">
                            <p:stCondLst>
                              <p:cond delay="1000"/>
                            </p:stCondLst>
                            <p:childTnLst>
                              <p:par>
                                <p:cTn id="16" presetID="22" presetClass="entr" presetSubtype="1"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down)">
                                      <p:cBhvr>
                                        <p:cTn id="1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4" name="Rectangle 3"/>
          <p:cNvSpPr/>
          <p:nvPr/>
        </p:nvSpPr>
        <p:spPr>
          <a:xfrm>
            <a:off x="0" y="0"/>
            <a:ext cx="12192000" cy="1188720"/>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640080" y="256032"/>
            <a:ext cx="10911840" cy="731520"/>
          </a:xfrm>
        </p:spPr>
        <p:txBody>
          <a:bodyPr anchor="ctr"/>
          <a:lstStyle/>
          <a:p>
            <a:pPr algn="l"/>
            <a:r>
              <a:rPr sz="3200" b="0">
                <a:solidFill>
                  <a:srgbClr val="FFFFFF"/>
                </a:solidFill>
                <a:latin typeface="Calibri Light"/>
              </a:rPr>
              <a:t>The Gaps, Ranked</a:t>
            </a:r>
          </a:p>
        </p:txBody>
      </p:sp>
      <p:graphicFrame>
        <p:nvGraphicFramePr>
          <p:cNvPr id="3" name="Content Placeholder 2"/>
          <p:cNvGraphicFramePr>
            <a:graphicFrameLocks noGrp="1"/>
          </p:cNvGraphicFramePr>
          <p:nvPr>
            <p:ph idx="1"/>
          </p:nvPr>
        </p:nvGraphicFramePr>
        <p:xfrm>
          <a:off x="822960" y="1874520"/>
          <a:ext cx="6812280" cy="4160520"/>
        </p:xfrm>
        <a:graphic>
          <a:graphicData uri="http://schemas.openxmlformats.org/drawingml/2006/chart">
            <c:chart xmlns:c="http://schemas.openxmlformats.org/drawingml/2006/chart" r:id="rId2"/>
          </a:graphicData>
        </a:graphic>
      </p:graphicFrame>
      <p:cxnSp>
        <p:nvCxnSpPr>
          <p:cNvPr id="5" name="Straight Connector 4"/>
          <p:cNvCxnSpPr/>
          <p:nvPr/>
        </p:nvCxnSpPr>
        <p:spPr>
          <a:xfrm>
            <a:off x="0" y="1207008"/>
            <a:ext cx="12192000" cy="0"/>
          </a:xfrm>
          <a:prstGeom prst="line">
            <a:avLst/>
          </a:prstGeom>
          <a:ln w="50800">
            <a:solidFill>
              <a:srgbClr val="F2A9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325880"/>
            <a:ext cx="10911840" cy="384048"/>
          </a:xfrm>
          <a:prstGeom prst="rect">
            <a:avLst/>
          </a:prstGeom>
          <a:noFill/>
        </p:spPr>
        <p:txBody>
          <a:bodyPr wrap="square">
            <a:spAutoFit/>
          </a:bodyPr>
          <a:lstStyle/>
          <a:p>
            <a:pPr algn="l"/>
            <a:r>
              <a:rPr sz="1600" b="0">
                <a:solidFill>
                  <a:srgbClr val="57575A"/>
                </a:solidFill>
                <a:latin typeface="Calibri"/>
              </a:rPr>
              <a:t>Priority = demand × fit, each scored 1 to 5 (out of 25)</a:t>
            </a:r>
          </a:p>
        </p:txBody>
      </p:sp>
      <p:sp>
        <p:nvSpPr>
          <p:cNvPr id="7" name="TextBox 6"/>
          <p:cNvSpPr txBox="1"/>
          <p:nvPr/>
        </p:nvSpPr>
        <p:spPr>
          <a:xfrm>
            <a:off x="640080" y="6400800"/>
            <a:ext cx="7315200" cy="274320"/>
          </a:xfrm>
          <a:prstGeom prst="rect">
            <a:avLst/>
          </a:prstGeom>
          <a:noFill/>
        </p:spPr>
        <p:txBody>
          <a:bodyPr wrap="square">
            <a:spAutoFit/>
          </a:bodyPr>
          <a:lstStyle/>
          <a:p>
            <a:r>
              <a:rPr sz="1000" b="0">
                <a:solidFill>
                  <a:srgbClr val="57575A"/>
                </a:solidFill>
                <a:latin typeface="Calibri"/>
              </a:rPr>
              <a:t>SkillUp Academy  ·  Capstone Project</a:t>
            </a:r>
          </a:p>
        </p:txBody>
      </p:sp>
      <p:sp>
        <p:nvSpPr>
          <p:cNvPr id="8" name="TextBox 7"/>
          <p:cNvSpPr txBox="1"/>
          <p:nvPr/>
        </p:nvSpPr>
        <p:spPr>
          <a:xfrm>
            <a:off x="10637520" y="6400800"/>
            <a:ext cx="914400" cy="274320"/>
          </a:xfrm>
          <a:prstGeom prst="rect">
            <a:avLst/>
          </a:prstGeom>
          <a:noFill/>
        </p:spPr>
        <p:txBody>
          <a:bodyPr wrap="square">
            <a:spAutoFit/>
          </a:bodyPr>
          <a:lstStyle/>
          <a:p>
            <a:pPr algn="r"/>
            <a:r>
              <a:rPr sz="1000" b="0">
                <a:solidFill>
                  <a:srgbClr val="57575A"/>
                </a:solidFill>
                <a:latin typeface="Calibri"/>
              </a:rPr>
              <a:t>12</a:t>
            </a:r>
          </a:p>
        </p:txBody>
      </p:sp>
      <p:sp>
        <p:nvSpPr>
          <p:cNvPr id="9" name="Rectangle 8"/>
          <p:cNvSpPr/>
          <p:nvPr/>
        </p:nvSpPr>
        <p:spPr>
          <a:xfrm>
            <a:off x="7818120" y="1965960"/>
            <a:ext cx="3596640" cy="4023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818120" y="1965960"/>
            <a:ext cx="64008" cy="402336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0" y="2148840"/>
            <a:ext cx="3139440" cy="3657600"/>
          </a:xfrm>
          <a:prstGeom prst="rect">
            <a:avLst/>
          </a:prstGeom>
          <a:noFill/>
        </p:spPr>
        <p:txBody>
          <a:bodyPr wrap="square" anchor="ctr">
            <a:spAutoFit/>
          </a:bodyPr>
          <a:lstStyle/>
          <a:p>
            <a:pPr>
              <a:spcAft>
                <a:spcPts val="1200"/>
              </a:spcAft>
            </a:pPr>
            <a:r>
              <a:rPr sz="1700" b="1">
                <a:solidFill>
                  <a:srgbClr val="202124"/>
                </a:solidFill>
                <a:latin typeface="Calibri"/>
              </a:rPr>
              <a:t>Biggest gaps: </a:t>
            </a:r>
            <a:r>
              <a:rPr sz="1700" b="0">
                <a:solidFill>
                  <a:srgbClr val="202124"/>
                </a:solidFill>
                <a:latin typeface="Calibri"/>
              </a:rPr>
              <a:t>affordable courses with live support and hands-on practice (25 of 25).</a:t>
            </a:r>
          </a:p>
          <a:p>
            <a:pPr>
              <a:spcAft>
                <a:spcPts val="1200"/>
              </a:spcAft>
            </a:pPr>
            <a:r>
              <a:rPr sz="1700" b="1">
                <a:solidFill>
                  <a:srgbClr val="202124"/>
                </a:solidFill>
                <a:latin typeface="Calibri"/>
              </a:rPr>
              <a:t>Next: </a:t>
            </a:r>
            <a:r>
              <a:rPr sz="1700" b="0">
                <a:solidFill>
                  <a:srgbClr val="202124"/>
                </a:solidFill>
                <a:latin typeface="Calibri"/>
              </a:rPr>
              <a:t>a route from course to job, and reliable support.</a:t>
            </a:r>
          </a:p>
          <a:p>
            <a:pPr>
              <a:spcAft>
                <a:spcPts val="1200"/>
              </a:spcAft>
            </a:pPr>
            <a:r>
              <a:rPr sz="1700" b="1">
                <a:solidFill>
                  <a:srgbClr val="202124"/>
                </a:solidFill>
                <a:latin typeface="Calibri"/>
              </a:rPr>
              <a:t>CyberStart </a:t>
            </a:r>
            <a:r>
              <a:rPr sz="1700" b="0">
                <a:solidFill>
                  <a:srgbClr val="202124"/>
                </a:solidFill>
                <a:latin typeface="Calibri"/>
              </a:rPr>
              <a:t>is built around these gaps.</a:t>
            </a:r>
          </a:p>
        </p:txBody>
      </p:sp>
    </p:spTree>
  </p:cSld>
  <p:clrMapOvr>
    <a:masterClrMapping/>
  </p:clrMapOvr>
  <mc:AlternateContent xmlns:mc="http://schemas.openxmlformats.org/markup-compatibility/2006">
    <mc:Choice xmlns:p14="http://schemas.microsoft.com/office/powerpoint/2010/main" Requires="p14">
      <p:transition spd="slow" p14:dur="1500" advTm="10000">
        <p:push dir="u"/>
      </p:transition>
    </mc:Choice>
    <mc:Fallback>
      <p:transition spd="slow" advTm="10000">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right)">
                                      <p:cBhvr>
                                        <p:cTn id="10" dur="500"/>
                                        <p:tgtEl>
                                          <p:spTgt spid="5"/>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right)">
                                      <p:cBhvr>
                                        <p:cTn id="18" dur="500"/>
                                        <p:tgtEl>
                                          <p:spTgt spid="3"/>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Graphic spid="3" grpId="0">
        <p:bldAsOne/>
      </p:bldGraphic>
      <p:bldP spid="9" grpId="0" animBg="1"/>
      <p:bldP spid="10" grpId="0" animBg="1"/>
      <p:bldP spid="11"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4" name="Rectangle 3"/>
          <p:cNvSpPr/>
          <p:nvPr/>
        </p:nvSpPr>
        <p:spPr>
          <a:xfrm>
            <a:off x="0" y="0"/>
            <a:ext cx="12192000" cy="1188720"/>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640080" y="256032"/>
            <a:ext cx="10911840" cy="731520"/>
          </a:xfrm>
        </p:spPr>
        <p:txBody>
          <a:bodyPr anchor="ctr"/>
          <a:lstStyle/>
          <a:p>
            <a:pPr algn="l"/>
            <a:r>
              <a:rPr sz="3200" b="0">
                <a:solidFill>
                  <a:srgbClr val="FFFFFF"/>
                </a:solidFill>
                <a:latin typeface="Calibri Light"/>
              </a:rPr>
              <a:t>Market Opportunities</a:t>
            </a:r>
          </a:p>
        </p:txBody>
      </p:sp>
      <p:graphicFrame>
        <p:nvGraphicFramePr>
          <p:cNvPr id="3" name="Content Placeholder 2"/>
          <p:cNvGraphicFramePr>
            <a:graphicFrameLocks noGrp="1"/>
          </p:cNvGraphicFramePr>
          <p:nvPr>
            <p:ph idx="1"/>
          </p:nvPr>
        </p:nvGraphicFramePr>
        <p:xfrm>
          <a:off x="701040" y="1965960"/>
          <a:ext cx="10789920" cy="4032504"/>
        </p:xfrm>
        <a:graphic>
          <a:graphicData uri="http://schemas.openxmlformats.org/drawingml/2006/table">
            <a:tbl>
              <a:tblPr firstRow="1">
                <a:tableStyleId>{5940675A-B579-460E-94D1-54222C63F5DA}</a:tableStyleId>
              </a:tblPr>
              <a:tblGrid>
                <a:gridCol w="2926080"/>
                <a:gridCol w="7863840"/>
              </a:tblGrid>
              <a:tr h="411480">
                <a:tc>
                  <a:txBody>
                    <a:bodyPr/>
                    <a:lstStyle/>
                    <a:p>
                      <a:pPr algn="l"/>
                      <a:r>
                        <a:rPr sz="1600" b="1">
                          <a:solidFill>
                            <a:srgbClr val="FFFFFF"/>
                          </a:solidFill>
                          <a:latin typeface="Calibri"/>
                        </a:rPr>
                        <a:t>Opportunity</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202124"/>
                    </a:solidFill>
                  </a:tcPr>
                </a:tc>
                <a:tc>
                  <a:txBody>
                    <a:bodyPr/>
                    <a:lstStyle/>
                    <a:p>
                      <a:pPr algn="l"/>
                      <a:r>
                        <a:rPr sz="1600" b="1">
                          <a:solidFill>
                            <a:srgbClr val="FFFFFF"/>
                          </a:solidFill>
                          <a:latin typeface="Calibri"/>
                        </a:rPr>
                        <a:t>Evidence</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202124"/>
                    </a:solidFill>
                  </a:tcPr>
                </a:tc>
              </a:tr>
              <a:tr h="603504">
                <a:tc>
                  <a:txBody>
                    <a:bodyPr/>
                    <a:lstStyle/>
                    <a:p>
                      <a:pPr algn="l"/>
                      <a:r>
                        <a:rPr sz="1600" b="1">
                          <a:solidFill>
                            <a:srgbClr val="202124"/>
                          </a:solidFill>
                          <a:latin typeface="Calibri"/>
                        </a:rPr>
                        <a:t>A growing market</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c>
                  <a:txBody>
                    <a:bodyPr/>
                    <a:lstStyle/>
                    <a:p>
                      <a:pPr algn="l"/>
                      <a:r>
                        <a:rPr sz="1600" b="0">
                          <a:solidFill>
                            <a:srgbClr val="202124"/>
                          </a:solidFill>
                          <a:latin typeface="Calibri"/>
                        </a:rPr>
                        <a:t>US$230 million in 2025, growing about 10% a year to 2031</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r>
              <a:tr h="603504">
                <a:tc>
                  <a:txBody>
                    <a:bodyPr/>
                    <a:lstStyle/>
                    <a:p>
                      <a:pPr algn="l"/>
                      <a:r>
                        <a:rPr sz="1600" b="1">
                          <a:solidFill>
                            <a:srgbClr val="202124"/>
                          </a:solidFill>
                          <a:latin typeface="Calibri"/>
                        </a:rPr>
                        <a:t>A shortage of experts</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c>
                  <a:txBody>
                    <a:bodyPr/>
                    <a:lstStyle/>
                    <a:p>
                      <a:pPr algn="l"/>
                      <a:r>
                        <a:rPr sz="1600" b="0">
                          <a:solidFill>
                            <a:srgbClr val="202124"/>
                          </a:solidFill>
                          <a:latin typeface="Calibri"/>
                        </a:rPr>
                        <a:t>About 8,352 professionals in Nigeria against 57,269 in South Africa (2023)</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r>
              <a:tr h="603504">
                <a:tc>
                  <a:txBody>
                    <a:bodyPr/>
                    <a:lstStyle/>
                    <a:p>
                      <a:pPr algn="l"/>
                      <a:r>
                        <a:rPr sz="1600" b="1">
                          <a:solidFill>
                            <a:srgbClr val="202124"/>
                          </a:solidFill>
                          <a:latin typeface="Calibri"/>
                        </a:rPr>
                        <a:t>Rising threats</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c>
                  <a:txBody>
                    <a:bodyPr/>
                    <a:lstStyle/>
                    <a:p>
                      <a:pPr algn="l"/>
                      <a:r>
                        <a:rPr sz="1600" b="0">
                          <a:solidFill>
                            <a:srgbClr val="202124"/>
                          </a:solidFill>
                          <a:latin typeface="Calibri"/>
                        </a:rPr>
                        <a:t>4,388 attacks a week on each organisation in early 2025, up 47%; the CAC breach in April 2026</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r>
              <a:tr h="603504">
                <a:tc>
                  <a:txBody>
                    <a:bodyPr/>
                    <a:lstStyle/>
                    <a:p>
                      <a:pPr algn="l"/>
                      <a:r>
                        <a:rPr sz="1600" b="1">
                          <a:solidFill>
                            <a:srgbClr val="202124"/>
                          </a:solidFill>
                          <a:latin typeface="Calibri"/>
                        </a:rPr>
                        <a:t>Employers who pay</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c>
                  <a:txBody>
                    <a:bodyPr/>
                    <a:lstStyle/>
                    <a:p>
                      <a:pPr algn="l"/>
                      <a:r>
                        <a:rPr sz="1600" b="0">
                          <a:solidFill>
                            <a:srgbClr val="202124"/>
                          </a:solidFill>
                          <a:latin typeface="Calibri"/>
                        </a:rPr>
                        <a:t>Banks, finance and insurance are 29.2% of the cybersecurity market</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r>
              <a:tr h="603504">
                <a:tc>
                  <a:txBody>
                    <a:bodyPr/>
                    <a:lstStyle/>
                    <a:p>
                      <a:pPr algn="l"/>
                      <a:r>
                        <a:rPr sz="1600" b="1">
                          <a:solidFill>
                            <a:srgbClr val="202124"/>
                          </a:solidFill>
                          <a:latin typeface="Calibri"/>
                        </a:rPr>
                        <a:t>Nationwide interest</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c>
                  <a:txBody>
                    <a:bodyPr/>
                    <a:lstStyle/>
                    <a:p>
                      <a:pPr algn="l"/>
                      <a:r>
                        <a:rPr sz="1600" b="0">
                          <a:solidFill>
                            <a:srgbClr val="202124"/>
                          </a:solidFill>
                          <a:latin typeface="Calibri"/>
                        </a:rPr>
                        <a:t>Cybersecurity is the most searched digital skill in most states, not only Lagos</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r>
              <a:tr h="603504">
                <a:tc>
                  <a:txBody>
                    <a:bodyPr/>
                    <a:lstStyle/>
                    <a:p>
                      <a:pPr algn="l"/>
                      <a:r>
                        <a:rPr sz="1600" b="1">
                          <a:solidFill>
                            <a:srgbClr val="202124"/>
                          </a:solidFill>
                          <a:latin typeface="Calibri"/>
                        </a:rPr>
                        <a:t>A free exam offer ended</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c>
                  <a:txBody>
                    <a:bodyPr/>
                    <a:lstStyle/>
                    <a:p>
                      <a:pPr algn="l"/>
                      <a:r>
                        <a:rPr sz="1600" b="0">
                          <a:solidFill>
                            <a:srgbClr val="202124"/>
                          </a:solidFill>
                          <a:latin typeface="Calibri"/>
                        </a:rPr>
                        <a:t>ISC2 closed its free CC exam programme on 20 May 2026, so learners need exam preparation</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r>
            </a:tbl>
          </a:graphicData>
        </a:graphic>
      </p:graphicFrame>
      <p:cxnSp>
        <p:nvCxnSpPr>
          <p:cNvPr id="5" name="Straight Connector 4"/>
          <p:cNvCxnSpPr/>
          <p:nvPr/>
        </p:nvCxnSpPr>
        <p:spPr>
          <a:xfrm>
            <a:off x="0" y="1207008"/>
            <a:ext cx="12192000" cy="0"/>
          </a:xfrm>
          <a:prstGeom prst="line">
            <a:avLst/>
          </a:prstGeom>
          <a:ln w="50800">
            <a:solidFill>
              <a:srgbClr val="F2A9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325880"/>
            <a:ext cx="10911840" cy="384048"/>
          </a:xfrm>
          <a:prstGeom prst="rect">
            <a:avLst/>
          </a:prstGeom>
          <a:noFill/>
        </p:spPr>
        <p:txBody>
          <a:bodyPr wrap="square">
            <a:spAutoFit/>
          </a:bodyPr>
          <a:lstStyle/>
          <a:p>
            <a:pPr algn="l"/>
            <a:r>
              <a:rPr sz="1600" b="0">
                <a:solidFill>
                  <a:srgbClr val="57575A"/>
                </a:solidFill>
                <a:latin typeface="Calibri"/>
              </a:rPr>
              <a:t>Why now is a good time to launch</a:t>
            </a:r>
          </a:p>
        </p:txBody>
      </p:sp>
      <p:sp>
        <p:nvSpPr>
          <p:cNvPr id="7" name="TextBox 6"/>
          <p:cNvSpPr txBox="1"/>
          <p:nvPr/>
        </p:nvSpPr>
        <p:spPr>
          <a:xfrm>
            <a:off x="640080" y="6400800"/>
            <a:ext cx="7315200" cy="274320"/>
          </a:xfrm>
          <a:prstGeom prst="rect">
            <a:avLst/>
          </a:prstGeom>
          <a:noFill/>
        </p:spPr>
        <p:txBody>
          <a:bodyPr wrap="square">
            <a:spAutoFit/>
          </a:bodyPr>
          <a:lstStyle/>
          <a:p>
            <a:r>
              <a:rPr sz="1000" b="0">
                <a:solidFill>
                  <a:srgbClr val="57575A"/>
                </a:solidFill>
                <a:latin typeface="Calibri"/>
              </a:rPr>
              <a:t>SkillUp Academy  ·  Capstone Project</a:t>
            </a:r>
          </a:p>
        </p:txBody>
      </p:sp>
      <p:sp>
        <p:nvSpPr>
          <p:cNvPr id="8" name="TextBox 7"/>
          <p:cNvSpPr txBox="1"/>
          <p:nvPr/>
        </p:nvSpPr>
        <p:spPr>
          <a:xfrm>
            <a:off x="10637520" y="6400800"/>
            <a:ext cx="914400" cy="274320"/>
          </a:xfrm>
          <a:prstGeom prst="rect">
            <a:avLst/>
          </a:prstGeom>
          <a:noFill/>
        </p:spPr>
        <p:txBody>
          <a:bodyPr wrap="square">
            <a:spAutoFit/>
          </a:bodyPr>
          <a:lstStyle/>
          <a:p>
            <a:pPr algn="r"/>
            <a:r>
              <a:rPr sz="1000" b="0">
                <a:solidFill>
                  <a:srgbClr val="57575A"/>
                </a:solidFill>
                <a:latin typeface="Calibri"/>
              </a:rPr>
              <a:t>13</a:t>
            </a:r>
          </a:p>
        </p:txBody>
      </p:sp>
    </p:spTree>
  </p:cSld>
  <p:clrMapOvr>
    <a:masterClrMapping/>
  </p:clrMapOvr>
  <mc:AlternateContent xmlns:mc="http://schemas.openxmlformats.org/markup-compatibility/2006">
    <mc:Choice xmlns:p14="http://schemas.microsoft.com/office/powerpoint/2010/main" Requires="p14">
      <p:transition spd="slow" p14:dur="1500" advTm="10000">
        <p:push dir="u"/>
      </p:transition>
    </mc:Choice>
    <mc:Fallback>
      <p:transition spd="slow" advTm="10000">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right)">
                                      <p:cBhvr>
                                        <p:cTn id="10" dur="500"/>
                                        <p:tgtEl>
                                          <p:spTgt spid="5"/>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par>
                          <p:cTn id="15" fill="hold">
                            <p:stCondLst>
                              <p:cond delay="1000"/>
                            </p:stCondLst>
                            <p:childTnLst>
                              <p:par>
                                <p:cTn id="16" presetID="22" presetClass="entr" presetSubtype="1"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down)">
                                      <p:cBhvr>
                                        <p:cTn id="1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4" name="Rectangle 3"/>
          <p:cNvSpPr/>
          <p:nvPr/>
        </p:nvSpPr>
        <p:spPr>
          <a:xfrm>
            <a:off x="0" y="0"/>
            <a:ext cx="12192000" cy="1188720"/>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640080" y="256032"/>
            <a:ext cx="10911840" cy="731520"/>
          </a:xfrm>
        </p:spPr>
        <p:txBody>
          <a:bodyPr anchor="ctr"/>
          <a:lstStyle/>
          <a:p>
            <a:pPr algn="l"/>
            <a:r>
              <a:rPr sz="3200" b="0">
                <a:solidFill>
                  <a:srgbClr val="FFFFFF"/>
                </a:solidFill>
                <a:latin typeface="Calibri Light"/>
              </a:rPr>
              <a:t>How CyberStart Fills the Gaps</a:t>
            </a:r>
          </a:p>
        </p:txBody>
      </p:sp>
      <p:graphicFrame>
        <p:nvGraphicFramePr>
          <p:cNvPr id="3" name="Content Placeholder 2"/>
          <p:cNvGraphicFramePr>
            <a:graphicFrameLocks noGrp="1"/>
          </p:cNvGraphicFramePr>
          <p:nvPr>
            <p:ph idx="1"/>
          </p:nvPr>
        </p:nvGraphicFramePr>
        <p:xfrm>
          <a:off x="701040" y="1965960"/>
          <a:ext cx="10789920" cy="3566160"/>
        </p:xfrm>
        <a:graphic>
          <a:graphicData uri="http://schemas.openxmlformats.org/drawingml/2006/table">
            <a:tbl>
              <a:tblPr firstRow="1">
                <a:tableStyleId>{5940675A-B579-460E-94D1-54222C63F5DA}</a:tableStyleId>
              </a:tblPr>
              <a:tblGrid>
                <a:gridCol w="2194560"/>
                <a:gridCol w="8595360"/>
              </a:tblGrid>
              <a:tr h="457200">
                <a:tc>
                  <a:txBody>
                    <a:bodyPr/>
                    <a:lstStyle/>
                    <a:p>
                      <a:pPr algn="l"/>
                      <a:r>
                        <a:rPr sz="1800" b="1">
                          <a:solidFill>
                            <a:srgbClr val="FFFFFF"/>
                          </a:solidFill>
                          <a:latin typeface="Calibri"/>
                        </a:rPr>
                        <a:t>The 4 Ps</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202124"/>
                    </a:solidFill>
                  </a:tcPr>
                </a:tc>
                <a:tc>
                  <a:txBody>
                    <a:bodyPr/>
                    <a:lstStyle/>
                    <a:p>
                      <a:pPr algn="l"/>
                      <a:r>
                        <a:rPr sz="1800" b="1">
                          <a:solidFill>
                            <a:srgbClr val="FFFFFF"/>
                          </a:solidFill>
                          <a:latin typeface="Calibri"/>
                        </a:rPr>
                        <a:t>CyberStart</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202124"/>
                    </a:solidFill>
                  </a:tcPr>
                </a:tc>
              </a:tr>
              <a:tr h="777240">
                <a:tc>
                  <a:txBody>
                    <a:bodyPr/>
                    <a:lstStyle/>
                    <a:p>
                      <a:pPr algn="l"/>
                      <a:r>
                        <a:rPr sz="1800" b="1">
                          <a:solidFill>
                            <a:srgbClr val="202124"/>
                          </a:solidFill>
                          <a:latin typeface="Calibri"/>
                        </a:rPr>
                        <a:t>Product</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c>
                  <a:txBody>
                    <a:bodyPr/>
                    <a:lstStyle/>
                    <a:p>
                      <a:pPr algn="l"/>
                      <a:r>
                        <a:rPr sz="1800" b="0">
                          <a:solidFill>
                            <a:srgbClr val="202124"/>
                          </a:solidFill>
                          <a:latin typeface="Calibri"/>
                        </a:rPr>
                        <a:t>12-week beginner course: live classes, weekly labs, final project, exam preparation, job support</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r>
              <a:tr h="777240">
                <a:tc>
                  <a:txBody>
                    <a:bodyPr/>
                    <a:lstStyle/>
                    <a:p>
                      <a:pPr algn="l"/>
                      <a:r>
                        <a:rPr sz="1800" b="1">
                          <a:solidFill>
                            <a:srgbClr val="202124"/>
                          </a:solidFill>
                          <a:latin typeface="Calibri"/>
                        </a:rPr>
                        <a:t>Price</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c>
                  <a:txBody>
                    <a:bodyPr/>
                    <a:lstStyle/>
                    <a:p>
                      <a:pPr algn="l"/>
                      <a:r>
                        <a:rPr sz="1800" b="0">
                          <a:solidFill>
                            <a:srgbClr val="202124"/>
                          </a:solidFill>
                          <a:latin typeface="Calibri"/>
                        </a:rPr>
                        <a:t>₦150,000 in 3 parts of ₦50,000; free first class; employer-sponsored places</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r>
              <a:tr h="777240">
                <a:tc>
                  <a:txBody>
                    <a:bodyPr/>
                    <a:lstStyle/>
                    <a:p>
                      <a:pPr algn="l"/>
                      <a:r>
                        <a:rPr sz="1800" b="1">
                          <a:solidFill>
                            <a:srgbClr val="202124"/>
                          </a:solidFill>
                          <a:latin typeface="Calibri"/>
                        </a:rPr>
                        <a:t>Place</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c>
                  <a:txBody>
                    <a:bodyPr/>
                    <a:lstStyle/>
                    <a:p>
                      <a:pPr algn="l"/>
                      <a:r>
                        <a:rPr sz="1800" b="0">
                          <a:solidFill>
                            <a:srgbClr val="202124"/>
                          </a:solidFill>
                          <a:latin typeface="Calibri"/>
                        </a:rPr>
                        <a:t>Online nationwide, with weekend labs in Lagos and Abuja</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noFill/>
                  </a:tcPr>
                </a:tc>
              </a:tr>
              <a:tr h="777240">
                <a:tc>
                  <a:txBody>
                    <a:bodyPr/>
                    <a:lstStyle/>
                    <a:p>
                      <a:pPr algn="l"/>
                      <a:r>
                        <a:rPr sz="1800" b="1">
                          <a:solidFill>
                            <a:srgbClr val="202124"/>
                          </a:solidFill>
                          <a:latin typeface="Calibri"/>
                        </a:rPr>
                        <a:t>Promotion</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c>
                  <a:txBody>
                    <a:bodyPr/>
                    <a:lstStyle/>
                    <a:p>
                      <a:pPr algn="l"/>
                      <a:r>
                        <a:rPr sz="1800" b="0">
                          <a:solidFill>
                            <a:srgbClr val="202124"/>
                          </a:solidFill>
                          <a:latin typeface="Calibri"/>
                        </a:rPr>
                        <a:t>Facebook and Instagram adverts, TikTok how-to videos, LinkedIn for employers, reviews on Google and Trustpilot</a:t>
                      </a:r>
                    </a:p>
                  </a:txBody>
                  <a:tcPr anchor="ctr">
                    <a:lnL w="12700" cap="flat" cmpd="sng" algn="ctr">
                      <a:solidFill>
                        <a:srgbClr val="D9D9D5"/>
                      </a:solidFill>
                      <a:prstDash val="solid"/>
                      <a:round/>
                      <a:headEnd type="none" w="med" len="med"/>
                      <a:tailEnd type="none" w="med" len="med"/>
                    </a:lnL>
                    <a:lnR w="12700" cap="flat" cmpd="sng" algn="ctr">
                      <a:solidFill>
                        <a:srgbClr val="D9D9D5"/>
                      </a:solidFill>
                      <a:prstDash val="solid"/>
                      <a:round/>
                      <a:headEnd type="none" w="med" len="med"/>
                      <a:tailEnd type="none" w="med" len="med"/>
                    </a:lnR>
                    <a:lnT w="12700" cap="flat" cmpd="sng" algn="ctr">
                      <a:solidFill>
                        <a:srgbClr val="D9D9D5"/>
                      </a:solidFill>
                      <a:prstDash val="solid"/>
                      <a:round/>
                      <a:headEnd type="none" w="med" len="med"/>
                      <a:tailEnd type="none" w="med" len="med"/>
                    </a:lnT>
                    <a:lnB w="12700" cap="flat" cmpd="sng" algn="ctr">
                      <a:solidFill>
                        <a:srgbClr val="D9D9D5"/>
                      </a:solidFill>
                      <a:prstDash val="solid"/>
                      <a:round/>
                      <a:headEnd type="none" w="med" len="med"/>
                      <a:tailEnd type="none" w="med" len="med"/>
                    </a:lnB>
                    <a:solidFill>
                      <a:srgbClr val="F2F2EF"/>
                    </a:solidFill>
                  </a:tcPr>
                </a:tc>
              </a:tr>
            </a:tbl>
          </a:graphicData>
        </a:graphic>
      </p:graphicFrame>
      <p:cxnSp>
        <p:nvCxnSpPr>
          <p:cNvPr id="5" name="Straight Connector 4"/>
          <p:cNvCxnSpPr/>
          <p:nvPr/>
        </p:nvCxnSpPr>
        <p:spPr>
          <a:xfrm>
            <a:off x="0" y="1207008"/>
            <a:ext cx="12192000" cy="0"/>
          </a:xfrm>
          <a:prstGeom prst="line">
            <a:avLst/>
          </a:prstGeom>
          <a:ln w="50800">
            <a:solidFill>
              <a:srgbClr val="F2A9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325880"/>
            <a:ext cx="10911840" cy="384048"/>
          </a:xfrm>
          <a:prstGeom prst="rect">
            <a:avLst/>
          </a:prstGeom>
          <a:noFill/>
        </p:spPr>
        <p:txBody>
          <a:bodyPr wrap="square">
            <a:spAutoFit/>
          </a:bodyPr>
          <a:lstStyle/>
          <a:p>
            <a:pPr algn="l"/>
            <a:r>
              <a:rPr sz="1600" b="0">
                <a:solidFill>
                  <a:srgbClr val="57575A"/>
                </a:solidFill>
                <a:latin typeface="Calibri"/>
              </a:rPr>
              <a:t>The marketing mix</a:t>
            </a:r>
          </a:p>
        </p:txBody>
      </p:sp>
      <p:sp>
        <p:nvSpPr>
          <p:cNvPr id="7" name="TextBox 6"/>
          <p:cNvSpPr txBox="1"/>
          <p:nvPr/>
        </p:nvSpPr>
        <p:spPr>
          <a:xfrm>
            <a:off x="640080" y="6400800"/>
            <a:ext cx="7315200" cy="274320"/>
          </a:xfrm>
          <a:prstGeom prst="rect">
            <a:avLst/>
          </a:prstGeom>
          <a:noFill/>
        </p:spPr>
        <p:txBody>
          <a:bodyPr wrap="square">
            <a:spAutoFit/>
          </a:bodyPr>
          <a:lstStyle/>
          <a:p>
            <a:r>
              <a:rPr sz="1000" b="0">
                <a:solidFill>
                  <a:srgbClr val="57575A"/>
                </a:solidFill>
                <a:latin typeface="Calibri"/>
              </a:rPr>
              <a:t>SkillUp Academy  ·  Capstone Project</a:t>
            </a:r>
          </a:p>
        </p:txBody>
      </p:sp>
      <p:sp>
        <p:nvSpPr>
          <p:cNvPr id="8" name="TextBox 7"/>
          <p:cNvSpPr txBox="1"/>
          <p:nvPr/>
        </p:nvSpPr>
        <p:spPr>
          <a:xfrm>
            <a:off x="10637520" y="6400800"/>
            <a:ext cx="914400" cy="274320"/>
          </a:xfrm>
          <a:prstGeom prst="rect">
            <a:avLst/>
          </a:prstGeom>
          <a:noFill/>
        </p:spPr>
        <p:txBody>
          <a:bodyPr wrap="square">
            <a:spAutoFit/>
          </a:bodyPr>
          <a:lstStyle/>
          <a:p>
            <a:pPr algn="r"/>
            <a:r>
              <a:rPr sz="1000" b="0">
                <a:solidFill>
                  <a:srgbClr val="57575A"/>
                </a:solidFill>
                <a:latin typeface="Calibri"/>
              </a:rPr>
              <a:t>14</a:t>
            </a:r>
          </a:p>
        </p:txBody>
      </p:sp>
      <p:sp>
        <p:nvSpPr>
          <p:cNvPr id="9" name="TextBox 8"/>
          <p:cNvSpPr txBox="1"/>
          <p:nvPr/>
        </p:nvSpPr>
        <p:spPr>
          <a:xfrm>
            <a:off x="640080" y="5641848"/>
            <a:ext cx="10911840" cy="365760"/>
          </a:xfrm>
          <a:prstGeom prst="rect">
            <a:avLst/>
          </a:prstGeom>
          <a:noFill/>
        </p:spPr>
        <p:txBody>
          <a:bodyPr wrap="square">
            <a:spAutoFit/>
          </a:bodyPr>
          <a:lstStyle/>
          <a:p>
            <a:r>
              <a:rPr sz="1400" b="0">
                <a:solidFill>
                  <a:srgbClr val="57575A"/>
                </a:solidFill>
                <a:latin typeface="Calibri"/>
              </a:rPr>
              <a:t>Year 1 estimate: 375 learners and ₦56.25 million (see the Market sheet in Excel).</a:t>
            </a:r>
          </a:p>
        </p:txBody>
      </p:sp>
    </p:spTree>
  </p:cSld>
  <p:clrMapOvr>
    <a:masterClrMapping/>
  </p:clrMapOvr>
  <mc:AlternateContent xmlns:mc="http://schemas.openxmlformats.org/markup-compatibility/2006">
    <mc:Choice xmlns:p14="http://schemas.microsoft.com/office/powerpoint/2010/main" Requires="p14">
      <p:transition spd="slow" p14:dur="1500" advTm="10000">
        <p:push dir="u"/>
      </p:transition>
    </mc:Choice>
    <mc:Fallback>
      <p:transition spd="slow" advTm="10000">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right)">
                                      <p:cBhvr>
                                        <p:cTn id="10" dur="500"/>
                                        <p:tgtEl>
                                          <p:spTgt spid="5"/>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par>
                          <p:cTn id="15" fill="hold">
                            <p:stCondLst>
                              <p:cond delay="1000"/>
                            </p:stCondLst>
                            <p:childTnLst>
                              <p:par>
                                <p:cTn id="16" presetID="22" presetClass="entr" presetSubtype="1"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down)">
                                      <p:cBhvr>
                                        <p:cTn id="18" dur="500"/>
                                        <p:tgtEl>
                                          <p:spTgt spid="3"/>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9"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4" name="Rectangle 3"/>
          <p:cNvSpPr/>
          <p:nvPr/>
        </p:nvSpPr>
        <p:spPr>
          <a:xfrm>
            <a:off x="0" y="0"/>
            <a:ext cx="12192000" cy="1188720"/>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640080" y="256032"/>
            <a:ext cx="10911840" cy="731520"/>
          </a:xfrm>
        </p:spPr>
        <p:txBody>
          <a:bodyPr anchor="ctr"/>
          <a:lstStyle/>
          <a:p>
            <a:pPr algn="l"/>
            <a:r>
              <a:rPr sz="3200" b="0">
                <a:solidFill>
                  <a:srgbClr val="FFFFFF"/>
                </a:solidFill>
                <a:latin typeface="Calibri Light"/>
              </a:rPr>
              <a:t>Conclusion</a:t>
            </a:r>
          </a:p>
        </p:txBody>
      </p:sp>
      <p:sp>
        <p:nvSpPr>
          <p:cNvPr id="9" name="Rectangle 8"/>
          <p:cNvSpPr/>
          <p:nvPr/>
        </p:nvSpPr>
        <p:spPr>
          <a:xfrm>
            <a:off x="731520" y="1965960"/>
            <a:ext cx="10728960" cy="4069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965960"/>
            <a:ext cx="64008" cy="406908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ontent Placeholder 2"/>
          <p:cNvSpPr>
            <a:spLocks noGrp="1"/>
          </p:cNvSpPr>
          <p:nvPr>
            <p:ph idx="1"/>
          </p:nvPr>
        </p:nvSpPr>
        <p:spPr>
          <a:xfrm>
            <a:off x="1051560" y="2148840"/>
            <a:ext cx="10088880" cy="3703320"/>
          </a:xfrm>
        </p:spPr>
        <p:txBody>
          <a:bodyPr anchor="ctr"/>
          <a:lstStyle/>
          <a:p>
            <a:pPr>
              <a:spcAft>
                <a:spcPts val="1000"/>
              </a:spcAft>
              <a:buClr>
                <a:srgbClr val="F2A900"/>
              </a:buClr>
            </a:pPr>
            <a:r>
              <a:rPr sz="2000" b="1">
                <a:solidFill>
                  <a:srgbClr val="8A6100"/>
                </a:solidFill>
                <a:latin typeface="Calibri"/>
              </a:rPr>
              <a:t>The market is growing: </a:t>
            </a:r>
            <a:r>
              <a:rPr sz="2000" b="0">
                <a:solidFill>
                  <a:srgbClr val="202124"/>
                </a:solidFill>
                <a:latin typeface="Calibri"/>
              </a:rPr>
              <a:t>Nigeria's cybersecurity market is worth about US$230 million (2025) and grows about 10% a year, while trained experts are scarce.</a:t>
            </a:r>
          </a:p>
          <a:p>
            <a:pPr>
              <a:spcAft>
                <a:spcPts val="1000"/>
              </a:spcAft>
              <a:buClr>
                <a:srgbClr val="F2A900"/>
              </a:buClr>
            </a:pPr>
            <a:r>
              <a:rPr sz="2000" b="1">
                <a:solidFill>
                  <a:srgbClr val="8A6100"/>
                </a:solidFill>
                <a:latin typeface="Calibri"/>
              </a:rPr>
              <a:t>Customers are searching: </a:t>
            </a:r>
            <a:r>
              <a:rPr sz="2000" b="0">
                <a:solidFill>
                  <a:srgbClr val="202124"/>
                </a:solidFill>
                <a:latin typeface="Calibri"/>
              </a:rPr>
              <a:t>cybersecurity is the most searched digital skill on Google Trends in Nigeria.</a:t>
            </a:r>
          </a:p>
          <a:p>
            <a:pPr>
              <a:spcAft>
                <a:spcPts val="1000"/>
              </a:spcAft>
              <a:buClr>
                <a:srgbClr val="F2A900"/>
              </a:buClr>
            </a:pPr>
            <a:r>
              <a:rPr sz="2000" b="1">
                <a:solidFill>
                  <a:srgbClr val="8A6100"/>
                </a:solidFill>
                <a:latin typeface="Calibri"/>
              </a:rPr>
              <a:t>Rivals are rated well, </a:t>
            </a:r>
            <a:r>
              <a:rPr sz="2000" b="0">
                <a:solidFill>
                  <a:srgbClr val="202124"/>
                </a:solidFill>
                <a:latin typeface="Calibri"/>
              </a:rPr>
              <a:t>but learners complain about support, missing labs, outdated content and unclear prices.</a:t>
            </a:r>
          </a:p>
          <a:p>
            <a:pPr>
              <a:spcAft>
                <a:spcPts val="1000"/>
              </a:spcAft>
              <a:buClr>
                <a:srgbClr val="F2A900"/>
              </a:buClr>
            </a:pPr>
            <a:r>
              <a:rPr sz="2000" b="1">
                <a:solidFill>
                  <a:srgbClr val="8A6100"/>
                </a:solidFill>
                <a:latin typeface="Calibri"/>
              </a:rPr>
              <a:t>CyberStart wins by: </a:t>
            </a:r>
            <a:r>
              <a:rPr sz="2000" b="0">
                <a:solidFill>
                  <a:srgbClr val="202124"/>
                </a:solidFill>
                <a:latin typeface="Calibri"/>
              </a:rPr>
              <a:t>clear prices, weekly labs, fast support and a path to a first job.</a:t>
            </a:r>
          </a:p>
        </p:txBody>
      </p:sp>
      <p:cxnSp>
        <p:nvCxnSpPr>
          <p:cNvPr id="5" name="Straight Connector 4"/>
          <p:cNvCxnSpPr/>
          <p:nvPr/>
        </p:nvCxnSpPr>
        <p:spPr>
          <a:xfrm>
            <a:off x="0" y="1207008"/>
            <a:ext cx="12192000" cy="0"/>
          </a:xfrm>
          <a:prstGeom prst="line">
            <a:avLst/>
          </a:prstGeom>
          <a:ln w="50800">
            <a:solidFill>
              <a:srgbClr val="F2A90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325880"/>
            <a:ext cx="10911840" cy="384048"/>
          </a:xfrm>
          <a:prstGeom prst="rect">
            <a:avLst/>
          </a:prstGeom>
          <a:noFill/>
        </p:spPr>
        <p:txBody>
          <a:bodyPr wrap="square">
            <a:spAutoFit/>
          </a:bodyPr>
          <a:lstStyle/>
          <a:p>
            <a:pPr algn="l"/>
            <a:r>
              <a:rPr sz="1600" b="0">
                <a:solidFill>
                  <a:srgbClr val="57575A"/>
                </a:solidFill>
                <a:latin typeface="Calibri"/>
              </a:rPr>
              <a:t>What the research shows</a:t>
            </a:r>
          </a:p>
        </p:txBody>
      </p:sp>
      <p:sp>
        <p:nvSpPr>
          <p:cNvPr id="7" name="TextBox 6"/>
          <p:cNvSpPr txBox="1"/>
          <p:nvPr/>
        </p:nvSpPr>
        <p:spPr>
          <a:xfrm>
            <a:off x="640080" y="6400800"/>
            <a:ext cx="7315200" cy="274320"/>
          </a:xfrm>
          <a:prstGeom prst="rect">
            <a:avLst/>
          </a:prstGeom>
          <a:noFill/>
        </p:spPr>
        <p:txBody>
          <a:bodyPr wrap="square">
            <a:spAutoFit/>
          </a:bodyPr>
          <a:lstStyle/>
          <a:p>
            <a:r>
              <a:rPr sz="1000" b="0">
                <a:solidFill>
                  <a:srgbClr val="57575A"/>
                </a:solidFill>
                <a:latin typeface="Calibri"/>
              </a:rPr>
              <a:t>SkillUp Academy  ·  Capstone Project</a:t>
            </a:r>
          </a:p>
        </p:txBody>
      </p:sp>
      <p:sp>
        <p:nvSpPr>
          <p:cNvPr id="8" name="TextBox 7"/>
          <p:cNvSpPr txBox="1"/>
          <p:nvPr/>
        </p:nvSpPr>
        <p:spPr>
          <a:xfrm>
            <a:off x="10637520" y="6400800"/>
            <a:ext cx="914400" cy="274320"/>
          </a:xfrm>
          <a:prstGeom prst="rect">
            <a:avLst/>
          </a:prstGeom>
          <a:noFill/>
        </p:spPr>
        <p:txBody>
          <a:bodyPr wrap="square">
            <a:spAutoFit/>
          </a:bodyPr>
          <a:lstStyle/>
          <a:p>
            <a:pPr algn="r"/>
            <a:r>
              <a:rPr sz="1000" b="0">
                <a:solidFill>
                  <a:srgbClr val="57575A"/>
                </a:solidFill>
                <a:latin typeface="Calibri"/>
              </a:rPr>
              <a:t>15</a:t>
            </a:r>
          </a:p>
        </p:txBody>
      </p:sp>
    </p:spTree>
  </p:cSld>
  <p:clrMapOvr>
    <a:masterClrMapping/>
  </p:clrMapOvr>
  <mc:AlternateContent xmlns:mc="http://schemas.openxmlformats.org/markup-compatibility/2006">
    <mc:Choice xmlns:p14="http://schemas.microsoft.com/office/powerpoint/2010/main" Requires="p14">
      <p:transition spd="slow" p14:dur="1500" advTm="10000">
        <p:push dir="u"/>
      </p:transition>
    </mc:Choice>
    <mc:Fallback>
      <p:transition spd="slow" advTm="10000">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2" presetClass="entr" presetSubtype="8"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right)">
                                      <p:cBhvr>
                                        <p:cTn id="10" dur="500"/>
                                        <p:tgtEl>
                                          <p:spTgt spid="5"/>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9" grpId="0" animBg="1"/>
      <p:bldP spid="10" grpId="0" animBg="1"/>
      <p:bldP spid="3"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02124"/>
        </a:solidFill>
        <a:effectLst/>
      </p:bgPr>
    </p:bg>
    <p:spTree>
      <p:nvGrpSpPr>
        <p:cNvPr id="1" name=""/>
        <p:cNvGrpSpPr/>
        <p:nvPr/>
      </p:nvGrpSpPr>
      <p:grpSpPr/>
      <p:sp>
        <p:nvSpPr>
          <p:cNvPr id="4" name="Rectangle 3"/>
          <p:cNvSpPr/>
          <p:nvPr/>
        </p:nvSpPr>
        <p:spPr>
          <a:xfrm>
            <a:off x="8900160" y="0"/>
            <a:ext cx="3291840" cy="6858000"/>
          </a:xfrm>
          <a:prstGeom prst="rect">
            <a:avLst/>
          </a:prstGeom>
          <a:solidFill>
            <a:srgbClr val="3031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900160" y="0"/>
            <a:ext cx="109728" cy="6858000"/>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ctrTitle"/>
          </p:nvPr>
        </p:nvSpPr>
        <p:spPr>
          <a:xfrm>
            <a:off x="914400" y="2057400"/>
            <a:ext cx="7437120" cy="1371600"/>
          </a:xfrm>
        </p:spPr>
        <p:txBody>
          <a:bodyPr anchor="b"/>
          <a:lstStyle/>
          <a:p>
            <a:pPr algn="l"/>
            <a:r>
              <a:rPr sz="4800" b="0">
                <a:solidFill>
                  <a:srgbClr val="FFFFFF"/>
                </a:solidFill>
                <a:latin typeface="Calibri Light"/>
              </a:rPr>
              <a:t>Thank You</a:t>
            </a:r>
          </a:p>
        </p:txBody>
      </p:sp>
      <p:sp>
        <p:nvSpPr>
          <p:cNvPr id="3" name="Subtitle 2"/>
          <p:cNvSpPr>
            <a:spLocks noGrp="1"/>
          </p:cNvSpPr>
          <p:nvPr>
            <p:ph type="subTitle" idx="1"/>
          </p:nvPr>
        </p:nvSpPr>
        <p:spPr>
          <a:xfrm>
            <a:off x="914400" y="3840480"/>
            <a:ext cx="7437120" cy="1828800"/>
          </a:xfrm>
        </p:spPr>
        <p:txBody>
          <a:bodyPr anchor="t"/>
          <a:lstStyle/>
          <a:p>
            <a:pPr algn="l">
              <a:spcAft>
                <a:spcPts val="800"/>
              </a:spcAft>
            </a:pPr>
            <a:r>
              <a:rPr sz="2200" b="0">
                <a:solidFill>
                  <a:srgbClr val="D6D6D6"/>
                </a:solidFill>
                <a:latin typeface="Calibri"/>
              </a:rPr>
              <a:t>Any questions?</a:t>
            </a:r>
          </a:p>
          <a:p>
            <a:pPr algn="l">
              <a:spcAft>
                <a:spcPts val="800"/>
              </a:spcAft>
            </a:pPr>
            <a:r>
              <a:rPr sz="1600" b="0">
                <a:solidFill>
                  <a:srgbClr val="D6D6D6"/>
                </a:solidFill>
                <a:latin typeface="Calibri"/>
              </a:rPr>
              <a:t>SkillUp Academy  ·  Capstone Project</a:t>
            </a:r>
          </a:p>
        </p:txBody>
      </p:sp>
      <p:cxnSp>
        <p:nvCxnSpPr>
          <p:cNvPr id="6" name="Straight Connector 5"/>
          <p:cNvCxnSpPr/>
          <p:nvPr/>
        </p:nvCxnSpPr>
        <p:spPr>
          <a:xfrm>
            <a:off x="1005840" y="3630168"/>
            <a:ext cx="1371600" cy="0"/>
          </a:xfrm>
          <a:prstGeom prst="line">
            <a:avLst/>
          </a:prstGeom>
          <a:ln w="50800">
            <a:solidFill>
              <a:srgbClr val="F2A900"/>
            </a:solidFill>
          </a:ln>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500" advTm="10000">
        <p:push dir="u"/>
      </p:transition>
    </mc:Choice>
    <mc:Fallback>
      <p:transition spd="slow" advTm="10000">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right)">
                                      <p:cBhvr>
                                        <p:cTn id="11" dur="500"/>
                                        <p:tgtEl>
                                          <p:spTgt spid="6"/>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theme/theme1.xml><?xml version="1.0" encoding="utf-8"?>
<a:theme xmlns:a="http://schemas.openxmlformats.org/drawingml/2006/main" name="Office Theme">
  <a:themeElements>
    <a:clrScheme name="Charcoal and Gold">
      <a:dk1>
        <a:sysClr val="windowText" lastClr="000000"/>
      </a:dk1>
      <a:lt1>
        <a:sysClr val="window" lastClr="FFFFFF"/>
      </a:lt1>
      <a:dk2>
        <a:srgbClr val="202124"/>
      </a:dk2>
      <a:lt2>
        <a:srgbClr val="F5F5F3"/>
      </a:lt2>
      <a:accent1>
        <a:srgbClr val="202124"/>
      </a:accent1>
      <a:accent2>
        <a:srgbClr val="F2A900"/>
      </a:accent2>
      <a:accent3>
        <a:srgbClr val="8A6100"/>
      </a:accent3>
      <a:accent4>
        <a:srgbClr val="C8C8C4"/>
      </a:accent4>
      <a:accent5>
        <a:srgbClr val="5A5A5A"/>
      </a:accent5>
      <a:accent6>
        <a:srgbClr val="3A3A3D"/>
      </a:accent6>
      <a:hlink>
        <a:srgbClr val="8A6100"/>
      </a:hlink>
      <a:folHlink>
        <a:srgbClr val="5A5A5A"/>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Charcoal and Gold">
      <a:dk1>
        <a:sysClr val="windowText" lastClr="000000"/>
      </a:dk1>
      <a:lt1>
        <a:sysClr val="window" lastClr="FFFFFF"/>
      </a:lt1>
      <a:dk2>
        <a:srgbClr val="202124"/>
      </a:dk2>
      <a:lt2>
        <a:srgbClr val="F5F5F3"/>
      </a:lt2>
      <a:accent1>
        <a:srgbClr val="202124"/>
      </a:accent1>
      <a:accent2>
        <a:srgbClr val="F2A900"/>
      </a:accent2>
      <a:accent3>
        <a:srgbClr val="8A6100"/>
      </a:accent3>
      <a:accent4>
        <a:srgbClr val="C8C8C4"/>
      </a:accent4>
      <a:accent5>
        <a:srgbClr val="5A5A5A"/>
      </a:accent5>
      <a:accent6>
        <a:srgbClr val="3A3A3D"/>
      </a:accent6>
      <a:hlink>
        <a:srgbClr val="8A6100"/>
      </a:hlink>
      <a:folHlink>
        <a:srgbClr val="5A5A5A"/>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16</Slides>
  <Notes>16</Notes>
  <HiddenSlides>0</HiddenSlides>
  <MMClips>0</MMClips>
  <ScaleCrop>false</ScaleCrop>
  <LinksUpToDate>false</LinksUpToDate>
  <SharedDoc>false</SharedDoc>
  <HyperlinksChanged>false</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 CyberStart by SkillUp Academy</dc:title>
  <dc:subject>Customer research to find market gaps and opportunities</dc:subject>
  <dc:creator/>
  <cp:keywords>market research, Google Trends, reviews, market gaps, opportunities</cp:keywords>
  <dc:description/>
  <cp:lastModifiedBy/>
  <cp:revision>1</cp:revision>
  <dcterms:created xsi:type="dcterms:W3CDTF">2026-10-11T18:47:07Z</dcterms:created>
  <dcterms:modified xsi:type="dcterms:W3CDTF">2026-10-11T18:47:07Z</dcterms:modified>
  <cp:category/>
</cp:coreProperties>
</file>