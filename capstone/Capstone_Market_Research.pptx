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3C2DE"/>
            </a:solidFill>
          </c:spPr>
          <c:dPt>
            <c:idx val="2"/>
            <c:spPr>
              <a:solidFill>
                <a:srgbClr val="E8604C"/>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1E1B3A"/>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E1B3A"/>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3C2DE"/>
            </a:solidFill>
          </c:spPr>
          <c:dPt>
            <c:idx val="0"/>
            <c:spPr>
              <a:solidFill>
                <a:srgbClr val="E8604C"/>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1E1B3A"/>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E1B3A"/>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3C2DE"/>
            </a:solidFill>
          </c:spPr>
          <c:dPt>
            <c:idx val="0"/>
            <c:spPr>
              <a:solidFill>
                <a:srgbClr val="E8604C"/>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1E1B3A"/>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E1B3A"/>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3C2DE"/>
            </a:solidFill>
          </c:spPr>
          <c:dPt>
            <c:idx val="0"/>
            <c:spPr>
              <a:solidFill>
                <a:srgbClr val="E8604C"/>
              </a:solidFill>
            </c:spPr>
          </c:dPt>
          <c:dPt>
            <c:idx val="1"/>
            <c:spPr>
              <a:solidFill>
                <a:srgbClr val="E8604C"/>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1E1B3A"/>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E1B3A"/>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12E81"/>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D3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9D8F2"/>
                </a:solidFill>
                <a:latin typeface="Calibri"/>
              </a:rPr>
              <a:t>Market gaps and opportunities for CyberStart, a beginner cybersecurity course</a:t>
            </a:r>
          </a:p>
          <a:p>
            <a:pPr algn="l">
              <a:spcAft>
                <a:spcPts val="800"/>
              </a:spcAft>
            </a:pPr>
            <a:r>
              <a:rPr sz="1600" b="0">
                <a:solidFill>
                  <a:srgbClr val="D9D8F2"/>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E8604C"/>
              </a:buClr>
            </a:pPr>
            <a:r>
              <a:rPr sz="2200" b="1">
                <a:solidFill>
                  <a:srgbClr val="312E81"/>
                </a:solidFill>
                <a:latin typeface="Calibri"/>
              </a:rPr>
              <a:t>Business: </a:t>
            </a:r>
            <a:r>
              <a:rPr sz="2200" b="0">
                <a:solidFill>
                  <a:srgbClr val="1E1B3A"/>
                </a:solidFill>
                <a:latin typeface="Calibri"/>
              </a:rPr>
              <a:t>SkillUp Academy, a new digital-skills training business in Nigeria.</a:t>
            </a:r>
          </a:p>
          <a:p>
            <a:pPr>
              <a:spcAft>
                <a:spcPts val="1000"/>
              </a:spcAft>
              <a:buClr>
                <a:srgbClr val="E8604C"/>
              </a:buClr>
            </a:pPr>
            <a:r>
              <a:rPr sz="2200" b="1">
                <a:solidFill>
                  <a:srgbClr val="312E81"/>
                </a:solidFill>
                <a:latin typeface="Calibri"/>
              </a:rPr>
              <a:t>Product: </a:t>
            </a:r>
            <a:r>
              <a:rPr sz="2200" b="0">
                <a:solidFill>
                  <a:srgbClr val="1E1B3A"/>
                </a:solidFill>
                <a:latin typeface="Calibri"/>
              </a:rPr>
              <a:t>CyberStart, a 12-week beginner cybersecurity course in Nigeria, for people with no IT background.</a:t>
            </a:r>
          </a:p>
          <a:p>
            <a:pPr>
              <a:spcAft>
                <a:spcPts val="1000"/>
              </a:spcAft>
              <a:buClr>
                <a:srgbClr val="E8604C"/>
              </a:buClr>
            </a:pPr>
            <a:r>
              <a:rPr sz="2200" b="1">
                <a:solidFill>
                  <a:srgbClr val="312E81"/>
                </a:solidFill>
                <a:latin typeface="Calibri"/>
              </a:rPr>
              <a:t>How it runs: </a:t>
            </a:r>
            <a:r>
              <a:rPr sz="2200" b="0">
                <a:solidFill>
                  <a:srgbClr val="1E1B3A"/>
                </a:solidFill>
                <a:latin typeface="Calibri"/>
              </a:rPr>
              <a:t>Live online classes, plus weekend practical labs in Lagos and Abuja.</a:t>
            </a:r>
          </a:p>
          <a:p>
            <a:pPr>
              <a:spcAft>
                <a:spcPts val="1000"/>
              </a:spcAft>
              <a:buClr>
                <a:srgbClr val="E8604C"/>
              </a:buClr>
            </a:pPr>
            <a:r>
              <a:rPr sz="2200" b="1">
                <a:solidFill>
                  <a:srgbClr val="312E81"/>
                </a:solidFill>
                <a:latin typeface="Calibri"/>
              </a:rPr>
              <a:t>Outcome: </a:t>
            </a:r>
            <a:r>
              <a:rPr sz="2200" b="0">
                <a:solidFill>
                  <a:srgbClr val="1E1B3A"/>
                </a:solidFill>
                <a:latin typeface="Calibri"/>
              </a:rPr>
              <a:t>Ready for a first certificate (ISC2 CC or CompTIA Security+) and a first job.</a:t>
            </a:r>
          </a:p>
          <a:p>
            <a:pPr>
              <a:spcAft>
                <a:spcPts val="1000"/>
              </a:spcAft>
              <a:buClr>
                <a:srgbClr val="E8604C"/>
              </a:buClr>
            </a:pPr>
            <a:r>
              <a:rPr sz="2200" b="1">
                <a:solidFill>
                  <a:srgbClr val="312E81"/>
                </a:solidFill>
                <a:latin typeface="Calibri"/>
              </a:rPr>
              <a:t>Proposed price: </a:t>
            </a:r>
            <a:r>
              <a:rPr sz="2200" b="0">
                <a:solidFill>
                  <a:srgbClr val="1E1B3A"/>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2</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800" b="1">
                          <a:solidFill>
                            <a:srgbClr val="FFFFFF"/>
                          </a:solidFill>
                          <a:latin typeface="Calibri"/>
                        </a:rPr>
                        <a:t>Our market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658368">
                <a:tc>
                  <a:txBody>
                    <a:bodyPr/>
                    <a:lstStyle/>
                    <a:p>
                      <a:pPr algn="l"/>
                      <a:r>
                        <a:rPr sz="1800" b="1">
                          <a:solidFill>
                            <a:srgbClr val="1E1B3A"/>
                          </a:solidFill>
                          <a:latin typeface="Calibri"/>
                        </a:rPr>
                        <a:t>Market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800" b="0">
                          <a:solidFill>
                            <a:srgbClr val="1E1B3A"/>
                          </a:solidFill>
                          <a:latin typeface="Calibri"/>
                        </a:rPr>
                        <a:t>Beginner cybersecurity training (education services)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658368">
                <a:tc>
                  <a:txBody>
                    <a:bodyPr/>
                    <a:lstStyle/>
                    <a:p>
                      <a:pPr algn="l"/>
                      <a:r>
                        <a:rPr sz="1800" b="1">
                          <a:solidFill>
                            <a:srgbClr val="1E1B3A"/>
                          </a:solidFill>
                          <a:latin typeface="Calibri"/>
                        </a:rPr>
                        <a:t>Customers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800" b="0">
                          <a:solidFill>
                            <a:srgbClr val="1E1B3A"/>
                          </a:solidFill>
                          <a:latin typeface="Calibri"/>
                        </a:rPr>
                        <a:t>Students, graduates and career changers aged about 18 to 35; employers who sponsor staff</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658368">
                <a:tc>
                  <a:txBody>
                    <a:bodyPr/>
                    <a:lstStyle/>
                    <a:p>
                      <a:pPr algn="l"/>
                      <a:r>
                        <a:rPr sz="1800" b="1">
                          <a:solidFill>
                            <a:srgbClr val="1E1B3A"/>
                          </a:solidFill>
                          <a:latin typeface="Calibri"/>
                        </a:rPr>
                        <a:t>Location</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800" b="0">
                          <a:solidFill>
                            <a:srgbClr val="1E1B3A"/>
                          </a:solidFill>
                          <a:latin typeface="Calibri"/>
                        </a:rPr>
                        <a:t>Nigeria: online nationwide, with labs in Lagos and Abuja, where most jobs are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658368">
                <a:tc>
                  <a:txBody>
                    <a:bodyPr/>
                    <a:lstStyle/>
                    <a:p>
                      <a:pPr algn="l"/>
                      <a:r>
                        <a:rPr sz="1800" b="1">
                          <a:solidFill>
                            <a:srgbClr val="1E1B3A"/>
                          </a:solidFill>
                          <a:latin typeface="Calibri"/>
                        </a:rPr>
                        <a:t>Customer need</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800" b="0">
                          <a:solidFill>
                            <a:srgbClr val="1E1B3A"/>
                          </a:solidFill>
                          <a:latin typeface="Calibri"/>
                        </a:rPr>
                        <a:t>A low-cost, practical route into a well-paid cybersecurity job</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658368">
                <a:tc>
                  <a:txBody>
                    <a:bodyPr/>
                    <a:lstStyle/>
                    <a:p>
                      <a:pPr algn="l"/>
                      <a:r>
                        <a:rPr sz="1800" b="1">
                          <a:solidFill>
                            <a:srgbClr val="1E1B3A"/>
                          </a:solidFill>
                          <a:latin typeface="Calibri"/>
                        </a:rPr>
                        <a:t>Competition</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800" b="0">
                          <a:solidFill>
                            <a:srgbClr val="1E1B3A"/>
                          </a:solidFill>
                          <a:latin typeface="Calibri"/>
                        </a:rPr>
                        <a:t>Online tech schools, free programmes, course marketplaces and classroom providers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3</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1E1B3A"/>
                </a:solidFill>
                <a:latin typeface="Calibri"/>
              </a:rPr>
              <a:t>Growing: </a:t>
            </a:r>
            <a:r>
              <a:rPr sz="1600" b="0">
                <a:solidFill>
                  <a:srgbClr val="1E1B3A"/>
                </a:solidFill>
                <a:latin typeface="Calibri"/>
              </a:rPr>
              <a:t>about 10% a year to 2031.</a:t>
            </a:r>
          </a:p>
          <a:p>
            <a:pPr>
              <a:spcAft>
                <a:spcPts val="1200"/>
              </a:spcAft>
            </a:pPr>
            <a:r>
              <a:rPr sz="1600" b="1">
                <a:solidFill>
                  <a:srgbClr val="1E1B3A"/>
                </a:solidFill>
                <a:latin typeface="Calibri"/>
              </a:rPr>
              <a:t>Few experts: </a:t>
            </a:r>
            <a:r>
              <a:rPr sz="1600" b="0">
                <a:solidFill>
                  <a:srgbClr val="1E1B3A"/>
                </a:solidFill>
                <a:latin typeface="Calibri"/>
              </a:rPr>
              <a:t>8,352 in Nigeria (2023), 7 times fewer than South Africa.</a:t>
            </a:r>
          </a:p>
          <a:p>
            <a:pPr>
              <a:spcAft>
                <a:spcPts val="1200"/>
              </a:spcAft>
            </a:pPr>
            <a:r>
              <a:rPr sz="1600" b="1">
                <a:solidFill>
                  <a:srgbClr val="1E1B3A"/>
                </a:solidFill>
                <a:latin typeface="Calibri"/>
              </a:rPr>
              <a:t>More attacks: </a:t>
            </a:r>
            <a:r>
              <a:rPr sz="1600" b="0">
                <a:solidFill>
                  <a:srgbClr val="1E1B3A"/>
                </a:solidFill>
                <a:latin typeface="Calibri"/>
              </a:rPr>
              <a:t>4,388 a week on each organisation in early 2025, up 47%.</a:t>
            </a:r>
          </a:p>
          <a:p>
            <a:pPr>
              <a:spcAft>
                <a:spcPts val="1200"/>
              </a:spcAft>
            </a:pPr>
            <a:r>
              <a:rPr sz="1600" b="1">
                <a:solidFill>
                  <a:srgbClr val="1E1B3A"/>
                </a:solidFill>
                <a:latin typeface="Calibri"/>
              </a:rPr>
              <a:t>Online: </a:t>
            </a:r>
            <a:r>
              <a:rPr sz="1600" b="0">
                <a:solidFill>
                  <a:srgbClr val="1E1B3A"/>
                </a:solidFill>
                <a:latin typeface="Calibri"/>
              </a:rPr>
              <a:t>109 million Nigerians use the internet.</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500" b="1">
                          <a:solidFill>
                            <a:srgbClr val="FFFFFF"/>
                          </a:solidFill>
                          <a:latin typeface="Calibri"/>
                        </a:rPr>
                        <a:t>Where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500" b="1">
                          <a:solidFill>
                            <a:srgbClr val="FFFFFF"/>
                          </a:solidFill>
                          <a:latin typeface="Calibri"/>
                        </a:rPr>
                        <a:t>What I looked for</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713232">
                <a:tc>
                  <a:txBody>
                    <a:bodyPr/>
                    <a:lstStyle/>
                    <a:p>
                      <a:pPr algn="l"/>
                      <a:r>
                        <a:rPr sz="1500" b="1">
                          <a:solidFill>
                            <a:srgbClr val="1E1B3A"/>
                          </a:solidFill>
                          <a:latin typeface="Calibri"/>
                        </a:rPr>
                        <a:t>Google Search</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500" b="0">
                          <a:solidFill>
                            <a:srgbClr val="1E1B3A"/>
                          </a:solidFill>
                          <a:latin typeface="Calibri"/>
                        </a:rPr>
                        <a:t>Search results for five searches a customer would make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500" b="0">
                          <a:solidFill>
                            <a:srgbClr val="1E1B3A"/>
                          </a:solidFill>
                          <a:latin typeface="Calibri"/>
                        </a:rPr>
                        <a:t>Prices, free options, the steps beginners are told to take, jobs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13232">
                <a:tc>
                  <a:txBody>
                    <a:bodyPr/>
                    <a:lstStyle/>
                    <a:p>
                      <a:pPr algn="l"/>
                      <a:r>
                        <a:rPr sz="1500" b="1">
                          <a:solidFill>
                            <a:srgbClr val="1E1B3A"/>
                          </a:solidFill>
                          <a:latin typeface="Calibri"/>
                        </a:rPr>
                        <a:t>Google Trends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500" b="0">
                          <a:solidFill>
                            <a:srgbClr val="1E1B3A"/>
                          </a:solidFill>
                          <a:latin typeface="Calibri"/>
                        </a:rPr>
                        <a:t>Five digital skills compared, Nigeria, past 12 months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500" b="0">
                          <a:solidFill>
                            <a:srgbClr val="1E1B3A"/>
                          </a:solidFill>
                          <a:latin typeface="Calibri"/>
                        </a:rPr>
                        <a:t>How much interest, when it peaked, where, and the rising searches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713232">
                <a:tc>
                  <a:txBody>
                    <a:bodyPr/>
                    <a:lstStyle/>
                    <a:p>
                      <a:pPr algn="l"/>
                      <a:r>
                        <a:rPr sz="1500" b="1">
                          <a:solidFill>
                            <a:srgbClr val="1E1B3A"/>
                          </a:solidFill>
                          <a:latin typeface="Calibri"/>
                        </a:rPr>
                        <a:t>Social media trends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500" b="0">
                          <a:solidFill>
                            <a:srgbClr val="1E1B3A"/>
                          </a:solidFill>
                          <a:latin typeface="Calibri"/>
                        </a:rPr>
                        <a:t>Facebook, Instagram, LinkedIn, TikTok and X</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500" b="0">
                          <a:solidFill>
                            <a:srgbClr val="1E1B3A"/>
                          </a:solidFill>
                          <a:latin typeface="Calibri"/>
                        </a:rPr>
                        <a:t>Where the audience is, and how people talk about cybersecurity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13232">
                <a:tc>
                  <a:txBody>
                    <a:bodyPr/>
                    <a:lstStyle/>
                    <a:p>
                      <a:pPr algn="l"/>
                      <a:r>
                        <a:rPr sz="1500" b="1">
                          <a:solidFill>
                            <a:srgbClr val="1E1B3A"/>
                          </a:solidFill>
                          <a:latin typeface="Calibri"/>
                        </a:rPr>
                        <a:t>Competitor reviews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500" b="0">
                          <a:solidFill>
                            <a:srgbClr val="1E1B3A"/>
                          </a:solidFill>
                          <a:latin typeface="Calibri"/>
                        </a:rPr>
                        <a:t>Trustpilot and news about ALX Africa, AltSchool Africa, TryHackMe and others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500" b="0">
                          <a:solidFill>
                            <a:srgbClr val="1E1B3A"/>
                          </a:solidFill>
                          <a:latin typeface="Calibri"/>
                        </a:rPr>
                        <a:t>What learners like and complain about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713232">
                <a:tc>
                  <a:txBody>
                    <a:bodyPr/>
                    <a:lstStyle/>
                    <a:p>
                      <a:pPr algn="l"/>
                      <a:r>
                        <a:rPr sz="1500" b="1">
                          <a:solidFill>
                            <a:srgbClr val="1E1B3A"/>
                          </a:solidFill>
                          <a:latin typeface="Calibri"/>
                        </a:rPr>
                        <a:t>Marketplace reviews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500" b="0">
                          <a:solidFill>
                            <a:srgbClr val="1E1B3A"/>
                          </a:solidFill>
                          <a:latin typeface="Calibri"/>
                        </a:rPr>
                        <a:t>Udemy and Coursera cybersecurity courses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500" b="0">
                          <a:solidFill>
                            <a:srgbClr val="1E1B3A"/>
                          </a:solidFill>
                          <a:latin typeface="Calibri"/>
                        </a:rPr>
                        <a:t>Ratings, number of learners, praise and complaints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6566E"/>
                </a:solidFill>
                <a:latin typeface="Calibri"/>
              </a:rPr>
              <a:t>Web research done on 8 and 9 October 2026; Google Trends screenshots of 28 September 2026.</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E8604C"/>
              </a:buClr>
            </a:pPr>
            <a:r>
              <a:rPr sz="2000" b="1">
                <a:solidFill>
                  <a:srgbClr val="312E81"/>
                </a:solidFill>
                <a:latin typeface="Calibri"/>
              </a:rPr>
              <a:t>Prices are hard to find: </a:t>
            </a:r>
            <a:r>
              <a:rPr sz="2000" b="0">
                <a:solidFill>
                  <a:srgbClr val="1E1B3A"/>
                </a:solidFill>
                <a:latin typeface="Calibri"/>
              </a:rPr>
              <a:t>few results show a naira price.</a:t>
            </a:r>
          </a:p>
          <a:p>
            <a:pPr>
              <a:spcAft>
                <a:spcPts val="1000"/>
              </a:spcAft>
              <a:buClr>
                <a:srgbClr val="E8604C"/>
              </a:buClr>
            </a:pPr>
            <a:r>
              <a:rPr sz="2000" b="1">
                <a:solidFill>
                  <a:srgbClr val="312E81"/>
                </a:solidFill>
                <a:latin typeface="Calibri"/>
              </a:rPr>
              <a:t>Prices vary widely: </a:t>
            </a:r>
            <a:r>
              <a:rPr sz="2000" b="0">
                <a:solidFill>
                  <a:srgbClr val="1E1B3A"/>
                </a:solidFill>
                <a:latin typeface="Calibri"/>
              </a:rPr>
              <a:t>₦100,000 to start a 12-week course; ₦250,000 for 5 days in a Lagos classroom; US$1,000 or more for a bootcamp track.</a:t>
            </a:r>
          </a:p>
          <a:p>
            <a:pPr>
              <a:spcAft>
                <a:spcPts val="1000"/>
              </a:spcAft>
              <a:buClr>
                <a:srgbClr val="E8604C"/>
              </a:buClr>
            </a:pPr>
            <a:r>
              <a:rPr sz="2000" b="1">
                <a:solidFill>
                  <a:srgbClr val="312E81"/>
                </a:solidFill>
                <a:latin typeface="Calibri"/>
              </a:rPr>
              <a:t>Free options: </a:t>
            </a:r>
            <a:r>
              <a:rPr sz="2000" b="0">
                <a:solidFill>
                  <a:srgbClr val="1E1B3A"/>
                </a:solidFill>
                <a:latin typeface="Calibri"/>
              </a:rPr>
              <a:t>NITDA, Cisco and CyberGirls run free training, but places are few and close fast.</a:t>
            </a:r>
          </a:p>
          <a:p>
            <a:pPr>
              <a:spcAft>
                <a:spcPts val="1000"/>
              </a:spcAft>
              <a:buClr>
                <a:srgbClr val="E8604C"/>
              </a:buClr>
            </a:pPr>
            <a:r>
              <a:rPr sz="2000" b="1">
                <a:solidFill>
                  <a:srgbClr val="312E81"/>
                </a:solidFill>
                <a:latin typeface="Calibri"/>
              </a:rPr>
              <a:t>Beginner guides agree: </a:t>
            </a:r>
            <a:r>
              <a:rPr sz="2000" b="0">
                <a:solidFill>
                  <a:srgbClr val="1E1B3A"/>
                </a:solidFill>
                <a:latin typeface="Calibri"/>
              </a:rPr>
              <a:t>get Security+ first, practise in labs, build a portfolio.</a:t>
            </a:r>
          </a:p>
          <a:p>
            <a:pPr>
              <a:spcAft>
                <a:spcPts val="1000"/>
              </a:spcAft>
              <a:buClr>
                <a:srgbClr val="E8604C"/>
              </a:buClr>
            </a:pPr>
            <a:r>
              <a:rPr sz="2000" b="1">
                <a:solidFill>
                  <a:srgbClr val="312E81"/>
                </a:solidFill>
                <a:latin typeface="Calibri"/>
              </a:rPr>
              <a:t>Jobs: </a:t>
            </a:r>
            <a:r>
              <a:rPr sz="2000" b="0">
                <a:solidFill>
                  <a:srgbClr val="1E1B3A"/>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6</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1E1B3A"/>
                </a:solidFill>
                <a:latin typeface="Calibri"/>
              </a:rPr>
              <a:t>Highest interest: </a:t>
            </a:r>
            <a:r>
              <a:rPr sz="1600" b="0">
                <a:solidFill>
                  <a:srgbClr val="1E1B3A"/>
                </a:solidFill>
                <a:latin typeface="Calibri"/>
              </a:rPr>
              <a:t>Cybersecurity led almost all year.</a:t>
            </a:r>
          </a:p>
          <a:p>
            <a:pPr>
              <a:spcAft>
                <a:spcPts val="1200"/>
              </a:spcAft>
            </a:pPr>
            <a:r>
              <a:rPr sz="1600" b="1">
                <a:solidFill>
                  <a:srgbClr val="1E1B3A"/>
                </a:solidFill>
                <a:latin typeface="Calibri"/>
              </a:rPr>
              <a:t>Peak: </a:t>
            </a:r>
            <a:r>
              <a:rPr sz="1600" b="0">
                <a:solidFill>
                  <a:srgbClr val="1E1B3A"/>
                </a:solidFill>
                <a:latin typeface="Calibri"/>
              </a:rPr>
              <a:t>it hit 100 in April 2026, when the CAC confirmed a cyber breach.</a:t>
            </a:r>
          </a:p>
          <a:p>
            <a:pPr>
              <a:spcAft>
                <a:spcPts val="1200"/>
              </a:spcAft>
            </a:pPr>
            <a:r>
              <a:rPr sz="1600" b="1">
                <a:solidFill>
                  <a:srgbClr val="1E1B3A"/>
                </a:solidFill>
                <a:latin typeface="Calibri"/>
              </a:rPr>
              <a:t>Where: </a:t>
            </a:r>
            <a:r>
              <a:rPr sz="1600" b="0">
                <a:solidFill>
                  <a:srgbClr val="1E1B3A"/>
                </a:solidFill>
                <a:latin typeface="Calibri"/>
              </a:rPr>
              <a:t>the most searched skill in most states, especially in the north and the middle.</a:t>
            </a:r>
          </a:p>
          <a:p>
            <a:pPr>
              <a:spcAft>
                <a:spcPts val="1200"/>
              </a:spcAft>
            </a:pPr>
            <a:r>
              <a:rPr sz="1600" b="1">
                <a:solidFill>
                  <a:srgbClr val="1E1B3A"/>
                </a:solidFill>
                <a:latin typeface="Calibri"/>
              </a:rPr>
              <a:t>Rising searches: </a:t>
            </a:r>
            <a:r>
              <a:rPr sz="1600" b="0">
                <a:solidFill>
                  <a:srgbClr val="1E1B3A"/>
                </a:solidFill>
                <a:latin typeface="Calibri"/>
              </a:rPr>
              <a:t>“cac cybersecurity breach”, “cybersecurity news today”, “lagos cybersecurity guidelines”.</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1E1B3A"/>
                </a:solidFill>
                <a:latin typeface="Calibri"/>
              </a:rPr>
              <a:t>Facebook is the biggest: </a:t>
            </a:r>
            <a:r>
              <a:rPr sz="1600" b="0">
                <a:solidFill>
                  <a:srgbClr val="1E1B3A"/>
                </a:solidFill>
                <a:latin typeface="Calibri"/>
              </a:rPr>
              <a:t>about 42 million users in Nigeria.</a:t>
            </a:r>
          </a:p>
          <a:p>
            <a:pPr>
              <a:spcAft>
                <a:spcPts val="1200"/>
              </a:spcAft>
            </a:pPr>
            <a:r>
              <a:rPr sz="1600" b="1">
                <a:solidFill>
                  <a:srgbClr val="1E1B3A"/>
                </a:solidFill>
                <a:latin typeface="Calibri"/>
              </a:rPr>
              <a:t>LinkedIn: </a:t>
            </a:r>
            <a:r>
              <a:rPr sz="1600" b="0">
                <a:solidFill>
                  <a:srgbClr val="1E1B3A"/>
                </a:solidFill>
                <a:latin typeface="Calibri"/>
              </a:rPr>
              <a:t>14 million professionals and employers.</a:t>
            </a:r>
          </a:p>
          <a:p>
            <a:pPr>
              <a:spcAft>
                <a:spcPts val="1200"/>
              </a:spcAft>
            </a:pPr>
            <a:r>
              <a:rPr sz="1600" b="1">
                <a:solidFill>
                  <a:srgbClr val="1E1B3A"/>
                </a:solidFill>
                <a:latin typeface="Calibri"/>
              </a:rPr>
              <a:t>Content: </a:t>
            </a:r>
            <a:r>
              <a:rPr sz="1600" b="0">
                <a:solidFill>
                  <a:srgbClr val="1E1B3A"/>
                </a:solidFill>
                <a:latin typeface="Calibri"/>
              </a:rPr>
              <a:t>#cybersecurity has millions of Instagram posts; short how-to videos do well on TikTok.</a:t>
            </a:r>
          </a:p>
          <a:p>
            <a:pPr>
              <a:spcAft>
                <a:spcPts val="1200"/>
              </a:spcAft>
            </a:pPr>
            <a:r>
              <a:rPr sz="1600" b="1">
                <a:solidFill>
                  <a:srgbClr val="1E1B3A"/>
                </a:solidFill>
                <a:latin typeface="Calibri"/>
              </a:rPr>
              <a:t>Reputation: </a:t>
            </a:r>
            <a:r>
              <a:rPr sz="1600" b="0">
                <a:solidFill>
                  <a:srgbClr val="1E1B3A"/>
                </a:solidFill>
                <a:latin typeface="Calibri"/>
              </a:rPr>
              <a:t>learners complain in public on X.</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Rating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Learners like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Learners complain about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713232">
                <a:tc>
                  <a:txBody>
                    <a:bodyPr/>
                    <a:lstStyle/>
                    <a:p>
                      <a:pPr algn="l"/>
                      <a:r>
                        <a:rPr sz="1300" b="1">
                          <a:solidFill>
                            <a:srgbClr val="1E1B3A"/>
                          </a:solidFill>
                          <a:latin typeface="Calibri"/>
                        </a:rPr>
                        <a:t>ALX Africa</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4.7</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Self-paced, strong community, personal follow-up</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Billing and access problems slow to fix; very demanding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13232">
                <a:tc>
                  <a:txBody>
                    <a:bodyPr/>
                    <a:lstStyle/>
                    <a:p>
                      <a:pPr algn="l"/>
                      <a:r>
                        <a:rPr sz="1300" b="1">
                          <a:solidFill>
                            <a:srgbClr val="1E1B3A"/>
                          </a:solidFill>
                          <a:latin typeface="Calibri"/>
                        </a:rPr>
                        <a:t>TryHackMe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4.5</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Beginner-friendly, hands-on rooms, browser AttackBox</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Slow support, discount problems, data privacy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713232">
                <a:tc>
                  <a:txBody>
                    <a:bodyPr/>
                    <a:lstStyle/>
                    <a:p>
                      <a:pPr algn="l"/>
                      <a:r>
                        <a:rPr sz="1300" b="1">
                          <a:solidFill>
                            <a:srgbClr val="1E1B3A"/>
                          </a:solidFill>
                          <a:latin typeface="Calibri"/>
                        </a:rPr>
                        <a:t>AltSchool Africa</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None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Affordable for self-motivated learners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Weak grading, missing lectures, login problems (X, Oct 2025)</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13232">
                <a:tc>
                  <a:txBody>
                    <a:bodyPr/>
                    <a:lstStyle/>
                    <a:p>
                      <a:pPr algn="l"/>
                      <a:r>
                        <a:rPr sz="1300" b="1">
                          <a:solidFill>
                            <a:srgbClr val="1E1B3A"/>
                          </a:solidFill>
                          <a:latin typeface="Calibri"/>
                        </a:rPr>
                        <a:t>CyberGirls (CyberSafe Foundation)</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None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Free, with mentoring and internships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Very hard to get in: 20,000+ applications a year for about 500 places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713232">
                <a:tc>
                  <a:txBody>
                    <a:bodyPr/>
                    <a:lstStyle/>
                    <a:p>
                      <a:pPr algn="l"/>
                      <a:r>
                        <a:rPr sz="1300" b="1">
                          <a:solidFill>
                            <a:srgbClr val="1E1B3A"/>
                          </a:solidFill>
                          <a:latin typeface="Calibri"/>
                        </a:rPr>
                        <a:t>NIIT Nigeria, Phillips Consulting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None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Classroom teaching; NIIT says 16,000 students a year</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Reviews are hard to find; ₦250,000 for 5 days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6566E"/>
                </a:solidFill>
                <a:latin typeface="Calibri"/>
              </a:rPr>
              <a:t>Ratings out of 5 on Trustpilot: ALX Africa from 544 reviews, TryHackMe from 867.</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Rating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Learners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Learners like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ctr"/>
                      <a:r>
                        <a:rPr sz="1300" b="1">
                          <a:solidFill>
                            <a:srgbClr val="FFFFFF"/>
                          </a:solidFill>
                          <a:latin typeface="Calibri"/>
                        </a:rPr>
                        <a:t>Learners complain about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777240">
                <a:tc>
                  <a:txBody>
                    <a:bodyPr/>
                    <a:lstStyle/>
                    <a:p>
                      <a:pPr algn="l"/>
                      <a:r>
                        <a:rPr sz="1300" b="1">
                          <a:solidFill>
                            <a:srgbClr val="1E1B3A"/>
                          </a:solidFill>
                          <a:latin typeface="Calibri"/>
                        </a:rPr>
                        <a:t>Google Cybersecurity Certificate</a:t>
                      </a:r>
                    </a:p>
                    <a:p>
                      <a:pPr algn="l"/>
                      <a:r>
                        <a:rPr sz="1300" b="0">
                          <a:solidFill>
                            <a:srgbClr val="1E1B3A"/>
                          </a:solidFill>
                          <a:latin typeface="Calibri"/>
                        </a:rPr>
                        <a:t>Coursera</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4.8</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1,367,882</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Great for beginners; good pacing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Some mistakes in a final quiz</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77240">
                <a:tc>
                  <a:txBody>
                    <a:bodyPr/>
                    <a:lstStyle/>
                    <a:p>
                      <a:pPr algn="l"/>
                      <a:r>
                        <a:rPr sz="1300" b="1">
                          <a:solidFill>
                            <a:srgbClr val="1E1B3A"/>
                          </a:solidFill>
                          <a:latin typeface="Calibri"/>
                        </a:rPr>
                        <a:t>CompTIA Security+ Complete Course (Jason Dion)</a:t>
                      </a:r>
                    </a:p>
                    <a:p>
                      <a:pPr algn="l"/>
                      <a:r>
                        <a:rPr sz="1300" b="0">
                          <a:solidFill>
                            <a:srgbClr val="1E1B3A"/>
                          </a:solidFill>
                          <a:latin typeface="Calibri"/>
                        </a:rPr>
                        <a:t>Udemy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4.7</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479,288</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Clear, thorough instructor</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Exam questions harder than the course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777240">
                <a:tc>
                  <a:txBody>
                    <a:bodyPr/>
                    <a:lstStyle/>
                    <a:p>
                      <a:pPr algn="l"/>
                      <a:r>
                        <a:rPr sz="1300" b="1">
                          <a:solidFill>
                            <a:srgbClr val="1E1B3A"/>
                          </a:solidFill>
                          <a:latin typeface="Calibri"/>
                        </a:rPr>
                        <a:t>The Complete Cyber Security Course (Nathan House)</a:t>
                      </a:r>
                    </a:p>
                    <a:p>
                      <a:pPr algn="l"/>
                      <a:r>
                        <a:rPr sz="1300" b="0">
                          <a:solidFill>
                            <a:srgbClr val="1E1B3A"/>
                          </a:solidFill>
                          <a:latin typeface="Calibri"/>
                        </a:rPr>
                        <a:t>Udemy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4.6</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320,293</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Wide coverage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ctr"/>
                      <a:r>
                        <a:rPr sz="1300" b="0">
                          <a:solidFill>
                            <a:srgbClr val="1E1B3A"/>
                          </a:solidFill>
                          <a:latin typeface="Calibri"/>
                        </a:rPr>
                        <a:t>Last updated March 2024</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77240">
                <a:tc>
                  <a:txBody>
                    <a:bodyPr/>
                    <a:lstStyle/>
                    <a:p>
                      <a:pPr algn="l"/>
                      <a:r>
                        <a:rPr sz="1300" b="1">
                          <a:solidFill>
                            <a:srgbClr val="1E1B3A"/>
                          </a:solidFill>
                          <a:latin typeface="Calibri"/>
                        </a:rPr>
                        <a:t>Security+ Practice Exams, Set 1 (Jason Dion)</a:t>
                      </a:r>
                    </a:p>
                    <a:p>
                      <a:pPr algn="l"/>
                      <a:r>
                        <a:rPr sz="1300" b="0">
                          <a:solidFill>
                            <a:srgbClr val="1E1B3A"/>
                          </a:solidFill>
                          <a:latin typeface="Calibri"/>
                        </a:rPr>
                        <a:t>Udemy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4.5</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49,004</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Good exam practice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ctr"/>
                      <a:r>
                        <a:rPr sz="1300" b="0">
                          <a:solidFill>
                            <a:srgbClr val="1E1B3A"/>
                          </a:solidFill>
                          <a:latin typeface="Calibri"/>
                        </a:rPr>
                        <a:t>Practice only, no teaching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6566E"/>
                </a:solidFill>
                <a:latin typeface="Calibri"/>
              </a:rPr>
              <a:t>Common complaints in low reviews: outdated content; too much theory, no hands-on labs; weak support from the instructor.</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200" b="1">
                          <a:solidFill>
                            <a:srgbClr val="FFFFFF"/>
                          </a:solidFill>
                          <a:latin typeface="Calibri"/>
                        </a:rPr>
                        <a:t>Evidence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200" b="1">
                          <a:solidFill>
                            <a:srgbClr val="FFFFFF"/>
                          </a:solidFill>
                          <a:latin typeface="Calibri"/>
                        </a:rPr>
                        <a:t>Opportunity for CyberStart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548640">
                <a:tc>
                  <a:txBody>
                    <a:bodyPr/>
                    <a:lstStyle/>
                    <a:p>
                      <a:pPr algn="l"/>
                      <a:r>
                        <a:rPr sz="1200" b="1">
                          <a:solidFill>
                            <a:srgbClr val="1E1B3A"/>
                          </a:solidFill>
                          <a:latin typeface="Calibri"/>
                        </a:rPr>
                        <a:t>Affordable courses with live support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Free places are scarce (CyberGirls: 20,000+ applications for about 500 places); paid options cost ₦250,000 for 5 days or US$1,000+</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A mid-price course: ₦150,000 in 3 parts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548640">
                <a:tc>
                  <a:txBody>
                    <a:bodyPr/>
                    <a:lstStyle/>
                    <a:p>
                      <a:pPr algn="l"/>
                      <a:r>
                        <a:rPr sz="1200" b="1">
                          <a:solidFill>
                            <a:srgbClr val="1E1B3A"/>
                          </a:solidFill>
                          <a:latin typeface="Calibri"/>
                        </a:rPr>
                        <a:t>Hands-on practice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200" b="0">
                          <a:solidFill>
                            <a:srgbClr val="1E1B3A"/>
                          </a:solidFill>
                          <a:latin typeface="Calibri"/>
                        </a:rPr>
                        <a:t>“No labs” and “too much theory” drive low course ratings; TryHackMe is praised for its labs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200" b="0">
                          <a:solidFill>
                            <a:srgbClr val="1E1B3A"/>
                          </a:solidFill>
                          <a:latin typeface="Calibri"/>
                        </a:rPr>
                        <a:t>A lab every week and a final project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548640">
                <a:tc>
                  <a:txBody>
                    <a:bodyPr/>
                    <a:lstStyle/>
                    <a:p>
                      <a:pPr algn="l"/>
                      <a:r>
                        <a:rPr sz="1200" b="1">
                          <a:solidFill>
                            <a:srgbClr val="1E1B3A"/>
                          </a:solidFill>
                          <a:latin typeface="Calibri"/>
                        </a:rPr>
                        <a:t>A route from course to job</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Guides say to get Security+ and a portfolio; banks and insurers are 29% of the market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Exam preparation, CV help and employer-sponsored places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548640">
                <a:tc>
                  <a:txBody>
                    <a:bodyPr/>
                    <a:lstStyle/>
                    <a:p>
                      <a:pPr algn="l"/>
                      <a:r>
                        <a:rPr sz="1200" b="1">
                          <a:solidFill>
                            <a:srgbClr val="1E1B3A"/>
                          </a:solidFill>
                          <a:latin typeface="Calibri"/>
                        </a:rPr>
                        <a:t>Reliable support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200" b="0">
                          <a:solidFill>
                            <a:srgbClr val="1E1B3A"/>
                          </a:solidFill>
                          <a:latin typeface="Calibri"/>
                        </a:rPr>
                        <a:t>AltSchool backlash on X; ALX billing fix took 9 days; TryHackMe support is slow</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200" b="0">
                          <a:solidFill>
                            <a:srgbClr val="1E1B3A"/>
                          </a:solidFill>
                          <a:latin typeface="Calibri"/>
                        </a:rPr>
                        <a:t>Replies within 24 hours and recorded classes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548640">
                <a:tc>
                  <a:txBody>
                    <a:bodyPr/>
                    <a:lstStyle/>
                    <a:p>
                      <a:pPr algn="l"/>
                      <a:r>
                        <a:rPr sz="1200" b="1">
                          <a:solidFill>
                            <a:srgbClr val="1E1B3A"/>
                          </a:solidFill>
                          <a:latin typeface="Calibri"/>
                        </a:rPr>
                        <a:t>Clear prices online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Few search results show a naira price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Publish the price; a free first class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548640">
                <a:tc>
                  <a:txBody>
                    <a:bodyPr/>
                    <a:lstStyle/>
                    <a:p>
                      <a:pPr algn="l"/>
                      <a:r>
                        <a:rPr sz="1200" b="1">
                          <a:solidFill>
                            <a:srgbClr val="1E1B3A"/>
                          </a:solidFill>
                          <a:latin typeface="Calibri"/>
                        </a:rPr>
                        <a:t>Up-to-date, local content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200" b="0">
                          <a:solidFill>
                            <a:srgbClr val="1E1B3A"/>
                          </a:solidFill>
                          <a:latin typeface="Calibri"/>
                        </a:rPr>
                        <a:t>A top Udemy course was last updated in March 2024; the CAC breach drove interest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200" b="0">
                          <a:solidFill>
                            <a:srgbClr val="1E1B3A"/>
                          </a:solidFill>
                          <a:latin typeface="Calibri"/>
                        </a:rPr>
                        <a:t>Update every cohort with Nigerian cases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548640">
                <a:tc>
                  <a:txBody>
                    <a:bodyPr/>
                    <a:lstStyle/>
                    <a:p>
                      <a:pPr algn="l"/>
                      <a:r>
                        <a:rPr sz="1200" b="1">
                          <a:solidFill>
                            <a:srgbClr val="1E1B3A"/>
                          </a:solidFill>
                          <a:latin typeface="Calibri"/>
                        </a:rPr>
                        <a:t>Trusted local providers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No independent reviews found for NIIT Nigeria or Phillips Consulting</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200" b="0">
                          <a:solidFill>
                            <a:srgbClr val="1E1B3A"/>
                          </a:solidFill>
                          <a:latin typeface="Calibri"/>
                        </a:rPr>
                        <a:t>Collect reviews on Google and Trustpilot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11</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1E1B3A"/>
                </a:solidFill>
                <a:latin typeface="Calibri"/>
              </a:rPr>
              <a:t>Biggest gaps: </a:t>
            </a:r>
            <a:r>
              <a:rPr sz="1700" b="0">
                <a:solidFill>
                  <a:srgbClr val="1E1B3A"/>
                </a:solidFill>
                <a:latin typeface="Calibri"/>
              </a:rPr>
              <a:t>affordable courses with live support and hands-on practice (25 of 25).</a:t>
            </a:r>
          </a:p>
          <a:p>
            <a:pPr>
              <a:spcAft>
                <a:spcPts val="1200"/>
              </a:spcAft>
            </a:pPr>
            <a:r>
              <a:rPr sz="1700" b="1">
                <a:solidFill>
                  <a:srgbClr val="1E1B3A"/>
                </a:solidFill>
                <a:latin typeface="Calibri"/>
              </a:rPr>
              <a:t>Next: </a:t>
            </a:r>
            <a:r>
              <a:rPr sz="1700" b="0">
                <a:solidFill>
                  <a:srgbClr val="1E1B3A"/>
                </a:solidFill>
                <a:latin typeface="Calibri"/>
              </a:rPr>
              <a:t>a route from course to job, and reliable support.</a:t>
            </a:r>
          </a:p>
          <a:p>
            <a:pPr>
              <a:spcAft>
                <a:spcPts val="1200"/>
              </a:spcAft>
            </a:pPr>
            <a:r>
              <a:rPr sz="1700" b="1">
                <a:solidFill>
                  <a:srgbClr val="1E1B3A"/>
                </a:solidFill>
                <a:latin typeface="Calibri"/>
              </a:rPr>
              <a:t>CyberStart </a:t>
            </a:r>
            <a:r>
              <a:rPr sz="1700" b="0">
                <a:solidFill>
                  <a:srgbClr val="1E1B3A"/>
                </a:solidFill>
                <a:latin typeface="Calibri"/>
              </a:rPr>
              <a:t>is built around these gaps.</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600" b="1">
                          <a:solidFill>
                            <a:srgbClr val="FFFFFF"/>
                          </a:solidFill>
                          <a:latin typeface="Calibri"/>
                        </a:rPr>
                        <a:t>Evidence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603504">
                <a:tc>
                  <a:txBody>
                    <a:bodyPr/>
                    <a:lstStyle/>
                    <a:p>
                      <a:pPr algn="l"/>
                      <a:r>
                        <a:rPr sz="1600" b="1">
                          <a:solidFill>
                            <a:srgbClr val="1E1B3A"/>
                          </a:solidFill>
                          <a:latin typeface="Calibri"/>
                        </a:rPr>
                        <a:t>A growing market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600" b="0">
                          <a:solidFill>
                            <a:srgbClr val="1E1B3A"/>
                          </a:solidFill>
                          <a:latin typeface="Calibri"/>
                        </a:rPr>
                        <a:t>US$230 million in 2025, growing about 10% a year to 2031</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603504">
                <a:tc>
                  <a:txBody>
                    <a:bodyPr/>
                    <a:lstStyle/>
                    <a:p>
                      <a:pPr algn="l"/>
                      <a:r>
                        <a:rPr sz="1600" b="1">
                          <a:solidFill>
                            <a:srgbClr val="1E1B3A"/>
                          </a:solidFill>
                          <a:latin typeface="Calibri"/>
                        </a:rPr>
                        <a:t>A shortage of experts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600" b="0">
                          <a:solidFill>
                            <a:srgbClr val="1E1B3A"/>
                          </a:solidFill>
                          <a:latin typeface="Calibri"/>
                        </a:rPr>
                        <a:t>About 8,352 professionals in Nigeria against 57,269 in South Africa (2023)</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603504">
                <a:tc>
                  <a:txBody>
                    <a:bodyPr/>
                    <a:lstStyle/>
                    <a:p>
                      <a:pPr algn="l"/>
                      <a:r>
                        <a:rPr sz="1600" b="1">
                          <a:solidFill>
                            <a:srgbClr val="1E1B3A"/>
                          </a:solidFill>
                          <a:latin typeface="Calibri"/>
                        </a:rPr>
                        <a:t>Rising threats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600" b="0">
                          <a:solidFill>
                            <a:srgbClr val="1E1B3A"/>
                          </a:solidFill>
                          <a:latin typeface="Calibri"/>
                        </a:rPr>
                        <a:t>4,388 attacks a week on each organisation in early 2025, up 47%; the CAC breach in April 2026</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603504">
                <a:tc>
                  <a:txBody>
                    <a:bodyPr/>
                    <a:lstStyle/>
                    <a:p>
                      <a:pPr algn="l"/>
                      <a:r>
                        <a:rPr sz="1600" b="1">
                          <a:solidFill>
                            <a:srgbClr val="1E1B3A"/>
                          </a:solidFill>
                          <a:latin typeface="Calibri"/>
                        </a:rPr>
                        <a:t>Employers who pay</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600" b="0">
                          <a:solidFill>
                            <a:srgbClr val="1E1B3A"/>
                          </a:solidFill>
                          <a:latin typeface="Calibri"/>
                        </a:rPr>
                        <a:t>Banks, finance and insurance are 29.2% of the cybersecurity market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603504">
                <a:tc>
                  <a:txBody>
                    <a:bodyPr/>
                    <a:lstStyle/>
                    <a:p>
                      <a:pPr algn="l"/>
                      <a:r>
                        <a:rPr sz="1600" b="1">
                          <a:solidFill>
                            <a:srgbClr val="1E1B3A"/>
                          </a:solidFill>
                          <a:latin typeface="Calibri"/>
                        </a:rPr>
                        <a:t>Nationwide interest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600" b="0">
                          <a:solidFill>
                            <a:srgbClr val="1E1B3A"/>
                          </a:solidFill>
                          <a:latin typeface="Calibri"/>
                        </a:rPr>
                        <a:t>Cybersecurity is the most searched digital skill in most states, not only Lagos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603504">
                <a:tc>
                  <a:txBody>
                    <a:bodyPr/>
                    <a:lstStyle/>
                    <a:p>
                      <a:pPr algn="l"/>
                      <a:r>
                        <a:rPr sz="1600" b="1">
                          <a:solidFill>
                            <a:srgbClr val="1E1B3A"/>
                          </a:solidFill>
                          <a:latin typeface="Calibri"/>
                        </a:rPr>
                        <a:t>A free exam offer ended</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600" b="0">
                          <a:solidFill>
                            <a:srgbClr val="1E1B3A"/>
                          </a:solidFill>
                          <a:latin typeface="Calibri"/>
                        </a:rPr>
                        <a:t>ISC2 closed its free CC exam programme on 20 May 2026, so learners need exam preparation</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13</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c>
                  <a:txBody>
                    <a:bodyPr/>
                    <a:lstStyle/>
                    <a:p>
                      <a:pPr algn="l"/>
                      <a:r>
                        <a:rPr sz="1800" b="1">
                          <a:solidFill>
                            <a:srgbClr val="FFFFFF"/>
                          </a:solidFill>
                          <a:latin typeface="Calibri"/>
                        </a:rPr>
                        <a:t>CyberStart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312E81"/>
                    </a:solidFill>
                  </a:tcPr>
                </a:tc>
              </a:tr>
              <a:tr h="777240">
                <a:tc>
                  <a:txBody>
                    <a:bodyPr/>
                    <a:lstStyle/>
                    <a:p>
                      <a:pPr algn="l"/>
                      <a:r>
                        <a:rPr sz="1800" b="1">
                          <a:solidFill>
                            <a:srgbClr val="1E1B3A"/>
                          </a:solidFill>
                          <a:latin typeface="Calibri"/>
                        </a:rPr>
                        <a:t>Product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800" b="0">
                          <a:solidFill>
                            <a:srgbClr val="1E1B3A"/>
                          </a:solidFill>
                          <a:latin typeface="Calibri"/>
                        </a:rPr>
                        <a:t>12-week beginner course: live classes, weekly labs, final project, exam preparation, job support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77240">
                <a:tc>
                  <a:txBody>
                    <a:bodyPr/>
                    <a:lstStyle/>
                    <a:p>
                      <a:pPr algn="l"/>
                      <a:r>
                        <a:rPr sz="1800" b="1">
                          <a:solidFill>
                            <a:srgbClr val="1E1B3A"/>
                          </a:solidFill>
                          <a:latin typeface="Calibri"/>
                        </a:rPr>
                        <a:t>Price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800" b="0">
                          <a:solidFill>
                            <a:srgbClr val="1E1B3A"/>
                          </a:solidFill>
                          <a:latin typeface="Calibri"/>
                        </a:rPr>
                        <a:t>₦150,000 in 3 parts of ₦50,000; free first class; employer-sponsored places</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r h="777240">
                <a:tc>
                  <a:txBody>
                    <a:bodyPr/>
                    <a:lstStyle/>
                    <a:p>
                      <a:pPr algn="l"/>
                      <a:r>
                        <a:rPr sz="1800" b="1">
                          <a:solidFill>
                            <a:srgbClr val="1E1B3A"/>
                          </a:solidFill>
                          <a:latin typeface="Calibri"/>
                        </a:rPr>
                        <a:t>Place</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c>
                  <a:txBody>
                    <a:bodyPr/>
                    <a:lstStyle/>
                    <a:p>
                      <a:pPr algn="l"/>
                      <a:r>
                        <a:rPr sz="1800" b="0">
                          <a:solidFill>
                            <a:srgbClr val="1E1B3A"/>
                          </a:solidFill>
                          <a:latin typeface="Calibri"/>
                        </a:rPr>
                        <a:t>Online nationwide, with weekend labs in Lagos and Abuja</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noFill/>
                  </a:tcPr>
                </a:tc>
              </a:tr>
              <a:tr h="777240">
                <a:tc>
                  <a:txBody>
                    <a:bodyPr/>
                    <a:lstStyle/>
                    <a:p>
                      <a:pPr algn="l"/>
                      <a:r>
                        <a:rPr sz="1800" b="1">
                          <a:solidFill>
                            <a:srgbClr val="1E1B3A"/>
                          </a:solidFill>
                          <a:latin typeface="Calibri"/>
                        </a:rPr>
                        <a:t>Promotion</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c>
                  <a:txBody>
                    <a:bodyPr/>
                    <a:lstStyle/>
                    <a:p>
                      <a:pPr algn="l"/>
                      <a:r>
                        <a:rPr sz="1800" b="0">
                          <a:solidFill>
                            <a:srgbClr val="1E1B3A"/>
                          </a:solidFill>
                          <a:latin typeface="Calibri"/>
                        </a:rPr>
                        <a:t>Facebook and Instagram adverts, TikTok how-to videos, LinkedIn for employers, reviews on Google and Trustpilot</a:t>
                      </a:r>
                    </a:p>
                  </a:txBody>
                  <a:tcPr anchor="ctr">
                    <a:lnL w="12700" cap="flat" cmpd="sng" algn="ctr">
                      <a:solidFill>
                        <a:srgbClr val="D5D5E5"/>
                      </a:solidFill>
                      <a:prstDash val="solid"/>
                      <a:round/>
                      <a:headEnd type="none" w="med" len="med"/>
                      <a:tailEnd type="none" w="med" len="med"/>
                    </a:lnL>
                    <a:lnR w="12700" cap="flat" cmpd="sng" algn="ctr">
                      <a:solidFill>
                        <a:srgbClr val="D5D5E5"/>
                      </a:solidFill>
                      <a:prstDash val="solid"/>
                      <a:round/>
                      <a:headEnd type="none" w="med" len="med"/>
                      <a:tailEnd type="none" w="med" len="med"/>
                    </a:lnR>
                    <a:lnT w="12700" cap="flat" cmpd="sng" algn="ctr">
                      <a:solidFill>
                        <a:srgbClr val="D5D5E5"/>
                      </a:solidFill>
                      <a:prstDash val="solid"/>
                      <a:round/>
                      <a:headEnd type="none" w="med" len="med"/>
                      <a:tailEnd type="none" w="med" len="med"/>
                    </a:lnT>
                    <a:lnB w="12700" cap="flat" cmpd="sng" algn="ctr">
                      <a:solidFill>
                        <a:srgbClr val="D5D5E5"/>
                      </a:solidFill>
                      <a:prstDash val="solid"/>
                      <a:round/>
                      <a:headEnd type="none" w="med" len="med"/>
                      <a:tailEnd type="none" w="med" len="med"/>
                    </a:lnB>
                    <a:solidFill>
                      <a:srgbClr val="ECECF7"/>
                    </a:solidFill>
                  </a:tcPr>
                </a:tc>
              </a:tr>
            </a:tbl>
          </a:graphicData>
        </a:graphic>
      </p:graphicFrame>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6566E"/>
                </a:solidFill>
                <a:latin typeface="Calibri"/>
              </a:rPr>
              <a:t>Year 1 estimate: 375 learners and ₦56.25 million (see the Market sheet in Excel).</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4FA"/>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312E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E8604C"/>
              </a:buClr>
            </a:pPr>
            <a:r>
              <a:rPr sz="2000" b="1">
                <a:solidFill>
                  <a:srgbClr val="312E81"/>
                </a:solidFill>
                <a:latin typeface="Calibri"/>
              </a:rPr>
              <a:t>The market is growing: </a:t>
            </a:r>
            <a:r>
              <a:rPr sz="2000" b="0">
                <a:solidFill>
                  <a:srgbClr val="1E1B3A"/>
                </a:solidFill>
                <a:latin typeface="Calibri"/>
              </a:rPr>
              <a:t>Nigeria's cybersecurity market is worth about US$230 million (2025) and grows about 10% a year, while trained experts are scarce.</a:t>
            </a:r>
          </a:p>
          <a:p>
            <a:pPr>
              <a:spcAft>
                <a:spcPts val="1000"/>
              </a:spcAft>
              <a:buClr>
                <a:srgbClr val="E8604C"/>
              </a:buClr>
            </a:pPr>
            <a:r>
              <a:rPr sz="2000" b="1">
                <a:solidFill>
                  <a:srgbClr val="312E81"/>
                </a:solidFill>
                <a:latin typeface="Calibri"/>
              </a:rPr>
              <a:t>Customers are searching: </a:t>
            </a:r>
            <a:r>
              <a:rPr sz="2000" b="0">
                <a:solidFill>
                  <a:srgbClr val="1E1B3A"/>
                </a:solidFill>
                <a:latin typeface="Calibri"/>
              </a:rPr>
              <a:t>cybersecurity is the most searched digital skill on Google Trends in Nigeria.</a:t>
            </a:r>
          </a:p>
          <a:p>
            <a:pPr>
              <a:spcAft>
                <a:spcPts val="1000"/>
              </a:spcAft>
              <a:buClr>
                <a:srgbClr val="E8604C"/>
              </a:buClr>
            </a:pPr>
            <a:r>
              <a:rPr sz="2000" b="1">
                <a:solidFill>
                  <a:srgbClr val="312E81"/>
                </a:solidFill>
                <a:latin typeface="Calibri"/>
              </a:rPr>
              <a:t>Rivals are rated well, </a:t>
            </a:r>
            <a:r>
              <a:rPr sz="2000" b="0">
                <a:solidFill>
                  <a:srgbClr val="1E1B3A"/>
                </a:solidFill>
                <a:latin typeface="Calibri"/>
              </a:rPr>
              <a:t>but learners complain about support, missing labs, outdated content and unclear prices.</a:t>
            </a:r>
          </a:p>
          <a:p>
            <a:pPr>
              <a:spcAft>
                <a:spcPts val="1000"/>
              </a:spcAft>
              <a:buClr>
                <a:srgbClr val="E8604C"/>
              </a:buClr>
            </a:pPr>
            <a:r>
              <a:rPr sz="2000" b="1">
                <a:solidFill>
                  <a:srgbClr val="312E81"/>
                </a:solidFill>
                <a:latin typeface="Calibri"/>
              </a:rPr>
              <a:t>CyberStart wins by: </a:t>
            </a:r>
            <a:r>
              <a:rPr sz="2000" b="0">
                <a:solidFill>
                  <a:srgbClr val="1E1B3A"/>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6566E"/>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6566E"/>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6566E"/>
                </a:solidFill>
                <a:latin typeface="Calibri"/>
              </a:rPr>
              <a:t>15</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312E81"/>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D3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E86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9D8F2"/>
                </a:solidFill>
                <a:latin typeface="Calibri"/>
              </a:rPr>
              <a:t>Any questions?</a:t>
            </a:r>
          </a:p>
          <a:p>
            <a:pPr algn="l">
              <a:spcAft>
                <a:spcPts val="800"/>
              </a:spcAft>
            </a:pPr>
            <a:r>
              <a:rPr sz="1600" b="0">
                <a:solidFill>
                  <a:srgbClr val="D9D8F2"/>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E8604C"/>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Indigo and Coral">
      <a:dk1>
        <a:sysClr val="windowText" lastClr="000000"/>
      </a:dk1>
      <a:lt1>
        <a:sysClr val="window" lastClr="FFFFFF"/>
      </a:lt1>
      <a:dk2>
        <a:srgbClr val="312E81"/>
      </a:dk2>
      <a:lt2>
        <a:srgbClr val="F4F4FA"/>
      </a:lt2>
      <a:accent1>
        <a:srgbClr val="312E81"/>
      </a:accent1>
      <a:accent2>
        <a:srgbClr val="E8604C"/>
      </a:accent2>
      <a:accent3>
        <a:srgbClr val="8B87C9"/>
      </a:accent3>
      <a:accent4>
        <a:srgbClr val="C3C2DE"/>
      </a:accent4>
      <a:accent5>
        <a:srgbClr val="1E1B3A"/>
      </a:accent5>
      <a:accent6>
        <a:srgbClr val="5B5B73"/>
      </a:accent6>
      <a:hlink>
        <a:srgbClr val="312E81"/>
      </a:hlink>
      <a:folHlink>
        <a:srgbClr val="5B5B73"/>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Indigo and Coral">
      <a:dk1>
        <a:sysClr val="windowText" lastClr="000000"/>
      </a:dk1>
      <a:lt1>
        <a:sysClr val="window" lastClr="FFFFFF"/>
      </a:lt1>
      <a:dk2>
        <a:srgbClr val="312E81"/>
      </a:dk2>
      <a:lt2>
        <a:srgbClr val="F4F4FA"/>
      </a:lt2>
      <a:accent1>
        <a:srgbClr val="312E81"/>
      </a:accent1>
      <a:accent2>
        <a:srgbClr val="E8604C"/>
      </a:accent2>
      <a:accent3>
        <a:srgbClr val="8B87C9"/>
      </a:accent3>
      <a:accent4>
        <a:srgbClr val="C3C2DE"/>
      </a:accent4>
      <a:accent5>
        <a:srgbClr val="1E1B3A"/>
      </a:accent5>
      <a:accent6>
        <a:srgbClr val="5B5B73"/>
      </a:accent6>
      <a:hlink>
        <a:srgbClr val="312E81"/>
      </a:hlink>
      <a:folHlink>
        <a:srgbClr val="5B5B73"/>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2026-10-09T11:22:13Z</dcterms:created>
  <dcterms:modified xsi:type="dcterms:W3CDTF">2026-10-09T11:22:13Z</dcterms:modified>
  <cp:category/>
</cp:coreProperties>
</file>