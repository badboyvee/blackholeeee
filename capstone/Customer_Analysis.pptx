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D6DCE4"/>
            </a:solidFill>
          </c:spPr>
          <c:dPt>
            <c:idx val="0"/>
            <c:spPr>
              <a:solidFill>
                <a:srgbClr val="2F7FCC"/>
              </a:solidFill>
            </c:spPr>
          </c:dPt>
          <c:dPt>
            <c:idx val="2"/>
            <c:spPr>
              <a:solidFill>
                <a:srgbClr val="2F7FCC"/>
              </a:solidFill>
            </c:spPr>
          </c:dPt>
          <c:dPt>
            <c:idx val="3"/>
            <c:spPr>
              <a:solidFill>
                <a:srgbClr val="2F7FCC"/>
              </a:solidFill>
            </c:spPr>
          </c:dPt>
          <c:dPt>
            <c:idx val="5"/>
            <c:spPr>
              <a:solidFill>
                <a:srgbClr val="2F7FCC"/>
              </a:solidFill>
            </c:spPr>
          </c:dPt>
          <c:dPt>
            <c:idx val="7"/>
            <c:spPr>
              <a:solidFill>
                <a:srgbClr val="2F7FCC"/>
              </a:solidFill>
            </c:spPr>
          </c:dPt>
          <c:cat>
            <c:strRef>
              <c:f>Sheet1!$A$2:$A$13</c:f>
              <c:strCache>
                <c:ptCount val="12"/>
                <c:pt idx="0">
                  <c:v>Hands-on skills</c:v>
                </c:pt>
                <c:pt idx="1">
                  <c:v>Flexible timetable</c:v>
                </c:pt>
                <c:pt idx="2">
                  <c:v>Certificate preparation</c:v>
                </c:pt>
                <c:pt idx="3">
                  <c:v>Affordable price</c:v>
                </c:pt>
                <c:pt idx="4">
                  <c:v>Pay in parts</c:v>
                </c:pt>
                <c:pt idx="5">
                  <c:v>Better-paid job</c:v>
                </c:pt>
                <c:pt idx="6">
                  <c:v>Trust, not a scam</c:v>
                </c:pt>
                <c:pt idx="7">
                  <c:v>Feeling supported</c:v>
                </c:pt>
                <c:pt idx="8">
                  <c:v>Future-proof career</c:v>
                </c:pt>
                <c:pt idx="9">
                  <c:v>Community</c:v>
                </c:pt>
                <c:pt idx="10">
                  <c:v>Status</c:v>
                </c:pt>
                <c:pt idx="11">
                  <c:v>Inclusion</c:v>
                </c:pt>
              </c:strCache>
            </c:strRef>
          </c:cat>
          <c:val>
            <c:numRef>
              <c:f>Sheet1!$B$2:$B$13</c:f>
              <c:numCache>
                <c:formatCode>0</c:formatCode>
                <c:ptCount val="12"/>
                <c:pt idx="0">
                  <c:v>25</c:v>
                </c:pt>
                <c:pt idx="1">
                  <c:v>16</c:v>
                </c:pt>
                <c:pt idx="2">
                  <c:v>20</c:v>
                </c:pt>
                <c:pt idx="3">
                  <c:v>25</c:v>
                </c:pt>
                <c:pt idx="4">
                  <c:v>12</c:v>
                </c:pt>
                <c:pt idx="5">
                  <c:v>20</c:v>
                </c:pt>
                <c:pt idx="6">
                  <c:v>16</c:v>
                </c:pt>
                <c:pt idx="7">
                  <c:v>20</c:v>
                </c:pt>
                <c:pt idx="8">
                  <c:v>9</c:v>
                </c:pt>
                <c:pt idx="9">
                  <c:v>9</c:v>
                </c:pt>
                <c:pt idx="10">
                  <c:v>6</c:v>
                </c:pt>
                <c:pt idx="11">
                  <c:v>9</c:v>
                </c:pt>
              </c:numCache>
            </c:numRef>
          </c:val>
        </c:ser>
        <c:dLbls>
          <c:numFmt formatCode="0" sourceLinked="0"/>
          <c:txPr>
            <a:bodyPr wrap="none"/>
            <a:lstStyle/>
            <a:p>
              <a:pPr>
                <a:defRPr sz="1300" b="1">
                  <a:solidFill>
                    <a:srgbClr val="3A3A3F"/>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3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3A3A3F"/>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of my capstone analyses the customers of CyberStart, SkillUp Academy's beginner cybersecurity course: a persona, a journey map, the most important needs, four segments, their scores and the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answer the six tasks in the order they were set: the customer persona, the customer journey map, the five most important needs, four market segments, the segment scores and the target segment.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the world, networks and cybersecurity is the second fastest-growing skill, and 95 percent of cyber teams have a skills gap, led by AI and cloud security. Nigeria is young, with a median age of about 19 and 2.1 million university students. The minimum wage is 70,000 naira a month; junior analysts earn 150,000 or more.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1: customer persona.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Tunde Bakare, a fictional customer from the target segment: 27, a customer service officer in Lagos with an HND, steady pay and about 50,000 naira a month to spare. Tunde is careful with money and ambitious, but not yet confident with tech, short of free time, and wary of online courses.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Tunde's goal is a cybersecurity job within a year. The frustrations are not knowing where to start, fear of scams, and a full-time job; Tunde needs weekend labs, a fair price in parts and help into a job.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news, a friend's new tech job, or a free first class push Tunde to act. Each worry has an answer. Tunde chooses on labs, the full price, reviews and the certificate, and pays from salary in three parts.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2: customer journey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follows Tunde through five stages: awareness, consideration, purchase, learning and after the course. Tunde starts curious, is most anxious when comparing courses, gains confidence while learning, and ends proud on getting a job.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pain point is an opportunity: beginner videos for awareness, clear prices and reviews for consideration, a free class and instalments for purchase, weekly labs and fast support for learning, and job help after.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 the 5 most important needs.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needs are about what the course does, economic needs about money, emotional needs about feelings, and social needs about other people. The dark badges mark the five most important.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most important needs are hands-on skills and an affordable price, both 25 out of 25, then certificate preparation, a better-paid job and feeling supported, each 20: two functional, two economic and one emotional.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shows all twelve needs. Skills and money matter most; social needs matter less, but still shape how the brand talks to people.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4: four market segments.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segments are Campus Starters, students and new graduates; Career Switchers, working adults in non-IT jobs; Corporate Upskillers, staff whose employers pay; and Women in Tech Starters.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5: segment scores.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segment is scored on market size, accessibility, buying potential and competition. Career Switchers score 4.00, the highest, with four on every criterion. Campus Starters are biggest but have little money.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6: target segment.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should prioritise Career Switchers. They can pay in parts, have a strong reason to buy, are easy to reach online, and few rivals offer practical courses that fit around a job.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customers need hands-on skills at a fair price; SkillUp Academy should target Career Switchers, like Tunde; and the weakest point of the journey, choosing a course, is fixed with clear prices, reviews and a free class.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7680960" y="0"/>
            <a:ext cx="451104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325880"/>
            <a:ext cx="4023360" cy="4023360"/>
          </a:xfrm>
          <a:prstGeom prst="rect">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822960" y="1645920"/>
            <a:ext cx="5303520" cy="1737360"/>
          </a:xfrm>
        </p:spPr>
        <p:txBody>
          <a:bodyPr anchor="b"/>
          <a:lstStyle/>
          <a:p>
            <a:pPr algn="l"/>
            <a:r>
              <a:rPr sz="4800" b="1">
                <a:solidFill>
                  <a:srgbClr val="28282C"/>
                </a:solidFill>
                <a:latin typeface="Century Gothic"/>
              </a:rPr>
              <a:t>Customer Analysis</a:t>
            </a:r>
          </a:p>
        </p:txBody>
      </p:sp>
      <p:sp>
        <p:nvSpPr>
          <p:cNvPr id="3" name="Subtitle 2"/>
          <p:cNvSpPr>
            <a:spLocks noGrp="1"/>
          </p:cNvSpPr>
          <p:nvPr>
            <p:ph type="subTitle" idx="1"/>
          </p:nvPr>
        </p:nvSpPr>
        <p:spPr>
          <a:xfrm>
            <a:off x="822960" y="3749039"/>
            <a:ext cx="5120640" cy="914400"/>
          </a:xfrm>
        </p:spPr>
        <p:txBody>
          <a:bodyPr anchor="t"/>
          <a:lstStyle/>
          <a:p>
            <a:pPr algn="l"/>
            <a:r>
              <a:rPr sz="1600" b="0">
                <a:solidFill>
                  <a:srgbClr val="8A8A8F"/>
                </a:solidFill>
                <a:latin typeface="Calibri"/>
              </a:rPr>
              <a:t>Persona, journey map, needs, segments and target for CyberStart</a:t>
            </a:r>
          </a:p>
        </p:txBody>
      </p:sp>
      <p:sp>
        <p:nvSpPr>
          <p:cNvPr id="6" name="Oval 5"/>
          <p:cNvSpPr/>
          <p:nvPr/>
        </p:nvSpPr>
        <p:spPr>
          <a:xfrm>
            <a:off x="7086600" y="1828800"/>
            <a:ext cx="3017520" cy="3017520"/>
          </a:xfrm>
          <a:prstGeom prst="ellipse">
            <a:avLst/>
          </a:prstGeom>
          <a:noFill/>
          <a:ln w="635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2468880"/>
            <a:ext cx="3017520" cy="1691640"/>
          </a:xfrm>
          <a:prstGeom prst="rect">
            <a:avLst/>
          </a:prstGeom>
          <a:noFill/>
        </p:spPr>
        <p:txBody>
          <a:bodyPr wrap="square">
            <a:spAutoFit/>
          </a:bodyPr>
          <a:lstStyle/>
          <a:p>
            <a:pPr algn="ctr"/>
            <a:r>
              <a:rPr sz="9600" b="1">
                <a:solidFill>
                  <a:srgbClr val="FFFFFF"/>
                </a:solidFill>
                <a:latin typeface="Century Gothic"/>
              </a:rPr>
              <a:t>02</a:t>
            </a:r>
          </a:p>
        </p:txBody>
      </p:sp>
      <p:sp>
        <p:nvSpPr>
          <p:cNvPr id="8" name="TextBox 7"/>
          <p:cNvSpPr txBox="1"/>
          <p:nvPr/>
        </p:nvSpPr>
        <p:spPr>
          <a:xfrm>
            <a:off x="6583680" y="5440680"/>
            <a:ext cx="4023360" cy="365760"/>
          </a:xfrm>
          <a:prstGeom prst="rect">
            <a:avLst/>
          </a:prstGeom>
          <a:noFill/>
        </p:spPr>
        <p:txBody>
          <a:bodyPr wrap="square">
            <a:spAutoFit/>
          </a:bodyPr>
          <a:lstStyle/>
          <a:p>
            <a:pPr algn="ctr"/>
            <a:r>
              <a:rPr sz="1200" b="1">
                <a:solidFill>
                  <a:srgbClr val="FFFFFF"/>
                </a:solidFill>
                <a:latin typeface="Calibri"/>
              </a:rPr>
              <a:t>CAPSTONE  ·  PART 2</a:t>
            </a:r>
          </a:p>
        </p:txBody>
      </p:sp>
      <p:sp>
        <p:nvSpPr>
          <p:cNvPr id="9" name="TextBox 8"/>
          <p:cNvSpPr txBox="1"/>
          <p:nvPr/>
        </p:nvSpPr>
        <p:spPr>
          <a:xfrm>
            <a:off x="822960" y="1325880"/>
            <a:ext cx="5029200" cy="320040"/>
          </a:xfrm>
          <a:prstGeom prst="rect">
            <a:avLst/>
          </a:prstGeom>
          <a:noFill/>
        </p:spPr>
        <p:txBody>
          <a:bodyPr wrap="square">
            <a:spAutoFit/>
          </a:bodyPr>
          <a:lstStyle/>
          <a:p>
            <a:r>
              <a:rPr sz="1200" b="1">
                <a:solidFill>
                  <a:srgbClr val="1F6FB8"/>
                </a:solidFill>
                <a:latin typeface="Calibri"/>
              </a:rPr>
              <a:t>CAPSTONE PROJECT  ·  PART 2</a:t>
            </a:r>
          </a:p>
        </p:txBody>
      </p:sp>
      <p:sp>
        <p:nvSpPr>
          <p:cNvPr id="10" name="Rectangle 9"/>
          <p:cNvSpPr/>
          <p:nvPr/>
        </p:nvSpPr>
        <p:spPr>
          <a:xfrm>
            <a:off x="896112" y="3520440"/>
            <a:ext cx="1097280" cy="91440"/>
          </a:xfrm>
          <a:prstGeom prst="rect">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6035040"/>
            <a:ext cx="5669280" cy="320040"/>
          </a:xfrm>
          <a:prstGeom prst="rect">
            <a:avLst/>
          </a:prstGeom>
          <a:noFill/>
        </p:spPr>
        <p:txBody>
          <a:bodyPr wrap="square">
            <a:spAutoFit/>
          </a:bodyPr>
          <a:lstStyle/>
          <a:p>
            <a:r>
              <a:rPr sz="1100" b="0">
                <a:solidFill>
                  <a:srgbClr val="8A8A8F"/>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50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500"/>
                                        <p:tgtEl>
                                          <p:spTgt spid="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par>
                          <p:cTn id="30" fill="hold">
                            <p:stCondLst>
                              <p:cond delay="1000"/>
                            </p:stCondLst>
                            <p:childTnLst>
                              <p:par>
                                <p:cTn id="31" presetID="10" presetClass="entr" presetSubtype="0" fill="hold" grpId="0" nodeType="after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fade">
                                      <p:cBhvr>
                                        <p:cTn id="33" dur="500"/>
                                        <p:tgtEl>
                                          <p:spTgt spid="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2" grpId="0" animBg="1"/>
      <p:bldP spid="10" grpId="0" animBg="1"/>
      <p:bldP spid="3" grpId="0" animBg="1"/>
      <p:bldP spid="1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9540240" y="0"/>
            <a:ext cx="2651760" cy="6858000"/>
          </a:xfrm>
          <a:prstGeom prst="rect">
            <a:avLst/>
          </a:prstGeom>
          <a:gradFill rotWithShape="1">
            <a:gsLst>
              <a:gs pos="0">
                <a:srgbClr val="2F7FCC"/>
              </a:gs>
              <a:gs pos="100000">
                <a:srgbClr val="174A8B"/>
              </a:gs>
            </a:gsLst>
            <a:lin scaled="0" ang="162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731520"/>
            <a:ext cx="3108960" cy="777240"/>
          </a:xfrm>
        </p:spPr>
        <p:txBody>
          <a:bodyPr anchor="ctr"/>
          <a:lstStyle/>
          <a:p>
            <a:pPr algn="ctr"/>
            <a:r>
              <a:rPr sz="2400" b="1">
                <a:solidFill>
                  <a:srgbClr val="28282C"/>
                </a:solidFill>
                <a:latin typeface="Century Gothic"/>
              </a:rPr>
              <a:t>CONTENTS</a:t>
            </a:r>
          </a:p>
        </p:txBody>
      </p:sp>
      <p:sp>
        <p:nvSpPr>
          <p:cNvPr id="4" name="TextBox 3"/>
          <p:cNvSpPr txBox="1"/>
          <p:nvPr/>
        </p:nvSpPr>
        <p:spPr>
          <a:xfrm rot="16200000">
            <a:off x="7894320" y="3154680"/>
            <a:ext cx="5943600" cy="548640"/>
          </a:xfrm>
          <a:prstGeom prst="rect">
            <a:avLst/>
          </a:prstGeom>
          <a:noFill/>
        </p:spPr>
        <p:txBody>
          <a:bodyPr wrap="square">
            <a:spAutoFit/>
          </a:bodyPr>
          <a:lstStyle/>
          <a:p>
            <a:pPr algn="ctr"/>
            <a:r>
              <a:rPr sz="2200" b="1">
                <a:solidFill>
                  <a:srgbClr val="FFFFFF"/>
                </a:solidFill>
                <a:latin typeface="Century Gothic"/>
              </a:rPr>
              <a:t>CUSTOMER ANALYSIS</a:t>
            </a:r>
          </a:p>
        </p:txBody>
      </p:sp>
      <p:sp>
        <p:nvSpPr>
          <p:cNvPr id="5" name="Rectangle 4"/>
          <p:cNvSpPr/>
          <p:nvPr/>
        </p:nvSpPr>
        <p:spPr>
          <a:xfrm>
            <a:off x="731520" y="731520"/>
            <a:ext cx="3108960" cy="777240"/>
          </a:xfrm>
          <a:prstGeom prst="rect">
            <a:avLst/>
          </a:prstGeom>
          <a:noFill/>
          <a:ln w="3175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65960"/>
            <a:ext cx="1005840" cy="731520"/>
          </a:xfrm>
          <a:prstGeom prst="rect">
            <a:avLst/>
          </a:prstGeom>
          <a:noFill/>
        </p:spPr>
        <p:txBody>
          <a:bodyPr wrap="square">
            <a:spAutoFit/>
          </a:bodyPr>
          <a:lstStyle/>
          <a:p>
            <a:r>
              <a:rPr sz="3200" b="1">
                <a:solidFill>
                  <a:srgbClr val="2F7FCC"/>
                </a:solidFill>
                <a:latin typeface="Century Gothic"/>
              </a:rPr>
              <a:t>01</a:t>
            </a:r>
          </a:p>
        </p:txBody>
      </p:sp>
      <p:sp>
        <p:nvSpPr>
          <p:cNvPr id="7" name="TextBox 6"/>
          <p:cNvSpPr txBox="1"/>
          <p:nvPr/>
        </p:nvSpPr>
        <p:spPr>
          <a:xfrm>
            <a:off x="1783080" y="2011680"/>
            <a:ext cx="3108960" cy="1097280"/>
          </a:xfrm>
          <a:prstGeom prst="rect">
            <a:avLst/>
          </a:prstGeom>
          <a:noFill/>
        </p:spPr>
        <p:txBody>
          <a:bodyPr wrap="square">
            <a:spAutoFit/>
          </a:bodyPr>
          <a:lstStyle/>
          <a:p>
            <a:pPr>
              <a:spcAft>
                <a:spcPts val="300"/>
              </a:spcAft>
            </a:pPr>
            <a:r>
              <a:rPr sz="1600" b="1">
                <a:solidFill>
                  <a:srgbClr val="28282C"/>
                </a:solidFill>
                <a:latin typeface="Calibri"/>
              </a:rPr>
              <a:t>Customer persona</a:t>
            </a:r>
          </a:p>
          <a:p>
            <a:pPr>
              <a:spcAft>
                <a:spcPts val="300"/>
              </a:spcAft>
            </a:pPr>
            <a:r>
              <a:rPr sz="1200" b="0">
                <a:solidFill>
                  <a:srgbClr val="8A8A8F"/>
                </a:solidFill>
                <a:latin typeface="Calibri"/>
              </a:rPr>
              <a:t>Who the typical buyer is, and what makes them buy</a:t>
            </a:r>
          </a:p>
        </p:txBody>
      </p:sp>
      <p:sp>
        <p:nvSpPr>
          <p:cNvPr id="8" name="TextBox 7"/>
          <p:cNvSpPr txBox="1"/>
          <p:nvPr/>
        </p:nvSpPr>
        <p:spPr>
          <a:xfrm>
            <a:off x="5166360" y="1965960"/>
            <a:ext cx="1005840" cy="731520"/>
          </a:xfrm>
          <a:prstGeom prst="rect">
            <a:avLst/>
          </a:prstGeom>
          <a:noFill/>
        </p:spPr>
        <p:txBody>
          <a:bodyPr wrap="square">
            <a:spAutoFit/>
          </a:bodyPr>
          <a:lstStyle/>
          <a:p>
            <a:r>
              <a:rPr sz="3200" b="1">
                <a:solidFill>
                  <a:srgbClr val="2F7FCC"/>
                </a:solidFill>
                <a:latin typeface="Century Gothic"/>
              </a:rPr>
              <a:t>02</a:t>
            </a:r>
          </a:p>
        </p:txBody>
      </p:sp>
      <p:sp>
        <p:nvSpPr>
          <p:cNvPr id="9" name="TextBox 8"/>
          <p:cNvSpPr txBox="1"/>
          <p:nvPr/>
        </p:nvSpPr>
        <p:spPr>
          <a:xfrm>
            <a:off x="6217920" y="2011680"/>
            <a:ext cx="3108960" cy="1097280"/>
          </a:xfrm>
          <a:prstGeom prst="rect">
            <a:avLst/>
          </a:prstGeom>
          <a:noFill/>
        </p:spPr>
        <p:txBody>
          <a:bodyPr wrap="square">
            <a:spAutoFit/>
          </a:bodyPr>
          <a:lstStyle/>
          <a:p>
            <a:pPr>
              <a:spcAft>
                <a:spcPts val="300"/>
              </a:spcAft>
            </a:pPr>
            <a:r>
              <a:rPr sz="1600" b="1">
                <a:solidFill>
                  <a:srgbClr val="28282C"/>
                </a:solidFill>
                <a:latin typeface="Calibri"/>
              </a:rPr>
              <a:t>Customer journey map</a:t>
            </a:r>
          </a:p>
          <a:p>
            <a:pPr>
              <a:spcAft>
                <a:spcPts val="300"/>
              </a:spcAft>
            </a:pPr>
            <a:r>
              <a:rPr sz="1200" b="0">
                <a:solidFill>
                  <a:srgbClr val="8A8A8F"/>
                </a:solidFill>
                <a:latin typeface="Calibri"/>
              </a:rPr>
              <a:t>From first hearing about the course to a new job</a:t>
            </a:r>
          </a:p>
        </p:txBody>
      </p:sp>
      <p:sp>
        <p:nvSpPr>
          <p:cNvPr id="10" name="TextBox 9"/>
          <p:cNvSpPr txBox="1"/>
          <p:nvPr/>
        </p:nvSpPr>
        <p:spPr>
          <a:xfrm>
            <a:off x="731520" y="3337560"/>
            <a:ext cx="1005840" cy="731520"/>
          </a:xfrm>
          <a:prstGeom prst="rect">
            <a:avLst/>
          </a:prstGeom>
          <a:noFill/>
        </p:spPr>
        <p:txBody>
          <a:bodyPr wrap="square">
            <a:spAutoFit/>
          </a:bodyPr>
          <a:lstStyle/>
          <a:p>
            <a:r>
              <a:rPr sz="3200" b="1">
                <a:solidFill>
                  <a:srgbClr val="2F7FCC"/>
                </a:solidFill>
                <a:latin typeface="Century Gothic"/>
              </a:rPr>
              <a:t>03</a:t>
            </a:r>
          </a:p>
        </p:txBody>
      </p:sp>
      <p:sp>
        <p:nvSpPr>
          <p:cNvPr id="11" name="TextBox 10"/>
          <p:cNvSpPr txBox="1"/>
          <p:nvPr/>
        </p:nvSpPr>
        <p:spPr>
          <a:xfrm>
            <a:off x="1783080" y="3383280"/>
            <a:ext cx="3108960" cy="1097280"/>
          </a:xfrm>
          <a:prstGeom prst="rect">
            <a:avLst/>
          </a:prstGeom>
          <a:noFill/>
        </p:spPr>
        <p:txBody>
          <a:bodyPr wrap="square">
            <a:spAutoFit/>
          </a:bodyPr>
          <a:lstStyle/>
          <a:p>
            <a:pPr>
              <a:spcAft>
                <a:spcPts val="300"/>
              </a:spcAft>
            </a:pPr>
            <a:r>
              <a:rPr sz="1600" b="1">
                <a:solidFill>
                  <a:srgbClr val="28282C"/>
                </a:solidFill>
                <a:latin typeface="Calibri"/>
              </a:rPr>
              <a:t>The 5 most important needs</a:t>
            </a:r>
          </a:p>
          <a:p>
            <a:pPr>
              <a:spcAft>
                <a:spcPts val="300"/>
              </a:spcAft>
            </a:pPr>
            <a:r>
              <a:rPr sz="1200" b="0">
                <a:solidFill>
                  <a:srgbClr val="8A8A8F"/>
                </a:solidFill>
                <a:latin typeface="Calibri"/>
              </a:rPr>
              <a:t>Chosen from 12 functional, economic, emotional and social needs</a:t>
            </a:r>
          </a:p>
        </p:txBody>
      </p:sp>
      <p:sp>
        <p:nvSpPr>
          <p:cNvPr id="12" name="TextBox 11"/>
          <p:cNvSpPr txBox="1"/>
          <p:nvPr/>
        </p:nvSpPr>
        <p:spPr>
          <a:xfrm>
            <a:off x="5166360" y="3337560"/>
            <a:ext cx="1005840" cy="731520"/>
          </a:xfrm>
          <a:prstGeom prst="rect">
            <a:avLst/>
          </a:prstGeom>
          <a:noFill/>
        </p:spPr>
        <p:txBody>
          <a:bodyPr wrap="square">
            <a:spAutoFit/>
          </a:bodyPr>
          <a:lstStyle/>
          <a:p>
            <a:r>
              <a:rPr sz="3200" b="1">
                <a:solidFill>
                  <a:srgbClr val="2F7FCC"/>
                </a:solidFill>
                <a:latin typeface="Century Gothic"/>
              </a:rPr>
              <a:t>04</a:t>
            </a:r>
          </a:p>
        </p:txBody>
      </p:sp>
      <p:sp>
        <p:nvSpPr>
          <p:cNvPr id="13" name="TextBox 12"/>
          <p:cNvSpPr txBox="1"/>
          <p:nvPr/>
        </p:nvSpPr>
        <p:spPr>
          <a:xfrm>
            <a:off x="6217920" y="3383280"/>
            <a:ext cx="3108960" cy="1097280"/>
          </a:xfrm>
          <a:prstGeom prst="rect">
            <a:avLst/>
          </a:prstGeom>
          <a:noFill/>
        </p:spPr>
        <p:txBody>
          <a:bodyPr wrap="square">
            <a:spAutoFit/>
          </a:bodyPr>
          <a:lstStyle/>
          <a:p>
            <a:pPr>
              <a:spcAft>
                <a:spcPts val="300"/>
              </a:spcAft>
            </a:pPr>
            <a:r>
              <a:rPr sz="1600" b="1">
                <a:solidFill>
                  <a:srgbClr val="28282C"/>
                </a:solidFill>
                <a:latin typeface="Calibri"/>
              </a:rPr>
              <a:t>Four market segments</a:t>
            </a:r>
          </a:p>
          <a:p>
            <a:pPr>
              <a:spcAft>
                <a:spcPts val="300"/>
              </a:spcAft>
            </a:pPr>
            <a:r>
              <a:rPr sz="1200" b="0">
                <a:solidFill>
                  <a:srgbClr val="8A8A8F"/>
                </a:solidFill>
                <a:latin typeface="Calibri"/>
              </a:rPr>
              <a:t>Demographic, geographic, psychographic and behavioural</a:t>
            </a:r>
          </a:p>
        </p:txBody>
      </p:sp>
      <p:sp>
        <p:nvSpPr>
          <p:cNvPr id="14" name="TextBox 13"/>
          <p:cNvSpPr txBox="1"/>
          <p:nvPr/>
        </p:nvSpPr>
        <p:spPr>
          <a:xfrm>
            <a:off x="731520" y="4709160"/>
            <a:ext cx="1005840" cy="731520"/>
          </a:xfrm>
          <a:prstGeom prst="rect">
            <a:avLst/>
          </a:prstGeom>
          <a:noFill/>
        </p:spPr>
        <p:txBody>
          <a:bodyPr wrap="square">
            <a:spAutoFit/>
          </a:bodyPr>
          <a:lstStyle/>
          <a:p>
            <a:r>
              <a:rPr sz="3200" b="1">
                <a:solidFill>
                  <a:srgbClr val="2F7FCC"/>
                </a:solidFill>
                <a:latin typeface="Century Gothic"/>
              </a:rPr>
              <a:t>05</a:t>
            </a:r>
          </a:p>
        </p:txBody>
      </p:sp>
      <p:sp>
        <p:nvSpPr>
          <p:cNvPr id="15" name="TextBox 14"/>
          <p:cNvSpPr txBox="1"/>
          <p:nvPr/>
        </p:nvSpPr>
        <p:spPr>
          <a:xfrm>
            <a:off x="1783080" y="4754880"/>
            <a:ext cx="3108960" cy="1097280"/>
          </a:xfrm>
          <a:prstGeom prst="rect">
            <a:avLst/>
          </a:prstGeom>
          <a:noFill/>
        </p:spPr>
        <p:txBody>
          <a:bodyPr wrap="square">
            <a:spAutoFit/>
          </a:bodyPr>
          <a:lstStyle/>
          <a:p>
            <a:pPr>
              <a:spcAft>
                <a:spcPts val="300"/>
              </a:spcAft>
            </a:pPr>
            <a:r>
              <a:rPr sz="1600" b="1">
                <a:solidFill>
                  <a:srgbClr val="28282C"/>
                </a:solidFill>
                <a:latin typeface="Calibri"/>
              </a:rPr>
              <a:t>Segment scores</a:t>
            </a:r>
          </a:p>
          <a:p>
            <a:pPr>
              <a:spcAft>
                <a:spcPts val="300"/>
              </a:spcAft>
            </a:pPr>
            <a:r>
              <a:rPr sz="1200" b="0">
                <a:solidFill>
                  <a:srgbClr val="8A8A8F"/>
                </a:solidFill>
                <a:latin typeface="Calibri"/>
              </a:rPr>
              <a:t>Market size, accessibility, buying potential and competition</a:t>
            </a:r>
          </a:p>
        </p:txBody>
      </p:sp>
      <p:sp>
        <p:nvSpPr>
          <p:cNvPr id="16" name="TextBox 15"/>
          <p:cNvSpPr txBox="1"/>
          <p:nvPr/>
        </p:nvSpPr>
        <p:spPr>
          <a:xfrm>
            <a:off x="5166360" y="4709160"/>
            <a:ext cx="1005840" cy="731520"/>
          </a:xfrm>
          <a:prstGeom prst="rect">
            <a:avLst/>
          </a:prstGeom>
          <a:noFill/>
        </p:spPr>
        <p:txBody>
          <a:bodyPr wrap="square">
            <a:spAutoFit/>
          </a:bodyPr>
          <a:lstStyle/>
          <a:p>
            <a:r>
              <a:rPr sz="3200" b="1">
                <a:solidFill>
                  <a:srgbClr val="2F7FCC"/>
                </a:solidFill>
                <a:latin typeface="Century Gothic"/>
              </a:rPr>
              <a:t>06</a:t>
            </a:r>
          </a:p>
        </p:txBody>
      </p:sp>
      <p:sp>
        <p:nvSpPr>
          <p:cNvPr id="17" name="TextBox 16"/>
          <p:cNvSpPr txBox="1"/>
          <p:nvPr/>
        </p:nvSpPr>
        <p:spPr>
          <a:xfrm>
            <a:off x="6217920" y="4754880"/>
            <a:ext cx="3108960" cy="1097280"/>
          </a:xfrm>
          <a:prstGeom prst="rect">
            <a:avLst/>
          </a:prstGeom>
          <a:noFill/>
        </p:spPr>
        <p:txBody>
          <a:bodyPr wrap="square">
            <a:spAutoFit/>
          </a:bodyPr>
          <a:lstStyle/>
          <a:p>
            <a:pPr>
              <a:spcAft>
                <a:spcPts val="300"/>
              </a:spcAft>
            </a:pPr>
            <a:r>
              <a:rPr sz="1600" b="1">
                <a:solidFill>
                  <a:srgbClr val="28282C"/>
                </a:solidFill>
                <a:latin typeface="Calibri"/>
              </a:rPr>
              <a:t>Target segment</a:t>
            </a:r>
          </a:p>
          <a:p>
            <a:pPr>
              <a:spcAft>
                <a:spcPts val="300"/>
              </a:spcAft>
            </a:pPr>
            <a:r>
              <a:rPr sz="1200" b="0">
                <a:solidFill>
                  <a:srgbClr val="8A8A8F"/>
                </a:solidFill>
                <a:latin typeface="Calibri"/>
              </a:rPr>
              <a:t>The segment the business should prioritise</a:t>
            </a:r>
          </a:p>
        </p:txBody>
      </p:sp>
      <p:sp>
        <p:nvSpPr>
          <p:cNvPr id="18" name="TextBox 17"/>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19" name="TextBox 18"/>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2</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par>
                          <p:cTn id="44" fill="hold">
                            <p:stCondLst>
                              <p:cond delay="2000"/>
                            </p:stCondLst>
                            <p:childTnLst>
                              <p:par>
                                <p:cTn id="45" presetID="10" presetClass="entr" presetSubtype="0" fill="hold" grpId="0" nodeType="after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2"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Key Figures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CONTEXT</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Published world and Nigerian data behind the customer analysis</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3</a:t>
            </a:r>
          </a:p>
        </p:txBody>
      </p:sp>
      <p:sp>
        <p:nvSpPr>
          <p:cNvPr id="7" name="TextBox 6"/>
          <p:cNvSpPr txBox="1"/>
          <p:nvPr/>
        </p:nvSpPr>
        <p:spPr>
          <a:xfrm>
            <a:off x="731520" y="1965960"/>
            <a:ext cx="1828800" cy="320040"/>
          </a:xfrm>
          <a:prstGeom prst="rect">
            <a:avLst/>
          </a:prstGeom>
          <a:noFill/>
        </p:spPr>
        <p:txBody>
          <a:bodyPr wrap="square">
            <a:spAutoFit/>
          </a:bodyPr>
          <a:lstStyle/>
          <a:p>
            <a:r>
              <a:rPr sz="1200" b="1">
                <a:solidFill>
                  <a:srgbClr val="1F6FB8"/>
                </a:solidFill>
                <a:latin typeface="Calibri"/>
              </a:rPr>
              <a:t>WORLD</a:t>
            </a:r>
          </a:p>
        </p:txBody>
      </p:sp>
      <p:sp>
        <p:nvSpPr>
          <p:cNvPr id="8" name="Rectangle 7"/>
          <p:cNvSpPr/>
          <p:nvPr/>
        </p:nvSpPr>
        <p:spPr>
          <a:xfrm>
            <a:off x="777240" y="2313432"/>
            <a:ext cx="457200" cy="45720"/>
          </a:xfrm>
          <a:prstGeom prst="rect">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71700" y="2080260"/>
            <a:ext cx="1143000" cy="114300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800" b="1">
                <a:solidFill>
                  <a:srgbClr val="FFFFFF"/>
                </a:solidFill>
                <a:latin typeface="Century Gothic"/>
              </a:rPr>
              <a:t>2nd</a:t>
            </a:r>
          </a:p>
        </p:txBody>
      </p:sp>
      <p:sp>
        <p:nvSpPr>
          <p:cNvPr id="10" name="TextBox 9"/>
          <p:cNvSpPr txBox="1"/>
          <p:nvPr/>
        </p:nvSpPr>
        <p:spPr>
          <a:xfrm>
            <a:off x="1554480" y="3264408"/>
            <a:ext cx="2377440" cy="566928"/>
          </a:xfrm>
          <a:prstGeom prst="rect">
            <a:avLst/>
          </a:prstGeom>
          <a:noFill/>
        </p:spPr>
        <p:txBody>
          <a:bodyPr wrap="square">
            <a:spAutoFit/>
          </a:bodyPr>
          <a:lstStyle/>
          <a:p>
            <a:pPr algn="ctr"/>
            <a:r>
              <a:rPr sz="1100" b="0">
                <a:solidFill>
                  <a:srgbClr val="8A8A8F"/>
                </a:solidFill>
                <a:latin typeface="Calibri"/>
              </a:rPr>
              <a:t>fastest-growing skill in the world: networks and cybersecurity</a:t>
            </a:r>
          </a:p>
        </p:txBody>
      </p:sp>
      <p:sp>
        <p:nvSpPr>
          <p:cNvPr id="11" name="Oval 10"/>
          <p:cNvSpPr/>
          <p:nvPr/>
        </p:nvSpPr>
        <p:spPr>
          <a:xfrm>
            <a:off x="4777740" y="2080260"/>
            <a:ext cx="1143000" cy="114300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800" b="1">
                <a:solidFill>
                  <a:srgbClr val="FFFFFF"/>
                </a:solidFill>
                <a:latin typeface="Century Gothic"/>
              </a:rPr>
              <a:t>95%</a:t>
            </a:r>
          </a:p>
        </p:txBody>
      </p:sp>
      <p:sp>
        <p:nvSpPr>
          <p:cNvPr id="12" name="TextBox 11"/>
          <p:cNvSpPr txBox="1"/>
          <p:nvPr/>
        </p:nvSpPr>
        <p:spPr>
          <a:xfrm>
            <a:off x="4160520" y="3264408"/>
            <a:ext cx="2377440" cy="566928"/>
          </a:xfrm>
          <a:prstGeom prst="rect">
            <a:avLst/>
          </a:prstGeom>
          <a:noFill/>
        </p:spPr>
        <p:txBody>
          <a:bodyPr wrap="square">
            <a:spAutoFit/>
          </a:bodyPr>
          <a:lstStyle/>
          <a:p>
            <a:pPr algn="ctr"/>
            <a:r>
              <a:rPr sz="1100" b="0">
                <a:solidFill>
                  <a:srgbClr val="8A8A8F"/>
                </a:solidFill>
                <a:latin typeface="Calibri"/>
              </a:rPr>
              <a:t>of cybersecurity teams have at least one skills gap</a:t>
            </a:r>
          </a:p>
        </p:txBody>
      </p:sp>
      <p:sp>
        <p:nvSpPr>
          <p:cNvPr id="13" name="Oval 12"/>
          <p:cNvSpPr/>
          <p:nvPr/>
        </p:nvSpPr>
        <p:spPr>
          <a:xfrm>
            <a:off x="7383780" y="2080260"/>
            <a:ext cx="1143000" cy="114300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300" b="1">
                <a:solidFill>
                  <a:srgbClr val="FFFFFF"/>
                </a:solidFill>
                <a:latin typeface="Century Gothic"/>
              </a:rPr>
              <a:t>AI &amp; cloud</a:t>
            </a:r>
          </a:p>
        </p:txBody>
      </p:sp>
      <p:sp>
        <p:nvSpPr>
          <p:cNvPr id="14" name="TextBox 13"/>
          <p:cNvSpPr txBox="1"/>
          <p:nvPr/>
        </p:nvSpPr>
        <p:spPr>
          <a:xfrm>
            <a:off x="6766560" y="3264408"/>
            <a:ext cx="2377440" cy="566928"/>
          </a:xfrm>
          <a:prstGeom prst="rect">
            <a:avLst/>
          </a:prstGeom>
          <a:noFill/>
        </p:spPr>
        <p:txBody>
          <a:bodyPr wrap="square">
            <a:spAutoFit/>
          </a:bodyPr>
          <a:lstStyle/>
          <a:p>
            <a:pPr algn="ctr"/>
            <a:r>
              <a:rPr sz="1100" b="0">
                <a:solidFill>
                  <a:srgbClr val="8A8A8F"/>
                </a:solidFill>
                <a:latin typeface="Calibri"/>
              </a:rPr>
              <a:t>the cybersecurity skills most in demand</a:t>
            </a:r>
          </a:p>
        </p:txBody>
      </p:sp>
      <p:sp>
        <p:nvSpPr>
          <p:cNvPr id="15" name="Oval 14"/>
          <p:cNvSpPr/>
          <p:nvPr/>
        </p:nvSpPr>
        <p:spPr>
          <a:xfrm>
            <a:off x="9989820" y="2080260"/>
            <a:ext cx="1143000" cy="114300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800" b="1">
                <a:solidFill>
                  <a:srgbClr val="FFFFFF"/>
                </a:solidFill>
                <a:latin typeface="Century Gothic"/>
              </a:rPr>
              <a:t>22%</a:t>
            </a:r>
          </a:p>
        </p:txBody>
      </p:sp>
      <p:sp>
        <p:nvSpPr>
          <p:cNvPr id="16" name="TextBox 15"/>
          <p:cNvSpPr txBox="1"/>
          <p:nvPr/>
        </p:nvSpPr>
        <p:spPr>
          <a:xfrm>
            <a:off x="9372600" y="3264408"/>
            <a:ext cx="2377440" cy="566928"/>
          </a:xfrm>
          <a:prstGeom prst="rect">
            <a:avLst/>
          </a:prstGeom>
          <a:noFill/>
        </p:spPr>
        <p:txBody>
          <a:bodyPr wrap="square">
            <a:spAutoFit/>
          </a:bodyPr>
          <a:lstStyle/>
          <a:p>
            <a:pPr algn="ctr"/>
            <a:r>
              <a:rPr sz="1100" b="0">
                <a:solidFill>
                  <a:srgbClr val="8A8A8F"/>
                </a:solidFill>
                <a:latin typeface="Calibri"/>
              </a:rPr>
              <a:t>of cyber team members are women (26% under 30)</a:t>
            </a:r>
          </a:p>
        </p:txBody>
      </p:sp>
      <p:sp>
        <p:nvSpPr>
          <p:cNvPr id="17" name="TextBox 16"/>
          <p:cNvSpPr txBox="1"/>
          <p:nvPr/>
        </p:nvSpPr>
        <p:spPr>
          <a:xfrm>
            <a:off x="731520" y="4069080"/>
            <a:ext cx="1828800" cy="320040"/>
          </a:xfrm>
          <a:prstGeom prst="rect">
            <a:avLst/>
          </a:prstGeom>
          <a:noFill/>
        </p:spPr>
        <p:txBody>
          <a:bodyPr wrap="square">
            <a:spAutoFit/>
          </a:bodyPr>
          <a:lstStyle/>
          <a:p>
            <a:r>
              <a:rPr sz="1200" b="1">
                <a:solidFill>
                  <a:srgbClr val="1F6FB8"/>
                </a:solidFill>
                <a:latin typeface="Calibri"/>
              </a:rPr>
              <a:t>NIGERIA</a:t>
            </a:r>
          </a:p>
        </p:txBody>
      </p:sp>
      <p:sp>
        <p:nvSpPr>
          <p:cNvPr id="18" name="Rectangle 17"/>
          <p:cNvSpPr/>
          <p:nvPr/>
        </p:nvSpPr>
        <p:spPr>
          <a:xfrm>
            <a:off x="777240" y="4416552"/>
            <a:ext cx="457200" cy="45720"/>
          </a:xfrm>
          <a:prstGeom prst="rect">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171700" y="4183380"/>
            <a:ext cx="1143000" cy="114300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800" b="1">
                <a:solidFill>
                  <a:srgbClr val="28282C"/>
                </a:solidFill>
                <a:latin typeface="Century Gothic"/>
              </a:rPr>
              <a:t>19</a:t>
            </a:r>
          </a:p>
        </p:txBody>
      </p:sp>
      <p:sp>
        <p:nvSpPr>
          <p:cNvPr id="20" name="TextBox 19"/>
          <p:cNvSpPr txBox="1"/>
          <p:nvPr/>
        </p:nvSpPr>
        <p:spPr>
          <a:xfrm>
            <a:off x="1554480" y="5367528"/>
            <a:ext cx="2377440" cy="566928"/>
          </a:xfrm>
          <a:prstGeom prst="rect">
            <a:avLst/>
          </a:prstGeom>
          <a:noFill/>
        </p:spPr>
        <p:txBody>
          <a:bodyPr wrap="square">
            <a:spAutoFit/>
          </a:bodyPr>
          <a:lstStyle/>
          <a:p>
            <a:pPr algn="ctr"/>
            <a:r>
              <a:rPr sz="1100" b="0">
                <a:solidFill>
                  <a:srgbClr val="8A8A8F"/>
                </a:solidFill>
                <a:latin typeface="Calibri"/>
              </a:rPr>
              <a:t>years: the median age in Nigeria</a:t>
            </a:r>
          </a:p>
        </p:txBody>
      </p:sp>
      <p:sp>
        <p:nvSpPr>
          <p:cNvPr id="21" name="Oval 20"/>
          <p:cNvSpPr/>
          <p:nvPr/>
        </p:nvSpPr>
        <p:spPr>
          <a:xfrm>
            <a:off x="4777740" y="4183380"/>
            <a:ext cx="1143000" cy="114300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800" b="1">
                <a:solidFill>
                  <a:srgbClr val="28282C"/>
                </a:solidFill>
                <a:latin typeface="Century Gothic"/>
              </a:rPr>
              <a:t>2.1m</a:t>
            </a:r>
          </a:p>
        </p:txBody>
      </p:sp>
      <p:sp>
        <p:nvSpPr>
          <p:cNvPr id="22" name="TextBox 21"/>
          <p:cNvSpPr txBox="1"/>
          <p:nvPr/>
        </p:nvSpPr>
        <p:spPr>
          <a:xfrm>
            <a:off x="4160520" y="5367528"/>
            <a:ext cx="2377440" cy="566928"/>
          </a:xfrm>
          <a:prstGeom prst="rect">
            <a:avLst/>
          </a:prstGeom>
          <a:noFill/>
        </p:spPr>
        <p:txBody>
          <a:bodyPr wrap="square">
            <a:spAutoFit/>
          </a:bodyPr>
          <a:lstStyle/>
          <a:p>
            <a:pPr algn="ctr"/>
            <a:r>
              <a:rPr sz="1100" b="0">
                <a:solidFill>
                  <a:srgbClr val="8A8A8F"/>
                </a:solidFill>
                <a:latin typeface="Calibri"/>
              </a:rPr>
              <a:t>university students in Nigeria</a:t>
            </a:r>
          </a:p>
        </p:txBody>
      </p:sp>
      <p:sp>
        <p:nvSpPr>
          <p:cNvPr id="23" name="Oval 22"/>
          <p:cNvSpPr/>
          <p:nvPr/>
        </p:nvSpPr>
        <p:spPr>
          <a:xfrm>
            <a:off x="7383780" y="4183380"/>
            <a:ext cx="1143000" cy="114300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800" b="1">
                <a:solidFill>
                  <a:srgbClr val="28282C"/>
                </a:solidFill>
                <a:latin typeface="Century Gothic"/>
              </a:rPr>
              <a:t>₦70k</a:t>
            </a:r>
          </a:p>
        </p:txBody>
      </p:sp>
      <p:sp>
        <p:nvSpPr>
          <p:cNvPr id="24" name="TextBox 23"/>
          <p:cNvSpPr txBox="1"/>
          <p:nvPr/>
        </p:nvSpPr>
        <p:spPr>
          <a:xfrm>
            <a:off x="6766560" y="5367528"/>
            <a:ext cx="2377440" cy="566928"/>
          </a:xfrm>
          <a:prstGeom prst="rect">
            <a:avLst/>
          </a:prstGeom>
          <a:noFill/>
        </p:spPr>
        <p:txBody>
          <a:bodyPr wrap="square">
            <a:spAutoFit/>
          </a:bodyPr>
          <a:lstStyle/>
          <a:p>
            <a:pPr algn="ctr"/>
            <a:r>
              <a:rPr sz="1100" b="0">
                <a:solidFill>
                  <a:srgbClr val="8A8A8F"/>
                </a:solidFill>
                <a:latin typeface="Calibri"/>
              </a:rPr>
              <a:t>national minimum wage a month</a:t>
            </a:r>
          </a:p>
        </p:txBody>
      </p:sp>
      <p:sp>
        <p:nvSpPr>
          <p:cNvPr id="25" name="Oval 24"/>
          <p:cNvSpPr/>
          <p:nvPr/>
        </p:nvSpPr>
        <p:spPr>
          <a:xfrm>
            <a:off x="9989820" y="4183380"/>
            <a:ext cx="1143000" cy="114300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300" b="1">
                <a:solidFill>
                  <a:srgbClr val="28282C"/>
                </a:solidFill>
                <a:latin typeface="Century Gothic"/>
              </a:rPr>
              <a:t>₦150k+</a:t>
            </a:r>
          </a:p>
        </p:txBody>
      </p:sp>
      <p:sp>
        <p:nvSpPr>
          <p:cNvPr id="26" name="TextBox 25"/>
          <p:cNvSpPr txBox="1"/>
          <p:nvPr/>
        </p:nvSpPr>
        <p:spPr>
          <a:xfrm>
            <a:off x="9372600" y="5367528"/>
            <a:ext cx="2377440" cy="566928"/>
          </a:xfrm>
          <a:prstGeom prst="rect">
            <a:avLst/>
          </a:prstGeom>
          <a:noFill/>
        </p:spPr>
        <p:txBody>
          <a:bodyPr wrap="square">
            <a:spAutoFit/>
          </a:bodyPr>
          <a:lstStyle/>
          <a:p>
            <a:pPr algn="ctr"/>
            <a:r>
              <a:rPr sz="1100" b="0">
                <a:solidFill>
                  <a:srgbClr val="8A8A8F"/>
                </a:solidFill>
                <a:latin typeface="Calibri"/>
              </a:rPr>
              <a:t>a month for a junior security analyst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childTnLst>
                          </p:cTn>
                        </p:par>
                        <p:par>
                          <p:cTn id="46" fill="hold">
                            <p:stCondLst>
                              <p:cond delay="15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736080" y="2377440"/>
            <a:ext cx="4998720" cy="1325880"/>
          </a:xfrm>
        </p:spPr>
        <p:txBody>
          <a:bodyPr anchor="t"/>
          <a:lstStyle/>
          <a:p>
            <a:r>
              <a:rPr sz="3800" b="1">
                <a:solidFill>
                  <a:srgbClr val="FFFFFF"/>
                </a:solidFill>
                <a:latin typeface="Century Gothic"/>
              </a:rPr>
              <a:t>Customer Persona</a:t>
            </a:r>
          </a:p>
        </p:txBody>
      </p:sp>
      <p:sp>
        <p:nvSpPr>
          <p:cNvPr id="5" name="Oval 4"/>
          <p:cNvSpPr/>
          <p:nvPr/>
        </p:nvSpPr>
        <p:spPr>
          <a:xfrm>
            <a:off x="1127760" y="1508760"/>
            <a:ext cx="3840480" cy="3840480"/>
          </a:xfrm>
          <a:prstGeom prst="ellipse">
            <a:avLst/>
          </a:prstGeom>
          <a:noFill/>
          <a:ln w="635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1808" y="1892808"/>
            <a:ext cx="3072384" cy="3072384"/>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200144" y="4581144"/>
            <a:ext cx="502920" cy="502920"/>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2080" y="2468880"/>
            <a:ext cx="3291840" cy="1828800"/>
          </a:xfrm>
          <a:prstGeom prst="rect">
            <a:avLst/>
          </a:prstGeom>
          <a:noFill/>
        </p:spPr>
        <p:txBody>
          <a:bodyPr wrap="square">
            <a:spAutoFit/>
          </a:bodyPr>
          <a:lstStyle/>
          <a:p>
            <a:pPr algn="ctr"/>
            <a:r>
              <a:rPr sz="11000" b="1">
                <a:solidFill>
                  <a:srgbClr val="2F7FCC"/>
                </a:solidFill>
                <a:latin typeface="Century Gothic"/>
              </a:rPr>
              <a:t>01</a:t>
            </a:r>
          </a:p>
        </p:txBody>
      </p:sp>
      <p:sp>
        <p:nvSpPr>
          <p:cNvPr id="9" name="TextBox 8"/>
          <p:cNvSpPr txBox="1"/>
          <p:nvPr/>
        </p:nvSpPr>
        <p:spPr>
          <a:xfrm>
            <a:off x="6736080" y="2011680"/>
            <a:ext cx="4998720" cy="365760"/>
          </a:xfrm>
          <a:prstGeom prst="rect">
            <a:avLst/>
          </a:prstGeom>
          <a:noFill/>
        </p:spPr>
        <p:txBody>
          <a:bodyPr wrap="square">
            <a:spAutoFit/>
          </a:bodyPr>
          <a:lstStyle/>
          <a:p>
            <a:r>
              <a:rPr sz="1300" b="1">
                <a:solidFill>
                  <a:srgbClr val="8EC5F2"/>
                </a:solidFill>
                <a:latin typeface="Calibri"/>
              </a:rPr>
              <a:t>TASK 1 OF 6</a:t>
            </a:r>
          </a:p>
        </p:txBody>
      </p:sp>
      <p:sp>
        <p:nvSpPr>
          <p:cNvPr id="10" name="Rectangle 9"/>
          <p:cNvSpPr/>
          <p:nvPr/>
        </p:nvSpPr>
        <p:spPr>
          <a:xfrm>
            <a:off x="6809232" y="3886200"/>
            <a:ext cx="914400" cy="73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6080" y="4069080"/>
            <a:ext cx="4998720" cy="914400"/>
          </a:xfrm>
          <a:prstGeom prst="rect">
            <a:avLst/>
          </a:prstGeom>
          <a:noFill/>
        </p:spPr>
        <p:txBody>
          <a:bodyPr wrap="square">
            <a:spAutoFit/>
          </a:bodyPr>
          <a:lstStyle/>
          <a:p>
            <a:r>
              <a:rPr sz="1600" b="0">
                <a:solidFill>
                  <a:srgbClr val="FFFFFF"/>
                </a:solidFill>
                <a:latin typeface="Calibri"/>
              </a:rPr>
              <a:t>Who the typical buyer is, and what makes them buy</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fade">
                                      <p:cBhvr>
                                        <p:cTn id="23" dur="500"/>
                                        <p:tgtEl>
                                          <p:spTgt spid="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2" grpId="0" animBg="1"/>
      <p:bldP spid="10" grpId="0" animBg="1"/>
      <p:bldP spid="1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212080" y="1078992"/>
            <a:ext cx="6339840" cy="685800"/>
          </a:xfrm>
        </p:spPr>
        <p:txBody>
          <a:bodyPr/>
          <a:lstStyle/>
          <a:p>
            <a:r>
              <a:rPr sz="3200" b="1">
                <a:solidFill>
                  <a:srgbClr val="28282C"/>
                </a:solidFill>
                <a:latin typeface="Century Gothic"/>
              </a:rPr>
              <a:t>Meet Tunde Bakare</a:t>
            </a:r>
          </a:p>
        </p:txBody>
      </p:sp>
      <p:sp>
        <p:nvSpPr>
          <p:cNvPr id="3" name="Rectangle 2"/>
          <p:cNvSpPr/>
          <p:nvPr/>
        </p:nvSpPr>
        <p:spPr>
          <a:xfrm>
            <a:off x="640080" y="1417320"/>
            <a:ext cx="3657600" cy="448056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1005840"/>
            <a:ext cx="3657600" cy="4480560"/>
          </a:xfrm>
          <a:prstGeom prst="rect">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737360"/>
            <a:ext cx="3657600" cy="1828800"/>
          </a:xfrm>
          <a:prstGeom prst="rect">
            <a:avLst/>
          </a:prstGeom>
          <a:noFill/>
        </p:spPr>
        <p:txBody>
          <a:bodyPr wrap="square">
            <a:spAutoFit/>
          </a:bodyPr>
          <a:lstStyle/>
          <a:p>
            <a:pPr algn="ctr"/>
            <a:r>
              <a:rPr sz="11000" b="1">
                <a:solidFill>
                  <a:srgbClr val="8EC5F2"/>
                </a:solidFill>
                <a:latin typeface="Century Gothic"/>
              </a:rPr>
              <a:t>TB</a:t>
            </a:r>
          </a:p>
        </p:txBody>
      </p:sp>
      <p:sp>
        <p:nvSpPr>
          <p:cNvPr id="6" name="TextBox 5"/>
          <p:cNvSpPr txBox="1"/>
          <p:nvPr/>
        </p:nvSpPr>
        <p:spPr>
          <a:xfrm>
            <a:off x="960120" y="3703320"/>
            <a:ext cx="3657600" cy="457200"/>
          </a:xfrm>
          <a:prstGeom prst="rect">
            <a:avLst/>
          </a:prstGeom>
          <a:noFill/>
        </p:spPr>
        <p:txBody>
          <a:bodyPr wrap="square">
            <a:spAutoFit/>
          </a:bodyPr>
          <a:lstStyle/>
          <a:p>
            <a:pPr algn="ctr"/>
            <a:r>
              <a:rPr sz="2000" b="1">
                <a:solidFill>
                  <a:srgbClr val="FFFFFF"/>
                </a:solidFill>
                <a:latin typeface="Century Gothic"/>
              </a:rPr>
              <a:t>Tunde Bakare</a:t>
            </a:r>
          </a:p>
        </p:txBody>
      </p:sp>
      <p:sp>
        <p:nvSpPr>
          <p:cNvPr id="7" name="TextBox 6"/>
          <p:cNvSpPr txBox="1"/>
          <p:nvPr/>
        </p:nvSpPr>
        <p:spPr>
          <a:xfrm>
            <a:off x="960120" y="4160520"/>
            <a:ext cx="3657600" cy="329184"/>
          </a:xfrm>
          <a:prstGeom prst="rect">
            <a:avLst/>
          </a:prstGeom>
          <a:noFill/>
        </p:spPr>
        <p:txBody>
          <a:bodyPr wrap="square">
            <a:spAutoFit/>
          </a:bodyPr>
          <a:lstStyle/>
          <a:p>
            <a:pPr algn="ctr"/>
            <a:r>
              <a:rPr sz="1100" b="1">
                <a:solidFill>
                  <a:srgbClr val="8EC5F2"/>
                </a:solidFill>
                <a:latin typeface="Calibri"/>
              </a:rPr>
              <a:t>CAREER SWITCHERS</a:t>
            </a:r>
          </a:p>
        </p:txBody>
      </p:sp>
      <p:sp>
        <p:nvSpPr>
          <p:cNvPr id="8" name="TextBox 7"/>
          <p:cNvSpPr txBox="1"/>
          <p:nvPr/>
        </p:nvSpPr>
        <p:spPr>
          <a:xfrm>
            <a:off x="5212080" y="822960"/>
            <a:ext cx="6339840" cy="292608"/>
          </a:xfrm>
          <a:prstGeom prst="rect">
            <a:avLst/>
          </a:prstGeom>
          <a:noFill/>
        </p:spPr>
        <p:txBody>
          <a:bodyPr wrap="square">
            <a:spAutoFit/>
          </a:bodyPr>
          <a:lstStyle/>
          <a:p>
            <a:r>
              <a:rPr sz="1100" b="1">
                <a:solidFill>
                  <a:srgbClr val="1F6FB8"/>
                </a:solidFill>
                <a:latin typeface="Calibri"/>
              </a:rPr>
              <a:t>CUSTOMER PERSONA</a:t>
            </a:r>
          </a:p>
        </p:txBody>
      </p:sp>
      <p:sp>
        <p:nvSpPr>
          <p:cNvPr id="9" name="TextBox 8"/>
          <p:cNvSpPr txBox="1"/>
          <p:nvPr/>
        </p:nvSpPr>
        <p:spPr>
          <a:xfrm>
            <a:off x="5212080" y="1755648"/>
            <a:ext cx="6339840" cy="365760"/>
          </a:xfrm>
          <a:prstGeom prst="rect">
            <a:avLst/>
          </a:prstGeom>
          <a:noFill/>
        </p:spPr>
        <p:txBody>
          <a:bodyPr wrap="square">
            <a:spAutoFit/>
          </a:bodyPr>
          <a:lstStyle/>
          <a:p>
            <a:r>
              <a:rPr sz="1400" b="0">
                <a:solidFill>
                  <a:srgbClr val="8A8A8F"/>
                </a:solidFill>
                <a:latin typeface="Calibri"/>
              </a:rPr>
              <a:t>27  ·  Customer service officer at a phone retailer  ·  Ikeja, Lagos</a:t>
            </a:r>
          </a:p>
        </p:txBody>
      </p:sp>
      <p:sp>
        <p:nvSpPr>
          <p:cNvPr id="10" name="Rectangle 9"/>
          <p:cNvSpPr/>
          <p:nvPr/>
        </p:nvSpPr>
        <p:spPr>
          <a:xfrm>
            <a:off x="5212080" y="2286000"/>
            <a:ext cx="73152" cy="566928"/>
          </a:xfrm>
          <a:prstGeom prst="rect">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0" y="2240280"/>
            <a:ext cx="6156960" cy="658368"/>
          </a:xfrm>
          <a:prstGeom prst="rect">
            <a:avLst/>
          </a:prstGeom>
          <a:noFill/>
        </p:spPr>
        <p:txBody>
          <a:bodyPr wrap="square">
            <a:spAutoFit/>
          </a:bodyPr>
          <a:lstStyle/>
          <a:p>
            <a:r>
              <a:rPr sz="1700" b="0" i="1">
                <a:solidFill>
                  <a:srgbClr val="28282C"/>
                </a:solidFill>
                <a:latin typeface="Calibri"/>
              </a:rPr>
              <a:t>“I don't mind paying, if I'm sure it will get me a job.”</a:t>
            </a:r>
          </a:p>
        </p:txBody>
      </p:sp>
      <p:sp>
        <p:nvSpPr>
          <p:cNvPr id="12" name="TextBox 11"/>
          <p:cNvSpPr txBox="1"/>
          <p:nvPr/>
        </p:nvSpPr>
        <p:spPr>
          <a:xfrm>
            <a:off x="5212080" y="3154680"/>
            <a:ext cx="2987040" cy="274320"/>
          </a:xfrm>
          <a:prstGeom prst="rect">
            <a:avLst/>
          </a:prstGeom>
          <a:noFill/>
        </p:spPr>
        <p:txBody>
          <a:bodyPr wrap="square">
            <a:spAutoFit/>
          </a:bodyPr>
          <a:lstStyle/>
          <a:p>
            <a:r>
              <a:rPr sz="1100" b="1">
                <a:solidFill>
                  <a:srgbClr val="1F6FB8"/>
                </a:solidFill>
                <a:latin typeface="Calibri"/>
              </a:rPr>
              <a:t>PROFILE</a:t>
            </a:r>
          </a:p>
        </p:txBody>
      </p:sp>
      <p:sp>
        <p:nvSpPr>
          <p:cNvPr id="13" name="TextBox 12"/>
          <p:cNvSpPr txBox="1"/>
          <p:nvPr/>
        </p:nvSpPr>
        <p:spPr>
          <a:xfrm>
            <a:off x="5212080" y="3474720"/>
            <a:ext cx="2987040" cy="713232"/>
          </a:xfrm>
          <a:prstGeom prst="rect">
            <a:avLst/>
          </a:prstGeom>
          <a:noFill/>
        </p:spPr>
        <p:txBody>
          <a:bodyPr wrap="square">
            <a:spAutoFit/>
          </a:bodyPr>
          <a:lstStyle/>
          <a:p>
            <a:pPr>
              <a:spcAft>
                <a:spcPts val="0"/>
              </a:spcAft>
            </a:pPr>
            <a:r>
              <a:rPr sz="900" b="1">
                <a:solidFill>
                  <a:srgbClr val="8A8A8F"/>
                </a:solidFill>
                <a:latin typeface="Calibri"/>
              </a:rPr>
              <a:t>EDUCATION</a:t>
            </a:r>
          </a:p>
          <a:p>
            <a:pPr>
              <a:spcAft>
                <a:spcPts val="0"/>
              </a:spcAft>
            </a:pPr>
            <a:r>
              <a:rPr sz="1200" b="0">
                <a:solidFill>
                  <a:srgbClr val="28282C"/>
                </a:solidFill>
                <a:latin typeface="Calibri"/>
              </a:rPr>
              <a:t>HND in Business Administration</a:t>
            </a:r>
          </a:p>
        </p:txBody>
      </p:sp>
      <p:sp>
        <p:nvSpPr>
          <p:cNvPr id="14" name="TextBox 13"/>
          <p:cNvSpPr txBox="1"/>
          <p:nvPr/>
        </p:nvSpPr>
        <p:spPr>
          <a:xfrm>
            <a:off x="5212080" y="4187952"/>
            <a:ext cx="2987040" cy="713232"/>
          </a:xfrm>
          <a:prstGeom prst="rect">
            <a:avLst/>
          </a:prstGeom>
          <a:noFill/>
        </p:spPr>
        <p:txBody>
          <a:bodyPr wrap="square">
            <a:spAutoFit/>
          </a:bodyPr>
          <a:lstStyle/>
          <a:p>
            <a:pPr>
              <a:spcAft>
                <a:spcPts val="0"/>
              </a:spcAft>
            </a:pPr>
            <a:r>
              <a:rPr sz="900" b="1">
                <a:solidFill>
                  <a:srgbClr val="8A8A8F"/>
                </a:solidFill>
                <a:latin typeface="Calibri"/>
              </a:rPr>
              <a:t>MONEY</a:t>
            </a:r>
          </a:p>
          <a:p>
            <a:pPr>
              <a:spcAft>
                <a:spcPts val="0"/>
              </a:spcAft>
            </a:pPr>
            <a:r>
              <a:rPr sz="1200" b="0">
                <a:solidFill>
                  <a:srgbClr val="28282C"/>
                </a:solidFill>
                <a:latin typeface="Calibri"/>
              </a:rPr>
              <a:t>Steady pay above the minimum wage; can spare about ₦50,000 a month</a:t>
            </a:r>
          </a:p>
        </p:txBody>
      </p:sp>
      <p:sp>
        <p:nvSpPr>
          <p:cNvPr id="15" name="TextBox 14"/>
          <p:cNvSpPr txBox="1"/>
          <p:nvPr/>
        </p:nvSpPr>
        <p:spPr>
          <a:xfrm>
            <a:off x="5212080" y="4901184"/>
            <a:ext cx="2987040" cy="713232"/>
          </a:xfrm>
          <a:prstGeom prst="rect">
            <a:avLst/>
          </a:prstGeom>
          <a:noFill/>
        </p:spPr>
        <p:txBody>
          <a:bodyPr wrap="square">
            <a:spAutoFit/>
          </a:bodyPr>
          <a:lstStyle/>
          <a:p>
            <a:pPr>
              <a:spcAft>
                <a:spcPts val="0"/>
              </a:spcAft>
            </a:pPr>
            <a:r>
              <a:rPr sz="900" b="1">
                <a:solidFill>
                  <a:srgbClr val="8A8A8F"/>
                </a:solidFill>
                <a:latin typeface="Calibri"/>
              </a:rPr>
              <a:t>DEVICES</a:t>
            </a:r>
          </a:p>
          <a:p>
            <a:pPr>
              <a:spcAft>
                <a:spcPts val="0"/>
              </a:spcAft>
            </a:pPr>
            <a:r>
              <a:rPr sz="1200" b="0">
                <a:solidFill>
                  <a:srgbClr val="28282C"/>
                </a:solidFill>
                <a:latin typeface="Calibri"/>
              </a:rPr>
              <a:t>Smartphone and a budget laptop</a:t>
            </a:r>
          </a:p>
        </p:txBody>
      </p:sp>
      <p:sp>
        <p:nvSpPr>
          <p:cNvPr id="16" name="TextBox 15"/>
          <p:cNvSpPr txBox="1"/>
          <p:nvPr/>
        </p:nvSpPr>
        <p:spPr>
          <a:xfrm>
            <a:off x="8564880" y="3154680"/>
            <a:ext cx="2987040" cy="274320"/>
          </a:xfrm>
          <a:prstGeom prst="rect">
            <a:avLst/>
          </a:prstGeom>
          <a:noFill/>
        </p:spPr>
        <p:txBody>
          <a:bodyPr wrap="square">
            <a:spAutoFit/>
          </a:bodyPr>
          <a:lstStyle/>
          <a:p>
            <a:r>
              <a:rPr sz="1100" b="1">
                <a:solidFill>
                  <a:srgbClr val="1F6FB8"/>
                </a:solidFill>
                <a:latin typeface="Calibri"/>
              </a:rPr>
              <a:t>PERSONALITY</a:t>
            </a:r>
          </a:p>
        </p:txBody>
      </p:sp>
      <p:sp>
        <p:nvSpPr>
          <p:cNvPr id="17" name="TextBox 16"/>
          <p:cNvSpPr txBox="1"/>
          <p:nvPr/>
        </p:nvSpPr>
        <p:spPr>
          <a:xfrm>
            <a:off x="8564880" y="3447288"/>
            <a:ext cx="1737360" cy="329184"/>
          </a:xfrm>
          <a:prstGeom prst="rect">
            <a:avLst/>
          </a:prstGeom>
          <a:noFill/>
        </p:spPr>
        <p:txBody>
          <a:bodyPr wrap="square">
            <a:spAutoFit/>
          </a:bodyPr>
          <a:lstStyle/>
          <a:p>
            <a:r>
              <a:rPr sz="1100" b="0">
                <a:solidFill>
                  <a:srgbClr val="28282C"/>
                </a:solidFill>
                <a:latin typeface="Calibri"/>
              </a:rPr>
              <a:t>Careful with money</a:t>
            </a:r>
          </a:p>
        </p:txBody>
      </p:sp>
      <p:sp>
        <p:nvSpPr>
          <p:cNvPr id="18" name="Rounded Rectangle 17"/>
          <p:cNvSpPr/>
          <p:nvPr/>
        </p:nvSpPr>
        <p:spPr>
          <a:xfrm>
            <a:off x="10347960" y="3520440"/>
            <a:ext cx="1203960" cy="146304"/>
          </a:xfrm>
          <a:prstGeom prst="round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347960" y="3520440"/>
            <a:ext cx="1203960" cy="146304"/>
          </a:xfrm>
          <a:prstGeom prst="roundRect">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64880" y="3858768"/>
            <a:ext cx="1737360" cy="329184"/>
          </a:xfrm>
          <a:prstGeom prst="rect">
            <a:avLst/>
          </a:prstGeom>
          <a:noFill/>
        </p:spPr>
        <p:txBody>
          <a:bodyPr wrap="square">
            <a:spAutoFit/>
          </a:bodyPr>
          <a:lstStyle/>
          <a:p>
            <a:r>
              <a:rPr sz="1100" b="0">
                <a:solidFill>
                  <a:srgbClr val="28282C"/>
                </a:solidFill>
                <a:latin typeface="Calibri"/>
              </a:rPr>
              <a:t>Ambitious</a:t>
            </a:r>
          </a:p>
        </p:txBody>
      </p:sp>
      <p:sp>
        <p:nvSpPr>
          <p:cNvPr id="21" name="Rounded Rectangle 20"/>
          <p:cNvSpPr/>
          <p:nvPr/>
        </p:nvSpPr>
        <p:spPr>
          <a:xfrm>
            <a:off x="10347960" y="3931920"/>
            <a:ext cx="1203960" cy="146304"/>
          </a:xfrm>
          <a:prstGeom prst="round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347960" y="3931920"/>
            <a:ext cx="1203960" cy="146304"/>
          </a:xfrm>
          <a:prstGeom prst="roundRect">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64880" y="4270248"/>
            <a:ext cx="1737360" cy="329184"/>
          </a:xfrm>
          <a:prstGeom prst="rect">
            <a:avLst/>
          </a:prstGeom>
          <a:noFill/>
        </p:spPr>
        <p:txBody>
          <a:bodyPr wrap="square">
            <a:spAutoFit/>
          </a:bodyPr>
          <a:lstStyle/>
          <a:p>
            <a:r>
              <a:rPr sz="1100" b="0">
                <a:solidFill>
                  <a:srgbClr val="28282C"/>
                </a:solidFill>
                <a:latin typeface="Calibri"/>
              </a:rPr>
              <a:t>Confident with tech</a:t>
            </a:r>
          </a:p>
        </p:txBody>
      </p:sp>
      <p:sp>
        <p:nvSpPr>
          <p:cNvPr id="24" name="Rounded Rectangle 23"/>
          <p:cNvSpPr/>
          <p:nvPr/>
        </p:nvSpPr>
        <p:spPr>
          <a:xfrm>
            <a:off x="10347960" y="4343400"/>
            <a:ext cx="1203960" cy="146304"/>
          </a:xfrm>
          <a:prstGeom prst="round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347960" y="4343400"/>
            <a:ext cx="481584" cy="146304"/>
          </a:xfrm>
          <a:prstGeom prst="roundRect">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4880" y="4681728"/>
            <a:ext cx="1737360" cy="329184"/>
          </a:xfrm>
          <a:prstGeom prst="rect">
            <a:avLst/>
          </a:prstGeom>
          <a:noFill/>
        </p:spPr>
        <p:txBody>
          <a:bodyPr wrap="square">
            <a:spAutoFit/>
          </a:bodyPr>
          <a:lstStyle/>
          <a:p>
            <a:r>
              <a:rPr sz="1100" b="0">
                <a:solidFill>
                  <a:srgbClr val="28282C"/>
                </a:solidFill>
                <a:latin typeface="Calibri"/>
              </a:rPr>
              <a:t>Free time</a:t>
            </a:r>
          </a:p>
        </p:txBody>
      </p:sp>
      <p:sp>
        <p:nvSpPr>
          <p:cNvPr id="27" name="Rounded Rectangle 26"/>
          <p:cNvSpPr/>
          <p:nvPr/>
        </p:nvSpPr>
        <p:spPr>
          <a:xfrm>
            <a:off x="10347960" y="4754880"/>
            <a:ext cx="1203960" cy="146304"/>
          </a:xfrm>
          <a:prstGeom prst="round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347960" y="4754880"/>
            <a:ext cx="481584" cy="146304"/>
          </a:xfrm>
          <a:prstGeom prst="roundRect">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64880" y="5093208"/>
            <a:ext cx="1737360" cy="329184"/>
          </a:xfrm>
          <a:prstGeom prst="rect">
            <a:avLst/>
          </a:prstGeom>
          <a:noFill/>
        </p:spPr>
        <p:txBody>
          <a:bodyPr wrap="square">
            <a:spAutoFit/>
          </a:bodyPr>
          <a:lstStyle/>
          <a:p>
            <a:r>
              <a:rPr sz="1100" b="0">
                <a:solidFill>
                  <a:srgbClr val="28282C"/>
                </a:solidFill>
                <a:latin typeface="Calibri"/>
              </a:rPr>
              <a:t>Trust in online courses</a:t>
            </a:r>
          </a:p>
        </p:txBody>
      </p:sp>
      <p:sp>
        <p:nvSpPr>
          <p:cNvPr id="30" name="Rounded Rectangle 29"/>
          <p:cNvSpPr/>
          <p:nvPr/>
        </p:nvSpPr>
        <p:spPr>
          <a:xfrm>
            <a:off x="10347960" y="5166360"/>
            <a:ext cx="1203960" cy="146304"/>
          </a:xfrm>
          <a:prstGeom prst="round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347960" y="5166360"/>
            <a:ext cx="481584" cy="146304"/>
          </a:xfrm>
          <a:prstGeom prst="roundRect">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33" name="TextBox 32"/>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par>
                          <p:cTn id="20" fill="hold">
                            <p:stCondLst>
                              <p:cond delay="5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500"/>
                                        <p:tgtEl>
                                          <p:spTgt spid="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par>
                          <p:cTn id="30" fill="hold">
                            <p:stCondLst>
                              <p:cond delay="1000"/>
                            </p:stCondLst>
                            <p:childTnLst>
                              <p:par>
                                <p:cTn id="31" presetID="10" presetClass="entr" presetSubtype="0"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par>
                          <p:cTn id="50" fill="hold">
                            <p:stCondLst>
                              <p:cond delay="2000"/>
                            </p:stCondLst>
                            <p:childTnLst>
                              <p:par>
                                <p:cTn id="51" presetID="22" presetClass="entr" presetSubtype="8" fill="hold" grpId="0" nodeType="after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right)">
                                      <p:cBhvr>
                                        <p:cTn id="53" dur="500"/>
                                        <p:tgtEl>
                                          <p:spTgt spid="16"/>
                                        </p:tgtEl>
                                      </p:cBhvr>
                                    </p:animEffect>
                                  </p:childTnLst>
                                </p:cTn>
                              </p:par>
                              <p:par>
                                <p:cTn id="54" presetID="22" presetClass="entr" presetSubtype="8"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wipe(right)">
                                      <p:cBhvr>
                                        <p:cTn id="56" dur="500"/>
                                        <p:tgtEl>
                                          <p:spTgt spid="17"/>
                                        </p:tgtEl>
                                      </p:cBhvr>
                                    </p:animEffect>
                                  </p:childTnLst>
                                </p:cTn>
                              </p:par>
                              <p:par>
                                <p:cTn id="57" presetID="22" presetClass="entr" presetSubtype="8"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wipe(right)">
                                      <p:cBhvr>
                                        <p:cTn id="59" dur="500"/>
                                        <p:tgtEl>
                                          <p:spTgt spid="18"/>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wipe(right)">
                                      <p:cBhvr>
                                        <p:cTn id="62" dur="500"/>
                                        <p:tgtEl>
                                          <p:spTgt spid="19"/>
                                        </p:tgtEl>
                                      </p:cBhvr>
                                    </p:animEffect>
                                  </p:childTnLst>
                                </p:cTn>
                              </p:par>
                              <p:par>
                                <p:cTn id="63" presetID="22" presetClass="entr" presetSubtype="8"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wipe(right)">
                                      <p:cBhvr>
                                        <p:cTn id="65" dur="500"/>
                                        <p:tgtEl>
                                          <p:spTgt spid="20"/>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wipe(right)">
                                      <p:cBhvr>
                                        <p:cTn id="68" dur="500"/>
                                        <p:tgtEl>
                                          <p:spTgt spid="21"/>
                                        </p:tgtEl>
                                      </p:cBhvr>
                                    </p:animEffect>
                                  </p:childTnLst>
                                </p:cTn>
                              </p:par>
                              <p:par>
                                <p:cTn id="69" presetID="22" presetClass="entr" presetSubtype="8"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wipe(right)">
                                      <p:cBhvr>
                                        <p:cTn id="71" dur="500"/>
                                        <p:tgtEl>
                                          <p:spTgt spid="22"/>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right)">
                                      <p:cBhvr>
                                        <p:cTn id="74" dur="500"/>
                                        <p:tgtEl>
                                          <p:spTgt spid="23"/>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wipe(right)">
                                      <p:cBhvr>
                                        <p:cTn id="77" dur="500"/>
                                        <p:tgtEl>
                                          <p:spTgt spid="24"/>
                                        </p:tgtEl>
                                      </p:cBhvr>
                                    </p:animEffect>
                                  </p:childTnLst>
                                </p:cTn>
                              </p:par>
                              <p:par>
                                <p:cTn id="78" presetID="22" presetClass="entr" presetSubtype="8"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wipe(right)">
                                      <p:cBhvr>
                                        <p:cTn id="80" dur="500"/>
                                        <p:tgtEl>
                                          <p:spTgt spid="25"/>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wipe(right)">
                                      <p:cBhvr>
                                        <p:cTn id="83" dur="500"/>
                                        <p:tgtEl>
                                          <p:spTgt spid="26"/>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wipe(right)">
                                      <p:cBhvr>
                                        <p:cTn id="86" dur="500"/>
                                        <p:tgtEl>
                                          <p:spTgt spid="27"/>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wipe(right)">
                                      <p:cBhvr>
                                        <p:cTn id="89" dur="500"/>
                                        <p:tgtEl>
                                          <p:spTgt spid="28"/>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wipe(right)">
                                      <p:cBhvr>
                                        <p:cTn id="92" dur="500"/>
                                        <p:tgtEl>
                                          <p:spTgt spid="29"/>
                                        </p:tgtEl>
                                      </p:cBhvr>
                                    </p:animEffect>
                                  </p:childTnLst>
                                </p:cTn>
                              </p:par>
                              <p:par>
                                <p:cTn id="93" presetID="22" presetClass="entr" presetSubtype="8"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wipe(right)">
                                      <p:cBhvr>
                                        <p:cTn id="95" dur="500"/>
                                        <p:tgtEl>
                                          <p:spTgt spid="30"/>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wipe(right)">
                                      <p:cBhvr>
                                        <p:cTn id="9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2"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What Tunde Wants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CUSTOMER PERSONA</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Goals, frustrations, needs, and where to reach Tunde</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6</a:t>
            </a:r>
          </a:p>
        </p:txBody>
      </p:sp>
      <p:cxnSp>
        <p:nvCxnSpPr>
          <p:cNvPr id="7" name="Connector 6"/>
          <p:cNvCxnSpPr/>
          <p:nvPr/>
        </p:nvCxnSpPr>
        <p:spPr>
          <a:xfrm>
            <a:off x="1988820" y="2514600"/>
            <a:ext cx="8092440" cy="0"/>
          </a:xfrm>
          <a:prstGeom prst="line">
            <a:avLst/>
          </a:prstGeom>
          <a:ln w="25400">
            <a:solidFill>
              <a:srgbClr val="E6E6E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531620" y="2057400"/>
            <a:ext cx="914400" cy="91440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600" b="1">
                <a:solidFill>
                  <a:srgbClr val="FFFFFF"/>
                </a:solidFill>
                <a:latin typeface="Century Gothic"/>
              </a:rPr>
              <a:t>1</a:t>
            </a:r>
          </a:p>
        </p:txBody>
      </p:sp>
      <p:sp>
        <p:nvSpPr>
          <p:cNvPr id="9" name="TextBox 8"/>
          <p:cNvSpPr txBox="1"/>
          <p:nvPr/>
        </p:nvSpPr>
        <p:spPr>
          <a:xfrm>
            <a:off x="731520" y="3108960"/>
            <a:ext cx="2514600" cy="457200"/>
          </a:xfrm>
          <a:prstGeom prst="rect">
            <a:avLst/>
          </a:prstGeom>
          <a:noFill/>
        </p:spPr>
        <p:txBody>
          <a:bodyPr wrap="square">
            <a:spAutoFit/>
          </a:bodyPr>
          <a:lstStyle/>
          <a:p>
            <a:pPr algn="ctr"/>
            <a:r>
              <a:rPr sz="1500" b="1">
                <a:solidFill>
                  <a:srgbClr val="28282C"/>
                </a:solidFill>
                <a:latin typeface="Century Gothic"/>
              </a:rPr>
              <a:t>Goals</a:t>
            </a:r>
          </a:p>
        </p:txBody>
      </p:sp>
      <p:sp>
        <p:nvSpPr>
          <p:cNvPr id="10" name="TextBox 9"/>
          <p:cNvSpPr txBox="1"/>
          <p:nvPr/>
        </p:nvSpPr>
        <p:spPr>
          <a:xfrm>
            <a:off x="822960" y="3611880"/>
            <a:ext cx="2331720" cy="2377440"/>
          </a:xfrm>
          <a:prstGeom prst="rect">
            <a:avLst/>
          </a:prstGeom>
          <a:noFill/>
        </p:spPr>
        <p:txBody>
          <a:bodyPr wrap="square">
            <a:spAutoFit/>
          </a:bodyPr>
          <a:lstStyle/>
          <a:p>
            <a:pPr>
              <a:spcAft>
                <a:spcPts val="800"/>
              </a:spcAft>
            </a:pPr>
            <a:r>
              <a:rPr sz="1300" b="0">
                <a:solidFill>
                  <a:srgbClr val="3A3A3F"/>
                </a:solidFill>
                <a:latin typeface="Calibri"/>
              </a:rPr>
              <a:t>•  Move into a cybersecurity job within a year</a:t>
            </a:r>
          </a:p>
          <a:p>
            <a:pPr>
              <a:spcAft>
                <a:spcPts val="800"/>
              </a:spcAft>
            </a:pPr>
            <a:r>
              <a:rPr sz="1300" b="0">
                <a:solidFill>
                  <a:srgbClr val="3A3A3F"/>
                </a:solidFill>
                <a:latin typeface="Calibri"/>
              </a:rPr>
              <a:t>•  Earn more: junior analysts earn ₦150,000+ a month</a:t>
            </a:r>
          </a:p>
          <a:p>
            <a:pPr>
              <a:spcAft>
                <a:spcPts val="800"/>
              </a:spcAft>
            </a:pPr>
            <a:r>
              <a:rPr sz="1300" b="0">
                <a:solidFill>
                  <a:srgbClr val="3A3A3F"/>
                </a:solidFill>
                <a:latin typeface="Calibri"/>
              </a:rPr>
              <a:t>•  Learn a skill that will not go out of date</a:t>
            </a:r>
          </a:p>
        </p:txBody>
      </p:sp>
      <p:sp>
        <p:nvSpPr>
          <p:cNvPr id="11" name="Oval 10"/>
          <p:cNvSpPr/>
          <p:nvPr/>
        </p:nvSpPr>
        <p:spPr>
          <a:xfrm>
            <a:off x="4229100" y="2057400"/>
            <a:ext cx="914400" cy="91440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600" b="1">
                <a:solidFill>
                  <a:srgbClr val="28282C"/>
                </a:solidFill>
                <a:latin typeface="Century Gothic"/>
              </a:rPr>
              <a:t>2</a:t>
            </a:r>
          </a:p>
        </p:txBody>
      </p:sp>
      <p:sp>
        <p:nvSpPr>
          <p:cNvPr id="12" name="TextBox 11"/>
          <p:cNvSpPr txBox="1"/>
          <p:nvPr/>
        </p:nvSpPr>
        <p:spPr>
          <a:xfrm>
            <a:off x="3429000" y="3108960"/>
            <a:ext cx="2514600" cy="457200"/>
          </a:xfrm>
          <a:prstGeom prst="rect">
            <a:avLst/>
          </a:prstGeom>
          <a:noFill/>
        </p:spPr>
        <p:txBody>
          <a:bodyPr wrap="square">
            <a:spAutoFit/>
          </a:bodyPr>
          <a:lstStyle/>
          <a:p>
            <a:pPr algn="ctr"/>
            <a:r>
              <a:rPr sz="1500" b="1">
                <a:solidFill>
                  <a:srgbClr val="28282C"/>
                </a:solidFill>
                <a:latin typeface="Century Gothic"/>
              </a:rPr>
              <a:t>Frustrations</a:t>
            </a:r>
          </a:p>
        </p:txBody>
      </p:sp>
      <p:sp>
        <p:nvSpPr>
          <p:cNvPr id="13" name="TextBox 12"/>
          <p:cNvSpPr txBox="1"/>
          <p:nvPr/>
        </p:nvSpPr>
        <p:spPr>
          <a:xfrm>
            <a:off x="3520440" y="3611880"/>
            <a:ext cx="2331720" cy="2377440"/>
          </a:xfrm>
          <a:prstGeom prst="rect">
            <a:avLst/>
          </a:prstGeom>
          <a:noFill/>
        </p:spPr>
        <p:txBody>
          <a:bodyPr wrap="square">
            <a:spAutoFit/>
          </a:bodyPr>
          <a:lstStyle/>
          <a:p>
            <a:pPr>
              <a:spcAft>
                <a:spcPts val="800"/>
              </a:spcAft>
            </a:pPr>
            <a:r>
              <a:rPr sz="1300" b="0">
                <a:solidFill>
                  <a:srgbClr val="3A3A3F"/>
                </a:solidFill>
                <a:latin typeface="Calibri"/>
              </a:rPr>
              <a:t>•  Does not know where to start</a:t>
            </a:r>
          </a:p>
          <a:p>
            <a:pPr>
              <a:spcAft>
                <a:spcPts val="800"/>
              </a:spcAft>
            </a:pPr>
            <a:r>
              <a:rPr sz="1300" b="0">
                <a:solidFill>
                  <a:srgbClr val="3A3A3F"/>
                </a:solidFill>
                <a:latin typeface="Calibri"/>
              </a:rPr>
              <a:t>•  Afraid of paying for a scam course</a:t>
            </a:r>
          </a:p>
          <a:p>
            <a:pPr>
              <a:spcAft>
                <a:spcPts val="800"/>
              </a:spcAft>
            </a:pPr>
            <a:r>
              <a:rPr sz="1300" b="0">
                <a:solidFill>
                  <a:srgbClr val="3A3A3F"/>
                </a:solidFill>
                <a:latin typeface="Calibri"/>
              </a:rPr>
              <a:t>•  Works 8 to 5; free programmes are full</a:t>
            </a:r>
          </a:p>
        </p:txBody>
      </p:sp>
      <p:sp>
        <p:nvSpPr>
          <p:cNvPr id="14" name="Oval 13"/>
          <p:cNvSpPr/>
          <p:nvPr/>
        </p:nvSpPr>
        <p:spPr>
          <a:xfrm>
            <a:off x="6926580" y="2057400"/>
            <a:ext cx="914400" cy="91440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600" b="1">
                <a:solidFill>
                  <a:srgbClr val="FFFFFF"/>
                </a:solidFill>
                <a:latin typeface="Century Gothic"/>
              </a:rPr>
              <a:t>3</a:t>
            </a:r>
          </a:p>
        </p:txBody>
      </p:sp>
      <p:sp>
        <p:nvSpPr>
          <p:cNvPr id="15" name="TextBox 14"/>
          <p:cNvSpPr txBox="1"/>
          <p:nvPr/>
        </p:nvSpPr>
        <p:spPr>
          <a:xfrm>
            <a:off x="6126480" y="3108960"/>
            <a:ext cx="2514600" cy="457200"/>
          </a:xfrm>
          <a:prstGeom prst="rect">
            <a:avLst/>
          </a:prstGeom>
          <a:noFill/>
        </p:spPr>
        <p:txBody>
          <a:bodyPr wrap="square">
            <a:spAutoFit/>
          </a:bodyPr>
          <a:lstStyle/>
          <a:p>
            <a:pPr algn="ctr"/>
            <a:r>
              <a:rPr sz="1500" b="1">
                <a:solidFill>
                  <a:srgbClr val="28282C"/>
                </a:solidFill>
                <a:latin typeface="Century Gothic"/>
              </a:rPr>
              <a:t>Needs</a:t>
            </a:r>
          </a:p>
        </p:txBody>
      </p:sp>
      <p:sp>
        <p:nvSpPr>
          <p:cNvPr id="16" name="TextBox 15"/>
          <p:cNvSpPr txBox="1"/>
          <p:nvPr/>
        </p:nvSpPr>
        <p:spPr>
          <a:xfrm>
            <a:off x="6217920" y="3611880"/>
            <a:ext cx="2331720" cy="2377440"/>
          </a:xfrm>
          <a:prstGeom prst="rect">
            <a:avLst/>
          </a:prstGeom>
          <a:noFill/>
        </p:spPr>
        <p:txBody>
          <a:bodyPr wrap="square">
            <a:spAutoFit/>
          </a:bodyPr>
          <a:lstStyle/>
          <a:p>
            <a:pPr>
              <a:spcAft>
                <a:spcPts val="800"/>
              </a:spcAft>
            </a:pPr>
            <a:r>
              <a:rPr sz="1300" b="0">
                <a:solidFill>
                  <a:srgbClr val="3A3A3F"/>
                </a:solidFill>
                <a:latin typeface="Calibri"/>
              </a:rPr>
              <a:t>•  Hands-on labs at weekends</a:t>
            </a:r>
          </a:p>
          <a:p>
            <a:pPr>
              <a:spcAft>
                <a:spcPts val="800"/>
              </a:spcAft>
            </a:pPr>
            <a:r>
              <a:rPr sz="1300" b="0">
                <a:solidFill>
                  <a:srgbClr val="3A3A3F"/>
                </a:solidFill>
                <a:latin typeface="Calibri"/>
              </a:rPr>
              <a:t>•  A fair price in 3 parts</a:t>
            </a:r>
          </a:p>
          <a:p>
            <a:pPr>
              <a:spcAft>
                <a:spcPts val="800"/>
              </a:spcAft>
            </a:pPr>
            <a:r>
              <a:rPr sz="1300" b="0">
                <a:solidFill>
                  <a:srgbClr val="3A3A3F"/>
                </a:solidFill>
                <a:latin typeface="Calibri"/>
              </a:rPr>
              <a:t>•  Help when stuck and a route to a job</a:t>
            </a:r>
          </a:p>
        </p:txBody>
      </p:sp>
      <p:sp>
        <p:nvSpPr>
          <p:cNvPr id="17" name="Oval 16"/>
          <p:cNvSpPr/>
          <p:nvPr/>
        </p:nvSpPr>
        <p:spPr>
          <a:xfrm>
            <a:off x="9624060" y="2057400"/>
            <a:ext cx="914400" cy="91440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600" b="1">
                <a:solidFill>
                  <a:srgbClr val="28282C"/>
                </a:solidFill>
                <a:latin typeface="Century Gothic"/>
              </a:rPr>
              <a:t>4</a:t>
            </a:r>
          </a:p>
        </p:txBody>
      </p:sp>
      <p:sp>
        <p:nvSpPr>
          <p:cNvPr id="18" name="TextBox 17"/>
          <p:cNvSpPr txBox="1"/>
          <p:nvPr/>
        </p:nvSpPr>
        <p:spPr>
          <a:xfrm>
            <a:off x="8823960" y="3108960"/>
            <a:ext cx="2514600" cy="457200"/>
          </a:xfrm>
          <a:prstGeom prst="rect">
            <a:avLst/>
          </a:prstGeom>
          <a:noFill/>
        </p:spPr>
        <p:txBody>
          <a:bodyPr wrap="square">
            <a:spAutoFit/>
          </a:bodyPr>
          <a:lstStyle/>
          <a:p>
            <a:pPr algn="ctr"/>
            <a:r>
              <a:rPr sz="1500" b="1">
                <a:solidFill>
                  <a:srgbClr val="28282C"/>
                </a:solidFill>
                <a:latin typeface="Century Gothic"/>
              </a:rPr>
              <a:t>Channels</a:t>
            </a:r>
          </a:p>
        </p:txBody>
      </p:sp>
      <p:sp>
        <p:nvSpPr>
          <p:cNvPr id="19" name="TextBox 18"/>
          <p:cNvSpPr txBox="1"/>
          <p:nvPr/>
        </p:nvSpPr>
        <p:spPr>
          <a:xfrm>
            <a:off x="8915400" y="3611880"/>
            <a:ext cx="2331720" cy="2377440"/>
          </a:xfrm>
          <a:prstGeom prst="rect">
            <a:avLst/>
          </a:prstGeom>
          <a:noFill/>
        </p:spPr>
        <p:txBody>
          <a:bodyPr wrap="square">
            <a:spAutoFit/>
          </a:bodyPr>
          <a:lstStyle/>
          <a:p>
            <a:pPr>
              <a:spcAft>
                <a:spcPts val="800"/>
              </a:spcAft>
            </a:pPr>
            <a:r>
              <a:rPr sz="1300" b="0">
                <a:solidFill>
                  <a:srgbClr val="3A3A3F"/>
                </a:solidFill>
                <a:latin typeface="Calibri"/>
              </a:rPr>
              <a:t>•  Google, YouTube and TikTok</a:t>
            </a:r>
          </a:p>
          <a:p>
            <a:pPr>
              <a:spcAft>
                <a:spcPts val="800"/>
              </a:spcAft>
            </a:pPr>
            <a:r>
              <a:rPr sz="1300" b="0">
                <a:solidFill>
                  <a:srgbClr val="3A3A3F"/>
                </a:solidFill>
                <a:latin typeface="Calibri"/>
              </a:rPr>
              <a:t>•  Facebook groups and WhatsApp</a:t>
            </a:r>
          </a:p>
          <a:p>
            <a:pPr>
              <a:spcAft>
                <a:spcPts val="800"/>
              </a:spcAft>
            </a:pPr>
            <a:r>
              <a:rPr sz="1300" b="0">
                <a:solidFill>
                  <a:srgbClr val="3A3A3F"/>
                </a:solidFill>
                <a:latin typeface="Calibri"/>
              </a:rPr>
              <a:t>•  LinkedIn for jobs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right)">
                                      <p:cBhvr>
                                        <p:cTn id="18" dur="500"/>
                                        <p:tgtEl>
                                          <p:spTgt spid="7"/>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39" fill="hold">
                            <p:stCondLst>
                              <p:cond delay="250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childTnLst>
                          </p:cTn>
                        </p:par>
                        <p:par>
                          <p:cTn id="49" fill="hold">
                            <p:stCondLst>
                              <p:cond delay="3000"/>
                            </p:stCondLst>
                            <p:childTnLst>
                              <p:par>
                                <p:cTn id="50" presetID="10"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Why Tunde Buys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CUSTOMER PERSONA</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Buying triggers, objections and our answers, how Tunde chooses and pays</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7</a:t>
            </a:r>
          </a:p>
        </p:txBody>
      </p:sp>
      <p:sp>
        <p:nvSpPr>
          <p:cNvPr id="7" name="Block Arc 6"/>
          <p:cNvSpPr/>
          <p:nvPr/>
        </p:nvSpPr>
        <p:spPr>
          <a:xfrm>
            <a:off x="4587240" y="2468880"/>
            <a:ext cx="3017520" cy="3017520"/>
          </a:xfrm>
          <a:prstGeom prst="blockArc">
            <a:avLst>
              <a:gd name="adj1" fmla="val 11100000"/>
              <a:gd name="adj2" fmla="val 15900000"/>
              <a:gd name="adj3" fmla="val 18000"/>
            </a:avLst>
          </a:prstGeom>
          <a:solidFill>
            <a:srgbClr val="8EC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lock Arc 7"/>
          <p:cNvSpPr/>
          <p:nvPr/>
        </p:nvSpPr>
        <p:spPr>
          <a:xfrm>
            <a:off x="4587240" y="2468880"/>
            <a:ext cx="3017520" cy="3017520"/>
          </a:xfrm>
          <a:prstGeom prst="blockArc">
            <a:avLst>
              <a:gd name="adj1" fmla="val 16500000"/>
              <a:gd name="adj2" fmla="val 21300000"/>
              <a:gd name="adj3" fmla="val 18000"/>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lock Arc 8"/>
          <p:cNvSpPr/>
          <p:nvPr/>
        </p:nvSpPr>
        <p:spPr>
          <a:xfrm>
            <a:off x="4587240" y="2468880"/>
            <a:ext cx="3017520" cy="3017520"/>
          </a:xfrm>
          <a:prstGeom prst="blockArc">
            <a:avLst>
              <a:gd name="adj1" fmla="val 300000"/>
              <a:gd name="adj2" fmla="val 5100000"/>
              <a:gd name="adj3" fmla="val 18000"/>
            </a:avLst>
          </a:prstGeom>
          <a:solidFill>
            <a:srgbClr val="174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lock Arc 9"/>
          <p:cNvSpPr/>
          <p:nvPr/>
        </p:nvSpPr>
        <p:spPr>
          <a:xfrm>
            <a:off x="4587240" y="2468880"/>
            <a:ext cx="3017520" cy="3017520"/>
          </a:xfrm>
          <a:prstGeom prst="blockArc">
            <a:avLst>
              <a:gd name="adj1" fmla="val 5700000"/>
              <a:gd name="adj2" fmla="val 10500000"/>
              <a:gd name="adj3" fmla="val 18000"/>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227320" y="3108960"/>
            <a:ext cx="1737360" cy="173736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28282C"/>
                </a:solidFill>
                <a:latin typeface="Century Gothic"/>
              </a:rPr>
              <a:t>WHY</a:t>
            </a:r>
          </a:p>
          <a:p>
            <a:pPr algn="ctr"/>
            <a:r>
              <a:rPr sz="1500" b="1">
                <a:solidFill>
                  <a:srgbClr val="28282C"/>
                </a:solidFill>
                <a:latin typeface="Century Gothic"/>
              </a:rPr>
              <a:t>TUNDE</a:t>
            </a:r>
          </a:p>
          <a:p>
            <a:pPr algn="ctr"/>
            <a:r>
              <a:rPr sz="1500" b="1">
                <a:solidFill>
                  <a:srgbClr val="28282C"/>
                </a:solidFill>
                <a:latin typeface="Century Gothic"/>
              </a:rPr>
              <a:t>BUYS</a:t>
            </a:r>
          </a:p>
        </p:txBody>
      </p:sp>
      <p:sp>
        <p:nvSpPr>
          <p:cNvPr id="12" name="TextBox 11"/>
          <p:cNvSpPr txBox="1"/>
          <p:nvPr/>
        </p:nvSpPr>
        <p:spPr>
          <a:xfrm>
            <a:off x="731520" y="2011680"/>
            <a:ext cx="3474720" cy="384048"/>
          </a:xfrm>
          <a:prstGeom prst="rect">
            <a:avLst/>
          </a:prstGeom>
          <a:noFill/>
        </p:spPr>
        <p:txBody>
          <a:bodyPr wrap="square">
            <a:spAutoFit/>
          </a:bodyPr>
          <a:lstStyle/>
          <a:p>
            <a:pPr algn="r"/>
            <a:r>
              <a:rPr sz="1600" b="1">
                <a:solidFill>
                  <a:srgbClr val="28282C"/>
                </a:solidFill>
                <a:latin typeface="Century Gothic"/>
              </a:rPr>
              <a:t>Buying triggers</a:t>
            </a:r>
          </a:p>
        </p:txBody>
      </p:sp>
      <p:sp>
        <p:nvSpPr>
          <p:cNvPr id="13" name="TextBox 12"/>
          <p:cNvSpPr txBox="1"/>
          <p:nvPr/>
        </p:nvSpPr>
        <p:spPr>
          <a:xfrm>
            <a:off x="731520" y="2423160"/>
            <a:ext cx="3474720" cy="1645920"/>
          </a:xfrm>
          <a:prstGeom prst="rect">
            <a:avLst/>
          </a:prstGeom>
          <a:noFill/>
        </p:spPr>
        <p:txBody>
          <a:bodyPr wrap="square">
            <a:spAutoFit/>
          </a:bodyPr>
          <a:lstStyle/>
          <a:p>
            <a:pPr algn="r">
              <a:spcAft>
                <a:spcPts val="500"/>
              </a:spcAft>
            </a:pPr>
            <a:r>
              <a:rPr sz="1200" b="0">
                <a:solidFill>
                  <a:srgbClr val="3A3A3F"/>
                </a:solidFill>
                <a:latin typeface="Calibri"/>
              </a:rPr>
              <a:t>News of a big data breach, like the CAC breach</a:t>
            </a:r>
          </a:p>
          <a:p>
            <a:pPr algn="r">
              <a:spcAft>
                <a:spcPts val="500"/>
              </a:spcAft>
            </a:pPr>
            <a:r>
              <a:rPr sz="1200" b="0">
                <a:solidFill>
                  <a:srgbClr val="3A3A3F"/>
                </a:solidFill>
                <a:latin typeface="Calibri"/>
              </a:rPr>
              <a:t>A friend who moved into a tech job</a:t>
            </a:r>
          </a:p>
          <a:p>
            <a:pPr algn="r">
              <a:spcAft>
                <a:spcPts val="500"/>
              </a:spcAft>
            </a:pPr>
            <a:r>
              <a:rPr sz="1200" b="0">
                <a:solidFill>
                  <a:srgbClr val="3A3A3F"/>
                </a:solidFill>
                <a:latin typeface="Calibri"/>
              </a:rPr>
              <a:t>A free first class or a deadline to enrol</a:t>
            </a:r>
          </a:p>
        </p:txBody>
      </p:sp>
      <p:sp>
        <p:nvSpPr>
          <p:cNvPr id="14" name="TextBox 13"/>
          <p:cNvSpPr txBox="1"/>
          <p:nvPr/>
        </p:nvSpPr>
        <p:spPr>
          <a:xfrm>
            <a:off x="7985760" y="2011680"/>
            <a:ext cx="3474720" cy="384048"/>
          </a:xfrm>
          <a:prstGeom prst="rect">
            <a:avLst/>
          </a:prstGeom>
          <a:noFill/>
        </p:spPr>
        <p:txBody>
          <a:bodyPr wrap="square">
            <a:spAutoFit/>
          </a:bodyPr>
          <a:lstStyle/>
          <a:p>
            <a:pPr algn="l"/>
            <a:r>
              <a:rPr sz="1600" b="1">
                <a:solidFill>
                  <a:srgbClr val="28282C"/>
                </a:solidFill>
                <a:latin typeface="Century Gothic"/>
              </a:rPr>
              <a:t>Objections, and our answer</a:t>
            </a:r>
          </a:p>
        </p:txBody>
      </p:sp>
      <p:sp>
        <p:nvSpPr>
          <p:cNvPr id="15" name="TextBox 14"/>
          <p:cNvSpPr txBox="1"/>
          <p:nvPr/>
        </p:nvSpPr>
        <p:spPr>
          <a:xfrm>
            <a:off x="7985760" y="2423160"/>
            <a:ext cx="3474720" cy="1645920"/>
          </a:xfrm>
          <a:prstGeom prst="rect">
            <a:avLst/>
          </a:prstGeom>
          <a:noFill/>
        </p:spPr>
        <p:txBody>
          <a:bodyPr wrap="square">
            <a:spAutoFit/>
          </a:bodyPr>
          <a:lstStyle/>
          <a:p>
            <a:pPr algn="l">
              <a:spcAft>
                <a:spcPts val="500"/>
              </a:spcAft>
            </a:pPr>
            <a:r>
              <a:rPr sz="1200" b="0">
                <a:solidFill>
                  <a:srgbClr val="3A3A3F"/>
                </a:solidFill>
                <a:latin typeface="Calibri"/>
              </a:rPr>
              <a:t>“Is it a scam?”  Real reviews and a free first class</a:t>
            </a:r>
          </a:p>
          <a:p>
            <a:pPr algn="l">
              <a:spcAft>
                <a:spcPts val="500"/>
              </a:spcAft>
            </a:pPr>
            <a:r>
              <a:rPr sz="1200" b="0">
                <a:solidFill>
                  <a:srgbClr val="3A3A3F"/>
                </a:solidFill>
                <a:latin typeface="Calibri"/>
              </a:rPr>
              <a:t>“Can I fit it round work?”  Evenings, weekends and recordings</a:t>
            </a:r>
          </a:p>
          <a:p>
            <a:pPr algn="l">
              <a:spcAft>
                <a:spcPts val="500"/>
              </a:spcAft>
            </a:pPr>
            <a:r>
              <a:rPr sz="1200" b="0">
                <a:solidFill>
                  <a:srgbClr val="3A3A3F"/>
                </a:solidFill>
                <a:latin typeface="Calibri"/>
              </a:rPr>
              <a:t>“Will I get a job?”  Exam prep, CV help, employers</a:t>
            </a:r>
          </a:p>
        </p:txBody>
      </p:sp>
      <p:sp>
        <p:nvSpPr>
          <p:cNvPr id="16" name="TextBox 15"/>
          <p:cNvSpPr txBox="1"/>
          <p:nvPr/>
        </p:nvSpPr>
        <p:spPr>
          <a:xfrm>
            <a:off x="731520" y="4160520"/>
            <a:ext cx="3474720" cy="384048"/>
          </a:xfrm>
          <a:prstGeom prst="rect">
            <a:avLst/>
          </a:prstGeom>
          <a:noFill/>
        </p:spPr>
        <p:txBody>
          <a:bodyPr wrap="square">
            <a:spAutoFit/>
          </a:bodyPr>
          <a:lstStyle/>
          <a:p>
            <a:pPr algn="r"/>
            <a:r>
              <a:rPr sz="1600" b="1">
                <a:solidFill>
                  <a:srgbClr val="28282C"/>
                </a:solidFill>
                <a:latin typeface="Century Gothic"/>
              </a:rPr>
              <a:t>How Tunde chooses</a:t>
            </a:r>
          </a:p>
        </p:txBody>
      </p:sp>
      <p:sp>
        <p:nvSpPr>
          <p:cNvPr id="17" name="TextBox 16"/>
          <p:cNvSpPr txBox="1"/>
          <p:nvPr/>
        </p:nvSpPr>
        <p:spPr>
          <a:xfrm>
            <a:off x="731520" y="4572000"/>
            <a:ext cx="3474720" cy="1645920"/>
          </a:xfrm>
          <a:prstGeom prst="rect">
            <a:avLst/>
          </a:prstGeom>
          <a:noFill/>
        </p:spPr>
        <p:txBody>
          <a:bodyPr wrap="square">
            <a:spAutoFit/>
          </a:bodyPr>
          <a:lstStyle/>
          <a:p>
            <a:pPr algn="r">
              <a:spcAft>
                <a:spcPts val="500"/>
              </a:spcAft>
            </a:pPr>
            <a:r>
              <a:rPr sz="1200" b="0">
                <a:solidFill>
                  <a:srgbClr val="3A3A3F"/>
                </a:solidFill>
                <a:latin typeface="Calibri"/>
              </a:rPr>
              <a:t>Hands-on labs and real tools</a:t>
            </a:r>
          </a:p>
          <a:p>
            <a:pPr algn="r">
              <a:spcAft>
                <a:spcPts val="500"/>
              </a:spcAft>
            </a:pPr>
            <a:r>
              <a:rPr sz="1200" b="0">
                <a:solidFill>
                  <a:srgbClr val="3A3A3F"/>
                </a:solidFill>
                <a:latin typeface="Calibri"/>
              </a:rPr>
              <a:t>The full price and a payment plan</a:t>
            </a:r>
          </a:p>
          <a:p>
            <a:pPr algn="r">
              <a:spcAft>
                <a:spcPts val="500"/>
              </a:spcAft>
            </a:pPr>
            <a:r>
              <a:rPr sz="1200" b="0">
                <a:solidFill>
                  <a:srgbClr val="3A3A3F"/>
                </a:solidFill>
                <a:latin typeface="Calibri"/>
              </a:rPr>
              <a:t>Reviews from past learners</a:t>
            </a:r>
          </a:p>
          <a:p>
            <a:pPr algn="r">
              <a:spcAft>
                <a:spcPts val="500"/>
              </a:spcAft>
            </a:pPr>
            <a:r>
              <a:rPr sz="1200" b="0">
                <a:solidFill>
                  <a:srgbClr val="3A3A3F"/>
                </a:solidFill>
                <a:latin typeface="Calibri"/>
              </a:rPr>
              <a:t>A recognised certificate</a:t>
            </a:r>
          </a:p>
        </p:txBody>
      </p:sp>
      <p:sp>
        <p:nvSpPr>
          <p:cNvPr id="18" name="TextBox 17"/>
          <p:cNvSpPr txBox="1"/>
          <p:nvPr/>
        </p:nvSpPr>
        <p:spPr>
          <a:xfrm>
            <a:off x="7985760" y="4160520"/>
            <a:ext cx="3474720" cy="384048"/>
          </a:xfrm>
          <a:prstGeom prst="rect">
            <a:avLst/>
          </a:prstGeom>
          <a:noFill/>
        </p:spPr>
        <p:txBody>
          <a:bodyPr wrap="square">
            <a:spAutoFit/>
          </a:bodyPr>
          <a:lstStyle/>
          <a:p>
            <a:pPr algn="l"/>
            <a:r>
              <a:rPr sz="1600" b="1">
                <a:solidFill>
                  <a:srgbClr val="28282C"/>
                </a:solidFill>
                <a:latin typeface="Century Gothic"/>
              </a:rPr>
              <a:t>How Tunde pays</a:t>
            </a:r>
          </a:p>
        </p:txBody>
      </p:sp>
      <p:sp>
        <p:nvSpPr>
          <p:cNvPr id="19" name="TextBox 18"/>
          <p:cNvSpPr txBox="1"/>
          <p:nvPr/>
        </p:nvSpPr>
        <p:spPr>
          <a:xfrm>
            <a:off x="7985760" y="4572000"/>
            <a:ext cx="3474720" cy="1645920"/>
          </a:xfrm>
          <a:prstGeom prst="rect">
            <a:avLst/>
          </a:prstGeom>
          <a:noFill/>
        </p:spPr>
        <p:txBody>
          <a:bodyPr wrap="square">
            <a:spAutoFit/>
          </a:bodyPr>
          <a:lstStyle/>
          <a:p>
            <a:pPr algn="l">
              <a:spcAft>
                <a:spcPts val="500"/>
              </a:spcAft>
            </a:pPr>
            <a:r>
              <a:rPr sz="1200" b="0">
                <a:solidFill>
                  <a:srgbClr val="3A3A3F"/>
                </a:solidFill>
                <a:latin typeface="Calibri"/>
              </a:rPr>
              <a:t>₦150,000 in 3 parts of ₦50,000</a:t>
            </a:r>
          </a:p>
          <a:p>
            <a:pPr algn="l">
              <a:spcAft>
                <a:spcPts val="500"/>
              </a:spcAft>
            </a:pPr>
            <a:r>
              <a:rPr sz="1200" b="0">
                <a:solidFill>
                  <a:srgbClr val="3A3A3F"/>
                </a:solidFill>
                <a:latin typeface="Calibri"/>
              </a:rPr>
              <a:t>Pays from salary, a part each month</a:t>
            </a:r>
          </a:p>
          <a:p>
            <a:pPr algn="l">
              <a:spcAft>
                <a:spcPts val="500"/>
              </a:spcAft>
            </a:pPr>
            <a:r>
              <a:rPr sz="1200" b="0">
                <a:solidFill>
                  <a:srgbClr val="3A3A3F"/>
                </a:solidFill>
                <a:latin typeface="Calibri"/>
              </a:rPr>
              <a:t>Decides alone; asks friends on WhatsApp first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par>
                          <p:cTn id="45" fill="hold">
                            <p:stCondLst>
                              <p:cond delay="25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childTnLst>
                          </p:cTn>
                        </p:par>
                        <p:par>
                          <p:cTn id="52" fill="hold">
                            <p:stCondLst>
                              <p:cond delay="30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736080" y="2377440"/>
            <a:ext cx="4998720" cy="1325880"/>
          </a:xfrm>
        </p:spPr>
        <p:txBody>
          <a:bodyPr anchor="t"/>
          <a:lstStyle/>
          <a:p>
            <a:r>
              <a:rPr sz="3800" b="1">
                <a:solidFill>
                  <a:srgbClr val="FFFFFF"/>
                </a:solidFill>
                <a:latin typeface="Century Gothic"/>
              </a:rPr>
              <a:t>Customer Journey Map</a:t>
            </a:r>
          </a:p>
        </p:txBody>
      </p:sp>
      <p:sp>
        <p:nvSpPr>
          <p:cNvPr id="5" name="Oval 4"/>
          <p:cNvSpPr/>
          <p:nvPr/>
        </p:nvSpPr>
        <p:spPr>
          <a:xfrm>
            <a:off x="1127760" y="1508760"/>
            <a:ext cx="3840480" cy="3840480"/>
          </a:xfrm>
          <a:prstGeom prst="ellipse">
            <a:avLst/>
          </a:prstGeom>
          <a:noFill/>
          <a:ln w="635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1808" y="1892808"/>
            <a:ext cx="3072384" cy="3072384"/>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200144" y="4581144"/>
            <a:ext cx="502920" cy="502920"/>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2080" y="2468880"/>
            <a:ext cx="3291840" cy="1828800"/>
          </a:xfrm>
          <a:prstGeom prst="rect">
            <a:avLst/>
          </a:prstGeom>
          <a:noFill/>
        </p:spPr>
        <p:txBody>
          <a:bodyPr wrap="square">
            <a:spAutoFit/>
          </a:bodyPr>
          <a:lstStyle/>
          <a:p>
            <a:pPr algn="ctr"/>
            <a:r>
              <a:rPr sz="11000" b="1">
                <a:solidFill>
                  <a:srgbClr val="2F7FCC"/>
                </a:solidFill>
                <a:latin typeface="Century Gothic"/>
              </a:rPr>
              <a:t>02</a:t>
            </a:r>
          </a:p>
        </p:txBody>
      </p:sp>
      <p:sp>
        <p:nvSpPr>
          <p:cNvPr id="9" name="TextBox 8"/>
          <p:cNvSpPr txBox="1"/>
          <p:nvPr/>
        </p:nvSpPr>
        <p:spPr>
          <a:xfrm>
            <a:off x="6736080" y="2011680"/>
            <a:ext cx="4998720" cy="365760"/>
          </a:xfrm>
          <a:prstGeom prst="rect">
            <a:avLst/>
          </a:prstGeom>
          <a:noFill/>
        </p:spPr>
        <p:txBody>
          <a:bodyPr wrap="square">
            <a:spAutoFit/>
          </a:bodyPr>
          <a:lstStyle/>
          <a:p>
            <a:r>
              <a:rPr sz="1300" b="1">
                <a:solidFill>
                  <a:srgbClr val="8EC5F2"/>
                </a:solidFill>
                <a:latin typeface="Calibri"/>
              </a:rPr>
              <a:t>TASK 2 OF 6</a:t>
            </a:r>
          </a:p>
        </p:txBody>
      </p:sp>
      <p:sp>
        <p:nvSpPr>
          <p:cNvPr id="10" name="Rectangle 9"/>
          <p:cNvSpPr/>
          <p:nvPr/>
        </p:nvSpPr>
        <p:spPr>
          <a:xfrm>
            <a:off x="6809232" y="3886200"/>
            <a:ext cx="914400" cy="73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6080" y="4069080"/>
            <a:ext cx="4998720" cy="914400"/>
          </a:xfrm>
          <a:prstGeom prst="rect">
            <a:avLst/>
          </a:prstGeom>
          <a:noFill/>
        </p:spPr>
        <p:txBody>
          <a:bodyPr wrap="square">
            <a:spAutoFit/>
          </a:bodyPr>
          <a:lstStyle/>
          <a:p>
            <a:r>
              <a:rPr sz="1600" b="0">
                <a:solidFill>
                  <a:srgbClr val="FFFFFF"/>
                </a:solidFill>
                <a:latin typeface="Calibri"/>
              </a:rPr>
              <a:t>From first hearing about the course to a new job</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fade">
                                      <p:cBhvr>
                                        <p:cTn id="23" dur="500"/>
                                        <p:tgtEl>
                                          <p:spTgt spid="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2"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Tunde's Journey</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CUSTOMER JOURNEY MAP</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What Tunde does at each stage, where, what Tunde thinks, and how it feels (the curve: 1 low to 5 high)</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9</a:t>
            </a:r>
          </a:p>
        </p:txBody>
      </p:sp>
      <p:sp>
        <p:nvSpPr>
          <p:cNvPr id="7" name="Rounded Rectangle 6"/>
          <p:cNvSpPr/>
          <p:nvPr/>
        </p:nvSpPr>
        <p:spPr>
          <a:xfrm>
            <a:off x="845820" y="1920240"/>
            <a:ext cx="1920240" cy="384048"/>
          </a:xfrm>
          <a:prstGeom prst="roundRect">
            <a:avLst>
              <a:gd name="adj" fmla="val 50000"/>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Awareness</a:t>
            </a:r>
          </a:p>
        </p:txBody>
      </p:sp>
      <p:sp>
        <p:nvSpPr>
          <p:cNvPr id="8" name="Rounded Rectangle 7"/>
          <p:cNvSpPr/>
          <p:nvPr/>
        </p:nvSpPr>
        <p:spPr>
          <a:xfrm>
            <a:off x="2994660" y="1920240"/>
            <a:ext cx="1920240" cy="384048"/>
          </a:xfrm>
          <a:prstGeom prst="roundRect">
            <a:avLst>
              <a:gd name="adj" fmla="val 50000"/>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Consideration</a:t>
            </a:r>
          </a:p>
        </p:txBody>
      </p:sp>
      <p:sp>
        <p:nvSpPr>
          <p:cNvPr id="9" name="Rounded Rectangle 8"/>
          <p:cNvSpPr/>
          <p:nvPr/>
        </p:nvSpPr>
        <p:spPr>
          <a:xfrm>
            <a:off x="5143500" y="1920240"/>
            <a:ext cx="1920240" cy="384048"/>
          </a:xfrm>
          <a:prstGeom prst="roundRect">
            <a:avLst>
              <a:gd name="adj" fmla="val 50000"/>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Purchase</a:t>
            </a:r>
          </a:p>
        </p:txBody>
      </p:sp>
      <p:sp>
        <p:nvSpPr>
          <p:cNvPr id="10" name="Rounded Rectangle 9"/>
          <p:cNvSpPr/>
          <p:nvPr/>
        </p:nvSpPr>
        <p:spPr>
          <a:xfrm>
            <a:off x="7292340" y="1920240"/>
            <a:ext cx="1920240" cy="384048"/>
          </a:xfrm>
          <a:prstGeom prst="roundRect">
            <a:avLst>
              <a:gd name="adj" fmla="val 50000"/>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Learning</a:t>
            </a:r>
          </a:p>
        </p:txBody>
      </p:sp>
      <p:sp>
        <p:nvSpPr>
          <p:cNvPr id="11" name="Rounded Rectangle 10"/>
          <p:cNvSpPr/>
          <p:nvPr/>
        </p:nvSpPr>
        <p:spPr>
          <a:xfrm>
            <a:off x="9441180" y="1920240"/>
            <a:ext cx="1920240" cy="384048"/>
          </a:xfrm>
          <a:prstGeom prst="roundRect">
            <a:avLst>
              <a:gd name="adj" fmla="val 50000"/>
            </a:avLst>
          </a:prstGeom>
          <a:gradFill rotWithShape="1">
            <a:gsLst>
              <a:gs pos="0">
                <a:srgbClr val="2F7FCC"/>
              </a:gs>
              <a:gs pos="100000">
                <a:srgbClr val="174A8B"/>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After the course</a:t>
            </a:r>
          </a:p>
        </p:txBody>
      </p:sp>
      <p:cxnSp>
        <p:nvCxnSpPr>
          <p:cNvPr id="12" name="Connector 11"/>
          <p:cNvCxnSpPr/>
          <p:nvPr/>
        </p:nvCxnSpPr>
        <p:spPr>
          <a:xfrm>
            <a:off x="1805940" y="3108960"/>
            <a:ext cx="2148840" cy="292608"/>
          </a:xfrm>
          <a:prstGeom prst="line">
            <a:avLst/>
          </a:prstGeom>
          <a:ln w="25400">
            <a:solidFill>
              <a:srgbClr val="28282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954780" y="3108960"/>
            <a:ext cx="2148840" cy="292608"/>
          </a:xfrm>
          <a:prstGeom prst="line">
            <a:avLst/>
          </a:prstGeom>
          <a:ln w="25400">
            <a:solidFill>
              <a:srgbClr val="28282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103620" y="2816352"/>
            <a:ext cx="2148840" cy="292608"/>
          </a:xfrm>
          <a:prstGeom prst="line">
            <a:avLst/>
          </a:prstGeom>
          <a:ln w="25400">
            <a:solidFill>
              <a:srgbClr val="28282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252460" y="2523744"/>
            <a:ext cx="2148840" cy="292608"/>
          </a:xfrm>
          <a:prstGeom prst="line">
            <a:avLst/>
          </a:prstGeom>
          <a:ln w="25400">
            <a:solidFill>
              <a:srgbClr val="28282C"/>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522476" y="2825496"/>
            <a:ext cx="566928" cy="56692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entury Gothic"/>
              </a:rPr>
              <a:t>3</a:t>
            </a:r>
          </a:p>
        </p:txBody>
      </p:sp>
      <p:sp>
        <p:nvSpPr>
          <p:cNvPr id="17" name="TextBox 16"/>
          <p:cNvSpPr txBox="1"/>
          <p:nvPr/>
        </p:nvSpPr>
        <p:spPr>
          <a:xfrm>
            <a:off x="754380" y="3438144"/>
            <a:ext cx="2103120" cy="566928"/>
          </a:xfrm>
          <a:prstGeom prst="rect">
            <a:avLst/>
          </a:prstGeom>
          <a:noFill/>
        </p:spPr>
        <p:txBody>
          <a:bodyPr wrap="square">
            <a:spAutoFit/>
          </a:bodyPr>
          <a:lstStyle/>
          <a:p>
            <a:pPr algn="ctr"/>
            <a:r>
              <a:rPr sz="1000" b="0">
                <a:solidFill>
                  <a:srgbClr val="8A8A8F"/>
                </a:solidFill>
                <a:latin typeface="Calibri"/>
              </a:rPr>
              <a:t>“Can I do this without IT?” Curious but unsure</a:t>
            </a:r>
          </a:p>
        </p:txBody>
      </p:sp>
      <p:sp>
        <p:nvSpPr>
          <p:cNvPr id="18" name="Oval 17"/>
          <p:cNvSpPr/>
          <p:nvPr/>
        </p:nvSpPr>
        <p:spPr>
          <a:xfrm>
            <a:off x="3671316" y="3118104"/>
            <a:ext cx="566928" cy="56692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entury Gothic"/>
              </a:rPr>
              <a:t>2</a:t>
            </a:r>
          </a:p>
        </p:txBody>
      </p:sp>
      <p:sp>
        <p:nvSpPr>
          <p:cNvPr id="19" name="TextBox 18"/>
          <p:cNvSpPr txBox="1"/>
          <p:nvPr/>
        </p:nvSpPr>
        <p:spPr>
          <a:xfrm>
            <a:off x="2903220" y="3730752"/>
            <a:ext cx="2103120" cy="566928"/>
          </a:xfrm>
          <a:prstGeom prst="rect">
            <a:avLst/>
          </a:prstGeom>
          <a:noFill/>
        </p:spPr>
        <p:txBody>
          <a:bodyPr wrap="square">
            <a:spAutoFit/>
          </a:bodyPr>
          <a:lstStyle/>
          <a:p>
            <a:pPr algn="ctr"/>
            <a:r>
              <a:rPr sz="1000" b="0">
                <a:solidFill>
                  <a:srgbClr val="8A8A8F"/>
                </a:solidFill>
                <a:latin typeface="Calibri"/>
              </a:rPr>
              <a:t>“Is this a scam?” Anxious</a:t>
            </a:r>
          </a:p>
        </p:txBody>
      </p:sp>
      <p:sp>
        <p:nvSpPr>
          <p:cNvPr id="20" name="Oval 19"/>
          <p:cNvSpPr/>
          <p:nvPr/>
        </p:nvSpPr>
        <p:spPr>
          <a:xfrm>
            <a:off x="5820156" y="2825496"/>
            <a:ext cx="566928" cy="56692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entury Gothic"/>
              </a:rPr>
              <a:t>3</a:t>
            </a:r>
          </a:p>
        </p:txBody>
      </p:sp>
      <p:sp>
        <p:nvSpPr>
          <p:cNvPr id="21" name="TextBox 20"/>
          <p:cNvSpPr txBox="1"/>
          <p:nvPr/>
        </p:nvSpPr>
        <p:spPr>
          <a:xfrm>
            <a:off x="5052060" y="3438144"/>
            <a:ext cx="2103120" cy="566928"/>
          </a:xfrm>
          <a:prstGeom prst="rect">
            <a:avLst/>
          </a:prstGeom>
          <a:noFill/>
        </p:spPr>
        <p:txBody>
          <a:bodyPr wrap="square">
            <a:spAutoFit/>
          </a:bodyPr>
          <a:lstStyle/>
          <a:p>
            <a:pPr algn="ctr"/>
            <a:r>
              <a:rPr sz="1000" b="0">
                <a:solidFill>
                  <a:srgbClr val="8A8A8F"/>
                </a:solidFill>
                <a:latin typeface="Calibri"/>
              </a:rPr>
              <a:t>“I hope it's worth it.” Hopeful, nervous</a:t>
            </a:r>
          </a:p>
        </p:txBody>
      </p:sp>
      <p:sp>
        <p:nvSpPr>
          <p:cNvPr id="22" name="Oval 21"/>
          <p:cNvSpPr/>
          <p:nvPr/>
        </p:nvSpPr>
        <p:spPr>
          <a:xfrm>
            <a:off x="7968996" y="2532888"/>
            <a:ext cx="566928" cy="56692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entury Gothic"/>
              </a:rPr>
              <a:t>4</a:t>
            </a:r>
          </a:p>
        </p:txBody>
      </p:sp>
      <p:sp>
        <p:nvSpPr>
          <p:cNvPr id="23" name="TextBox 22"/>
          <p:cNvSpPr txBox="1"/>
          <p:nvPr/>
        </p:nvSpPr>
        <p:spPr>
          <a:xfrm>
            <a:off x="7200900" y="3145536"/>
            <a:ext cx="2103120" cy="566928"/>
          </a:xfrm>
          <a:prstGeom prst="rect">
            <a:avLst/>
          </a:prstGeom>
          <a:noFill/>
        </p:spPr>
        <p:txBody>
          <a:bodyPr wrap="square">
            <a:spAutoFit/>
          </a:bodyPr>
          <a:lstStyle/>
          <a:p>
            <a:pPr algn="ctr"/>
            <a:r>
              <a:rPr sz="1000" b="0">
                <a:solidFill>
                  <a:srgbClr val="8A8A8F"/>
                </a:solidFill>
                <a:latin typeface="Calibri"/>
              </a:rPr>
              <a:t>“Hard, but I'm getting it.” Proud</a:t>
            </a:r>
          </a:p>
        </p:txBody>
      </p:sp>
      <p:sp>
        <p:nvSpPr>
          <p:cNvPr id="24" name="Oval 23"/>
          <p:cNvSpPr/>
          <p:nvPr/>
        </p:nvSpPr>
        <p:spPr>
          <a:xfrm>
            <a:off x="10117836" y="2240280"/>
            <a:ext cx="566928" cy="56692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entury Gothic"/>
              </a:rPr>
              <a:t>5</a:t>
            </a:r>
          </a:p>
        </p:txBody>
      </p:sp>
      <p:sp>
        <p:nvSpPr>
          <p:cNvPr id="25" name="TextBox 24"/>
          <p:cNvSpPr txBox="1"/>
          <p:nvPr/>
        </p:nvSpPr>
        <p:spPr>
          <a:xfrm>
            <a:off x="9349740" y="2852928"/>
            <a:ext cx="2103120" cy="566928"/>
          </a:xfrm>
          <a:prstGeom prst="rect">
            <a:avLst/>
          </a:prstGeom>
          <a:noFill/>
        </p:spPr>
        <p:txBody>
          <a:bodyPr wrap="square">
            <a:spAutoFit/>
          </a:bodyPr>
          <a:lstStyle/>
          <a:p>
            <a:pPr algn="ctr"/>
            <a:r>
              <a:rPr sz="1000" b="0">
                <a:solidFill>
                  <a:srgbClr val="8A8A8F"/>
                </a:solidFill>
                <a:latin typeface="Calibri"/>
              </a:rPr>
              <a:t>“I got the job!” Relieved and proud</a:t>
            </a:r>
          </a:p>
        </p:txBody>
      </p:sp>
      <p:sp>
        <p:nvSpPr>
          <p:cNvPr id="26" name="Rectangle 25"/>
          <p:cNvSpPr/>
          <p:nvPr/>
        </p:nvSpPr>
        <p:spPr>
          <a:xfrm>
            <a:off x="731520" y="4361688"/>
            <a:ext cx="10728960" cy="27432"/>
          </a:xfrm>
          <a:prstGeom prst="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0100" y="4434840"/>
            <a:ext cx="2011680" cy="1463040"/>
          </a:xfrm>
          <a:prstGeom prst="rect">
            <a:avLst/>
          </a:prstGeom>
          <a:noFill/>
        </p:spPr>
        <p:txBody>
          <a:bodyPr wrap="square">
            <a:spAutoFit/>
          </a:bodyPr>
          <a:lstStyle/>
          <a:p>
            <a:pPr algn="ctr">
              <a:spcAft>
                <a:spcPts val="500"/>
              </a:spcAft>
            </a:pPr>
            <a:r>
              <a:rPr sz="1100" b="1">
                <a:solidFill>
                  <a:srgbClr val="28282C"/>
                </a:solidFill>
                <a:latin typeface="Calibri"/>
              </a:rPr>
              <a:t>Sees breach news and a TikTok video on cyber careers</a:t>
            </a:r>
          </a:p>
          <a:p>
            <a:pPr algn="ctr">
              <a:spcAft>
                <a:spcPts val="500"/>
              </a:spcAft>
            </a:pPr>
            <a:r>
              <a:rPr sz="1100" b="0">
                <a:solidFill>
                  <a:srgbClr val="8A8A8F"/>
                </a:solidFill>
                <a:latin typeface="Calibri"/>
              </a:rPr>
              <a:t>Where: TikTok, Facebook adverts, Google search</a:t>
            </a:r>
          </a:p>
        </p:txBody>
      </p:sp>
      <p:sp>
        <p:nvSpPr>
          <p:cNvPr id="28" name="TextBox 27"/>
          <p:cNvSpPr txBox="1"/>
          <p:nvPr/>
        </p:nvSpPr>
        <p:spPr>
          <a:xfrm>
            <a:off x="2948940" y="4434840"/>
            <a:ext cx="2011680" cy="1463040"/>
          </a:xfrm>
          <a:prstGeom prst="rect">
            <a:avLst/>
          </a:prstGeom>
          <a:noFill/>
        </p:spPr>
        <p:txBody>
          <a:bodyPr wrap="square">
            <a:spAutoFit/>
          </a:bodyPr>
          <a:lstStyle/>
          <a:p>
            <a:pPr algn="ctr">
              <a:spcAft>
                <a:spcPts val="500"/>
              </a:spcAft>
            </a:pPr>
            <a:r>
              <a:rPr sz="1100" b="1">
                <a:solidFill>
                  <a:srgbClr val="28282C"/>
                </a:solidFill>
                <a:latin typeface="Calibri"/>
              </a:rPr>
              <a:t>Compares courses, reads reviews, asks in WhatsApp groups</a:t>
            </a:r>
          </a:p>
          <a:p>
            <a:pPr algn="ctr">
              <a:spcAft>
                <a:spcPts val="500"/>
              </a:spcAft>
            </a:pPr>
            <a:r>
              <a:rPr sz="1100" b="0">
                <a:solidFill>
                  <a:srgbClr val="8A8A8F"/>
                </a:solidFill>
                <a:latin typeface="Calibri"/>
              </a:rPr>
              <a:t>Where: Website, Google and Trustpilot reviews, WhatsApp</a:t>
            </a:r>
          </a:p>
        </p:txBody>
      </p:sp>
      <p:sp>
        <p:nvSpPr>
          <p:cNvPr id="29" name="TextBox 28"/>
          <p:cNvSpPr txBox="1"/>
          <p:nvPr/>
        </p:nvSpPr>
        <p:spPr>
          <a:xfrm>
            <a:off x="5097780" y="4434840"/>
            <a:ext cx="2011680" cy="1463040"/>
          </a:xfrm>
          <a:prstGeom prst="rect">
            <a:avLst/>
          </a:prstGeom>
          <a:noFill/>
        </p:spPr>
        <p:txBody>
          <a:bodyPr wrap="square">
            <a:spAutoFit/>
          </a:bodyPr>
          <a:lstStyle/>
          <a:p>
            <a:pPr algn="ctr">
              <a:spcAft>
                <a:spcPts val="500"/>
              </a:spcAft>
            </a:pPr>
            <a:r>
              <a:rPr sz="1100" b="1">
                <a:solidFill>
                  <a:srgbClr val="28282C"/>
                </a:solidFill>
                <a:latin typeface="Calibri"/>
              </a:rPr>
              <a:t>Joins the free first class, pays the first part</a:t>
            </a:r>
          </a:p>
          <a:p>
            <a:pPr algn="ctr">
              <a:spcAft>
                <a:spcPts val="500"/>
              </a:spcAft>
            </a:pPr>
            <a:r>
              <a:rPr sz="1100" b="0">
                <a:solidFill>
                  <a:srgbClr val="8A8A8F"/>
                </a:solidFill>
                <a:latin typeface="Calibri"/>
              </a:rPr>
              <a:t>Where: Free class, online payment plan</a:t>
            </a:r>
          </a:p>
        </p:txBody>
      </p:sp>
      <p:sp>
        <p:nvSpPr>
          <p:cNvPr id="30" name="TextBox 29"/>
          <p:cNvSpPr txBox="1"/>
          <p:nvPr/>
        </p:nvSpPr>
        <p:spPr>
          <a:xfrm>
            <a:off x="7246620" y="4434840"/>
            <a:ext cx="2011680" cy="1463040"/>
          </a:xfrm>
          <a:prstGeom prst="rect">
            <a:avLst/>
          </a:prstGeom>
          <a:noFill/>
        </p:spPr>
        <p:txBody>
          <a:bodyPr wrap="square">
            <a:spAutoFit/>
          </a:bodyPr>
          <a:lstStyle/>
          <a:p>
            <a:pPr algn="ctr">
              <a:spcAft>
                <a:spcPts val="500"/>
              </a:spcAft>
            </a:pPr>
            <a:r>
              <a:rPr sz="1100" b="1">
                <a:solidFill>
                  <a:srgbClr val="28282C"/>
                </a:solidFill>
                <a:latin typeface="Calibri"/>
              </a:rPr>
              <a:t>Attends classes and weekend labs, takes the exam</a:t>
            </a:r>
          </a:p>
          <a:p>
            <a:pPr algn="ctr">
              <a:spcAft>
                <a:spcPts val="500"/>
              </a:spcAft>
            </a:pPr>
            <a:r>
              <a:rPr sz="1100" b="0">
                <a:solidFill>
                  <a:srgbClr val="8A8A8F"/>
                </a:solidFill>
                <a:latin typeface="Calibri"/>
              </a:rPr>
              <a:t>Where: Learning platform, Lagos lab, mentor</a:t>
            </a:r>
          </a:p>
        </p:txBody>
      </p:sp>
      <p:sp>
        <p:nvSpPr>
          <p:cNvPr id="31" name="TextBox 30"/>
          <p:cNvSpPr txBox="1"/>
          <p:nvPr/>
        </p:nvSpPr>
        <p:spPr>
          <a:xfrm>
            <a:off x="9395460" y="4434840"/>
            <a:ext cx="2011680" cy="1463040"/>
          </a:xfrm>
          <a:prstGeom prst="rect">
            <a:avLst/>
          </a:prstGeom>
          <a:noFill/>
        </p:spPr>
        <p:txBody>
          <a:bodyPr wrap="square">
            <a:spAutoFit/>
          </a:bodyPr>
          <a:lstStyle/>
          <a:p>
            <a:pPr algn="ctr">
              <a:spcAft>
                <a:spcPts val="500"/>
              </a:spcAft>
            </a:pPr>
            <a:r>
              <a:rPr sz="1100" b="1">
                <a:solidFill>
                  <a:srgbClr val="28282C"/>
                </a:solidFill>
                <a:latin typeface="Calibri"/>
              </a:rPr>
              <a:t>Applies for jobs, shares the result, refers friends</a:t>
            </a:r>
          </a:p>
          <a:p>
            <a:pPr algn="ctr">
              <a:spcAft>
                <a:spcPts val="500"/>
              </a:spcAft>
            </a:pPr>
            <a:r>
              <a:rPr sz="1100" b="0">
                <a:solidFill>
                  <a:srgbClr val="8A8A8F"/>
                </a:solidFill>
                <a:latin typeface="Calibri"/>
              </a:rPr>
              <a:t>Where: Career help, LinkedIn, alumni group</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par>
                          <p:cTn id="31" fill="hold">
                            <p:stCondLst>
                              <p:cond delay="1500"/>
                            </p:stCondLst>
                            <p:childTnLst>
                              <p:par>
                                <p:cTn id="32" presetID="22" presetClass="entr" presetSubtype="8" fill="hold"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right)">
                                      <p:cBhvr>
                                        <p:cTn id="34" dur="500"/>
                                        <p:tgtEl>
                                          <p:spTgt spid="12"/>
                                        </p:tgtEl>
                                      </p:cBhvr>
                                    </p:animEffect>
                                  </p:childTnLst>
                                </p:cTn>
                              </p:par>
                              <p:par>
                                <p:cTn id="35" presetID="22" presetClass="entr" presetSubtype="8"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wipe(right)">
                                      <p:cBhvr>
                                        <p:cTn id="37" dur="500"/>
                                        <p:tgtEl>
                                          <p:spTgt spid="13"/>
                                        </p:tgtEl>
                                      </p:cBhvr>
                                    </p:animEffect>
                                  </p:childTnLst>
                                </p:cTn>
                              </p:par>
                              <p:par>
                                <p:cTn id="38" presetID="22" presetClass="entr" presetSubtype="8"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right)">
                                      <p:cBhvr>
                                        <p:cTn id="40" dur="500"/>
                                        <p:tgtEl>
                                          <p:spTgt spid="14"/>
                                        </p:tgtEl>
                                      </p:cBhvr>
                                    </p:animEffect>
                                  </p:childTnLst>
                                </p:cTn>
                              </p:par>
                              <p:par>
                                <p:cTn id="41" presetID="22" presetClass="entr" presetSubtype="8"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wipe(right)">
                                      <p:cBhvr>
                                        <p:cTn id="43" dur="500"/>
                                        <p:tgtEl>
                                          <p:spTgt spid="15"/>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wipe(right)">
                                      <p:cBhvr>
                                        <p:cTn id="46" dur="500"/>
                                        <p:tgtEl>
                                          <p:spTgt spid="16"/>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wipe(right)">
                                      <p:cBhvr>
                                        <p:cTn id="49" dur="500"/>
                                        <p:tgtEl>
                                          <p:spTgt spid="17"/>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right)">
                                      <p:cBhvr>
                                        <p:cTn id="52" dur="50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right)">
                                      <p:cBhvr>
                                        <p:cTn id="55" dur="500"/>
                                        <p:tgtEl>
                                          <p:spTgt spid="19"/>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wipe(right)">
                                      <p:cBhvr>
                                        <p:cTn id="58" dur="500"/>
                                        <p:tgtEl>
                                          <p:spTgt spid="20"/>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right)">
                                      <p:cBhvr>
                                        <p:cTn id="61" dur="500"/>
                                        <p:tgtEl>
                                          <p:spTgt spid="21"/>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wipe(right)">
                                      <p:cBhvr>
                                        <p:cTn id="64" dur="500"/>
                                        <p:tgtEl>
                                          <p:spTgt spid="22"/>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wipe(right)">
                                      <p:cBhvr>
                                        <p:cTn id="67" dur="500"/>
                                        <p:tgtEl>
                                          <p:spTgt spid="23"/>
                                        </p:tgtEl>
                                      </p:cBhvr>
                                    </p:animEffect>
                                  </p:childTnLst>
                                </p:cTn>
                              </p:par>
                              <p:par>
                                <p:cTn id="68" presetID="22" presetClass="entr" presetSubtype="8"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wipe(right)">
                                      <p:cBhvr>
                                        <p:cTn id="70" dur="500"/>
                                        <p:tgtEl>
                                          <p:spTgt spid="24"/>
                                        </p:tgtEl>
                                      </p:cBhvr>
                                    </p:animEffect>
                                  </p:childTnLst>
                                </p:cTn>
                              </p:par>
                              <p:par>
                                <p:cTn id="71" presetID="22" presetClass="entr" presetSubtype="8"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wipe(right)">
                                      <p:cBhvr>
                                        <p:cTn id="73" dur="500"/>
                                        <p:tgtEl>
                                          <p:spTgt spid="25"/>
                                        </p:tgtEl>
                                      </p:cBhvr>
                                    </p:animEffect>
                                  </p:childTnLst>
                                </p:cTn>
                              </p:par>
                            </p:childTnLst>
                          </p:cTn>
                        </p:par>
                        <p:par>
                          <p:cTn id="74" fill="hold">
                            <p:stCondLst>
                              <p:cond delay="2000"/>
                            </p:stCondLst>
                            <p:childTnLst>
                              <p:par>
                                <p:cTn id="75" presetID="10" presetClass="entr" presetSubtype="0" fill="hold" grpId="0" nodeType="after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50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Every Pain Point Is an Opportunity</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CUSTOMER JOURNEY MAP</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What goes wrong at each stage, and what SkillUp Academy will do</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10</a:t>
            </a:r>
          </a:p>
        </p:txBody>
      </p:sp>
      <p:sp>
        <p:nvSpPr>
          <p:cNvPr id="7" name="Rounded Rectangle 6"/>
          <p:cNvSpPr/>
          <p:nvPr/>
        </p:nvSpPr>
        <p:spPr>
          <a:xfrm>
            <a:off x="731520" y="1920240"/>
            <a:ext cx="2057400" cy="384048"/>
          </a:xfrm>
          <a:prstGeom prst="roundRect">
            <a:avLst>
              <a:gd name="adj" fmla="val 50000"/>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Awareness</a:t>
            </a:r>
          </a:p>
        </p:txBody>
      </p:sp>
      <p:sp>
        <p:nvSpPr>
          <p:cNvPr id="8" name="Rectangle 7"/>
          <p:cNvSpPr/>
          <p:nvPr/>
        </p:nvSpPr>
        <p:spPr>
          <a:xfrm>
            <a:off x="731520" y="2468880"/>
            <a:ext cx="2057400" cy="13258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8A8A8F"/>
                </a:solidFill>
                <a:latin typeface="Calibri"/>
              </a:rPr>
              <a:t>PAIN POINT</a:t>
            </a:r>
          </a:p>
          <a:p>
            <a:pPr algn="l"/>
            <a:r>
              <a:rPr sz="1300" b="0">
                <a:solidFill>
                  <a:srgbClr val="3A3A3F"/>
                </a:solidFill>
                <a:latin typeface="Calibri"/>
              </a:rPr>
              <a:t>No clear starting point</a:t>
            </a:r>
          </a:p>
        </p:txBody>
      </p:sp>
      <p:sp>
        <p:nvSpPr>
          <p:cNvPr id="9" name="Down Arrow 8"/>
          <p:cNvSpPr/>
          <p:nvPr/>
        </p:nvSpPr>
        <p:spPr>
          <a:xfrm>
            <a:off x="1577340" y="3886200"/>
            <a:ext cx="365760" cy="384048"/>
          </a:xfrm>
          <a:prstGeom prst="downArrow">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4389120"/>
            <a:ext cx="2057400" cy="178308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FFFFFF"/>
                </a:solidFill>
                <a:latin typeface="Calibri"/>
              </a:rPr>
              <a:t>OPPORTUNITY</a:t>
            </a:r>
          </a:p>
          <a:p>
            <a:pPr algn="l"/>
            <a:r>
              <a:rPr sz="1400" b="0">
                <a:solidFill>
                  <a:srgbClr val="FFFFFF"/>
                </a:solidFill>
                <a:latin typeface="Calibri"/>
              </a:rPr>
              <a:t>Beginner videos on TikTok and Google</a:t>
            </a:r>
          </a:p>
        </p:txBody>
      </p:sp>
      <p:sp>
        <p:nvSpPr>
          <p:cNvPr id="11" name="Rounded Rectangle 10"/>
          <p:cNvSpPr/>
          <p:nvPr/>
        </p:nvSpPr>
        <p:spPr>
          <a:xfrm>
            <a:off x="2944368" y="1920240"/>
            <a:ext cx="2057400" cy="384048"/>
          </a:xfrm>
          <a:prstGeom prst="roundRect">
            <a:avLst>
              <a:gd name="adj" fmla="val 50000"/>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Consideration</a:t>
            </a:r>
          </a:p>
        </p:txBody>
      </p:sp>
      <p:sp>
        <p:nvSpPr>
          <p:cNvPr id="12" name="Rectangle 11"/>
          <p:cNvSpPr/>
          <p:nvPr/>
        </p:nvSpPr>
        <p:spPr>
          <a:xfrm>
            <a:off x="2944368" y="2468880"/>
            <a:ext cx="2057400" cy="13258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8A8A8F"/>
                </a:solidFill>
                <a:latin typeface="Calibri"/>
              </a:rPr>
              <a:t>PAIN POINT</a:t>
            </a:r>
          </a:p>
          <a:p>
            <a:pPr algn="l"/>
            <a:r>
              <a:rPr sz="1300" b="0">
                <a:solidFill>
                  <a:srgbClr val="3A3A3F"/>
                </a:solidFill>
                <a:latin typeface="Calibri"/>
              </a:rPr>
              <a:t>Hidden prices, few reviews</a:t>
            </a:r>
          </a:p>
        </p:txBody>
      </p:sp>
      <p:sp>
        <p:nvSpPr>
          <p:cNvPr id="13" name="Down Arrow 12"/>
          <p:cNvSpPr/>
          <p:nvPr/>
        </p:nvSpPr>
        <p:spPr>
          <a:xfrm>
            <a:off x="3790188" y="3886200"/>
            <a:ext cx="365760" cy="384048"/>
          </a:xfrm>
          <a:prstGeom prst="downArrow">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4389120"/>
            <a:ext cx="2057400" cy="178308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FFFFFF"/>
                </a:solidFill>
                <a:latin typeface="Calibri"/>
              </a:rPr>
              <a:t>OPPORTUNITY</a:t>
            </a:r>
          </a:p>
          <a:p>
            <a:pPr algn="l"/>
            <a:r>
              <a:rPr sz="1400" b="0">
                <a:solidFill>
                  <a:srgbClr val="FFFFFF"/>
                </a:solidFill>
                <a:latin typeface="Calibri"/>
              </a:rPr>
              <a:t>Publish prices and reviews; fast WhatsApp replies</a:t>
            </a:r>
          </a:p>
        </p:txBody>
      </p:sp>
      <p:sp>
        <p:nvSpPr>
          <p:cNvPr id="15" name="Rounded Rectangle 14"/>
          <p:cNvSpPr/>
          <p:nvPr/>
        </p:nvSpPr>
        <p:spPr>
          <a:xfrm>
            <a:off x="5157216" y="1920240"/>
            <a:ext cx="2057400" cy="384048"/>
          </a:xfrm>
          <a:prstGeom prst="roundRect">
            <a:avLst>
              <a:gd name="adj" fmla="val 50000"/>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Purchase</a:t>
            </a:r>
          </a:p>
        </p:txBody>
      </p:sp>
      <p:sp>
        <p:nvSpPr>
          <p:cNvPr id="16" name="Rectangle 15"/>
          <p:cNvSpPr/>
          <p:nvPr/>
        </p:nvSpPr>
        <p:spPr>
          <a:xfrm>
            <a:off x="5157216" y="2468880"/>
            <a:ext cx="2057400" cy="13258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8A8A8F"/>
                </a:solidFill>
                <a:latin typeface="Calibri"/>
              </a:rPr>
              <a:t>PAIN POINT</a:t>
            </a:r>
          </a:p>
          <a:p>
            <a:pPr algn="l"/>
            <a:r>
              <a:rPr sz="1300" b="0">
                <a:solidFill>
                  <a:srgbClr val="3A3A3F"/>
                </a:solidFill>
                <a:latin typeface="Calibri"/>
              </a:rPr>
              <a:t>Big one-off fees</a:t>
            </a:r>
          </a:p>
        </p:txBody>
      </p:sp>
      <p:sp>
        <p:nvSpPr>
          <p:cNvPr id="17" name="Down Arrow 16"/>
          <p:cNvSpPr/>
          <p:nvPr/>
        </p:nvSpPr>
        <p:spPr>
          <a:xfrm>
            <a:off x="6003036" y="3886200"/>
            <a:ext cx="365760" cy="384048"/>
          </a:xfrm>
          <a:prstGeom prst="downArrow">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57216" y="4389120"/>
            <a:ext cx="2057400" cy="178308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FFFFFF"/>
                </a:solidFill>
                <a:latin typeface="Calibri"/>
              </a:rPr>
              <a:t>OPPORTUNITY</a:t>
            </a:r>
          </a:p>
          <a:p>
            <a:pPr algn="l"/>
            <a:r>
              <a:rPr sz="1400" b="0">
                <a:solidFill>
                  <a:srgbClr val="FFFFFF"/>
                </a:solidFill>
                <a:latin typeface="Calibri"/>
              </a:rPr>
              <a:t>Free first class; 3 instalments</a:t>
            </a:r>
          </a:p>
        </p:txBody>
      </p:sp>
      <p:sp>
        <p:nvSpPr>
          <p:cNvPr id="19" name="Rounded Rectangle 18"/>
          <p:cNvSpPr/>
          <p:nvPr/>
        </p:nvSpPr>
        <p:spPr>
          <a:xfrm>
            <a:off x="7370064" y="1920240"/>
            <a:ext cx="2057400" cy="384048"/>
          </a:xfrm>
          <a:prstGeom prst="roundRect">
            <a:avLst>
              <a:gd name="adj" fmla="val 50000"/>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Learning</a:t>
            </a:r>
          </a:p>
        </p:txBody>
      </p:sp>
      <p:sp>
        <p:nvSpPr>
          <p:cNvPr id="20" name="Rectangle 19"/>
          <p:cNvSpPr/>
          <p:nvPr/>
        </p:nvSpPr>
        <p:spPr>
          <a:xfrm>
            <a:off x="7370064" y="2468880"/>
            <a:ext cx="2057400" cy="13258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8A8A8F"/>
                </a:solidFill>
                <a:latin typeface="Calibri"/>
              </a:rPr>
              <a:t>PAIN POINT</a:t>
            </a:r>
          </a:p>
          <a:p>
            <a:pPr algn="l"/>
            <a:r>
              <a:rPr sz="1300" b="0">
                <a:solidFill>
                  <a:srgbClr val="3A3A3F"/>
                </a:solidFill>
                <a:latin typeface="Calibri"/>
              </a:rPr>
              <a:t>Slow support, outdated content</a:t>
            </a:r>
          </a:p>
        </p:txBody>
      </p:sp>
      <p:sp>
        <p:nvSpPr>
          <p:cNvPr id="21" name="Down Arrow 20"/>
          <p:cNvSpPr/>
          <p:nvPr/>
        </p:nvSpPr>
        <p:spPr>
          <a:xfrm>
            <a:off x="8215884" y="3886200"/>
            <a:ext cx="365760" cy="384048"/>
          </a:xfrm>
          <a:prstGeom prst="downArrow">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70064" y="4389120"/>
            <a:ext cx="2057400" cy="178308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FFFFFF"/>
                </a:solidFill>
                <a:latin typeface="Calibri"/>
              </a:rPr>
              <a:t>OPPORTUNITY</a:t>
            </a:r>
          </a:p>
          <a:p>
            <a:pPr algn="l"/>
            <a:r>
              <a:rPr sz="1400" b="0">
                <a:solidFill>
                  <a:srgbClr val="FFFFFF"/>
                </a:solidFill>
                <a:latin typeface="Calibri"/>
              </a:rPr>
              <a:t>Weekly labs, 24-hour support, recordings</a:t>
            </a:r>
          </a:p>
        </p:txBody>
      </p:sp>
      <p:sp>
        <p:nvSpPr>
          <p:cNvPr id="23" name="Rounded Rectangle 22"/>
          <p:cNvSpPr/>
          <p:nvPr/>
        </p:nvSpPr>
        <p:spPr>
          <a:xfrm>
            <a:off x="9582912" y="1920240"/>
            <a:ext cx="2057400" cy="384048"/>
          </a:xfrm>
          <a:prstGeom prst="roundRect">
            <a:avLst>
              <a:gd name="adj" fmla="val 50000"/>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After the course</a:t>
            </a:r>
          </a:p>
        </p:txBody>
      </p:sp>
      <p:sp>
        <p:nvSpPr>
          <p:cNvPr id="24" name="Rectangle 23"/>
          <p:cNvSpPr/>
          <p:nvPr/>
        </p:nvSpPr>
        <p:spPr>
          <a:xfrm>
            <a:off x="9582912" y="2468880"/>
            <a:ext cx="2057400" cy="13258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8A8A8F"/>
                </a:solidFill>
                <a:latin typeface="Calibri"/>
              </a:rPr>
              <a:t>PAIN POINT</a:t>
            </a:r>
          </a:p>
          <a:p>
            <a:pPr algn="l"/>
            <a:r>
              <a:rPr sz="1300" b="0">
                <a:solidFill>
                  <a:srgbClr val="3A3A3F"/>
                </a:solidFill>
                <a:latin typeface="Calibri"/>
              </a:rPr>
              <a:t>No links to employers</a:t>
            </a:r>
          </a:p>
        </p:txBody>
      </p:sp>
      <p:sp>
        <p:nvSpPr>
          <p:cNvPr id="25" name="Down Arrow 24"/>
          <p:cNvSpPr/>
          <p:nvPr/>
        </p:nvSpPr>
        <p:spPr>
          <a:xfrm>
            <a:off x="10428732" y="3886200"/>
            <a:ext cx="365760" cy="384048"/>
          </a:xfrm>
          <a:prstGeom prst="downArrow">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582912" y="4389120"/>
            <a:ext cx="2057400" cy="178308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r>
              <a:rPr sz="900" b="1">
                <a:solidFill>
                  <a:srgbClr val="FFFFFF"/>
                </a:solidFill>
                <a:latin typeface="Calibri"/>
              </a:rPr>
              <a:t>OPPORTUNITY</a:t>
            </a:r>
          </a:p>
          <a:p>
            <a:pPr algn="l"/>
            <a:r>
              <a:rPr sz="1400" b="0">
                <a:solidFill>
                  <a:srgbClr val="FFFFFF"/>
                </a:solidFill>
                <a:latin typeface="Calibri"/>
              </a:rPr>
              <a:t>Exam prep, CV help, employer partners, referral reward</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par>
                          <p:cTn id="54" fill="hold">
                            <p:stCondLst>
                              <p:cond delay="2500"/>
                            </p:stCondLst>
                            <p:childTnLst>
                              <p:par>
                                <p:cTn id="55" presetID="10" presetClass="entr" presetSubtype="0" fill="hold" grpId="0" nodeType="after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childTnLst>
                          </p:cTn>
                        </p:par>
                        <p:par>
                          <p:cTn id="67" fill="hold">
                            <p:stCondLst>
                              <p:cond delay="3000"/>
                            </p:stCondLst>
                            <p:childTnLst>
                              <p:par>
                                <p:cTn id="68" presetID="10" presetClass="entr" presetSubtype="0" fill="hold" grpId="0"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736080" y="2377440"/>
            <a:ext cx="4998720" cy="1325880"/>
          </a:xfrm>
        </p:spPr>
        <p:txBody>
          <a:bodyPr anchor="t"/>
          <a:lstStyle/>
          <a:p>
            <a:r>
              <a:rPr sz="3800" b="1">
                <a:solidFill>
                  <a:srgbClr val="FFFFFF"/>
                </a:solidFill>
                <a:latin typeface="Century Gothic"/>
              </a:rPr>
              <a:t>The 5 Most Important Needs</a:t>
            </a:r>
          </a:p>
        </p:txBody>
      </p:sp>
      <p:sp>
        <p:nvSpPr>
          <p:cNvPr id="5" name="Oval 4"/>
          <p:cNvSpPr/>
          <p:nvPr/>
        </p:nvSpPr>
        <p:spPr>
          <a:xfrm>
            <a:off x="1127760" y="1508760"/>
            <a:ext cx="3840480" cy="3840480"/>
          </a:xfrm>
          <a:prstGeom prst="ellipse">
            <a:avLst/>
          </a:prstGeom>
          <a:noFill/>
          <a:ln w="635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1808" y="1892808"/>
            <a:ext cx="3072384" cy="3072384"/>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200144" y="4581144"/>
            <a:ext cx="502920" cy="502920"/>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2080" y="2468880"/>
            <a:ext cx="3291840" cy="1828800"/>
          </a:xfrm>
          <a:prstGeom prst="rect">
            <a:avLst/>
          </a:prstGeom>
          <a:noFill/>
        </p:spPr>
        <p:txBody>
          <a:bodyPr wrap="square">
            <a:spAutoFit/>
          </a:bodyPr>
          <a:lstStyle/>
          <a:p>
            <a:pPr algn="ctr"/>
            <a:r>
              <a:rPr sz="11000" b="1">
                <a:solidFill>
                  <a:srgbClr val="2F7FCC"/>
                </a:solidFill>
                <a:latin typeface="Century Gothic"/>
              </a:rPr>
              <a:t>03</a:t>
            </a:r>
          </a:p>
        </p:txBody>
      </p:sp>
      <p:sp>
        <p:nvSpPr>
          <p:cNvPr id="9" name="TextBox 8"/>
          <p:cNvSpPr txBox="1"/>
          <p:nvPr/>
        </p:nvSpPr>
        <p:spPr>
          <a:xfrm>
            <a:off x="6736080" y="2011680"/>
            <a:ext cx="4998720" cy="365760"/>
          </a:xfrm>
          <a:prstGeom prst="rect">
            <a:avLst/>
          </a:prstGeom>
          <a:noFill/>
        </p:spPr>
        <p:txBody>
          <a:bodyPr wrap="square">
            <a:spAutoFit/>
          </a:bodyPr>
          <a:lstStyle/>
          <a:p>
            <a:r>
              <a:rPr sz="1300" b="1">
                <a:solidFill>
                  <a:srgbClr val="8EC5F2"/>
                </a:solidFill>
                <a:latin typeface="Calibri"/>
              </a:rPr>
              <a:t>TASK 3 OF 6</a:t>
            </a:r>
          </a:p>
        </p:txBody>
      </p:sp>
      <p:sp>
        <p:nvSpPr>
          <p:cNvPr id="10" name="Rectangle 9"/>
          <p:cNvSpPr/>
          <p:nvPr/>
        </p:nvSpPr>
        <p:spPr>
          <a:xfrm>
            <a:off x="6809232" y="3886200"/>
            <a:ext cx="914400" cy="73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6080" y="4069080"/>
            <a:ext cx="4998720" cy="914400"/>
          </a:xfrm>
          <a:prstGeom prst="rect">
            <a:avLst/>
          </a:prstGeom>
          <a:noFill/>
        </p:spPr>
        <p:txBody>
          <a:bodyPr wrap="square">
            <a:spAutoFit/>
          </a:bodyPr>
          <a:lstStyle/>
          <a:p>
            <a:r>
              <a:rPr sz="1600" b="0">
                <a:solidFill>
                  <a:srgbClr val="FFFFFF"/>
                </a:solidFill>
                <a:latin typeface="Calibri"/>
              </a:rPr>
              <a:t>Chosen from 12 functional, economic, emotional and social needs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fade">
                                      <p:cBhvr>
                                        <p:cTn id="23" dur="500"/>
                                        <p:tgtEl>
                                          <p:spTgt spid="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2" grpId="0" animBg="1"/>
      <p:bldP spid="10" grpId="0" animBg="1"/>
      <p:bldP spid="1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Four Kinds of Needs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THE 5 MOST IMPORTANT NEEDS</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Three needs of each type, each scored for importance (of 25); dark badges mark the top five</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12</a:t>
            </a:r>
          </a:p>
        </p:txBody>
      </p:sp>
      <p:sp>
        <p:nvSpPr>
          <p:cNvPr id="7" name="Rectangle 6"/>
          <p:cNvSpPr/>
          <p:nvPr/>
        </p:nvSpPr>
        <p:spPr>
          <a:xfrm>
            <a:off x="731520" y="1920240"/>
            <a:ext cx="5227320" cy="1965960"/>
          </a:xfrm>
          <a:prstGeom prst="rect">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57400"/>
            <a:ext cx="4678680" cy="438912"/>
          </a:xfrm>
          <a:prstGeom prst="rect">
            <a:avLst/>
          </a:prstGeom>
          <a:noFill/>
        </p:spPr>
        <p:txBody>
          <a:bodyPr wrap="square">
            <a:spAutoFit/>
          </a:bodyPr>
          <a:lstStyle/>
          <a:p>
            <a:r>
              <a:rPr sz="1600" b="1">
                <a:solidFill>
                  <a:srgbClr val="FFFFFF"/>
                </a:solidFill>
                <a:latin typeface="Century Gothic"/>
              </a:rPr>
              <a:t>Functional needs</a:t>
            </a:r>
            <a:r>
              <a:rPr sz="1100" b="0">
                <a:solidFill>
                  <a:srgbClr val="DCEBFA"/>
                </a:solidFill>
                <a:latin typeface="Century Gothic"/>
              </a:rPr>
              <a:t>   what the course does</a:t>
            </a:r>
          </a:p>
        </p:txBody>
      </p:sp>
      <p:sp>
        <p:nvSpPr>
          <p:cNvPr id="9" name="Oval 8"/>
          <p:cNvSpPr/>
          <p:nvPr/>
        </p:nvSpPr>
        <p:spPr>
          <a:xfrm>
            <a:off x="5227320" y="2560320"/>
            <a:ext cx="384048" cy="384048"/>
          </a:xfrm>
          <a:prstGeom prst="ellipse">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FFFFFF"/>
                </a:solidFill>
                <a:latin typeface="Calibri"/>
              </a:rPr>
              <a:t>25</a:t>
            </a:r>
          </a:p>
        </p:txBody>
      </p:sp>
      <p:sp>
        <p:nvSpPr>
          <p:cNvPr id="10" name="TextBox 9"/>
          <p:cNvSpPr txBox="1"/>
          <p:nvPr/>
        </p:nvSpPr>
        <p:spPr>
          <a:xfrm>
            <a:off x="1005840" y="2560320"/>
            <a:ext cx="4130040" cy="384048"/>
          </a:xfrm>
          <a:prstGeom prst="rect">
            <a:avLst/>
          </a:prstGeom>
          <a:noFill/>
        </p:spPr>
        <p:txBody>
          <a:bodyPr wrap="square">
            <a:spAutoFit/>
          </a:bodyPr>
          <a:lstStyle/>
          <a:p>
            <a:r>
              <a:rPr sz="1400" b="1">
                <a:solidFill>
                  <a:srgbClr val="FFFFFF"/>
                </a:solidFill>
                <a:latin typeface="Calibri"/>
              </a:rPr>
              <a:t>Practical, hands-on skills</a:t>
            </a:r>
          </a:p>
        </p:txBody>
      </p:sp>
      <p:sp>
        <p:nvSpPr>
          <p:cNvPr id="11" name="Oval 10"/>
          <p:cNvSpPr/>
          <p:nvPr/>
        </p:nvSpPr>
        <p:spPr>
          <a:xfrm>
            <a:off x="5227320" y="2980944"/>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16</a:t>
            </a:r>
          </a:p>
        </p:txBody>
      </p:sp>
      <p:sp>
        <p:nvSpPr>
          <p:cNvPr id="12" name="TextBox 11"/>
          <p:cNvSpPr txBox="1"/>
          <p:nvPr/>
        </p:nvSpPr>
        <p:spPr>
          <a:xfrm>
            <a:off x="1005840" y="2980944"/>
            <a:ext cx="4130040" cy="384048"/>
          </a:xfrm>
          <a:prstGeom prst="rect">
            <a:avLst/>
          </a:prstGeom>
          <a:noFill/>
        </p:spPr>
        <p:txBody>
          <a:bodyPr wrap="square">
            <a:spAutoFit/>
          </a:bodyPr>
          <a:lstStyle/>
          <a:p>
            <a:r>
              <a:rPr sz="1400" b="0">
                <a:solidFill>
                  <a:srgbClr val="FFFFFF"/>
                </a:solidFill>
                <a:latin typeface="Calibri"/>
              </a:rPr>
              <a:t>A flexible timetable</a:t>
            </a:r>
          </a:p>
        </p:txBody>
      </p:sp>
      <p:sp>
        <p:nvSpPr>
          <p:cNvPr id="13" name="Oval 12"/>
          <p:cNvSpPr/>
          <p:nvPr/>
        </p:nvSpPr>
        <p:spPr>
          <a:xfrm>
            <a:off x="5227320" y="3401568"/>
            <a:ext cx="384048" cy="384048"/>
          </a:xfrm>
          <a:prstGeom prst="ellipse">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FFFFFF"/>
                </a:solidFill>
                <a:latin typeface="Calibri"/>
              </a:rPr>
              <a:t>20</a:t>
            </a:r>
          </a:p>
        </p:txBody>
      </p:sp>
      <p:sp>
        <p:nvSpPr>
          <p:cNvPr id="14" name="TextBox 13"/>
          <p:cNvSpPr txBox="1"/>
          <p:nvPr/>
        </p:nvSpPr>
        <p:spPr>
          <a:xfrm>
            <a:off x="1005840" y="3401568"/>
            <a:ext cx="4130040" cy="384048"/>
          </a:xfrm>
          <a:prstGeom prst="rect">
            <a:avLst/>
          </a:prstGeom>
          <a:noFill/>
        </p:spPr>
        <p:txBody>
          <a:bodyPr wrap="square">
            <a:spAutoFit/>
          </a:bodyPr>
          <a:lstStyle/>
          <a:p>
            <a:r>
              <a:rPr sz="1400" b="1">
                <a:solidFill>
                  <a:srgbClr val="FFFFFF"/>
                </a:solidFill>
                <a:latin typeface="Calibri"/>
              </a:rPr>
              <a:t>Preparation for a recognised certificate</a:t>
            </a:r>
          </a:p>
        </p:txBody>
      </p:sp>
      <p:sp>
        <p:nvSpPr>
          <p:cNvPr id="15" name="Rectangle 14"/>
          <p:cNvSpPr/>
          <p:nvPr/>
        </p:nvSpPr>
        <p:spPr>
          <a:xfrm>
            <a:off x="6233160" y="1920240"/>
            <a:ext cx="5227320" cy="196596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7480" y="2057400"/>
            <a:ext cx="4678680" cy="438912"/>
          </a:xfrm>
          <a:prstGeom prst="rect">
            <a:avLst/>
          </a:prstGeom>
          <a:noFill/>
        </p:spPr>
        <p:txBody>
          <a:bodyPr wrap="square">
            <a:spAutoFit/>
          </a:bodyPr>
          <a:lstStyle/>
          <a:p>
            <a:r>
              <a:rPr sz="1600" b="1">
                <a:solidFill>
                  <a:srgbClr val="28282C"/>
                </a:solidFill>
                <a:latin typeface="Century Gothic"/>
              </a:rPr>
              <a:t>Economic needs</a:t>
            </a:r>
            <a:r>
              <a:rPr sz="1100" b="0">
                <a:solidFill>
                  <a:srgbClr val="3A3A3F"/>
                </a:solidFill>
                <a:latin typeface="Century Gothic"/>
              </a:rPr>
              <a:t>   money</a:t>
            </a:r>
          </a:p>
        </p:txBody>
      </p:sp>
      <p:sp>
        <p:nvSpPr>
          <p:cNvPr id="17" name="Oval 16"/>
          <p:cNvSpPr/>
          <p:nvPr/>
        </p:nvSpPr>
        <p:spPr>
          <a:xfrm>
            <a:off x="10728960" y="2560320"/>
            <a:ext cx="384048" cy="384048"/>
          </a:xfrm>
          <a:prstGeom prst="ellipse">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FFFFFF"/>
                </a:solidFill>
                <a:latin typeface="Calibri"/>
              </a:rPr>
              <a:t>25</a:t>
            </a:r>
          </a:p>
        </p:txBody>
      </p:sp>
      <p:sp>
        <p:nvSpPr>
          <p:cNvPr id="18" name="TextBox 17"/>
          <p:cNvSpPr txBox="1"/>
          <p:nvPr/>
        </p:nvSpPr>
        <p:spPr>
          <a:xfrm>
            <a:off x="6507480" y="2560320"/>
            <a:ext cx="4130040" cy="384048"/>
          </a:xfrm>
          <a:prstGeom prst="rect">
            <a:avLst/>
          </a:prstGeom>
          <a:noFill/>
        </p:spPr>
        <p:txBody>
          <a:bodyPr wrap="square">
            <a:spAutoFit/>
          </a:bodyPr>
          <a:lstStyle/>
          <a:p>
            <a:r>
              <a:rPr sz="1400" b="1">
                <a:solidFill>
                  <a:srgbClr val="28282C"/>
                </a:solidFill>
                <a:latin typeface="Calibri"/>
              </a:rPr>
              <a:t>An affordable price</a:t>
            </a:r>
          </a:p>
        </p:txBody>
      </p:sp>
      <p:sp>
        <p:nvSpPr>
          <p:cNvPr id="19" name="Oval 18"/>
          <p:cNvSpPr/>
          <p:nvPr/>
        </p:nvSpPr>
        <p:spPr>
          <a:xfrm>
            <a:off x="10728960" y="2980944"/>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12</a:t>
            </a:r>
          </a:p>
        </p:txBody>
      </p:sp>
      <p:sp>
        <p:nvSpPr>
          <p:cNvPr id="20" name="TextBox 19"/>
          <p:cNvSpPr txBox="1"/>
          <p:nvPr/>
        </p:nvSpPr>
        <p:spPr>
          <a:xfrm>
            <a:off x="6507480" y="2980944"/>
            <a:ext cx="4130040" cy="384048"/>
          </a:xfrm>
          <a:prstGeom prst="rect">
            <a:avLst/>
          </a:prstGeom>
          <a:noFill/>
        </p:spPr>
        <p:txBody>
          <a:bodyPr wrap="square">
            <a:spAutoFit/>
          </a:bodyPr>
          <a:lstStyle/>
          <a:p>
            <a:r>
              <a:rPr sz="1400" b="0">
                <a:solidFill>
                  <a:srgbClr val="28282C"/>
                </a:solidFill>
                <a:latin typeface="Calibri"/>
              </a:rPr>
              <a:t>Paying in instalments</a:t>
            </a:r>
          </a:p>
        </p:txBody>
      </p:sp>
      <p:sp>
        <p:nvSpPr>
          <p:cNvPr id="21" name="Oval 20"/>
          <p:cNvSpPr/>
          <p:nvPr/>
        </p:nvSpPr>
        <p:spPr>
          <a:xfrm>
            <a:off x="10728960" y="3401568"/>
            <a:ext cx="384048" cy="384048"/>
          </a:xfrm>
          <a:prstGeom prst="ellipse">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FFFFFF"/>
                </a:solidFill>
                <a:latin typeface="Calibri"/>
              </a:rPr>
              <a:t>20</a:t>
            </a:r>
          </a:p>
        </p:txBody>
      </p:sp>
      <p:sp>
        <p:nvSpPr>
          <p:cNvPr id="22" name="TextBox 21"/>
          <p:cNvSpPr txBox="1"/>
          <p:nvPr/>
        </p:nvSpPr>
        <p:spPr>
          <a:xfrm>
            <a:off x="6507480" y="3401568"/>
            <a:ext cx="4130040" cy="384048"/>
          </a:xfrm>
          <a:prstGeom prst="rect">
            <a:avLst/>
          </a:prstGeom>
          <a:noFill/>
        </p:spPr>
        <p:txBody>
          <a:bodyPr wrap="square">
            <a:spAutoFit/>
          </a:bodyPr>
          <a:lstStyle/>
          <a:p>
            <a:r>
              <a:rPr sz="1400" b="1">
                <a:solidFill>
                  <a:srgbClr val="28282C"/>
                </a:solidFill>
                <a:latin typeface="Calibri"/>
              </a:rPr>
              <a:t>A return on the money: a better-paid job</a:t>
            </a:r>
          </a:p>
        </p:txBody>
      </p:sp>
      <p:sp>
        <p:nvSpPr>
          <p:cNvPr id="23" name="Rectangle 22"/>
          <p:cNvSpPr/>
          <p:nvPr/>
        </p:nvSpPr>
        <p:spPr>
          <a:xfrm>
            <a:off x="731520" y="4069080"/>
            <a:ext cx="5227320" cy="196596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206240"/>
            <a:ext cx="4678680" cy="438912"/>
          </a:xfrm>
          <a:prstGeom prst="rect">
            <a:avLst/>
          </a:prstGeom>
          <a:noFill/>
        </p:spPr>
        <p:txBody>
          <a:bodyPr wrap="square">
            <a:spAutoFit/>
          </a:bodyPr>
          <a:lstStyle/>
          <a:p>
            <a:r>
              <a:rPr sz="1600" b="1">
                <a:solidFill>
                  <a:srgbClr val="28282C"/>
                </a:solidFill>
                <a:latin typeface="Century Gothic"/>
              </a:rPr>
              <a:t>Emotional needs</a:t>
            </a:r>
            <a:r>
              <a:rPr sz="1100" b="0">
                <a:solidFill>
                  <a:srgbClr val="3A3A3F"/>
                </a:solidFill>
                <a:latin typeface="Century Gothic"/>
              </a:rPr>
              <a:t>   feelings</a:t>
            </a:r>
          </a:p>
        </p:txBody>
      </p:sp>
      <p:sp>
        <p:nvSpPr>
          <p:cNvPr id="25" name="Oval 24"/>
          <p:cNvSpPr/>
          <p:nvPr/>
        </p:nvSpPr>
        <p:spPr>
          <a:xfrm>
            <a:off x="5227320" y="4709160"/>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16</a:t>
            </a:r>
          </a:p>
        </p:txBody>
      </p:sp>
      <p:sp>
        <p:nvSpPr>
          <p:cNvPr id="26" name="TextBox 25"/>
          <p:cNvSpPr txBox="1"/>
          <p:nvPr/>
        </p:nvSpPr>
        <p:spPr>
          <a:xfrm>
            <a:off x="1005840" y="4709160"/>
            <a:ext cx="4130040" cy="384048"/>
          </a:xfrm>
          <a:prstGeom prst="rect">
            <a:avLst/>
          </a:prstGeom>
          <a:noFill/>
        </p:spPr>
        <p:txBody>
          <a:bodyPr wrap="square">
            <a:spAutoFit/>
          </a:bodyPr>
          <a:lstStyle/>
          <a:p>
            <a:r>
              <a:rPr sz="1400" b="0">
                <a:solidFill>
                  <a:srgbClr val="28282C"/>
                </a:solidFill>
                <a:latin typeface="Calibri"/>
              </a:rPr>
              <a:t>Trust that the course is genuine</a:t>
            </a:r>
          </a:p>
        </p:txBody>
      </p:sp>
      <p:sp>
        <p:nvSpPr>
          <p:cNvPr id="27" name="Oval 26"/>
          <p:cNvSpPr/>
          <p:nvPr/>
        </p:nvSpPr>
        <p:spPr>
          <a:xfrm>
            <a:off x="5227320" y="5129784"/>
            <a:ext cx="384048" cy="384048"/>
          </a:xfrm>
          <a:prstGeom prst="ellipse">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FFFFFF"/>
                </a:solidFill>
                <a:latin typeface="Calibri"/>
              </a:rPr>
              <a:t>20</a:t>
            </a:r>
          </a:p>
        </p:txBody>
      </p:sp>
      <p:sp>
        <p:nvSpPr>
          <p:cNvPr id="28" name="TextBox 27"/>
          <p:cNvSpPr txBox="1"/>
          <p:nvPr/>
        </p:nvSpPr>
        <p:spPr>
          <a:xfrm>
            <a:off x="1005840" y="5129784"/>
            <a:ext cx="4130040" cy="384048"/>
          </a:xfrm>
          <a:prstGeom prst="rect">
            <a:avLst/>
          </a:prstGeom>
          <a:noFill/>
        </p:spPr>
        <p:txBody>
          <a:bodyPr wrap="square">
            <a:spAutoFit/>
          </a:bodyPr>
          <a:lstStyle/>
          <a:p>
            <a:r>
              <a:rPr sz="1400" b="1">
                <a:solidFill>
                  <a:srgbClr val="28282C"/>
                </a:solidFill>
                <a:latin typeface="Calibri"/>
              </a:rPr>
              <a:t>Feeling supported</a:t>
            </a:r>
          </a:p>
        </p:txBody>
      </p:sp>
      <p:sp>
        <p:nvSpPr>
          <p:cNvPr id="29" name="Oval 28"/>
          <p:cNvSpPr/>
          <p:nvPr/>
        </p:nvSpPr>
        <p:spPr>
          <a:xfrm>
            <a:off x="5227320" y="5550408"/>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9</a:t>
            </a:r>
          </a:p>
        </p:txBody>
      </p:sp>
      <p:sp>
        <p:nvSpPr>
          <p:cNvPr id="30" name="TextBox 29"/>
          <p:cNvSpPr txBox="1"/>
          <p:nvPr/>
        </p:nvSpPr>
        <p:spPr>
          <a:xfrm>
            <a:off x="1005840" y="5550408"/>
            <a:ext cx="4130040" cy="384048"/>
          </a:xfrm>
          <a:prstGeom prst="rect">
            <a:avLst/>
          </a:prstGeom>
          <a:noFill/>
        </p:spPr>
        <p:txBody>
          <a:bodyPr wrap="square">
            <a:spAutoFit/>
          </a:bodyPr>
          <a:lstStyle/>
          <a:p>
            <a:r>
              <a:rPr sz="1400" b="0">
                <a:solidFill>
                  <a:srgbClr val="28282C"/>
                </a:solidFill>
                <a:latin typeface="Calibri"/>
              </a:rPr>
              <a:t>Hope for a future-proof career</a:t>
            </a:r>
          </a:p>
        </p:txBody>
      </p:sp>
      <p:sp>
        <p:nvSpPr>
          <p:cNvPr id="31" name="Rectangle 30"/>
          <p:cNvSpPr/>
          <p:nvPr/>
        </p:nvSpPr>
        <p:spPr>
          <a:xfrm>
            <a:off x="6233160" y="4069080"/>
            <a:ext cx="5227320" cy="1965960"/>
          </a:xfrm>
          <a:prstGeom prst="rect">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07480" y="4206240"/>
            <a:ext cx="4678680" cy="438912"/>
          </a:xfrm>
          <a:prstGeom prst="rect">
            <a:avLst/>
          </a:prstGeom>
          <a:noFill/>
        </p:spPr>
        <p:txBody>
          <a:bodyPr wrap="square">
            <a:spAutoFit/>
          </a:bodyPr>
          <a:lstStyle/>
          <a:p>
            <a:r>
              <a:rPr sz="1600" b="1">
                <a:solidFill>
                  <a:srgbClr val="FFFFFF"/>
                </a:solidFill>
                <a:latin typeface="Century Gothic"/>
              </a:rPr>
              <a:t>Social needs</a:t>
            </a:r>
            <a:r>
              <a:rPr sz="1100" b="0">
                <a:solidFill>
                  <a:srgbClr val="DCEBFA"/>
                </a:solidFill>
                <a:latin typeface="Century Gothic"/>
              </a:rPr>
              <a:t>   other people</a:t>
            </a:r>
          </a:p>
        </p:txBody>
      </p:sp>
      <p:sp>
        <p:nvSpPr>
          <p:cNvPr id="33" name="Oval 32"/>
          <p:cNvSpPr/>
          <p:nvPr/>
        </p:nvSpPr>
        <p:spPr>
          <a:xfrm>
            <a:off x="10728960" y="4709160"/>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9</a:t>
            </a:r>
          </a:p>
        </p:txBody>
      </p:sp>
      <p:sp>
        <p:nvSpPr>
          <p:cNvPr id="34" name="TextBox 33"/>
          <p:cNvSpPr txBox="1"/>
          <p:nvPr/>
        </p:nvSpPr>
        <p:spPr>
          <a:xfrm>
            <a:off x="6507480" y="4709160"/>
            <a:ext cx="4130040" cy="384048"/>
          </a:xfrm>
          <a:prstGeom prst="rect">
            <a:avLst/>
          </a:prstGeom>
          <a:noFill/>
        </p:spPr>
        <p:txBody>
          <a:bodyPr wrap="square">
            <a:spAutoFit/>
          </a:bodyPr>
          <a:lstStyle/>
          <a:p>
            <a:r>
              <a:rPr sz="1400" b="0">
                <a:solidFill>
                  <a:srgbClr val="FFFFFF"/>
                </a:solidFill>
                <a:latin typeface="Calibri"/>
              </a:rPr>
              <a:t>Belonging to a learning community</a:t>
            </a:r>
          </a:p>
        </p:txBody>
      </p:sp>
      <p:sp>
        <p:nvSpPr>
          <p:cNvPr id="35" name="Oval 34"/>
          <p:cNvSpPr/>
          <p:nvPr/>
        </p:nvSpPr>
        <p:spPr>
          <a:xfrm>
            <a:off x="10728960" y="5129784"/>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6</a:t>
            </a:r>
          </a:p>
        </p:txBody>
      </p:sp>
      <p:sp>
        <p:nvSpPr>
          <p:cNvPr id="36" name="TextBox 35"/>
          <p:cNvSpPr txBox="1"/>
          <p:nvPr/>
        </p:nvSpPr>
        <p:spPr>
          <a:xfrm>
            <a:off x="6507480" y="5129784"/>
            <a:ext cx="4130040" cy="384048"/>
          </a:xfrm>
          <a:prstGeom prst="rect">
            <a:avLst/>
          </a:prstGeom>
          <a:noFill/>
        </p:spPr>
        <p:txBody>
          <a:bodyPr wrap="square">
            <a:spAutoFit/>
          </a:bodyPr>
          <a:lstStyle/>
          <a:p>
            <a:r>
              <a:rPr sz="1400" b="0">
                <a:solidFill>
                  <a:srgbClr val="FFFFFF"/>
                </a:solidFill>
                <a:latin typeface="Calibri"/>
              </a:rPr>
              <a:t>Status of a respected tech job</a:t>
            </a:r>
          </a:p>
        </p:txBody>
      </p:sp>
      <p:sp>
        <p:nvSpPr>
          <p:cNvPr id="37" name="Oval 36"/>
          <p:cNvSpPr/>
          <p:nvPr/>
        </p:nvSpPr>
        <p:spPr>
          <a:xfrm>
            <a:off x="10728960" y="5550408"/>
            <a:ext cx="384048" cy="38404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a:solidFill>
                  <a:srgbClr val="28282C"/>
                </a:solidFill>
                <a:latin typeface="Calibri"/>
              </a:rPr>
              <a:t>9</a:t>
            </a:r>
          </a:p>
        </p:txBody>
      </p:sp>
      <p:sp>
        <p:nvSpPr>
          <p:cNvPr id="38" name="TextBox 37"/>
          <p:cNvSpPr txBox="1"/>
          <p:nvPr/>
        </p:nvSpPr>
        <p:spPr>
          <a:xfrm>
            <a:off x="6507480" y="5550408"/>
            <a:ext cx="4130040" cy="384048"/>
          </a:xfrm>
          <a:prstGeom prst="rect">
            <a:avLst/>
          </a:prstGeom>
          <a:noFill/>
        </p:spPr>
        <p:txBody>
          <a:bodyPr wrap="square">
            <a:spAutoFit/>
          </a:bodyPr>
          <a:lstStyle/>
          <a:p>
            <a:r>
              <a:rPr sz="1400" b="0">
                <a:solidFill>
                  <a:srgbClr val="FFFFFF"/>
                </a:solidFill>
                <a:latin typeface="Calibri"/>
              </a:rPr>
              <a:t>Inclusion for women and non-IT people</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childTnLst>
                          </p:cTn>
                        </p:par>
                        <p:par>
                          <p:cTn id="40" fill="hold">
                            <p:stCondLst>
                              <p:cond delay="1500"/>
                            </p:stCondLst>
                            <p:childTnLst>
                              <p:par>
                                <p:cTn id="41" presetID="10" presetClass="entr" presetSubtype="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childTnLst>
                          </p:cTn>
                        </p:par>
                        <p:par>
                          <p:cTn id="65" fill="hold">
                            <p:stCondLst>
                              <p:cond delay="2000"/>
                            </p:stCondLst>
                            <p:childTnLst>
                              <p:par>
                                <p:cTn id="66" presetID="10" presetClass="entr" presetSubtype="0" fill="hold" grpId="0" nodeType="after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childTnLst>
                          </p:cTn>
                        </p:par>
                        <p:par>
                          <p:cTn id="90" fill="hold">
                            <p:stCondLst>
                              <p:cond delay="2500"/>
                            </p:stCondLst>
                            <p:childTnLst>
                              <p:par>
                                <p:cTn id="91" presetID="10" presetClass="entr" presetSubtype="0" fill="hold" grpId="0" nodeType="after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fade">
                                      <p:cBhvr>
                                        <p:cTn id="102" dur="500"/>
                                        <p:tgtEl>
                                          <p:spTgt spid="3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8" dur="500"/>
                                        <p:tgtEl>
                                          <p:spTgt spid="3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4"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10" grpId="0" animBg="1"/>
      <p:bldP spid="9" grpId="0" animBg="1"/>
      <p:bldP spid="12" grpId="0" animBg="1"/>
      <p:bldP spid="11" grpId="0" animBg="1"/>
      <p:bldP spid="14" grpId="0" animBg="1"/>
      <p:bldP spid="13" grpId="0" animBg="1"/>
      <p:bldP spid="15" grpId="0" animBg="1"/>
      <p:bldP spid="16" grpId="0" animBg="1"/>
      <p:bldP spid="18" grpId="0" animBg="1"/>
      <p:bldP spid="17" grpId="0" animBg="1"/>
      <p:bldP spid="20" grpId="0" animBg="1"/>
      <p:bldP spid="19" grpId="0" animBg="1"/>
      <p:bldP spid="22" grpId="0" animBg="1"/>
      <p:bldP spid="21" grpId="0" animBg="1"/>
      <p:bldP spid="23" grpId="0" animBg="1"/>
      <p:bldP spid="24" grpId="0" animBg="1"/>
      <p:bldP spid="26" grpId="0" animBg="1"/>
      <p:bldP spid="25" grpId="0" animBg="1"/>
      <p:bldP spid="28" grpId="0" animBg="1"/>
      <p:bldP spid="27" grpId="0" animBg="1"/>
      <p:bldP spid="30" grpId="0" animBg="1"/>
      <p:bldP spid="29" grpId="0" animBg="1"/>
      <p:bldP spid="31" grpId="0" animBg="1"/>
      <p:bldP spid="32" grpId="0" animBg="1"/>
      <p:bldP spid="34" grpId="0" animBg="1"/>
      <p:bldP spid="33" grpId="0" animBg="1"/>
      <p:bldP spid="36" grpId="0" animBg="1"/>
      <p:bldP spid="35" grpId="0" animBg="1"/>
      <p:bldP spid="38" grpId="0" animBg="1"/>
      <p:bldP spid="3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The 5 Most Important Needs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THE 5 MOST IMPORTANT NEEDS</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Importance = how often it came up in the research × its effect on buying (of 25)</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13</a:t>
            </a:r>
          </a:p>
        </p:txBody>
      </p:sp>
      <p:sp>
        <p:nvSpPr>
          <p:cNvPr id="7" name="Block Arc 6"/>
          <p:cNvSpPr/>
          <p:nvPr/>
        </p:nvSpPr>
        <p:spPr>
          <a:xfrm>
            <a:off x="3855720" y="3931920"/>
            <a:ext cx="4480560" cy="4480560"/>
          </a:xfrm>
          <a:prstGeom prst="blockArc">
            <a:avLst>
              <a:gd name="adj1" fmla="val 10920000"/>
              <a:gd name="adj2" fmla="val 12840000"/>
              <a:gd name="adj3" fmla="val 20000"/>
            </a:avLst>
          </a:prstGeom>
          <a:solidFill>
            <a:srgbClr val="174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lock Arc 7"/>
          <p:cNvSpPr/>
          <p:nvPr/>
        </p:nvSpPr>
        <p:spPr>
          <a:xfrm>
            <a:off x="3855720" y="3931920"/>
            <a:ext cx="4480560" cy="4480560"/>
          </a:xfrm>
          <a:prstGeom prst="blockArc">
            <a:avLst>
              <a:gd name="adj1" fmla="val 13079999"/>
              <a:gd name="adj2" fmla="val 15000000"/>
              <a:gd name="adj3" fmla="val 20000"/>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lock Arc 8"/>
          <p:cNvSpPr/>
          <p:nvPr/>
        </p:nvSpPr>
        <p:spPr>
          <a:xfrm>
            <a:off x="3855720" y="3931920"/>
            <a:ext cx="4480560" cy="4480560"/>
          </a:xfrm>
          <a:prstGeom prst="blockArc">
            <a:avLst>
              <a:gd name="adj1" fmla="val 15240000"/>
              <a:gd name="adj2" fmla="val 17160000"/>
              <a:gd name="adj3" fmla="val 20000"/>
            </a:avLst>
          </a:prstGeom>
          <a:solidFill>
            <a:srgbClr val="8EC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lock Arc 9"/>
          <p:cNvSpPr/>
          <p:nvPr/>
        </p:nvSpPr>
        <p:spPr>
          <a:xfrm>
            <a:off x="3855720" y="3931920"/>
            <a:ext cx="4480560" cy="4480560"/>
          </a:xfrm>
          <a:prstGeom prst="blockArc">
            <a:avLst>
              <a:gd name="adj1" fmla="val 17400000"/>
              <a:gd name="adj2" fmla="val 19320000"/>
              <a:gd name="adj3" fmla="val 20000"/>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lock Arc 10"/>
          <p:cNvSpPr/>
          <p:nvPr/>
        </p:nvSpPr>
        <p:spPr>
          <a:xfrm>
            <a:off x="3855720" y="3931920"/>
            <a:ext cx="4480560" cy="4480560"/>
          </a:xfrm>
          <a:prstGeom prst="blockArc">
            <a:avLst>
              <a:gd name="adj1" fmla="val 19560000"/>
              <a:gd name="adj2" fmla="val 21480000"/>
              <a:gd name="adj3" fmla="val 20000"/>
            </a:avLst>
          </a:prstGeom>
          <a:solidFill>
            <a:srgbClr val="174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840" y="5120640"/>
            <a:ext cx="2560320" cy="822960"/>
          </a:xfrm>
          <a:prstGeom prst="rect">
            <a:avLst/>
          </a:prstGeom>
          <a:noFill/>
        </p:spPr>
        <p:txBody>
          <a:bodyPr wrap="square">
            <a:spAutoFit/>
          </a:bodyPr>
          <a:lstStyle/>
          <a:p>
            <a:pPr algn="ctr">
              <a:spcAft>
                <a:spcPts val="0"/>
              </a:spcAft>
            </a:pPr>
            <a:r>
              <a:rPr sz="2200" b="1">
                <a:solidFill>
                  <a:srgbClr val="28282C"/>
                </a:solidFill>
                <a:latin typeface="Century Gothic"/>
              </a:rPr>
              <a:t>TOP 5</a:t>
            </a:r>
          </a:p>
          <a:p>
            <a:pPr algn="ctr">
              <a:spcAft>
                <a:spcPts val="0"/>
              </a:spcAft>
            </a:pPr>
            <a:r>
              <a:rPr sz="1400" b="0">
                <a:solidFill>
                  <a:srgbClr val="8A8A8F"/>
                </a:solidFill>
                <a:latin typeface="Century Gothic"/>
              </a:rPr>
              <a:t>needs</a:t>
            </a:r>
          </a:p>
        </p:txBody>
      </p:sp>
      <p:sp>
        <p:nvSpPr>
          <p:cNvPr id="13" name="TextBox 12"/>
          <p:cNvSpPr txBox="1"/>
          <p:nvPr/>
        </p:nvSpPr>
        <p:spPr>
          <a:xfrm>
            <a:off x="731520" y="4434840"/>
            <a:ext cx="3017520" cy="960120"/>
          </a:xfrm>
          <a:prstGeom prst="rect">
            <a:avLst/>
          </a:prstGeom>
          <a:noFill/>
        </p:spPr>
        <p:txBody>
          <a:bodyPr wrap="square">
            <a:spAutoFit/>
          </a:bodyPr>
          <a:lstStyle/>
          <a:p>
            <a:pPr algn="r">
              <a:spcAft>
                <a:spcPts val="200"/>
              </a:spcAft>
            </a:pPr>
            <a:r>
              <a:rPr sz="1400" b="1">
                <a:solidFill>
                  <a:srgbClr val="1F6FB8"/>
                </a:solidFill>
                <a:latin typeface="Calibri"/>
              </a:rPr>
              <a:t>01  </a:t>
            </a:r>
            <a:r>
              <a:rPr sz="1400" b="1">
                <a:solidFill>
                  <a:srgbClr val="28282C"/>
                </a:solidFill>
                <a:latin typeface="Calibri"/>
              </a:rPr>
              <a:t>Practical, hands-on skills</a:t>
            </a:r>
          </a:p>
          <a:p>
            <a:pPr algn="r">
              <a:spcAft>
                <a:spcPts val="200"/>
              </a:spcAft>
            </a:pPr>
            <a:r>
              <a:rPr sz="1100" b="0">
                <a:solidFill>
                  <a:srgbClr val="8A8A8F"/>
                </a:solidFill>
                <a:latin typeface="Calibri"/>
              </a:rPr>
              <a:t>Functional  ·  25 of 25</a:t>
            </a:r>
          </a:p>
        </p:txBody>
      </p:sp>
      <p:sp>
        <p:nvSpPr>
          <p:cNvPr id="14" name="TextBox 13"/>
          <p:cNvSpPr txBox="1"/>
          <p:nvPr/>
        </p:nvSpPr>
        <p:spPr>
          <a:xfrm>
            <a:off x="1188720" y="2331720"/>
            <a:ext cx="3017520" cy="960120"/>
          </a:xfrm>
          <a:prstGeom prst="rect">
            <a:avLst/>
          </a:prstGeom>
          <a:noFill/>
        </p:spPr>
        <p:txBody>
          <a:bodyPr wrap="square">
            <a:spAutoFit/>
          </a:bodyPr>
          <a:lstStyle/>
          <a:p>
            <a:pPr algn="r">
              <a:spcAft>
                <a:spcPts val="200"/>
              </a:spcAft>
            </a:pPr>
            <a:r>
              <a:rPr sz="1400" b="1">
                <a:solidFill>
                  <a:srgbClr val="1F6FB8"/>
                </a:solidFill>
                <a:latin typeface="Calibri"/>
              </a:rPr>
              <a:t>02  </a:t>
            </a:r>
            <a:r>
              <a:rPr sz="1400" b="1">
                <a:solidFill>
                  <a:srgbClr val="28282C"/>
                </a:solidFill>
                <a:latin typeface="Calibri"/>
              </a:rPr>
              <a:t>An affordable price</a:t>
            </a:r>
          </a:p>
          <a:p>
            <a:pPr algn="r">
              <a:spcAft>
                <a:spcPts val="200"/>
              </a:spcAft>
            </a:pPr>
            <a:r>
              <a:rPr sz="1100" b="0">
                <a:solidFill>
                  <a:srgbClr val="8A8A8F"/>
                </a:solidFill>
                <a:latin typeface="Calibri"/>
              </a:rPr>
              <a:t>Economic  ·  25 of 25</a:t>
            </a:r>
          </a:p>
        </p:txBody>
      </p:sp>
      <p:sp>
        <p:nvSpPr>
          <p:cNvPr id="15" name="TextBox 14"/>
          <p:cNvSpPr txBox="1"/>
          <p:nvPr/>
        </p:nvSpPr>
        <p:spPr>
          <a:xfrm>
            <a:off x="4632960" y="1874520"/>
            <a:ext cx="3017520" cy="960120"/>
          </a:xfrm>
          <a:prstGeom prst="rect">
            <a:avLst/>
          </a:prstGeom>
          <a:noFill/>
        </p:spPr>
        <p:txBody>
          <a:bodyPr wrap="square">
            <a:spAutoFit/>
          </a:bodyPr>
          <a:lstStyle/>
          <a:p>
            <a:pPr algn="ctr">
              <a:spcAft>
                <a:spcPts val="200"/>
              </a:spcAft>
            </a:pPr>
            <a:r>
              <a:rPr sz="1400" b="1">
                <a:solidFill>
                  <a:srgbClr val="1F6FB8"/>
                </a:solidFill>
                <a:latin typeface="Calibri"/>
              </a:rPr>
              <a:t>03  </a:t>
            </a:r>
            <a:r>
              <a:rPr sz="1400" b="1">
                <a:solidFill>
                  <a:srgbClr val="28282C"/>
                </a:solidFill>
                <a:latin typeface="Calibri"/>
              </a:rPr>
              <a:t>Preparation for a recognised certificate</a:t>
            </a:r>
          </a:p>
          <a:p>
            <a:pPr algn="ctr">
              <a:spcAft>
                <a:spcPts val="200"/>
              </a:spcAft>
            </a:pPr>
            <a:r>
              <a:rPr sz="1100" b="0">
                <a:solidFill>
                  <a:srgbClr val="8A8A8F"/>
                </a:solidFill>
                <a:latin typeface="Calibri"/>
              </a:rPr>
              <a:t>Functional  ·  20 of 25</a:t>
            </a:r>
          </a:p>
        </p:txBody>
      </p:sp>
      <p:sp>
        <p:nvSpPr>
          <p:cNvPr id="16" name="TextBox 15"/>
          <p:cNvSpPr txBox="1"/>
          <p:nvPr/>
        </p:nvSpPr>
        <p:spPr>
          <a:xfrm>
            <a:off x="8077200" y="2331720"/>
            <a:ext cx="3017520" cy="960120"/>
          </a:xfrm>
          <a:prstGeom prst="rect">
            <a:avLst/>
          </a:prstGeom>
          <a:noFill/>
        </p:spPr>
        <p:txBody>
          <a:bodyPr wrap="square">
            <a:spAutoFit/>
          </a:bodyPr>
          <a:lstStyle/>
          <a:p>
            <a:pPr algn="l">
              <a:spcAft>
                <a:spcPts val="200"/>
              </a:spcAft>
            </a:pPr>
            <a:r>
              <a:rPr sz="1400" b="1">
                <a:solidFill>
                  <a:srgbClr val="1F6FB8"/>
                </a:solidFill>
                <a:latin typeface="Calibri"/>
              </a:rPr>
              <a:t>04  </a:t>
            </a:r>
            <a:r>
              <a:rPr sz="1400" b="1">
                <a:solidFill>
                  <a:srgbClr val="28282C"/>
                </a:solidFill>
                <a:latin typeface="Calibri"/>
              </a:rPr>
              <a:t>A return on the money: a better-paid job</a:t>
            </a:r>
          </a:p>
          <a:p>
            <a:pPr algn="l">
              <a:spcAft>
                <a:spcPts val="200"/>
              </a:spcAft>
            </a:pPr>
            <a:r>
              <a:rPr sz="1100" b="0">
                <a:solidFill>
                  <a:srgbClr val="8A8A8F"/>
                </a:solidFill>
                <a:latin typeface="Calibri"/>
              </a:rPr>
              <a:t>Economic  ·  20 of 25</a:t>
            </a:r>
          </a:p>
        </p:txBody>
      </p:sp>
      <p:sp>
        <p:nvSpPr>
          <p:cNvPr id="17" name="TextBox 16"/>
          <p:cNvSpPr txBox="1"/>
          <p:nvPr/>
        </p:nvSpPr>
        <p:spPr>
          <a:xfrm>
            <a:off x="8534400" y="4434840"/>
            <a:ext cx="3017520" cy="960120"/>
          </a:xfrm>
          <a:prstGeom prst="rect">
            <a:avLst/>
          </a:prstGeom>
          <a:noFill/>
        </p:spPr>
        <p:txBody>
          <a:bodyPr wrap="square">
            <a:spAutoFit/>
          </a:bodyPr>
          <a:lstStyle/>
          <a:p>
            <a:pPr algn="l">
              <a:spcAft>
                <a:spcPts val="200"/>
              </a:spcAft>
            </a:pPr>
            <a:r>
              <a:rPr sz="1400" b="1">
                <a:solidFill>
                  <a:srgbClr val="1F6FB8"/>
                </a:solidFill>
                <a:latin typeface="Calibri"/>
              </a:rPr>
              <a:t>05  </a:t>
            </a:r>
            <a:r>
              <a:rPr sz="1400" b="1">
                <a:solidFill>
                  <a:srgbClr val="28282C"/>
                </a:solidFill>
                <a:latin typeface="Calibri"/>
              </a:rPr>
              <a:t>Feeling supported</a:t>
            </a:r>
          </a:p>
          <a:p>
            <a:pPr algn="l">
              <a:spcAft>
                <a:spcPts val="200"/>
              </a:spcAft>
            </a:pPr>
            <a:r>
              <a:rPr sz="1100" b="0">
                <a:solidFill>
                  <a:srgbClr val="8A8A8F"/>
                </a:solidFill>
                <a:latin typeface="Calibri"/>
              </a:rPr>
              <a:t>Emotional  ·  20 of 25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50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childTnLst>
                          </p:cTn>
                        </p:par>
                        <p:par>
                          <p:cTn id="42" fill="hold">
                            <p:stCondLst>
                              <p:cond delay="25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childTnLst>
                          </p:cTn>
                        </p:par>
                        <p:par>
                          <p:cTn id="46" fill="hold">
                            <p:stCondLst>
                              <p:cond delay="3000"/>
                            </p:stCondLst>
                            <p:childTnLst>
                              <p:par>
                                <p:cTn id="47" presetID="10" presetClass="entr" presetSubtype="0" fill="hold" grpId="0" nodeType="after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childTnLst>
                          </p:cTn>
                        </p:par>
                        <p:par>
                          <p:cTn id="50" fill="hold">
                            <p:stCondLst>
                              <p:cond delay="3500"/>
                            </p:stCondLst>
                            <p:childTnLst>
                              <p:par>
                                <p:cTn id="51" presetID="10" presetClass="entr" presetSubtype="0" fill="hold" grpId="0"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All Twelve Needs, Scored</a:t>
            </a:r>
          </a:p>
        </p:txBody>
      </p:sp>
      <p:graphicFrame>
        <p:nvGraphicFramePr>
          <p:cNvPr id="3" name="Content Placeholder 2"/>
          <p:cNvGraphicFramePr>
            <a:graphicFrameLocks noGrp="1"/>
          </p:cNvGraphicFramePr>
          <p:nvPr>
            <p:ph idx="1"/>
          </p:nvPr>
        </p:nvGraphicFramePr>
        <p:xfrm>
          <a:off x="731520" y="1874520"/>
          <a:ext cx="694944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THE 5 MOST IMPORTANT NEEDS</a:t>
            </a:r>
          </a:p>
        </p:txBody>
      </p:sp>
      <p:sp>
        <p:nvSpPr>
          <p:cNvPr id="5" name="TextBox 4"/>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Importance of each need (of 25); the top five in blue</a:t>
            </a:r>
          </a:p>
        </p:txBody>
      </p:sp>
      <p:sp>
        <p:nvSpPr>
          <p:cNvPr id="6" name="TextBox 5"/>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7" name="TextBox 6"/>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14</a:t>
            </a:r>
          </a:p>
        </p:txBody>
      </p:sp>
      <p:sp>
        <p:nvSpPr>
          <p:cNvPr id="8" name="Rectangle 7"/>
          <p:cNvSpPr/>
          <p:nvPr/>
        </p:nvSpPr>
        <p:spPr>
          <a:xfrm>
            <a:off x="8046720" y="2103120"/>
            <a:ext cx="3413760" cy="384048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 bIns="27432"/>
          <a:lstStyle/>
          <a:p>
            <a:pPr algn="l"/>
            <a:r>
              <a:rPr sz="1500" b="1">
                <a:solidFill>
                  <a:srgbClr val="FFFFFF"/>
                </a:solidFill>
                <a:latin typeface="Calibri"/>
              </a:rPr>
              <a:t>Skills and money</a:t>
            </a:r>
          </a:p>
          <a:p>
            <a:pPr algn="l"/>
            <a:r>
              <a:rPr sz="1500" b="0">
                <a:solidFill>
                  <a:srgbClr val="FFFFFF"/>
                </a:solidFill>
                <a:latin typeface="Calibri"/>
              </a:rPr>
              <a:t>matter most: two functional, two economic and one emotional need make the top five.</a:t>
            </a:r>
          </a:p>
          <a:p>
            <a:pPr algn="l"/>
            <a:r>
              <a:rPr sz="1500" b="1">
                <a:solidFill>
                  <a:srgbClr val="FFFFFF"/>
                </a:solidFill>
                <a:latin typeface="Calibri"/>
              </a:rPr>
              <a:t>Social needs</a:t>
            </a:r>
          </a:p>
          <a:p>
            <a:pPr algn="l"/>
            <a:r>
              <a:rPr sz="1500" b="0">
                <a:solidFill>
                  <a:srgbClr val="FFFFFF"/>
                </a:solidFill>
                <a:latin typeface="Calibri"/>
              </a:rPr>
              <a:t>score lowest, but still shape how the brand talks to people.</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Graphic spid="3" grpId="0">
        <p:bldAsOne/>
      </p:bldGraphic>
      <p:bldP spid="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736080" y="2377440"/>
            <a:ext cx="4998720" cy="1325880"/>
          </a:xfrm>
        </p:spPr>
        <p:txBody>
          <a:bodyPr anchor="t"/>
          <a:lstStyle/>
          <a:p>
            <a:r>
              <a:rPr sz="3800" b="1">
                <a:solidFill>
                  <a:srgbClr val="FFFFFF"/>
                </a:solidFill>
                <a:latin typeface="Century Gothic"/>
              </a:rPr>
              <a:t>Four Market Segments</a:t>
            </a:r>
          </a:p>
        </p:txBody>
      </p:sp>
      <p:sp>
        <p:nvSpPr>
          <p:cNvPr id="5" name="Oval 4"/>
          <p:cNvSpPr/>
          <p:nvPr/>
        </p:nvSpPr>
        <p:spPr>
          <a:xfrm>
            <a:off x="1127760" y="1508760"/>
            <a:ext cx="3840480" cy="3840480"/>
          </a:xfrm>
          <a:prstGeom prst="ellipse">
            <a:avLst/>
          </a:prstGeom>
          <a:noFill/>
          <a:ln w="635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1808" y="1892808"/>
            <a:ext cx="3072384" cy="3072384"/>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200144" y="4581144"/>
            <a:ext cx="502920" cy="502920"/>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2080" y="2468880"/>
            <a:ext cx="3291840" cy="1828800"/>
          </a:xfrm>
          <a:prstGeom prst="rect">
            <a:avLst/>
          </a:prstGeom>
          <a:noFill/>
        </p:spPr>
        <p:txBody>
          <a:bodyPr wrap="square">
            <a:spAutoFit/>
          </a:bodyPr>
          <a:lstStyle/>
          <a:p>
            <a:pPr algn="ctr"/>
            <a:r>
              <a:rPr sz="11000" b="1">
                <a:solidFill>
                  <a:srgbClr val="2F7FCC"/>
                </a:solidFill>
                <a:latin typeface="Century Gothic"/>
              </a:rPr>
              <a:t>04</a:t>
            </a:r>
          </a:p>
        </p:txBody>
      </p:sp>
      <p:sp>
        <p:nvSpPr>
          <p:cNvPr id="9" name="TextBox 8"/>
          <p:cNvSpPr txBox="1"/>
          <p:nvPr/>
        </p:nvSpPr>
        <p:spPr>
          <a:xfrm>
            <a:off x="6736080" y="2011680"/>
            <a:ext cx="4998720" cy="365760"/>
          </a:xfrm>
          <a:prstGeom prst="rect">
            <a:avLst/>
          </a:prstGeom>
          <a:noFill/>
        </p:spPr>
        <p:txBody>
          <a:bodyPr wrap="square">
            <a:spAutoFit/>
          </a:bodyPr>
          <a:lstStyle/>
          <a:p>
            <a:r>
              <a:rPr sz="1300" b="1">
                <a:solidFill>
                  <a:srgbClr val="8EC5F2"/>
                </a:solidFill>
                <a:latin typeface="Calibri"/>
              </a:rPr>
              <a:t>TASK 4 OF 6</a:t>
            </a:r>
          </a:p>
        </p:txBody>
      </p:sp>
      <p:sp>
        <p:nvSpPr>
          <p:cNvPr id="10" name="Rectangle 9"/>
          <p:cNvSpPr/>
          <p:nvPr/>
        </p:nvSpPr>
        <p:spPr>
          <a:xfrm>
            <a:off x="6809232" y="3886200"/>
            <a:ext cx="914400" cy="73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6080" y="4069080"/>
            <a:ext cx="4998720" cy="914400"/>
          </a:xfrm>
          <a:prstGeom prst="rect">
            <a:avLst/>
          </a:prstGeom>
          <a:noFill/>
        </p:spPr>
        <p:txBody>
          <a:bodyPr wrap="square">
            <a:spAutoFit/>
          </a:bodyPr>
          <a:lstStyle/>
          <a:p>
            <a:r>
              <a:rPr sz="1600" b="0">
                <a:solidFill>
                  <a:srgbClr val="FFFFFF"/>
                </a:solidFill>
                <a:latin typeface="Calibri"/>
              </a:rPr>
              <a:t>Demographic, geographic, psychographic and behavioural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fade">
                                      <p:cBhvr>
                                        <p:cTn id="23" dur="500"/>
                                        <p:tgtEl>
                                          <p:spTgt spid="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2" grpId="0" animBg="1"/>
      <p:bldP spid="10" grpId="0" animBg="1"/>
      <p:bldP spid="1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Four Market Segments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FOUR MARKET SEGMENTS</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Each segment on the four bases: demographic, geographic, psychographic and behavioural</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16</a:t>
            </a:r>
          </a:p>
        </p:txBody>
      </p:sp>
      <p:sp>
        <p:nvSpPr>
          <p:cNvPr id="7" name="Rectangle 6"/>
          <p:cNvSpPr/>
          <p:nvPr/>
        </p:nvSpPr>
        <p:spPr>
          <a:xfrm>
            <a:off x="731520" y="1828800"/>
            <a:ext cx="2542032" cy="1143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20"/>
            <a:ext cx="1463040" cy="822960"/>
          </a:xfrm>
          <a:prstGeom prst="rect">
            <a:avLst/>
          </a:prstGeom>
          <a:noFill/>
        </p:spPr>
        <p:txBody>
          <a:bodyPr wrap="square">
            <a:spAutoFit/>
          </a:bodyPr>
          <a:lstStyle/>
          <a:p>
            <a:r>
              <a:rPr sz="4000" b="1">
                <a:solidFill>
                  <a:srgbClr val="FFFFFF"/>
                </a:solidFill>
                <a:latin typeface="Century Gothic"/>
              </a:rPr>
              <a:t>01</a:t>
            </a:r>
          </a:p>
        </p:txBody>
      </p:sp>
      <p:sp>
        <p:nvSpPr>
          <p:cNvPr id="9" name="TextBox 8"/>
          <p:cNvSpPr txBox="1"/>
          <p:nvPr/>
        </p:nvSpPr>
        <p:spPr>
          <a:xfrm>
            <a:off x="914400" y="2578608"/>
            <a:ext cx="2267712" cy="365760"/>
          </a:xfrm>
          <a:prstGeom prst="rect">
            <a:avLst/>
          </a:prstGeom>
          <a:noFill/>
        </p:spPr>
        <p:txBody>
          <a:bodyPr wrap="square">
            <a:spAutoFit/>
          </a:bodyPr>
          <a:lstStyle/>
          <a:p>
            <a:r>
              <a:rPr sz="1000" b="1">
                <a:solidFill>
                  <a:srgbClr val="FFFFFF"/>
                </a:solidFill>
                <a:latin typeface="Calibri"/>
              </a:rPr>
              <a:t>SEGMENT</a:t>
            </a:r>
          </a:p>
        </p:txBody>
      </p:sp>
      <p:sp>
        <p:nvSpPr>
          <p:cNvPr id="10" name="TextBox 9"/>
          <p:cNvSpPr txBox="1"/>
          <p:nvPr/>
        </p:nvSpPr>
        <p:spPr>
          <a:xfrm>
            <a:off x="731520" y="3035808"/>
            <a:ext cx="2542032" cy="384048"/>
          </a:xfrm>
          <a:prstGeom prst="rect">
            <a:avLst/>
          </a:prstGeom>
          <a:noFill/>
        </p:spPr>
        <p:txBody>
          <a:bodyPr wrap="square">
            <a:spAutoFit/>
          </a:bodyPr>
          <a:lstStyle/>
          <a:p>
            <a:r>
              <a:rPr sz="1300" b="1">
                <a:solidFill>
                  <a:srgbClr val="28282C"/>
                </a:solidFill>
                <a:latin typeface="Century Gothic"/>
              </a:rPr>
              <a:t>Campus Starters</a:t>
            </a:r>
          </a:p>
        </p:txBody>
      </p:sp>
      <p:sp>
        <p:nvSpPr>
          <p:cNvPr id="11" name="TextBox 10"/>
          <p:cNvSpPr txBox="1"/>
          <p:nvPr/>
        </p:nvSpPr>
        <p:spPr>
          <a:xfrm>
            <a:off x="731520" y="3401568"/>
            <a:ext cx="2542032" cy="420624"/>
          </a:xfrm>
          <a:prstGeom prst="rect">
            <a:avLst/>
          </a:prstGeom>
          <a:noFill/>
        </p:spPr>
        <p:txBody>
          <a:bodyPr wrap="square">
            <a:spAutoFit/>
          </a:bodyPr>
          <a:lstStyle/>
          <a:p>
            <a:r>
              <a:rPr sz="1000" b="1">
                <a:solidFill>
                  <a:srgbClr val="1F6FB8"/>
                </a:solidFill>
                <a:latin typeface="Calibri"/>
              </a:rPr>
              <a:t>2.1 million university students (NUC)</a:t>
            </a:r>
          </a:p>
        </p:txBody>
      </p:sp>
      <p:sp>
        <p:nvSpPr>
          <p:cNvPr id="12" name="TextBox 11"/>
          <p:cNvSpPr txBox="1"/>
          <p:nvPr/>
        </p:nvSpPr>
        <p:spPr>
          <a:xfrm>
            <a:off x="731520" y="3840480"/>
            <a:ext cx="2542032" cy="603504"/>
          </a:xfrm>
          <a:prstGeom prst="rect">
            <a:avLst/>
          </a:prstGeom>
          <a:noFill/>
        </p:spPr>
        <p:txBody>
          <a:bodyPr wrap="square">
            <a:spAutoFit/>
          </a:bodyPr>
          <a:lstStyle/>
          <a:p>
            <a:pPr>
              <a:spcAft>
                <a:spcPts val="0"/>
              </a:spcAft>
            </a:pPr>
            <a:r>
              <a:rPr sz="850" b="1">
                <a:solidFill>
                  <a:srgbClr val="8A8A8F"/>
                </a:solidFill>
                <a:latin typeface="Calibri"/>
              </a:rPr>
              <a:t>DEMOGRAPHIC</a:t>
            </a:r>
          </a:p>
          <a:p>
            <a:pPr>
              <a:spcAft>
                <a:spcPts val="0"/>
              </a:spcAft>
            </a:pPr>
            <a:r>
              <a:rPr sz="1050" b="0">
                <a:solidFill>
                  <a:srgbClr val="3A3A3F"/>
                </a:solidFill>
                <a:latin typeface="Calibri"/>
              </a:rPr>
              <a:t>Students and new graduates, 18 to 24; little or no income</a:t>
            </a:r>
          </a:p>
        </p:txBody>
      </p:sp>
      <p:sp>
        <p:nvSpPr>
          <p:cNvPr id="13" name="TextBox 12"/>
          <p:cNvSpPr txBox="1"/>
          <p:nvPr/>
        </p:nvSpPr>
        <p:spPr>
          <a:xfrm>
            <a:off x="731520" y="4443984"/>
            <a:ext cx="2542032" cy="603504"/>
          </a:xfrm>
          <a:prstGeom prst="rect">
            <a:avLst/>
          </a:prstGeom>
          <a:noFill/>
        </p:spPr>
        <p:txBody>
          <a:bodyPr wrap="square">
            <a:spAutoFit/>
          </a:bodyPr>
          <a:lstStyle/>
          <a:p>
            <a:pPr>
              <a:spcAft>
                <a:spcPts val="0"/>
              </a:spcAft>
            </a:pPr>
            <a:r>
              <a:rPr sz="850" b="1">
                <a:solidFill>
                  <a:srgbClr val="8A8A8F"/>
                </a:solidFill>
                <a:latin typeface="Calibri"/>
              </a:rPr>
              <a:t>GEOGRAPHIC</a:t>
            </a:r>
          </a:p>
          <a:p>
            <a:pPr>
              <a:spcAft>
                <a:spcPts val="0"/>
              </a:spcAft>
            </a:pPr>
            <a:r>
              <a:rPr sz="1050" b="0">
                <a:solidFill>
                  <a:srgbClr val="3A3A3F"/>
                </a:solidFill>
                <a:latin typeface="Calibri"/>
              </a:rPr>
              <a:t>University towns across Nigeria; online</a:t>
            </a:r>
          </a:p>
        </p:txBody>
      </p:sp>
      <p:sp>
        <p:nvSpPr>
          <p:cNvPr id="14" name="TextBox 13"/>
          <p:cNvSpPr txBox="1"/>
          <p:nvPr/>
        </p:nvSpPr>
        <p:spPr>
          <a:xfrm>
            <a:off x="731520" y="5047488"/>
            <a:ext cx="2542032" cy="603504"/>
          </a:xfrm>
          <a:prstGeom prst="rect">
            <a:avLst/>
          </a:prstGeom>
          <a:noFill/>
        </p:spPr>
        <p:txBody>
          <a:bodyPr wrap="square">
            <a:spAutoFit/>
          </a:bodyPr>
          <a:lstStyle/>
          <a:p>
            <a:pPr>
              <a:spcAft>
                <a:spcPts val="0"/>
              </a:spcAft>
            </a:pPr>
            <a:r>
              <a:rPr sz="850" b="1">
                <a:solidFill>
                  <a:srgbClr val="8A8A8F"/>
                </a:solidFill>
                <a:latin typeface="Calibri"/>
              </a:rPr>
              <a:t>PSYCHOGRAPHIC</a:t>
            </a:r>
          </a:p>
          <a:p>
            <a:pPr>
              <a:spcAft>
                <a:spcPts val="0"/>
              </a:spcAft>
            </a:pPr>
            <a:r>
              <a:rPr sz="1050" b="0">
                <a:solidFill>
                  <a:srgbClr val="3A3A3F"/>
                </a:solidFill>
                <a:latin typeface="Calibri"/>
              </a:rPr>
              <a:t>Ambitious and curious; want a head start before graduating</a:t>
            </a:r>
          </a:p>
        </p:txBody>
      </p:sp>
      <p:sp>
        <p:nvSpPr>
          <p:cNvPr id="15" name="TextBox 14"/>
          <p:cNvSpPr txBox="1"/>
          <p:nvPr/>
        </p:nvSpPr>
        <p:spPr>
          <a:xfrm>
            <a:off x="731520" y="5650992"/>
            <a:ext cx="2542032" cy="603504"/>
          </a:xfrm>
          <a:prstGeom prst="rect">
            <a:avLst/>
          </a:prstGeom>
          <a:noFill/>
        </p:spPr>
        <p:txBody>
          <a:bodyPr wrap="square">
            <a:spAutoFit/>
          </a:bodyPr>
          <a:lstStyle/>
          <a:p>
            <a:pPr>
              <a:spcAft>
                <a:spcPts val="0"/>
              </a:spcAft>
            </a:pPr>
            <a:r>
              <a:rPr sz="850" b="1">
                <a:solidFill>
                  <a:srgbClr val="8A8A8F"/>
                </a:solidFill>
                <a:latin typeface="Calibri"/>
              </a:rPr>
              <a:t>BEHAVIOURAL</a:t>
            </a:r>
          </a:p>
          <a:p>
            <a:pPr>
              <a:spcAft>
                <a:spcPts val="0"/>
              </a:spcAft>
            </a:pPr>
            <a:r>
              <a:rPr sz="1050" b="0">
                <a:solidFill>
                  <a:srgbClr val="3A3A3F"/>
                </a:solidFill>
                <a:latin typeface="Calibri"/>
              </a:rPr>
              <a:t>Search for “free course”; learn on YouTube and TikTok; very price-driven</a:t>
            </a:r>
          </a:p>
        </p:txBody>
      </p:sp>
      <p:sp>
        <p:nvSpPr>
          <p:cNvPr id="16" name="Rectangle 15"/>
          <p:cNvSpPr/>
          <p:nvPr/>
        </p:nvSpPr>
        <p:spPr>
          <a:xfrm>
            <a:off x="731520" y="6272784"/>
            <a:ext cx="2542032" cy="64008"/>
          </a:xfrm>
          <a:prstGeom prst="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56432" y="1828800"/>
            <a:ext cx="2542032" cy="1143000"/>
          </a:xfrm>
          <a:prstGeom prst="rect">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39312" y="1874520"/>
            <a:ext cx="1463040" cy="822960"/>
          </a:xfrm>
          <a:prstGeom prst="rect">
            <a:avLst/>
          </a:prstGeom>
          <a:noFill/>
        </p:spPr>
        <p:txBody>
          <a:bodyPr wrap="square">
            <a:spAutoFit/>
          </a:bodyPr>
          <a:lstStyle/>
          <a:p>
            <a:r>
              <a:rPr sz="4000" b="1">
                <a:solidFill>
                  <a:srgbClr val="8EC5F2"/>
                </a:solidFill>
                <a:latin typeface="Century Gothic"/>
              </a:rPr>
              <a:t>02</a:t>
            </a:r>
          </a:p>
        </p:txBody>
      </p:sp>
      <p:sp>
        <p:nvSpPr>
          <p:cNvPr id="19" name="TextBox 18"/>
          <p:cNvSpPr txBox="1"/>
          <p:nvPr/>
        </p:nvSpPr>
        <p:spPr>
          <a:xfrm>
            <a:off x="3639312" y="2578608"/>
            <a:ext cx="2267712" cy="365760"/>
          </a:xfrm>
          <a:prstGeom prst="rect">
            <a:avLst/>
          </a:prstGeom>
          <a:noFill/>
        </p:spPr>
        <p:txBody>
          <a:bodyPr wrap="square">
            <a:spAutoFit/>
          </a:bodyPr>
          <a:lstStyle/>
          <a:p>
            <a:r>
              <a:rPr sz="1000" b="1">
                <a:solidFill>
                  <a:srgbClr val="8EC5F2"/>
                </a:solidFill>
                <a:latin typeface="Calibri"/>
              </a:rPr>
              <a:t>TARGET SEGMENT</a:t>
            </a:r>
          </a:p>
        </p:txBody>
      </p:sp>
      <p:sp>
        <p:nvSpPr>
          <p:cNvPr id="20" name="TextBox 19"/>
          <p:cNvSpPr txBox="1"/>
          <p:nvPr/>
        </p:nvSpPr>
        <p:spPr>
          <a:xfrm>
            <a:off x="3456432" y="3035808"/>
            <a:ext cx="2542032" cy="384048"/>
          </a:xfrm>
          <a:prstGeom prst="rect">
            <a:avLst/>
          </a:prstGeom>
          <a:noFill/>
        </p:spPr>
        <p:txBody>
          <a:bodyPr wrap="square">
            <a:spAutoFit/>
          </a:bodyPr>
          <a:lstStyle/>
          <a:p>
            <a:r>
              <a:rPr sz="1300" b="1">
                <a:solidFill>
                  <a:srgbClr val="28282C"/>
                </a:solidFill>
                <a:latin typeface="Century Gothic"/>
              </a:rPr>
              <a:t>Career Switchers</a:t>
            </a:r>
          </a:p>
        </p:txBody>
      </p:sp>
      <p:sp>
        <p:nvSpPr>
          <p:cNvPr id="21" name="TextBox 20"/>
          <p:cNvSpPr txBox="1"/>
          <p:nvPr/>
        </p:nvSpPr>
        <p:spPr>
          <a:xfrm>
            <a:off x="3456432" y="3401568"/>
            <a:ext cx="2542032" cy="420624"/>
          </a:xfrm>
          <a:prstGeom prst="rect">
            <a:avLst/>
          </a:prstGeom>
          <a:noFill/>
        </p:spPr>
        <p:txBody>
          <a:bodyPr wrap="square">
            <a:spAutoFit/>
          </a:bodyPr>
          <a:lstStyle/>
          <a:p>
            <a:r>
              <a:rPr sz="1000" b="1">
                <a:solidFill>
                  <a:srgbClr val="1F6FB8"/>
                </a:solidFill>
                <a:latin typeface="Calibri"/>
              </a:rPr>
              <a:t>109 million internet users; median age about 19</a:t>
            </a:r>
          </a:p>
        </p:txBody>
      </p:sp>
      <p:sp>
        <p:nvSpPr>
          <p:cNvPr id="22" name="TextBox 21"/>
          <p:cNvSpPr txBox="1"/>
          <p:nvPr/>
        </p:nvSpPr>
        <p:spPr>
          <a:xfrm>
            <a:off x="3456432" y="3840480"/>
            <a:ext cx="2542032" cy="603504"/>
          </a:xfrm>
          <a:prstGeom prst="rect">
            <a:avLst/>
          </a:prstGeom>
          <a:noFill/>
        </p:spPr>
        <p:txBody>
          <a:bodyPr wrap="square">
            <a:spAutoFit/>
          </a:bodyPr>
          <a:lstStyle/>
          <a:p>
            <a:pPr>
              <a:spcAft>
                <a:spcPts val="0"/>
              </a:spcAft>
            </a:pPr>
            <a:r>
              <a:rPr sz="850" b="1">
                <a:solidFill>
                  <a:srgbClr val="8A8A8F"/>
                </a:solidFill>
                <a:latin typeface="Calibri"/>
              </a:rPr>
              <a:t>DEMOGRAPHIC</a:t>
            </a:r>
          </a:p>
          <a:p>
            <a:pPr>
              <a:spcAft>
                <a:spcPts val="0"/>
              </a:spcAft>
            </a:pPr>
            <a:r>
              <a:rPr sz="1050" b="0">
                <a:solidFill>
                  <a:srgbClr val="3A3A3F"/>
                </a:solidFill>
                <a:latin typeface="Calibri"/>
              </a:rPr>
              <a:t>Working adults, 25 to 35, in non-IT jobs; steady but modest pay</a:t>
            </a:r>
          </a:p>
        </p:txBody>
      </p:sp>
      <p:sp>
        <p:nvSpPr>
          <p:cNvPr id="23" name="TextBox 22"/>
          <p:cNvSpPr txBox="1"/>
          <p:nvPr/>
        </p:nvSpPr>
        <p:spPr>
          <a:xfrm>
            <a:off x="3456432" y="4443984"/>
            <a:ext cx="2542032" cy="603504"/>
          </a:xfrm>
          <a:prstGeom prst="rect">
            <a:avLst/>
          </a:prstGeom>
          <a:noFill/>
        </p:spPr>
        <p:txBody>
          <a:bodyPr wrap="square">
            <a:spAutoFit/>
          </a:bodyPr>
          <a:lstStyle/>
          <a:p>
            <a:pPr>
              <a:spcAft>
                <a:spcPts val="0"/>
              </a:spcAft>
            </a:pPr>
            <a:r>
              <a:rPr sz="850" b="1">
                <a:solidFill>
                  <a:srgbClr val="8A8A8F"/>
                </a:solidFill>
                <a:latin typeface="Calibri"/>
              </a:rPr>
              <a:t>GEOGRAPHIC</a:t>
            </a:r>
          </a:p>
          <a:p>
            <a:pPr>
              <a:spcAft>
                <a:spcPts val="0"/>
              </a:spcAft>
            </a:pPr>
            <a:r>
              <a:rPr sz="1050" b="0">
                <a:solidFill>
                  <a:srgbClr val="3A3A3F"/>
                </a:solidFill>
                <a:latin typeface="Calibri"/>
              </a:rPr>
              <a:t>Lagos, Abuja and Port Harcourt; online in the evenings and at weekends</a:t>
            </a:r>
          </a:p>
        </p:txBody>
      </p:sp>
      <p:sp>
        <p:nvSpPr>
          <p:cNvPr id="24" name="TextBox 23"/>
          <p:cNvSpPr txBox="1"/>
          <p:nvPr/>
        </p:nvSpPr>
        <p:spPr>
          <a:xfrm>
            <a:off x="3456432" y="5047488"/>
            <a:ext cx="2542032" cy="603504"/>
          </a:xfrm>
          <a:prstGeom prst="rect">
            <a:avLst/>
          </a:prstGeom>
          <a:noFill/>
        </p:spPr>
        <p:txBody>
          <a:bodyPr wrap="square">
            <a:spAutoFit/>
          </a:bodyPr>
          <a:lstStyle/>
          <a:p>
            <a:pPr>
              <a:spcAft>
                <a:spcPts val="0"/>
              </a:spcAft>
            </a:pPr>
            <a:r>
              <a:rPr sz="850" b="1">
                <a:solidFill>
                  <a:srgbClr val="8A8A8F"/>
                </a:solidFill>
                <a:latin typeface="Calibri"/>
              </a:rPr>
              <a:t>PSYCHOGRAPHIC</a:t>
            </a:r>
          </a:p>
          <a:p>
            <a:pPr>
              <a:spcAft>
                <a:spcPts val="0"/>
              </a:spcAft>
            </a:pPr>
            <a:r>
              <a:rPr sz="1050" b="0">
                <a:solidFill>
                  <a:srgbClr val="3A3A3F"/>
                </a:solidFill>
                <a:latin typeface="Calibri"/>
              </a:rPr>
              <a:t>Want a better-paid, future-proof career; careful with money</a:t>
            </a:r>
          </a:p>
        </p:txBody>
      </p:sp>
      <p:sp>
        <p:nvSpPr>
          <p:cNvPr id="25" name="TextBox 24"/>
          <p:cNvSpPr txBox="1"/>
          <p:nvPr/>
        </p:nvSpPr>
        <p:spPr>
          <a:xfrm>
            <a:off x="3456432" y="5650992"/>
            <a:ext cx="2542032" cy="603504"/>
          </a:xfrm>
          <a:prstGeom prst="rect">
            <a:avLst/>
          </a:prstGeom>
          <a:noFill/>
        </p:spPr>
        <p:txBody>
          <a:bodyPr wrap="square">
            <a:spAutoFit/>
          </a:bodyPr>
          <a:lstStyle/>
          <a:p>
            <a:pPr>
              <a:spcAft>
                <a:spcPts val="0"/>
              </a:spcAft>
            </a:pPr>
            <a:r>
              <a:rPr sz="850" b="1">
                <a:solidFill>
                  <a:srgbClr val="8A8A8F"/>
                </a:solidFill>
                <a:latin typeface="Calibri"/>
              </a:rPr>
              <a:t>BEHAVIOURAL</a:t>
            </a:r>
          </a:p>
          <a:p>
            <a:pPr>
              <a:spcAft>
                <a:spcPts val="0"/>
              </a:spcAft>
            </a:pPr>
            <a:r>
              <a:rPr sz="1050" b="0">
                <a:solidFill>
                  <a:srgbClr val="3A3A3F"/>
                </a:solidFill>
                <a:latin typeface="Calibri"/>
              </a:rPr>
              <a:t>Compare courses and read reviews; search for salaries; pay in instalments</a:t>
            </a:r>
          </a:p>
        </p:txBody>
      </p:sp>
      <p:sp>
        <p:nvSpPr>
          <p:cNvPr id="26" name="Rectangle 25"/>
          <p:cNvSpPr/>
          <p:nvPr/>
        </p:nvSpPr>
        <p:spPr>
          <a:xfrm>
            <a:off x="3456432" y="6272784"/>
            <a:ext cx="2542032" cy="64008"/>
          </a:xfrm>
          <a:prstGeom prst="rect">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1828800"/>
            <a:ext cx="2542032" cy="1143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1874520"/>
            <a:ext cx="1463040" cy="822960"/>
          </a:xfrm>
          <a:prstGeom prst="rect">
            <a:avLst/>
          </a:prstGeom>
          <a:noFill/>
        </p:spPr>
        <p:txBody>
          <a:bodyPr wrap="square">
            <a:spAutoFit/>
          </a:bodyPr>
          <a:lstStyle/>
          <a:p>
            <a:r>
              <a:rPr sz="4000" b="1">
                <a:solidFill>
                  <a:srgbClr val="FFFFFF"/>
                </a:solidFill>
                <a:latin typeface="Century Gothic"/>
              </a:rPr>
              <a:t>03</a:t>
            </a:r>
          </a:p>
        </p:txBody>
      </p:sp>
      <p:sp>
        <p:nvSpPr>
          <p:cNvPr id="29" name="TextBox 28"/>
          <p:cNvSpPr txBox="1"/>
          <p:nvPr/>
        </p:nvSpPr>
        <p:spPr>
          <a:xfrm>
            <a:off x="6364224" y="2578608"/>
            <a:ext cx="2267712" cy="365760"/>
          </a:xfrm>
          <a:prstGeom prst="rect">
            <a:avLst/>
          </a:prstGeom>
          <a:noFill/>
        </p:spPr>
        <p:txBody>
          <a:bodyPr wrap="square">
            <a:spAutoFit/>
          </a:bodyPr>
          <a:lstStyle/>
          <a:p>
            <a:r>
              <a:rPr sz="1000" b="1">
                <a:solidFill>
                  <a:srgbClr val="FFFFFF"/>
                </a:solidFill>
                <a:latin typeface="Calibri"/>
              </a:rPr>
              <a:t>SEGMENT</a:t>
            </a:r>
          </a:p>
        </p:txBody>
      </p:sp>
      <p:sp>
        <p:nvSpPr>
          <p:cNvPr id="30" name="TextBox 29"/>
          <p:cNvSpPr txBox="1"/>
          <p:nvPr/>
        </p:nvSpPr>
        <p:spPr>
          <a:xfrm>
            <a:off x="6181344" y="3035808"/>
            <a:ext cx="2542032" cy="384048"/>
          </a:xfrm>
          <a:prstGeom prst="rect">
            <a:avLst/>
          </a:prstGeom>
          <a:noFill/>
        </p:spPr>
        <p:txBody>
          <a:bodyPr wrap="square">
            <a:spAutoFit/>
          </a:bodyPr>
          <a:lstStyle/>
          <a:p>
            <a:r>
              <a:rPr sz="1300" b="1">
                <a:solidFill>
                  <a:srgbClr val="28282C"/>
                </a:solidFill>
                <a:latin typeface="Century Gothic"/>
              </a:rPr>
              <a:t>Corporate Upskillers</a:t>
            </a:r>
          </a:p>
        </p:txBody>
      </p:sp>
      <p:sp>
        <p:nvSpPr>
          <p:cNvPr id="31" name="TextBox 30"/>
          <p:cNvSpPr txBox="1"/>
          <p:nvPr/>
        </p:nvSpPr>
        <p:spPr>
          <a:xfrm>
            <a:off x="6181344" y="3401568"/>
            <a:ext cx="2542032" cy="420624"/>
          </a:xfrm>
          <a:prstGeom prst="rect">
            <a:avLst/>
          </a:prstGeom>
          <a:noFill/>
        </p:spPr>
        <p:txBody>
          <a:bodyPr wrap="square">
            <a:spAutoFit/>
          </a:bodyPr>
          <a:lstStyle/>
          <a:p>
            <a:r>
              <a:rPr sz="1000" b="1">
                <a:solidFill>
                  <a:srgbClr val="1F6FB8"/>
                </a:solidFill>
                <a:latin typeface="Calibri"/>
              </a:rPr>
              <a:t>Banks, finance and insurance are 29.2% of the cyber market</a:t>
            </a:r>
          </a:p>
        </p:txBody>
      </p:sp>
      <p:sp>
        <p:nvSpPr>
          <p:cNvPr id="32" name="TextBox 31"/>
          <p:cNvSpPr txBox="1"/>
          <p:nvPr/>
        </p:nvSpPr>
        <p:spPr>
          <a:xfrm>
            <a:off x="6181344" y="3840480"/>
            <a:ext cx="2542032" cy="603504"/>
          </a:xfrm>
          <a:prstGeom prst="rect">
            <a:avLst/>
          </a:prstGeom>
          <a:noFill/>
        </p:spPr>
        <p:txBody>
          <a:bodyPr wrap="square">
            <a:spAutoFit/>
          </a:bodyPr>
          <a:lstStyle/>
          <a:p>
            <a:pPr>
              <a:spcAft>
                <a:spcPts val="0"/>
              </a:spcAft>
            </a:pPr>
            <a:r>
              <a:rPr sz="850" b="1">
                <a:solidFill>
                  <a:srgbClr val="8A8A8F"/>
                </a:solidFill>
                <a:latin typeface="Calibri"/>
              </a:rPr>
              <a:t>DEMOGRAPHIC</a:t>
            </a:r>
          </a:p>
          <a:p>
            <a:pPr>
              <a:spcAft>
                <a:spcPts val="0"/>
              </a:spcAft>
            </a:pPr>
            <a:r>
              <a:rPr sz="1050" b="0">
                <a:solidFill>
                  <a:srgbClr val="3A3A3F"/>
                </a:solidFill>
                <a:latin typeface="Calibri"/>
              </a:rPr>
              <a:t>Staff of banks, telecoms and government, 25 to 45; the employer pays</a:t>
            </a:r>
          </a:p>
        </p:txBody>
      </p:sp>
      <p:sp>
        <p:nvSpPr>
          <p:cNvPr id="33" name="TextBox 32"/>
          <p:cNvSpPr txBox="1"/>
          <p:nvPr/>
        </p:nvSpPr>
        <p:spPr>
          <a:xfrm>
            <a:off x="6181344" y="4443984"/>
            <a:ext cx="2542032" cy="603504"/>
          </a:xfrm>
          <a:prstGeom prst="rect">
            <a:avLst/>
          </a:prstGeom>
          <a:noFill/>
        </p:spPr>
        <p:txBody>
          <a:bodyPr wrap="square">
            <a:spAutoFit/>
          </a:bodyPr>
          <a:lstStyle/>
          <a:p>
            <a:pPr>
              <a:spcAft>
                <a:spcPts val="0"/>
              </a:spcAft>
            </a:pPr>
            <a:r>
              <a:rPr sz="850" b="1">
                <a:solidFill>
                  <a:srgbClr val="8A8A8F"/>
                </a:solidFill>
                <a:latin typeface="Calibri"/>
              </a:rPr>
              <a:t>GEOGRAPHIC</a:t>
            </a:r>
          </a:p>
          <a:p>
            <a:pPr>
              <a:spcAft>
                <a:spcPts val="0"/>
              </a:spcAft>
            </a:pPr>
            <a:r>
              <a:rPr sz="1050" b="0">
                <a:solidFill>
                  <a:srgbClr val="3A3A3F"/>
                </a:solidFill>
                <a:latin typeface="Calibri"/>
              </a:rPr>
              <a:t>Head offices in Lagos and Abuja</a:t>
            </a:r>
          </a:p>
        </p:txBody>
      </p:sp>
      <p:sp>
        <p:nvSpPr>
          <p:cNvPr id="34" name="TextBox 33"/>
          <p:cNvSpPr txBox="1"/>
          <p:nvPr/>
        </p:nvSpPr>
        <p:spPr>
          <a:xfrm>
            <a:off x="6181344" y="5047488"/>
            <a:ext cx="2542032" cy="603504"/>
          </a:xfrm>
          <a:prstGeom prst="rect">
            <a:avLst/>
          </a:prstGeom>
          <a:noFill/>
        </p:spPr>
        <p:txBody>
          <a:bodyPr wrap="square">
            <a:spAutoFit/>
          </a:bodyPr>
          <a:lstStyle/>
          <a:p>
            <a:pPr>
              <a:spcAft>
                <a:spcPts val="0"/>
              </a:spcAft>
            </a:pPr>
            <a:r>
              <a:rPr sz="850" b="1">
                <a:solidFill>
                  <a:srgbClr val="8A8A8F"/>
                </a:solidFill>
                <a:latin typeface="Calibri"/>
              </a:rPr>
              <a:t>PSYCHOGRAPHIC</a:t>
            </a:r>
          </a:p>
          <a:p>
            <a:pPr>
              <a:spcAft>
                <a:spcPts val="0"/>
              </a:spcAft>
            </a:pPr>
            <a:r>
              <a:rPr sz="1050" b="0">
                <a:solidFill>
                  <a:srgbClr val="3A3A3F"/>
                </a:solidFill>
                <a:latin typeface="Calibri"/>
              </a:rPr>
              <a:t>Career growth and doing things by the book</a:t>
            </a:r>
          </a:p>
        </p:txBody>
      </p:sp>
      <p:sp>
        <p:nvSpPr>
          <p:cNvPr id="35" name="TextBox 34"/>
          <p:cNvSpPr txBox="1"/>
          <p:nvPr/>
        </p:nvSpPr>
        <p:spPr>
          <a:xfrm>
            <a:off x="6181344" y="5650992"/>
            <a:ext cx="2542032" cy="603504"/>
          </a:xfrm>
          <a:prstGeom prst="rect">
            <a:avLst/>
          </a:prstGeom>
          <a:noFill/>
        </p:spPr>
        <p:txBody>
          <a:bodyPr wrap="square">
            <a:spAutoFit/>
          </a:bodyPr>
          <a:lstStyle/>
          <a:p>
            <a:pPr>
              <a:spcAft>
                <a:spcPts val="0"/>
              </a:spcAft>
            </a:pPr>
            <a:r>
              <a:rPr sz="850" b="1">
                <a:solidFill>
                  <a:srgbClr val="8A8A8F"/>
                </a:solidFill>
                <a:latin typeface="Calibri"/>
              </a:rPr>
              <a:t>BEHAVIOURAL</a:t>
            </a:r>
          </a:p>
          <a:p>
            <a:pPr>
              <a:spcAft>
                <a:spcPts val="0"/>
              </a:spcAft>
            </a:pPr>
            <a:r>
              <a:rPr sz="1050" b="0">
                <a:solidFill>
                  <a:srgbClr val="3A3A3F"/>
                </a:solidFill>
                <a:latin typeface="Calibri"/>
              </a:rPr>
              <a:t>Buy through HR in groups; want recognised certificates</a:t>
            </a:r>
          </a:p>
        </p:txBody>
      </p:sp>
      <p:sp>
        <p:nvSpPr>
          <p:cNvPr id="36" name="Rectangle 35"/>
          <p:cNvSpPr/>
          <p:nvPr/>
        </p:nvSpPr>
        <p:spPr>
          <a:xfrm>
            <a:off x="6181344" y="6272784"/>
            <a:ext cx="2542032" cy="64008"/>
          </a:xfrm>
          <a:prstGeom prst="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06256" y="1828800"/>
            <a:ext cx="2542032" cy="1143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89136" y="1874520"/>
            <a:ext cx="1463040" cy="822960"/>
          </a:xfrm>
          <a:prstGeom prst="rect">
            <a:avLst/>
          </a:prstGeom>
          <a:noFill/>
        </p:spPr>
        <p:txBody>
          <a:bodyPr wrap="square">
            <a:spAutoFit/>
          </a:bodyPr>
          <a:lstStyle/>
          <a:p>
            <a:r>
              <a:rPr sz="4000" b="1">
                <a:solidFill>
                  <a:srgbClr val="FFFFFF"/>
                </a:solidFill>
                <a:latin typeface="Century Gothic"/>
              </a:rPr>
              <a:t>04</a:t>
            </a:r>
          </a:p>
        </p:txBody>
      </p:sp>
      <p:sp>
        <p:nvSpPr>
          <p:cNvPr id="39" name="TextBox 38"/>
          <p:cNvSpPr txBox="1"/>
          <p:nvPr/>
        </p:nvSpPr>
        <p:spPr>
          <a:xfrm>
            <a:off x="9089136" y="2578608"/>
            <a:ext cx="2267712" cy="365760"/>
          </a:xfrm>
          <a:prstGeom prst="rect">
            <a:avLst/>
          </a:prstGeom>
          <a:noFill/>
        </p:spPr>
        <p:txBody>
          <a:bodyPr wrap="square">
            <a:spAutoFit/>
          </a:bodyPr>
          <a:lstStyle/>
          <a:p>
            <a:r>
              <a:rPr sz="1000" b="1">
                <a:solidFill>
                  <a:srgbClr val="FFFFFF"/>
                </a:solidFill>
                <a:latin typeface="Calibri"/>
              </a:rPr>
              <a:t>SEGMENT</a:t>
            </a:r>
          </a:p>
        </p:txBody>
      </p:sp>
      <p:sp>
        <p:nvSpPr>
          <p:cNvPr id="40" name="TextBox 39"/>
          <p:cNvSpPr txBox="1"/>
          <p:nvPr/>
        </p:nvSpPr>
        <p:spPr>
          <a:xfrm>
            <a:off x="8906256" y="3035808"/>
            <a:ext cx="2542032" cy="384048"/>
          </a:xfrm>
          <a:prstGeom prst="rect">
            <a:avLst/>
          </a:prstGeom>
          <a:noFill/>
        </p:spPr>
        <p:txBody>
          <a:bodyPr wrap="square">
            <a:spAutoFit/>
          </a:bodyPr>
          <a:lstStyle/>
          <a:p>
            <a:r>
              <a:rPr sz="1300" b="1">
                <a:solidFill>
                  <a:srgbClr val="28282C"/>
                </a:solidFill>
                <a:latin typeface="Century Gothic"/>
              </a:rPr>
              <a:t>Women in Tech Starters</a:t>
            </a:r>
          </a:p>
        </p:txBody>
      </p:sp>
      <p:sp>
        <p:nvSpPr>
          <p:cNvPr id="41" name="TextBox 40"/>
          <p:cNvSpPr txBox="1"/>
          <p:nvPr/>
        </p:nvSpPr>
        <p:spPr>
          <a:xfrm>
            <a:off x="8906256" y="3401568"/>
            <a:ext cx="2542032" cy="420624"/>
          </a:xfrm>
          <a:prstGeom prst="rect">
            <a:avLst/>
          </a:prstGeom>
          <a:noFill/>
        </p:spPr>
        <p:txBody>
          <a:bodyPr wrap="square">
            <a:spAutoFit/>
          </a:bodyPr>
          <a:lstStyle/>
          <a:p>
            <a:r>
              <a:rPr sz="1000" b="1">
                <a:solidFill>
                  <a:srgbClr val="1F6FB8"/>
                </a:solidFill>
                <a:latin typeface="Calibri"/>
              </a:rPr>
              <a:t>20,000+ applications a year to CyberGirls</a:t>
            </a:r>
          </a:p>
        </p:txBody>
      </p:sp>
      <p:sp>
        <p:nvSpPr>
          <p:cNvPr id="42" name="TextBox 41"/>
          <p:cNvSpPr txBox="1"/>
          <p:nvPr/>
        </p:nvSpPr>
        <p:spPr>
          <a:xfrm>
            <a:off x="8906256" y="3840480"/>
            <a:ext cx="2542032" cy="603504"/>
          </a:xfrm>
          <a:prstGeom prst="rect">
            <a:avLst/>
          </a:prstGeom>
          <a:noFill/>
        </p:spPr>
        <p:txBody>
          <a:bodyPr wrap="square">
            <a:spAutoFit/>
          </a:bodyPr>
          <a:lstStyle/>
          <a:p>
            <a:pPr>
              <a:spcAft>
                <a:spcPts val="0"/>
              </a:spcAft>
            </a:pPr>
            <a:r>
              <a:rPr sz="850" b="1">
                <a:solidFill>
                  <a:srgbClr val="8A8A8F"/>
                </a:solidFill>
                <a:latin typeface="Calibri"/>
              </a:rPr>
              <a:t>DEMOGRAPHIC</a:t>
            </a:r>
          </a:p>
          <a:p>
            <a:pPr>
              <a:spcAft>
                <a:spcPts val="0"/>
              </a:spcAft>
            </a:pPr>
            <a:r>
              <a:rPr sz="1050" b="0">
                <a:solidFill>
                  <a:srgbClr val="3A3A3F"/>
                </a:solidFill>
                <a:latin typeface="Calibri"/>
              </a:rPr>
              <a:t>Women 18 to 30, students and graduates</a:t>
            </a:r>
          </a:p>
        </p:txBody>
      </p:sp>
      <p:sp>
        <p:nvSpPr>
          <p:cNvPr id="43" name="TextBox 42"/>
          <p:cNvSpPr txBox="1"/>
          <p:nvPr/>
        </p:nvSpPr>
        <p:spPr>
          <a:xfrm>
            <a:off x="8906256" y="4443984"/>
            <a:ext cx="2542032" cy="603504"/>
          </a:xfrm>
          <a:prstGeom prst="rect">
            <a:avLst/>
          </a:prstGeom>
          <a:noFill/>
        </p:spPr>
        <p:txBody>
          <a:bodyPr wrap="square">
            <a:spAutoFit/>
          </a:bodyPr>
          <a:lstStyle/>
          <a:p>
            <a:pPr>
              <a:spcAft>
                <a:spcPts val="0"/>
              </a:spcAft>
            </a:pPr>
            <a:r>
              <a:rPr sz="850" b="1">
                <a:solidFill>
                  <a:srgbClr val="8A8A8F"/>
                </a:solidFill>
                <a:latin typeface="Calibri"/>
              </a:rPr>
              <a:t>GEOGRAPHIC</a:t>
            </a:r>
          </a:p>
          <a:p>
            <a:pPr>
              <a:spcAft>
                <a:spcPts val="0"/>
              </a:spcAft>
            </a:pPr>
            <a:r>
              <a:rPr sz="1050" b="0">
                <a:solidFill>
                  <a:srgbClr val="3A3A3F"/>
                </a:solidFill>
                <a:latin typeface="Calibri"/>
              </a:rPr>
              <a:t>Nationwide, online, with hubs in Lagos and Abuja</a:t>
            </a:r>
          </a:p>
        </p:txBody>
      </p:sp>
      <p:sp>
        <p:nvSpPr>
          <p:cNvPr id="44" name="TextBox 43"/>
          <p:cNvSpPr txBox="1"/>
          <p:nvPr/>
        </p:nvSpPr>
        <p:spPr>
          <a:xfrm>
            <a:off x="8906256" y="5047488"/>
            <a:ext cx="2542032" cy="603504"/>
          </a:xfrm>
          <a:prstGeom prst="rect">
            <a:avLst/>
          </a:prstGeom>
          <a:noFill/>
        </p:spPr>
        <p:txBody>
          <a:bodyPr wrap="square">
            <a:spAutoFit/>
          </a:bodyPr>
          <a:lstStyle/>
          <a:p>
            <a:pPr>
              <a:spcAft>
                <a:spcPts val="0"/>
              </a:spcAft>
            </a:pPr>
            <a:r>
              <a:rPr sz="850" b="1">
                <a:solidFill>
                  <a:srgbClr val="8A8A8F"/>
                </a:solidFill>
                <a:latin typeface="Calibri"/>
              </a:rPr>
              <a:t>PSYCHOGRAPHIC</a:t>
            </a:r>
          </a:p>
          <a:p>
            <a:pPr>
              <a:spcAft>
                <a:spcPts val="0"/>
              </a:spcAft>
            </a:pPr>
            <a:r>
              <a:rPr sz="1050" b="0">
                <a:solidFill>
                  <a:srgbClr val="3A3A3F"/>
                </a:solidFill>
                <a:latin typeface="Calibri"/>
              </a:rPr>
              <a:t>Want a safe, supportive community and role models</a:t>
            </a:r>
          </a:p>
        </p:txBody>
      </p:sp>
      <p:sp>
        <p:nvSpPr>
          <p:cNvPr id="45" name="TextBox 44"/>
          <p:cNvSpPr txBox="1"/>
          <p:nvPr/>
        </p:nvSpPr>
        <p:spPr>
          <a:xfrm>
            <a:off x="8906256" y="5650992"/>
            <a:ext cx="2542032" cy="603504"/>
          </a:xfrm>
          <a:prstGeom prst="rect">
            <a:avLst/>
          </a:prstGeom>
          <a:noFill/>
        </p:spPr>
        <p:txBody>
          <a:bodyPr wrap="square">
            <a:spAutoFit/>
          </a:bodyPr>
          <a:lstStyle/>
          <a:p>
            <a:pPr>
              <a:spcAft>
                <a:spcPts val="0"/>
              </a:spcAft>
            </a:pPr>
            <a:r>
              <a:rPr sz="850" b="1">
                <a:solidFill>
                  <a:srgbClr val="8A8A8F"/>
                </a:solidFill>
                <a:latin typeface="Calibri"/>
              </a:rPr>
              <a:t>BEHAVIOURAL</a:t>
            </a:r>
          </a:p>
          <a:p>
            <a:pPr>
              <a:spcAft>
                <a:spcPts val="0"/>
              </a:spcAft>
            </a:pPr>
            <a:r>
              <a:rPr sz="1050" b="0">
                <a:solidFill>
                  <a:srgbClr val="3A3A3F"/>
                </a:solidFill>
                <a:latin typeface="Calibri"/>
              </a:rPr>
              <a:t>Apply for free fellowships; follow women's tech groups</a:t>
            </a:r>
          </a:p>
        </p:txBody>
      </p:sp>
      <p:sp>
        <p:nvSpPr>
          <p:cNvPr id="46" name="Rectangle 45"/>
          <p:cNvSpPr/>
          <p:nvPr/>
        </p:nvSpPr>
        <p:spPr>
          <a:xfrm>
            <a:off x="8906256" y="6272784"/>
            <a:ext cx="2542032" cy="64008"/>
          </a:xfrm>
          <a:prstGeom prst="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childTnLst>
                          </p:cTn>
                        </p:par>
                        <p:par>
                          <p:cTn id="46" fill="hold">
                            <p:stCondLst>
                              <p:cond delay="15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childTnLst>
                          </p:cTn>
                        </p:par>
                        <p:par>
                          <p:cTn id="77" fill="hold">
                            <p:stCondLst>
                              <p:cond delay="2000"/>
                            </p:stCondLst>
                            <p:childTnLst>
                              <p:par>
                                <p:cTn id="78" presetID="10" presetClass="entr" presetSubtype="0" fill="hold" grpId="0" nodeType="after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50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500"/>
                                        <p:tgtEl>
                                          <p:spTgt spid="3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500"/>
                                        <p:tgtEl>
                                          <p:spTgt spid="3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500"/>
                                        <p:tgtEl>
                                          <p:spTgt spid="3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500"/>
                                        <p:tgtEl>
                                          <p:spTgt spid="36"/>
                                        </p:tgtEl>
                                      </p:cBhvr>
                                    </p:animEffect>
                                  </p:childTnLst>
                                </p:cTn>
                              </p:par>
                            </p:childTnLst>
                          </p:cTn>
                        </p:par>
                        <p:par>
                          <p:cTn id="108" fill="hold">
                            <p:stCondLst>
                              <p:cond delay="2500"/>
                            </p:stCondLst>
                            <p:childTnLst>
                              <p:par>
                                <p:cTn id="109" presetID="10" presetClass="entr" presetSubtype="0" fill="hold" grpId="0" nodeType="afterEffect">
                                  <p:stCondLst>
                                    <p:cond delay="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500"/>
                                        <p:tgtEl>
                                          <p:spTgt spid="37"/>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500"/>
                                        <p:tgtEl>
                                          <p:spTgt spid="38"/>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00"/>
                                        <p:tgtEl>
                                          <p:spTgt spid="39"/>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500"/>
                                        <p:tgtEl>
                                          <p:spTgt spid="40"/>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00"/>
                                        <p:tgtEl>
                                          <p:spTgt spid="41"/>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500"/>
                                        <p:tgtEl>
                                          <p:spTgt spid="42"/>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00"/>
                                        <p:tgtEl>
                                          <p:spTgt spid="43"/>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4"/>
                                        </p:tgtEl>
                                        <p:attrNameLst>
                                          <p:attrName>style.visibility</p:attrName>
                                        </p:attrNameLst>
                                      </p:cBhvr>
                                      <p:to>
                                        <p:strVal val="visible"/>
                                      </p:to>
                                    </p:set>
                                    <p:animEffect transition="in" filter="fade">
                                      <p:cBhvr>
                                        <p:cTn id="132" dur="500"/>
                                        <p:tgtEl>
                                          <p:spTgt spid="44"/>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500"/>
                                        <p:tgtEl>
                                          <p:spTgt spid="45"/>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6"/>
                                        </p:tgtEl>
                                        <p:attrNameLst>
                                          <p:attrName>style.visibility</p:attrName>
                                        </p:attrNameLst>
                                      </p:cBhvr>
                                      <p:to>
                                        <p:strVal val="visible"/>
                                      </p:to>
                                    </p:set>
                                    <p:animEffect transition="in" filter="fade">
                                      <p:cBhvr>
                                        <p:cTn id="13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736080" y="2377440"/>
            <a:ext cx="4998720" cy="1325880"/>
          </a:xfrm>
        </p:spPr>
        <p:txBody>
          <a:bodyPr anchor="t"/>
          <a:lstStyle/>
          <a:p>
            <a:r>
              <a:rPr sz="3800" b="1">
                <a:solidFill>
                  <a:srgbClr val="FFFFFF"/>
                </a:solidFill>
                <a:latin typeface="Century Gothic"/>
              </a:rPr>
              <a:t>Segment Scores</a:t>
            </a:r>
          </a:p>
        </p:txBody>
      </p:sp>
      <p:sp>
        <p:nvSpPr>
          <p:cNvPr id="5" name="Oval 4"/>
          <p:cNvSpPr/>
          <p:nvPr/>
        </p:nvSpPr>
        <p:spPr>
          <a:xfrm>
            <a:off x="1127760" y="1508760"/>
            <a:ext cx="3840480" cy="3840480"/>
          </a:xfrm>
          <a:prstGeom prst="ellipse">
            <a:avLst/>
          </a:prstGeom>
          <a:noFill/>
          <a:ln w="635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1808" y="1892808"/>
            <a:ext cx="3072384" cy="3072384"/>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200144" y="4581144"/>
            <a:ext cx="502920" cy="502920"/>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2080" y="2468880"/>
            <a:ext cx="3291840" cy="1828800"/>
          </a:xfrm>
          <a:prstGeom prst="rect">
            <a:avLst/>
          </a:prstGeom>
          <a:noFill/>
        </p:spPr>
        <p:txBody>
          <a:bodyPr wrap="square">
            <a:spAutoFit/>
          </a:bodyPr>
          <a:lstStyle/>
          <a:p>
            <a:pPr algn="ctr"/>
            <a:r>
              <a:rPr sz="11000" b="1">
                <a:solidFill>
                  <a:srgbClr val="2F7FCC"/>
                </a:solidFill>
                <a:latin typeface="Century Gothic"/>
              </a:rPr>
              <a:t>05</a:t>
            </a:r>
          </a:p>
        </p:txBody>
      </p:sp>
      <p:sp>
        <p:nvSpPr>
          <p:cNvPr id="9" name="TextBox 8"/>
          <p:cNvSpPr txBox="1"/>
          <p:nvPr/>
        </p:nvSpPr>
        <p:spPr>
          <a:xfrm>
            <a:off x="6736080" y="2011680"/>
            <a:ext cx="4998720" cy="365760"/>
          </a:xfrm>
          <a:prstGeom prst="rect">
            <a:avLst/>
          </a:prstGeom>
          <a:noFill/>
        </p:spPr>
        <p:txBody>
          <a:bodyPr wrap="square">
            <a:spAutoFit/>
          </a:bodyPr>
          <a:lstStyle/>
          <a:p>
            <a:r>
              <a:rPr sz="1300" b="1">
                <a:solidFill>
                  <a:srgbClr val="8EC5F2"/>
                </a:solidFill>
                <a:latin typeface="Calibri"/>
              </a:rPr>
              <a:t>TASK 5 OF 6</a:t>
            </a:r>
          </a:p>
        </p:txBody>
      </p:sp>
      <p:sp>
        <p:nvSpPr>
          <p:cNvPr id="10" name="Rectangle 9"/>
          <p:cNvSpPr/>
          <p:nvPr/>
        </p:nvSpPr>
        <p:spPr>
          <a:xfrm>
            <a:off x="6809232" y="3886200"/>
            <a:ext cx="914400" cy="73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6080" y="4069080"/>
            <a:ext cx="4998720" cy="914400"/>
          </a:xfrm>
          <a:prstGeom prst="rect">
            <a:avLst/>
          </a:prstGeom>
          <a:noFill/>
        </p:spPr>
        <p:txBody>
          <a:bodyPr wrap="square">
            <a:spAutoFit/>
          </a:bodyPr>
          <a:lstStyle/>
          <a:p>
            <a:r>
              <a:rPr sz="1600" b="0">
                <a:solidFill>
                  <a:srgbClr val="FFFFFF"/>
                </a:solidFill>
                <a:latin typeface="Calibri"/>
              </a:rPr>
              <a:t>Market size, accessibility, buying potential and competition</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fade">
                                      <p:cBhvr>
                                        <p:cTn id="23" dur="500"/>
                                        <p:tgtEl>
                                          <p:spTgt spid="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2" grpId="0" animBg="1"/>
      <p:bldP spid="10" grpId="0" animBg="1"/>
      <p:bldP spid="1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Career Switchers Score Highest</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SEGMENT SCORES</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Scores 1 (low) to 5 (high), deeper blue = better; for competition, 5 = little competition</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18</a:t>
            </a:r>
          </a:p>
        </p:txBody>
      </p:sp>
      <p:sp>
        <p:nvSpPr>
          <p:cNvPr id="7" name="Rectangle 6"/>
          <p:cNvSpPr/>
          <p:nvPr/>
        </p:nvSpPr>
        <p:spPr>
          <a:xfrm>
            <a:off x="731520" y="1920240"/>
            <a:ext cx="2743200" cy="621792"/>
          </a:xfrm>
          <a:prstGeom prst="rect">
            <a:avLst/>
          </a:prstGeom>
          <a:solidFill>
            <a:srgbClr val="28282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l"/>
            <a:r>
              <a:rPr sz="1300" b="1">
                <a:solidFill>
                  <a:srgbClr val="FFFFFF"/>
                </a:solidFill>
                <a:latin typeface="Calibri"/>
              </a:rPr>
              <a:t>Segment</a:t>
            </a:r>
          </a:p>
        </p:txBody>
      </p:sp>
      <p:sp>
        <p:nvSpPr>
          <p:cNvPr id="8" name="Rectangle 7"/>
          <p:cNvSpPr/>
          <p:nvPr/>
        </p:nvSpPr>
        <p:spPr>
          <a:xfrm>
            <a:off x="3474720" y="1920240"/>
            <a:ext cx="1600200" cy="621792"/>
          </a:xfrm>
          <a:prstGeom prst="rect">
            <a:avLst/>
          </a:prstGeom>
          <a:solidFill>
            <a:srgbClr val="28282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300" b="1">
                <a:solidFill>
                  <a:srgbClr val="FFFFFF"/>
                </a:solidFill>
                <a:latin typeface="Calibri"/>
              </a:rPr>
              <a:t>Market size</a:t>
            </a:r>
          </a:p>
          <a:p>
            <a:pPr algn="ctr"/>
            <a:r>
              <a:rPr sz="1300" b="1">
                <a:solidFill>
                  <a:srgbClr val="8EC5F2"/>
                </a:solidFill>
                <a:latin typeface="Calibri"/>
              </a:rPr>
              <a:t>25%</a:t>
            </a:r>
          </a:p>
        </p:txBody>
      </p:sp>
      <p:sp>
        <p:nvSpPr>
          <p:cNvPr id="9" name="Rectangle 8"/>
          <p:cNvSpPr/>
          <p:nvPr/>
        </p:nvSpPr>
        <p:spPr>
          <a:xfrm>
            <a:off x="5074920" y="1920240"/>
            <a:ext cx="1600200" cy="621792"/>
          </a:xfrm>
          <a:prstGeom prst="rect">
            <a:avLst/>
          </a:prstGeom>
          <a:solidFill>
            <a:srgbClr val="28282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300" b="1">
                <a:solidFill>
                  <a:srgbClr val="FFFFFF"/>
                </a:solidFill>
                <a:latin typeface="Calibri"/>
              </a:rPr>
              <a:t>Accessibility</a:t>
            </a:r>
          </a:p>
          <a:p>
            <a:pPr algn="ctr"/>
            <a:r>
              <a:rPr sz="1300" b="1">
                <a:solidFill>
                  <a:srgbClr val="8EC5F2"/>
                </a:solidFill>
                <a:latin typeface="Calibri"/>
              </a:rPr>
              <a:t>25%</a:t>
            </a:r>
          </a:p>
        </p:txBody>
      </p:sp>
      <p:sp>
        <p:nvSpPr>
          <p:cNvPr id="10" name="Rectangle 9"/>
          <p:cNvSpPr/>
          <p:nvPr/>
        </p:nvSpPr>
        <p:spPr>
          <a:xfrm>
            <a:off x="6675120" y="1920240"/>
            <a:ext cx="1600200" cy="621792"/>
          </a:xfrm>
          <a:prstGeom prst="rect">
            <a:avLst/>
          </a:prstGeom>
          <a:solidFill>
            <a:srgbClr val="28282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300" b="1">
                <a:solidFill>
                  <a:srgbClr val="FFFFFF"/>
                </a:solidFill>
                <a:latin typeface="Calibri"/>
              </a:rPr>
              <a:t>Buying potential</a:t>
            </a:r>
          </a:p>
          <a:p>
            <a:pPr algn="ctr"/>
            <a:r>
              <a:rPr sz="1300" b="1">
                <a:solidFill>
                  <a:srgbClr val="8EC5F2"/>
                </a:solidFill>
                <a:latin typeface="Calibri"/>
              </a:rPr>
              <a:t>30%</a:t>
            </a:r>
          </a:p>
        </p:txBody>
      </p:sp>
      <p:sp>
        <p:nvSpPr>
          <p:cNvPr id="11" name="Rectangle 10"/>
          <p:cNvSpPr/>
          <p:nvPr/>
        </p:nvSpPr>
        <p:spPr>
          <a:xfrm>
            <a:off x="8275320" y="1920240"/>
            <a:ext cx="1600200" cy="621792"/>
          </a:xfrm>
          <a:prstGeom prst="rect">
            <a:avLst/>
          </a:prstGeom>
          <a:solidFill>
            <a:srgbClr val="28282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300" b="1">
                <a:solidFill>
                  <a:srgbClr val="FFFFFF"/>
                </a:solidFill>
                <a:latin typeface="Calibri"/>
              </a:rPr>
              <a:t>Competition</a:t>
            </a:r>
          </a:p>
          <a:p>
            <a:pPr algn="ctr"/>
            <a:r>
              <a:rPr sz="1300" b="1">
                <a:solidFill>
                  <a:srgbClr val="8EC5F2"/>
                </a:solidFill>
                <a:latin typeface="Calibri"/>
              </a:rPr>
              <a:t>20%</a:t>
            </a:r>
          </a:p>
        </p:txBody>
      </p:sp>
      <p:sp>
        <p:nvSpPr>
          <p:cNvPr id="12" name="Rectangle 11"/>
          <p:cNvSpPr/>
          <p:nvPr/>
        </p:nvSpPr>
        <p:spPr>
          <a:xfrm>
            <a:off x="9875520" y="1920240"/>
            <a:ext cx="1783080" cy="621792"/>
          </a:xfrm>
          <a:prstGeom prst="rect">
            <a:avLst/>
          </a:prstGeom>
          <a:solidFill>
            <a:srgbClr val="28282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300" b="1">
                <a:solidFill>
                  <a:srgbClr val="FFFFFF"/>
                </a:solidFill>
                <a:latin typeface="Calibri"/>
              </a:rPr>
              <a:t>Weighted score</a:t>
            </a:r>
          </a:p>
        </p:txBody>
      </p:sp>
      <p:sp>
        <p:nvSpPr>
          <p:cNvPr id="13" name="Rectangle 12"/>
          <p:cNvSpPr/>
          <p:nvPr/>
        </p:nvSpPr>
        <p:spPr>
          <a:xfrm>
            <a:off x="731520" y="2542032"/>
            <a:ext cx="274320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1500" b="1">
                <a:solidFill>
                  <a:srgbClr val="28282C"/>
                </a:solidFill>
                <a:latin typeface="Calibri"/>
              </a:rPr>
              <a:t>Campus Starters</a:t>
            </a:r>
          </a:p>
        </p:txBody>
      </p:sp>
      <p:sp>
        <p:nvSpPr>
          <p:cNvPr id="14" name="Rectangle 13"/>
          <p:cNvSpPr/>
          <p:nvPr/>
        </p:nvSpPr>
        <p:spPr>
          <a:xfrm>
            <a:off x="3474720" y="2542032"/>
            <a:ext cx="1600200" cy="822960"/>
          </a:xfrm>
          <a:prstGeom prst="rect">
            <a:avLst/>
          </a:prstGeom>
          <a:solidFill>
            <a:srgbClr val="1F5FA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5</a:t>
            </a:r>
          </a:p>
        </p:txBody>
      </p:sp>
      <p:sp>
        <p:nvSpPr>
          <p:cNvPr id="15" name="Rectangle 14"/>
          <p:cNvSpPr/>
          <p:nvPr/>
        </p:nvSpPr>
        <p:spPr>
          <a:xfrm>
            <a:off x="5074920" y="2542032"/>
            <a:ext cx="1600200" cy="822960"/>
          </a:xfrm>
          <a:prstGeom prst="rect">
            <a:avLst/>
          </a:prstGeom>
          <a:solidFill>
            <a:srgbClr val="4A90D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4</a:t>
            </a:r>
          </a:p>
        </p:txBody>
      </p:sp>
      <p:sp>
        <p:nvSpPr>
          <p:cNvPr id="16" name="Rectangle 15"/>
          <p:cNvSpPr/>
          <p:nvPr/>
        </p:nvSpPr>
        <p:spPr>
          <a:xfrm>
            <a:off x="6675120" y="2542032"/>
            <a:ext cx="1600200" cy="822960"/>
          </a:xfrm>
          <a:prstGeom prst="rect">
            <a:avLst/>
          </a:prstGeom>
          <a:solidFill>
            <a:srgbClr val="C6DDF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2</a:t>
            </a:r>
          </a:p>
        </p:txBody>
      </p:sp>
      <p:sp>
        <p:nvSpPr>
          <p:cNvPr id="17" name="Rectangle 16"/>
          <p:cNvSpPr/>
          <p:nvPr/>
        </p:nvSpPr>
        <p:spPr>
          <a:xfrm>
            <a:off x="8275320" y="2542032"/>
            <a:ext cx="1600200" cy="822960"/>
          </a:xfrm>
          <a:prstGeom prst="rect">
            <a:avLst/>
          </a:prstGeom>
          <a:solidFill>
            <a:srgbClr val="C6DDF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2</a:t>
            </a:r>
          </a:p>
        </p:txBody>
      </p:sp>
      <p:sp>
        <p:nvSpPr>
          <p:cNvPr id="18" name="Rectangle 17"/>
          <p:cNvSpPr/>
          <p:nvPr/>
        </p:nvSpPr>
        <p:spPr>
          <a:xfrm>
            <a:off x="9875520" y="2542032"/>
            <a:ext cx="178308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587752"/>
            <a:ext cx="1783080" cy="438912"/>
          </a:xfrm>
          <a:prstGeom prst="rect">
            <a:avLst/>
          </a:prstGeom>
          <a:noFill/>
        </p:spPr>
        <p:txBody>
          <a:bodyPr wrap="square">
            <a:spAutoFit/>
          </a:bodyPr>
          <a:lstStyle/>
          <a:p>
            <a:pPr algn="ctr"/>
            <a:r>
              <a:rPr sz="1800" b="1">
                <a:solidFill>
                  <a:srgbClr val="28282C"/>
                </a:solidFill>
                <a:latin typeface="Century Gothic"/>
              </a:rPr>
              <a:t>3.25</a:t>
            </a:r>
          </a:p>
        </p:txBody>
      </p:sp>
      <p:sp>
        <p:nvSpPr>
          <p:cNvPr id="20" name="Rectangle 19"/>
          <p:cNvSpPr/>
          <p:nvPr/>
        </p:nvSpPr>
        <p:spPr>
          <a:xfrm>
            <a:off x="10058400" y="3090672"/>
            <a:ext cx="921258" cy="1280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364992"/>
            <a:ext cx="2743200" cy="822960"/>
          </a:xfrm>
          <a:prstGeom prst="rect">
            <a:avLst/>
          </a:prstGeom>
          <a:solidFill>
            <a:srgbClr val="EAF2FB"/>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1500" b="1">
                <a:solidFill>
                  <a:srgbClr val="28282C"/>
                </a:solidFill>
                <a:latin typeface="Calibri"/>
              </a:rPr>
              <a:t>Career Switchers</a:t>
            </a:r>
          </a:p>
        </p:txBody>
      </p:sp>
      <p:sp>
        <p:nvSpPr>
          <p:cNvPr id="22" name="Rectangle 21"/>
          <p:cNvSpPr/>
          <p:nvPr/>
        </p:nvSpPr>
        <p:spPr>
          <a:xfrm>
            <a:off x="3474720" y="3364992"/>
            <a:ext cx="1600200" cy="822960"/>
          </a:xfrm>
          <a:prstGeom prst="rect">
            <a:avLst/>
          </a:prstGeom>
          <a:solidFill>
            <a:srgbClr val="4A90D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4</a:t>
            </a:r>
          </a:p>
        </p:txBody>
      </p:sp>
      <p:sp>
        <p:nvSpPr>
          <p:cNvPr id="23" name="Rectangle 22"/>
          <p:cNvSpPr/>
          <p:nvPr/>
        </p:nvSpPr>
        <p:spPr>
          <a:xfrm>
            <a:off x="5074920" y="3364992"/>
            <a:ext cx="1600200" cy="822960"/>
          </a:xfrm>
          <a:prstGeom prst="rect">
            <a:avLst/>
          </a:prstGeom>
          <a:solidFill>
            <a:srgbClr val="4A90D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4</a:t>
            </a:r>
          </a:p>
        </p:txBody>
      </p:sp>
      <p:sp>
        <p:nvSpPr>
          <p:cNvPr id="24" name="Rectangle 23"/>
          <p:cNvSpPr/>
          <p:nvPr/>
        </p:nvSpPr>
        <p:spPr>
          <a:xfrm>
            <a:off x="6675120" y="3364992"/>
            <a:ext cx="1600200" cy="822960"/>
          </a:xfrm>
          <a:prstGeom prst="rect">
            <a:avLst/>
          </a:prstGeom>
          <a:solidFill>
            <a:srgbClr val="4A90D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4</a:t>
            </a:r>
          </a:p>
        </p:txBody>
      </p:sp>
      <p:sp>
        <p:nvSpPr>
          <p:cNvPr id="25" name="Rectangle 24"/>
          <p:cNvSpPr/>
          <p:nvPr/>
        </p:nvSpPr>
        <p:spPr>
          <a:xfrm>
            <a:off x="8275320" y="3364992"/>
            <a:ext cx="1600200" cy="822960"/>
          </a:xfrm>
          <a:prstGeom prst="rect">
            <a:avLst/>
          </a:prstGeom>
          <a:solidFill>
            <a:srgbClr val="4A90D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4</a:t>
            </a:r>
          </a:p>
        </p:txBody>
      </p:sp>
      <p:sp>
        <p:nvSpPr>
          <p:cNvPr id="26" name="Rectangle 25"/>
          <p:cNvSpPr/>
          <p:nvPr/>
        </p:nvSpPr>
        <p:spPr>
          <a:xfrm>
            <a:off x="9875520" y="3364992"/>
            <a:ext cx="178308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0" y="3410712"/>
            <a:ext cx="1783080" cy="438912"/>
          </a:xfrm>
          <a:prstGeom prst="rect">
            <a:avLst/>
          </a:prstGeom>
          <a:noFill/>
        </p:spPr>
        <p:txBody>
          <a:bodyPr wrap="square">
            <a:spAutoFit/>
          </a:bodyPr>
          <a:lstStyle/>
          <a:p>
            <a:pPr algn="ctr"/>
            <a:r>
              <a:rPr sz="1800" b="1">
                <a:solidFill>
                  <a:srgbClr val="28282C"/>
                </a:solidFill>
                <a:latin typeface="Century Gothic"/>
              </a:rPr>
              <a:t>4.00</a:t>
            </a:r>
          </a:p>
        </p:txBody>
      </p:sp>
      <p:sp>
        <p:nvSpPr>
          <p:cNvPr id="28" name="Rectangle 27"/>
          <p:cNvSpPr/>
          <p:nvPr/>
        </p:nvSpPr>
        <p:spPr>
          <a:xfrm>
            <a:off x="10058400" y="3913632"/>
            <a:ext cx="1133856" cy="128016"/>
          </a:xfrm>
          <a:prstGeom prst="rect">
            <a:avLst/>
          </a:prstGeom>
          <a:solidFill>
            <a:srgbClr val="2F7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1520" y="4187952"/>
            <a:ext cx="274320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1500" b="1">
                <a:solidFill>
                  <a:srgbClr val="28282C"/>
                </a:solidFill>
                <a:latin typeface="Calibri"/>
              </a:rPr>
              <a:t>Corporate Upskillers</a:t>
            </a:r>
          </a:p>
        </p:txBody>
      </p:sp>
      <p:sp>
        <p:nvSpPr>
          <p:cNvPr id="30" name="Rectangle 29"/>
          <p:cNvSpPr/>
          <p:nvPr/>
        </p:nvSpPr>
        <p:spPr>
          <a:xfrm>
            <a:off x="3474720" y="4187952"/>
            <a:ext cx="1600200" cy="822960"/>
          </a:xfrm>
          <a:prstGeom prst="rect">
            <a:avLst/>
          </a:prstGeom>
          <a:solidFill>
            <a:srgbClr val="C6DDF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2</a:t>
            </a:r>
          </a:p>
        </p:txBody>
      </p:sp>
      <p:sp>
        <p:nvSpPr>
          <p:cNvPr id="31" name="Rectangle 30"/>
          <p:cNvSpPr/>
          <p:nvPr/>
        </p:nvSpPr>
        <p:spPr>
          <a:xfrm>
            <a:off x="5074920" y="4187952"/>
            <a:ext cx="1600200" cy="822960"/>
          </a:xfrm>
          <a:prstGeom prst="rect">
            <a:avLst/>
          </a:prstGeom>
          <a:solidFill>
            <a:srgbClr val="8FBCE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3</a:t>
            </a:r>
          </a:p>
        </p:txBody>
      </p:sp>
      <p:sp>
        <p:nvSpPr>
          <p:cNvPr id="32" name="Rectangle 31"/>
          <p:cNvSpPr/>
          <p:nvPr/>
        </p:nvSpPr>
        <p:spPr>
          <a:xfrm>
            <a:off x="6675120" y="4187952"/>
            <a:ext cx="1600200" cy="822960"/>
          </a:xfrm>
          <a:prstGeom prst="rect">
            <a:avLst/>
          </a:prstGeom>
          <a:solidFill>
            <a:srgbClr val="1F5FA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5</a:t>
            </a:r>
          </a:p>
        </p:txBody>
      </p:sp>
      <p:sp>
        <p:nvSpPr>
          <p:cNvPr id="33" name="Rectangle 32"/>
          <p:cNvSpPr/>
          <p:nvPr/>
        </p:nvSpPr>
        <p:spPr>
          <a:xfrm>
            <a:off x="8275320" y="4187952"/>
            <a:ext cx="1600200" cy="822960"/>
          </a:xfrm>
          <a:prstGeom prst="rect">
            <a:avLst/>
          </a:prstGeom>
          <a:solidFill>
            <a:srgbClr val="C6DDF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2</a:t>
            </a:r>
          </a:p>
        </p:txBody>
      </p:sp>
      <p:sp>
        <p:nvSpPr>
          <p:cNvPr id="34" name="Rectangle 33"/>
          <p:cNvSpPr/>
          <p:nvPr/>
        </p:nvSpPr>
        <p:spPr>
          <a:xfrm>
            <a:off x="9875520" y="4187952"/>
            <a:ext cx="178308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0" y="4233672"/>
            <a:ext cx="1783080" cy="438912"/>
          </a:xfrm>
          <a:prstGeom prst="rect">
            <a:avLst/>
          </a:prstGeom>
          <a:noFill/>
        </p:spPr>
        <p:txBody>
          <a:bodyPr wrap="square">
            <a:spAutoFit/>
          </a:bodyPr>
          <a:lstStyle/>
          <a:p>
            <a:pPr algn="ctr"/>
            <a:r>
              <a:rPr sz="1800" b="1">
                <a:solidFill>
                  <a:srgbClr val="28282C"/>
                </a:solidFill>
                <a:latin typeface="Century Gothic"/>
              </a:rPr>
              <a:t>3.15</a:t>
            </a:r>
          </a:p>
        </p:txBody>
      </p:sp>
      <p:sp>
        <p:nvSpPr>
          <p:cNvPr id="36" name="Rectangle 35"/>
          <p:cNvSpPr/>
          <p:nvPr/>
        </p:nvSpPr>
        <p:spPr>
          <a:xfrm>
            <a:off x="10058400" y="4736592"/>
            <a:ext cx="892911" cy="1280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5010912"/>
            <a:ext cx="274320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1500" b="1">
                <a:solidFill>
                  <a:srgbClr val="28282C"/>
                </a:solidFill>
                <a:latin typeface="Calibri"/>
              </a:rPr>
              <a:t>Women in Tech Starters</a:t>
            </a:r>
          </a:p>
        </p:txBody>
      </p:sp>
      <p:sp>
        <p:nvSpPr>
          <p:cNvPr id="38" name="Rectangle 37"/>
          <p:cNvSpPr/>
          <p:nvPr/>
        </p:nvSpPr>
        <p:spPr>
          <a:xfrm>
            <a:off x="3474720" y="5010912"/>
            <a:ext cx="1600200" cy="822960"/>
          </a:xfrm>
          <a:prstGeom prst="rect">
            <a:avLst/>
          </a:prstGeom>
          <a:solidFill>
            <a:srgbClr val="8FBCE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3</a:t>
            </a:r>
          </a:p>
        </p:txBody>
      </p:sp>
      <p:sp>
        <p:nvSpPr>
          <p:cNvPr id="39" name="Rectangle 38"/>
          <p:cNvSpPr/>
          <p:nvPr/>
        </p:nvSpPr>
        <p:spPr>
          <a:xfrm>
            <a:off x="5074920" y="5010912"/>
            <a:ext cx="1600200" cy="822960"/>
          </a:xfrm>
          <a:prstGeom prst="rect">
            <a:avLst/>
          </a:prstGeom>
          <a:solidFill>
            <a:srgbClr val="4A90D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FFFFFF"/>
                </a:solidFill>
                <a:latin typeface="Century Gothic"/>
              </a:rPr>
              <a:t>4</a:t>
            </a:r>
          </a:p>
        </p:txBody>
      </p:sp>
      <p:sp>
        <p:nvSpPr>
          <p:cNvPr id="40" name="Rectangle 39"/>
          <p:cNvSpPr/>
          <p:nvPr/>
        </p:nvSpPr>
        <p:spPr>
          <a:xfrm>
            <a:off x="6675120" y="5010912"/>
            <a:ext cx="1600200" cy="822960"/>
          </a:xfrm>
          <a:prstGeom prst="rect">
            <a:avLst/>
          </a:prstGeom>
          <a:solidFill>
            <a:srgbClr val="C6DDF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2</a:t>
            </a:r>
          </a:p>
        </p:txBody>
      </p:sp>
      <p:sp>
        <p:nvSpPr>
          <p:cNvPr id="41" name="Rectangle 40"/>
          <p:cNvSpPr/>
          <p:nvPr/>
        </p:nvSpPr>
        <p:spPr>
          <a:xfrm>
            <a:off x="8275320" y="5010912"/>
            <a:ext cx="1600200" cy="822960"/>
          </a:xfrm>
          <a:prstGeom prst="rect">
            <a:avLst/>
          </a:prstGeom>
          <a:solidFill>
            <a:srgbClr val="8FBCE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a:solidFill>
                  <a:srgbClr val="28282C"/>
                </a:solidFill>
                <a:latin typeface="Century Gothic"/>
              </a:rPr>
              <a:t>3</a:t>
            </a:r>
          </a:p>
        </p:txBody>
      </p:sp>
      <p:sp>
        <p:nvSpPr>
          <p:cNvPr id="42" name="Rectangle 41"/>
          <p:cNvSpPr/>
          <p:nvPr/>
        </p:nvSpPr>
        <p:spPr>
          <a:xfrm>
            <a:off x="9875520" y="5010912"/>
            <a:ext cx="1783080" cy="82296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5056632"/>
            <a:ext cx="1783080" cy="438912"/>
          </a:xfrm>
          <a:prstGeom prst="rect">
            <a:avLst/>
          </a:prstGeom>
          <a:noFill/>
        </p:spPr>
        <p:txBody>
          <a:bodyPr wrap="square">
            <a:spAutoFit/>
          </a:bodyPr>
          <a:lstStyle/>
          <a:p>
            <a:pPr algn="ctr"/>
            <a:r>
              <a:rPr sz="1800" b="1">
                <a:solidFill>
                  <a:srgbClr val="28282C"/>
                </a:solidFill>
                <a:latin typeface="Century Gothic"/>
              </a:rPr>
              <a:t>2.95</a:t>
            </a:r>
          </a:p>
        </p:txBody>
      </p:sp>
      <p:sp>
        <p:nvSpPr>
          <p:cNvPr id="44" name="Rectangle 43"/>
          <p:cNvSpPr/>
          <p:nvPr/>
        </p:nvSpPr>
        <p:spPr>
          <a:xfrm>
            <a:off x="10058400" y="5559552"/>
            <a:ext cx="836218" cy="1280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71032"/>
            <a:ext cx="10728960" cy="320040"/>
          </a:xfrm>
          <a:prstGeom prst="rect">
            <a:avLst/>
          </a:prstGeom>
          <a:noFill/>
        </p:spPr>
        <p:txBody>
          <a:bodyPr wrap="square">
            <a:spAutoFit/>
          </a:bodyPr>
          <a:lstStyle/>
          <a:p>
            <a:r>
              <a:rPr sz="1100" b="0">
                <a:solidFill>
                  <a:srgbClr val="8A8A8F"/>
                </a:solidFill>
                <a:latin typeface="Calibri"/>
              </a:rPr>
              <a:t>Weighted score (of 5) = SUMPRODUCT of the weights and the scores, worked out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50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childTnLst>
                          </p:cTn>
                        </p:par>
                        <p:par>
                          <p:cTn id="59" fill="hold">
                            <p:stCondLst>
                              <p:cond delay="20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childTnLst>
                          </p:cTn>
                        </p:par>
                        <p:par>
                          <p:cTn id="84" fill="hold">
                            <p:stCondLst>
                              <p:cond delay="2500"/>
                            </p:stCondLst>
                            <p:childTnLst>
                              <p:par>
                                <p:cTn id="85" presetID="10" presetClass="entr" presetSubtype="0" fill="hold" grpId="0" nodeType="after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50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500"/>
                                        <p:tgtEl>
                                          <p:spTgt spid="35"/>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500"/>
                                        <p:tgtEl>
                                          <p:spTgt spid="36"/>
                                        </p:tgtEl>
                                      </p:cBhvr>
                                    </p:animEffect>
                                  </p:childTnLst>
                                </p:cTn>
                              </p:par>
                            </p:childTnLst>
                          </p:cTn>
                        </p:par>
                        <p:par>
                          <p:cTn id="109" fill="hold">
                            <p:stCondLst>
                              <p:cond delay="3000"/>
                            </p:stCondLst>
                            <p:childTnLst>
                              <p:par>
                                <p:cTn id="110" presetID="10" presetClass="entr" presetSubtype="0" fill="hold" grpId="0" nodeType="after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50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50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500"/>
                                        <p:tgtEl>
                                          <p:spTgt spid="39"/>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0"/>
                                        </p:tgtEl>
                                        <p:attrNameLst>
                                          <p:attrName>style.visibility</p:attrName>
                                        </p:attrNameLst>
                                      </p:cBhvr>
                                      <p:to>
                                        <p:strVal val="visible"/>
                                      </p:to>
                                    </p:set>
                                    <p:animEffect transition="in" filter="fade">
                                      <p:cBhvr>
                                        <p:cTn id="121" dur="500"/>
                                        <p:tgtEl>
                                          <p:spTgt spid="40"/>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1"/>
                                        </p:tgtEl>
                                        <p:attrNameLst>
                                          <p:attrName>style.visibility</p:attrName>
                                        </p:attrNameLst>
                                      </p:cBhvr>
                                      <p:to>
                                        <p:strVal val="visible"/>
                                      </p:to>
                                    </p:set>
                                    <p:animEffect transition="in" filter="fade">
                                      <p:cBhvr>
                                        <p:cTn id="124" dur="500"/>
                                        <p:tgtEl>
                                          <p:spTgt spid="41"/>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2"/>
                                        </p:tgtEl>
                                        <p:attrNameLst>
                                          <p:attrName>style.visibility</p:attrName>
                                        </p:attrNameLst>
                                      </p:cBhvr>
                                      <p:to>
                                        <p:strVal val="visible"/>
                                      </p:to>
                                    </p:set>
                                    <p:animEffect transition="in" filter="fade">
                                      <p:cBhvr>
                                        <p:cTn id="127" dur="500"/>
                                        <p:tgtEl>
                                          <p:spTgt spid="42"/>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500"/>
                                        <p:tgtEl>
                                          <p:spTgt spid="43"/>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4"/>
                                        </p:tgtEl>
                                        <p:attrNameLst>
                                          <p:attrName>style.visibility</p:attrName>
                                        </p:attrNameLst>
                                      </p:cBhvr>
                                      <p:to>
                                        <p:strVal val="visible"/>
                                      </p:to>
                                    </p:set>
                                    <p:animEffect transition="in" filter="fade">
                                      <p:cBhvr>
                                        <p:cTn id="133" dur="500"/>
                                        <p:tgtEl>
                                          <p:spTgt spid="44"/>
                                        </p:tgtEl>
                                      </p:cBhvr>
                                    </p:animEffect>
                                  </p:childTnLst>
                                </p:cTn>
                              </p:par>
                            </p:childTnLst>
                          </p:cTn>
                        </p:par>
                        <p:par>
                          <p:cTn id="134" fill="hold">
                            <p:stCondLst>
                              <p:cond delay="3500"/>
                            </p:stCondLst>
                            <p:childTnLst>
                              <p:par>
                                <p:cTn id="135" presetID="10" presetClass="entr" presetSubtype="0"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fade">
                                      <p:cBhvr>
                                        <p:cTn id="137"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736080" y="2377440"/>
            <a:ext cx="4998720" cy="1325880"/>
          </a:xfrm>
        </p:spPr>
        <p:txBody>
          <a:bodyPr anchor="t"/>
          <a:lstStyle/>
          <a:p>
            <a:r>
              <a:rPr sz="3800" b="1">
                <a:solidFill>
                  <a:srgbClr val="FFFFFF"/>
                </a:solidFill>
                <a:latin typeface="Century Gothic"/>
              </a:rPr>
              <a:t>Target Segment</a:t>
            </a:r>
          </a:p>
        </p:txBody>
      </p:sp>
      <p:sp>
        <p:nvSpPr>
          <p:cNvPr id="5" name="Oval 4"/>
          <p:cNvSpPr/>
          <p:nvPr/>
        </p:nvSpPr>
        <p:spPr>
          <a:xfrm>
            <a:off x="1127760" y="1508760"/>
            <a:ext cx="3840480" cy="3840480"/>
          </a:xfrm>
          <a:prstGeom prst="ellipse">
            <a:avLst/>
          </a:prstGeom>
          <a:noFill/>
          <a:ln w="635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1808" y="1892808"/>
            <a:ext cx="3072384" cy="3072384"/>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200144" y="4581144"/>
            <a:ext cx="502920" cy="502920"/>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2080" y="2468880"/>
            <a:ext cx="3291840" cy="1828800"/>
          </a:xfrm>
          <a:prstGeom prst="rect">
            <a:avLst/>
          </a:prstGeom>
          <a:noFill/>
        </p:spPr>
        <p:txBody>
          <a:bodyPr wrap="square">
            <a:spAutoFit/>
          </a:bodyPr>
          <a:lstStyle/>
          <a:p>
            <a:pPr algn="ctr"/>
            <a:r>
              <a:rPr sz="11000" b="1">
                <a:solidFill>
                  <a:srgbClr val="2F7FCC"/>
                </a:solidFill>
                <a:latin typeface="Century Gothic"/>
              </a:rPr>
              <a:t>06</a:t>
            </a:r>
          </a:p>
        </p:txBody>
      </p:sp>
      <p:sp>
        <p:nvSpPr>
          <p:cNvPr id="9" name="TextBox 8"/>
          <p:cNvSpPr txBox="1"/>
          <p:nvPr/>
        </p:nvSpPr>
        <p:spPr>
          <a:xfrm>
            <a:off x="6736080" y="2011680"/>
            <a:ext cx="4998720" cy="365760"/>
          </a:xfrm>
          <a:prstGeom prst="rect">
            <a:avLst/>
          </a:prstGeom>
          <a:noFill/>
        </p:spPr>
        <p:txBody>
          <a:bodyPr wrap="square">
            <a:spAutoFit/>
          </a:bodyPr>
          <a:lstStyle/>
          <a:p>
            <a:r>
              <a:rPr sz="1300" b="1">
                <a:solidFill>
                  <a:srgbClr val="8EC5F2"/>
                </a:solidFill>
                <a:latin typeface="Calibri"/>
              </a:rPr>
              <a:t>TASK 6 OF 6</a:t>
            </a:r>
          </a:p>
        </p:txBody>
      </p:sp>
      <p:sp>
        <p:nvSpPr>
          <p:cNvPr id="10" name="Rectangle 9"/>
          <p:cNvSpPr/>
          <p:nvPr/>
        </p:nvSpPr>
        <p:spPr>
          <a:xfrm>
            <a:off x="6809232" y="3886200"/>
            <a:ext cx="914400" cy="73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6080" y="4069080"/>
            <a:ext cx="4998720" cy="914400"/>
          </a:xfrm>
          <a:prstGeom prst="rect">
            <a:avLst/>
          </a:prstGeom>
          <a:noFill/>
        </p:spPr>
        <p:txBody>
          <a:bodyPr wrap="square">
            <a:spAutoFit/>
          </a:bodyPr>
          <a:lstStyle/>
          <a:p>
            <a:r>
              <a:rPr sz="1600" b="0">
                <a:solidFill>
                  <a:srgbClr val="FFFFFF"/>
                </a:solidFill>
                <a:latin typeface="Calibri"/>
              </a:rPr>
              <a:t>The segment the business should prioritise</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fade">
                                      <p:cBhvr>
                                        <p:cTn id="23" dur="500"/>
                                        <p:tgtEl>
                                          <p:spTgt spid="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2" grpId="0" animBg="1"/>
      <p:bldP spid="10" grpId="0" animBg="1"/>
      <p:bldP spid="1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0" y="1078992"/>
            <a:ext cx="5516880" cy="685800"/>
          </a:xfrm>
        </p:spPr>
        <p:txBody>
          <a:bodyPr/>
          <a:lstStyle/>
          <a:p>
            <a:r>
              <a:rPr sz="2400" b="1">
                <a:solidFill>
                  <a:srgbClr val="28282C"/>
                </a:solidFill>
                <a:latin typeface="Century Gothic"/>
              </a:rPr>
              <a:t>Prioritise Career Switchers</a:t>
            </a:r>
          </a:p>
        </p:txBody>
      </p:sp>
      <p:sp>
        <p:nvSpPr>
          <p:cNvPr id="3" name="Oval 2"/>
          <p:cNvSpPr/>
          <p:nvPr/>
        </p:nvSpPr>
        <p:spPr>
          <a:xfrm>
            <a:off x="1371600" y="1965960"/>
            <a:ext cx="2286000" cy="2286000"/>
          </a:xfrm>
          <a:prstGeom prst="ellipse">
            <a:avLst/>
          </a:prstGeom>
          <a:solidFill>
            <a:srgbClr val="8EC5F2">
              <a:alpha val="8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5920" y="2606040"/>
            <a:ext cx="1280160" cy="329184"/>
          </a:xfrm>
          <a:prstGeom prst="rect">
            <a:avLst/>
          </a:prstGeom>
          <a:noFill/>
        </p:spPr>
        <p:txBody>
          <a:bodyPr wrap="square">
            <a:spAutoFit/>
          </a:bodyPr>
          <a:lstStyle/>
          <a:p>
            <a:pPr algn="ctr"/>
            <a:r>
              <a:rPr sz="1200" b="1">
                <a:solidFill>
                  <a:srgbClr val="28282C"/>
                </a:solidFill>
                <a:latin typeface="Calibri"/>
              </a:rPr>
              <a:t>Can pay</a:t>
            </a:r>
          </a:p>
        </p:txBody>
      </p:sp>
      <p:sp>
        <p:nvSpPr>
          <p:cNvPr id="5" name="Oval 4"/>
          <p:cNvSpPr/>
          <p:nvPr/>
        </p:nvSpPr>
        <p:spPr>
          <a:xfrm>
            <a:off x="2926080" y="1965960"/>
            <a:ext cx="2286000" cy="2286000"/>
          </a:xfrm>
          <a:prstGeom prst="ellipse">
            <a:avLst/>
          </a:prstGeom>
          <a:solidFill>
            <a:srgbClr val="2F7FCC">
              <a:alpha val="8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94760" y="2606040"/>
            <a:ext cx="1280160" cy="329184"/>
          </a:xfrm>
          <a:prstGeom prst="rect">
            <a:avLst/>
          </a:prstGeom>
          <a:noFill/>
        </p:spPr>
        <p:txBody>
          <a:bodyPr wrap="square">
            <a:spAutoFit/>
          </a:bodyPr>
          <a:lstStyle/>
          <a:p>
            <a:pPr algn="ctr"/>
            <a:r>
              <a:rPr sz="1200" b="1">
                <a:solidFill>
                  <a:srgbClr val="FFFFFF"/>
                </a:solidFill>
                <a:latin typeface="Calibri"/>
              </a:rPr>
              <a:t>Reason to buy</a:t>
            </a:r>
          </a:p>
        </p:txBody>
      </p:sp>
      <p:sp>
        <p:nvSpPr>
          <p:cNvPr id="7" name="Oval 6"/>
          <p:cNvSpPr/>
          <p:nvPr/>
        </p:nvSpPr>
        <p:spPr>
          <a:xfrm>
            <a:off x="2148840" y="3291840"/>
            <a:ext cx="2286000" cy="2286000"/>
          </a:xfrm>
          <a:prstGeom prst="ellipse">
            <a:avLst/>
          </a:prstGeom>
          <a:solidFill>
            <a:srgbClr val="174A8B">
              <a:alpha val="8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5120640"/>
            <a:ext cx="1280160" cy="329184"/>
          </a:xfrm>
          <a:prstGeom prst="rect">
            <a:avLst/>
          </a:prstGeom>
          <a:noFill/>
        </p:spPr>
        <p:txBody>
          <a:bodyPr wrap="square">
            <a:spAutoFit/>
          </a:bodyPr>
          <a:lstStyle/>
          <a:p>
            <a:pPr algn="ctr"/>
            <a:r>
              <a:rPr sz="1200" b="1">
                <a:solidFill>
                  <a:srgbClr val="FFFFFF"/>
                </a:solidFill>
                <a:latin typeface="Calibri"/>
              </a:rPr>
              <a:t>Easy to reach</a:t>
            </a:r>
          </a:p>
        </p:txBody>
      </p:sp>
      <p:sp>
        <p:nvSpPr>
          <p:cNvPr id="9" name="Oval 8"/>
          <p:cNvSpPr/>
          <p:nvPr/>
        </p:nvSpPr>
        <p:spPr>
          <a:xfrm>
            <a:off x="2743200" y="3017520"/>
            <a:ext cx="1097280" cy="1097280"/>
          </a:xfrm>
          <a:prstGeom prst="ellipse">
            <a:avLst/>
          </a:prstGeom>
          <a:solidFill>
            <a:srgbClr val="28282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000" b="1">
                <a:solidFill>
                  <a:srgbClr val="FFFFFF"/>
                </a:solidFill>
                <a:latin typeface="Century Gothic"/>
              </a:rPr>
              <a:t>4.00</a:t>
            </a:r>
          </a:p>
        </p:txBody>
      </p:sp>
      <p:sp>
        <p:nvSpPr>
          <p:cNvPr id="10" name="TextBox 9"/>
          <p:cNvSpPr txBox="1"/>
          <p:nvPr/>
        </p:nvSpPr>
        <p:spPr>
          <a:xfrm>
            <a:off x="6035040" y="822960"/>
            <a:ext cx="5516880" cy="292608"/>
          </a:xfrm>
          <a:prstGeom prst="rect">
            <a:avLst/>
          </a:prstGeom>
          <a:noFill/>
        </p:spPr>
        <p:txBody>
          <a:bodyPr wrap="square">
            <a:spAutoFit/>
          </a:bodyPr>
          <a:lstStyle/>
          <a:p>
            <a:r>
              <a:rPr sz="1100" b="1">
                <a:solidFill>
                  <a:srgbClr val="1F6FB8"/>
                </a:solidFill>
                <a:latin typeface="Calibri"/>
              </a:rPr>
              <a:t>TARGET SEGMENT</a:t>
            </a:r>
          </a:p>
        </p:txBody>
      </p:sp>
      <p:sp>
        <p:nvSpPr>
          <p:cNvPr id="11" name="TextBox 10"/>
          <p:cNvSpPr txBox="1"/>
          <p:nvPr/>
        </p:nvSpPr>
        <p:spPr>
          <a:xfrm>
            <a:off x="6035040" y="1755648"/>
            <a:ext cx="5516880" cy="365760"/>
          </a:xfrm>
          <a:prstGeom prst="rect">
            <a:avLst/>
          </a:prstGeom>
          <a:noFill/>
        </p:spPr>
        <p:txBody>
          <a:bodyPr wrap="square">
            <a:spAutoFit/>
          </a:bodyPr>
          <a:lstStyle/>
          <a:p>
            <a:r>
              <a:rPr sz="1400" b="0">
                <a:solidFill>
                  <a:srgbClr val="8A8A8F"/>
                </a:solidFill>
                <a:latin typeface="Calibri"/>
              </a:rPr>
              <a:t>Score 4.00 of 5, the highest of the four</a:t>
            </a:r>
          </a:p>
        </p:txBody>
      </p:sp>
      <p:sp>
        <p:nvSpPr>
          <p:cNvPr id="12" name="Oval 11"/>
          <p:cNvSpPr/>
          <p:nvPr/>
        </p:nvSpPr>
        <p:spPr>
          <a:xfrm>
            <a:off x="6053328" y="2414016"/>
            <a:ext cx="475488" cy="47548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500" b="1">
                <a:solidFill>
                  <a:srgbClr val="FFFFFF"/>
                </a:solidFill>
                <a:latin typeface="Century Gothic"/>
              </a:rPr>
              <a:t>1</a:t>
            </a:r>
          </a:p>
        </p:txBody>
      </p:sp>
      <p:sp>
        <p:nvSpPr>
          <p:cNvPr id="13" name="TextBox 12"/>
          <p:cNvSpPr txBox="1"/>
          <p:nvPr/>
        </p:nvSpPr>
        <p:spPr>
          <a:xfrm>
            <a:off x="6720840" y="2340864"/>
            <a:ext cx="4831080" cy="731520"/>
          </a:xfrm>
          <a:prstGeom prst="rect">
            <a:avLst/>
          </a:prstGeom>
          <a:noFill/>
        </p:spPr>
        <p:txBody>
          <a:bodyPr wrap="square">
            <a:spAutoFit/>
          </a:bodyPr>
          <a:lstStyle/>
          <a:p>
            <a:pPr>
              <a:spcAft>
                <a:spcPts val="0"/>
              </a:spcAft>
            </a:pPr>
            <a:r>
              <a:rPr sz="1300" b="1">
                <a:solidFill>
                  <a:srgbClr val="3A3A3F"/>
                </a:solidFill>
                <a:latin typeface="Calibri"/>
              </a:rPr>
              <a:t>Who</a:t>
            </a:r>
          </a:p>
          <a:p>
            <a:pPr>
              <a:spcAft>
                <a:spcPts val="0"/>
              </a:spcAft>
            </a:pPr>
            <a:r>
              <a:rPr sz="1300" b="0">
                <a:solidFill>
                  <a:srgbClr val="3A3A3F"/>
                </a:solidFill>
                <a:latin typeface="Calibri"/>
              </a:rPr>
              <a:t>working adults of 25 to 35 in non-IT jobs, in Lagos, Abuja and Port Harcourt</a:t>
            </a:r>
          </a:p>
        </p:txBody>
      </p:sp>
      <p:sp>
        <p:nvSpPr>
          <p:cNvPr id="14" name="Oval 13"/>
          <p:cNvSpPr/>
          <p:nvPr/>
        </p:nvSpPr>
        <p:spPr>
          <a:xfrm>
            <a:off x="6053328" y="3145536"/>
            <a:ext cx="475488" cy="475488"/>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500" b="1">
                <a:solidFill>
                  <a:srgbClr val="28282C"/>
                </a:solidFill>
                <a:latin typeface="Century Gothic"/>
              </a:rPr>
              <a:t>2</a:t>
            </a:r>
          </a:p>
        </p:txBody>
      </p:sp>
      <p:sp>
        <p:nvSpPr>
          <p:cNvPr id="15" name="TextBox 14"/>
          <p:cNvSpPr txBox="1"/>
          <p:nvPr/>
        </p:nvSpPr>
        <p:spPr>
          <a:xfrm>
            <a:off x="6720840" y="3072384"/>
            <a:ext cx="4831080" cy="731520"/>
          </a:xfrm>
          <a:prstGeom prst="rect">
            <a:avLst/>
          </a:prstGeom>
          <a:noFill/>
        </p:spPr>
        <p:txBody>
          <a:bodyPr wrap="square">
            <a:spAutoFit/>
          </a:bodyPr>
          <a:lstStyle/>
          <a:p>
            <a:pPr>
              <a:spcAft>
                <a:spcPts val="0"/>
              </a:spcAft>
            </a:pPr>
            <a:r>
              <a:rPr sz="1300" b="1">
                <a:solidFill>
                  <a:srgbClr val="3A3A3F"/>
                </a:solidFill>
                <a:latin typeface="Calibri"/>
              </a:rPr>
              <a:t>Can pay</a:t>
            </a:r>
          </a:p>
          <a:p>
            <a:pPr>
              <a:spcAft>
                <a:spcPts val="0"/>
              </a:spcAft>
            </a:pPr>
            <a:r>
              <a:rPr sz="1300" b="0">
                <a:solidFill>
                  <a:srgbClr val="3A3A3F"/>
                </a:solidFill>
                <a:latin typeface="Calibri"/>
              </a:rPr>
              <a:t>steady pay above the ₦70,000 minimum wage; ₦50,000 a month in 3 parts</a:t>
            </a:r>
          </a:p>
        </p:txBody>
      </p:sp>
      <p:sp>
        <p:nvSpPr>
          <p:cNvPr id="16" name="Oval 15"/>
          <p:cNvSpPr/>
          <p:nvPr/>
        </p:nvSpPr>
        <p:spPr>
          <a:xfrm>
            <a:off x="6053328" y="3877056"/>
            <a:ext cx="475488" cy="47548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500" b="1">
                <a:solidFill>
                  <a:srgbClr val="FFFFFF"/>
                </a:solidFill>
                <a:latin typeface="Century Gothic"/>
              </a:rPr>
              <a:t>3</a:t>
            </a:r>
          </a:p>
        </p:txBody>
      </p:sp>
      <p:sp>
        <p:nvSpPr>
          <p:cNvPr id="17" name="TextBox 16"/>
          <p:cNvSpPr txBox="1"/>
          <p:nvPr/>
        </p:nvSpPr>
        <p:spPr>
          <a:xfrm>
            <a:off x="6720840" y="3803904"/>
            <a:ext cx="4831080" cy="731520"/>
          </a:xfrm>
          <a:prstGeom prst="rect">
            <a:avLst/>
          </a:prstGeom>
          <a:noFill/>
        </p:spPr>
        <p:txBody>
          <a:bodyPr wrap="square">
            <a:spAutoFit/>
          </a:bodyPr>
          <a:lstStyle/>
          <a:p>
            <a:pPr>
              <a:spcAft>
                <a:spcPts val="0"/>
              </a:spcAft>
            </a:pPr>
            <a:r>
              <a:rPr sz="1300" b="1">
                <a:solidFill>
                  <a:srgbClr val="3A3A3F"/>
                </a:solidFill>
                <a:latin typeface="Calibri"/>
              </a:rPr>
              <a:t>Strong reason to buy</a:t>
            </a:r>
          </a:p>
          <a:p>
            <a:pPr>
              <a:spcAft>
                <a:spcPts val="0"/>
              </a:spcAft>
            </a:pPr>
            <a:r>
              <a:rPr sz="1300" b="0">
                <a:solidFill>
                  <a:srgbClr val="3A3A3F"/>
                </a:solidFill>
                <a:latin typeface="Calibri"/>
              </a:rPr>
              <a:t>a junior analyst job pays about ₦150,000 to ₦300,000 a month</a:t>
            </a:r>
          </a:p>
        </p:txBody>
      </p:sp>
      <p:sp>
        <p:nvSpPr>
          <p:cNvPr id="18" name="Oval 17"/>
          <p:cNvSpPr/>
          <p:nvPr/>
        </p:nvSpPr>
        <p:spPr>
          <a:xfrm>
            <a:off x="6053328" y="4608576"/>
            <a:ext cx="475488" cy="475488"/>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500" b="1">
                <a:solidFill>
                  <a:srgbClr val="28282C"/>
                </a:solidFill>
                <a:latin typeface="Century Gothic"/>
              </a:rPr>
              <a:t>4</a:t>
            </a:r>
          </a:p>
        </p:txBody>
      </p:sp>
      <p:sp>
        <p:nvSpPr>
          <p:cNvPr id="19" name="TextBox 18"/>
          <p:cNvSpPr txBox="1"/>
          <p:nvPr/>
        </p:nvSpPr>
        <p:spPr>
          <a:xfrm>
            <a:off x="6720840" y="4535424"/>
            <a:ext cx="4831080" cy="731520"/>
          </a:xfrm>
          <a:prstGeom prst="rect">
            <a:avLst/>
          </a:prstGeom>
          <a:noFill/>
        </p:spPr>
        <p:txBody>
          <a:bodyPr wrap="square">
            <a:spAutoFit/>
          </a:bodyPr>
          <a:lstStyle/>
          <a:p>
            <a:pPr>
              <a:spcAft>
                <a:spcPts val="0"/>
              </a:spcAft>
            </a:pPr>
            <a:r>
              <a:rPr sz="1300" b="1">
                <a:solidFill>
                  <a:srgbClr val="3A3A3F"/>
                </a:solidFill>
                <a:latin typeface="Calibri"/>
              </a:rPr>
              <a:t>Easy to reach</a:t>
            </a:r>
          </a:p>
          <a:p>
            <a:pPr>
              <a:spcAft>
                <a:spcPts val="0"/>
              </a:spcAft>
            </a:pPr>
            <a:r>
              <a:rPr sz="1300" b="0">
                <a:solidFill>
                  <a:srgbClr val="3A3A3F"/>
                </a:solidFill>
                <a:latin typeface="Calibri"/>
              </a:rPr>
              <a:t>Google, Facebook, LinkedIn and WhatsApp; evening and weekend classes</a:t>
            </a:r>
          </a:p>
        </p:txBody>
      </p:sp>
      <p:sp>
        <p:nvSpPr>
          <p:cNvPr id="20" name="Oval 19"/>
          <p:cNvSpPr/>
          <p:nvPr/>
        </p:nvSpPr>
        <p:spPr>
          <a:xfrm>
            <a:off x="6053328" y="5340096"/>
            <a:ext cx="475488" cy="475488"/>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500" b="1">
                <a:solidFill>
                  <a:srgbClr val="FFFFFF"/>
                </a:solidFill>
                <a:latin typeface="Century Gothic"/>
              </a:rPr>
              <a:t>5</a:t>
            </a:r>
          </a:p>
        </p:txBody>
      </p:sp>
      <p:sp>
        <p:nvSpPr>
          <p:cNvPr id="21" name="TextBox 20"/>
          <p:cNvSpPr txBox="1"/>
          <p:nvPr/>
        </p:nvSpPr>
        <p:spPr>
          <a:xfrm>
            <a:off x="6720840" y="5266944"/>
            <a:ext cx="4831080" cy="731520"/>
          </a:xfrm>
          <a:prstGeom prst="rect">
            <a:avLst/>
          </a:prstGeom>
          <a:noFill/>
        </p:spPr>
        <p:txBody>
          <a:bodyPr wrap="square">
            <a:spAutoFit/>
          </a:bodyPr>
          <a:lstStyle/>
          <a:p>
            <a:pPr>
              <a:spcAft>
                <a:spcPts val="0"/>
              </a:spcAft>
            </a:pPr>
            <a:r>
              <a:rPr sz="1300" b="1">
                <a:solidFill>
                  <a:srgbClr val="3A3A3F"/>
                </a:solidFill>
                <a:latin typeface="Calibri"/>
              </a:rPr>
              <a:t>Little competition</a:t>
            </a:r>
          </a:p>
          <a:p>
            <a:pPr>
              <a:spcAft>
                <a:spcPts val="0"/>
              </a:spcAft>
            </a:pPr>
            <a:r>
              <a:rPr sz="1300" b="0">
                <a:solidFill>
                  <a:srgbClr val="3A3A3F"/>
                </a:solidFill>
                <a:latin typeface="Calibri"/>
              </a:rPr>
              <a:t>few practical, mid-price courses fit around a full-time job</a:t>
            </a:r>
          </a:p>
        </p:txBody>
      </p:sp>
      <p:sp>
        <p:nvSpPr>
          <p:cNvPr id="22" name="TextBox 21"/>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23" name="TextBox 22"/>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20</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par>
                          <p:cTn id="26" fill="hold">
                            <p:stCondLst>
                              <p:cond delay="500"/>
                            </p:stCondLst>
                            <p:childTnLst>
                              <p:par>
                                <p:cTn id="27" presetID="10" presetClass="entr" presetSubtype="0"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fade">
                                      <p:cBhvr>
                                        <p:cTn id="32" dur="500"/>
                                        <p:tgtEl>
                                          <p:spTgt spid="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par>
                          <p:cTn id="36" fill="hold">
                            <p:stCondLst>
                              <p:cond delay="1000"/>
                            </p:stCondLst>
                            <p:childTnLst>
                              <p:par>
                                <p:cTn id="37" presetID="10" presetClass="entr" presetSubtype="0" fill="hold" grpId="0" nodeType="after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par>
                          <p:cTn id="50" fill="hold">
                            <p:stCondLst>
                              <p:cond delay="2000"/>
                            </p:stCondLst>
                            <p:childTnLst>
                              <p:par>
                                <p:cTn id="51" presetID="10" presetClass="entr" presetSubtype="0" fill="hold" grpId="0" nodeType="after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childTnLst>
                          </p:cTn>
                        </p:par>
                        <p:par>
                          <p:cTn id="57" fill="hold">
                            <p:stCondLst>
                              <p:cond delay="2500"/>
                            </p:stCondLst>
                            <p:childTnLst>
                              <p:par>
                                <p:cTn id="58" presetID="10" presetClass="entr" presetSubtype="0" fill="hold" grpId="0" nodeType="after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childTnLst>
                                </p:cTn>
                              </p:par>
                            </p:childTnLst>
                          </p:cTn>
                        </p:par>
                        <p:par>
                          <p:cTn id="64" fill="hold">
                            <p:stCondLst>
                              <p:cond delay="3000"/>
                            </p:stCondLst>
                            <p:childTnLst>
                              <p:par>
                                <p:cTn id="65" presetID="10" presetClass="entr" presetSubtype="0" fill="hold" grpId="0" nodeType="after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2"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640080"/>
            <a:ext cx="10728960" cy="658368"/>
          </a:xfrm>
        </p:spPr>
        <p:txBody>
          <a:bodyPr anchor="ctr"/>
          <a:lstStyle/>
          <a:p>
            <a:pPr algn="ctr"/>
            <a:r>
              <a:rPr sz="3000" b="1">
                <a:solidFill>
                  <a:srgbClr val="28282C"/>
                </a:solidFill>
                <a:latin typeface="Century Gothic"/>
              </a:rPr>
              <a:t>Key Findings</a:t>
            </a:r>
          </a:p>
        </p:txBody>
      </p:sp>
      <p:sp>
        <p:nvSpPr>
          <p:cNvPr id="3" name="TextBox 2"/>
          <p:cNvSpPr txBox="1"/>
          <p:nvPr/>
        </p:nvSpPr>
        <p:spPr>
          <a:xfrm>
            <a:off x="731520" y="384048"/>
            <a:ext cx="10728960" cy="292608"/>
          </a:xfrm>
          <a:prstGeom prst="rect">
            <a:avLst/>
          </a:prstGeom>
          <a:noFill/>
        </p:spPr>
        <p:txBody>
          <a:bodyPr wrap="square">
            <a:spAutoFit/>
          </a:bodyPr>
          <a:lstStyle/>
          <a:p>
            <a:pPr algn="ctr"/>
            <a:r>
              <a:rPr sz="1100" b="1">
                <a:solidFill>
                  <a:srgbClr val="1F6FB8"/>
                </a:solidFill>
                <a:latin typeface="Calibri"/>
              </a:rPr>
              <a:t>CONCLUSION</a:t>
            </a:r>
          </a:p>
        </p:txBody>
      </p:sp>
      <p:sp>
        <p:nvSpPr>
          <p:cNvPr id="4" name="TextBox 3"/>
          <p:cNvSpPr txBox="1"/>
          <p:nvPr/>
        </p:nvSpPr>
        <p:spPr>
          <a:xfrm>
            <a:off x="731520" y="1298448"/>
            <a:ext cx="10728960" cy="365760"/>
          </a:xfrm>
          <a:prstGeom prst="rect">
            <a:avLst/>
          </a:prstGeom>
          <a:noFill/>
        </p:spPr>
        <p:txBody>
          <a:bodyPr wrap="square">
            <a:spAutoFit/>
          </a:bodyPr>
          <a:lstStyle/>
          <a:p>
            <a:pPr algn="ctr"/>
            <a:r>
              <a:rPr sz="1300" b="0">
                <a:solidFill>
                  <a:srgbClr val="8A8A8F"/>
                </a:solidFill>
                <a:latin typeface="Calibri"/>
              </a:rPr>
              <a:t>What the customer analysis shows</a:t>
            </a:r>
          </a:p>
        </p:txBody>
      </p:sp>
      <p:sp>
        <p:nvSpPr>
          <p:cNvPr id="5" name="TextBox 4"/>
          <p:cNvSpPr txBox="1"/>
          <p:nvPr/>
        </p:nvSpPr>
        <p:spPr>
          <a:xfrm>
            <a:off x="548640" y="6446520"/>
            <a:ext cx="7315200" cy="274320"/>
          </a:xfrm>
          <a:prstGeom prst="rect">
            <a:avLst/>
          </a:prstGeom>
          <a:noFill/>
        </p:spPr>
        <p:txBody>
          <a:bodyPr wrap="square">
            <a:spAutoFit/>
          </a:bodyPr>
          <a:lstStyle/>
          <a:p>
            <a:r>
              <a:rPr sz="900" b="0">
                <a:solidFill>
                  <a:srgbClr val="8A8A8F"/>
                </a:solidFill>
                <a:latin typeface="Calibri"/>
              </a:rPr>
              <a:t>SkillUp Academy  ·  Capstone Project, Part 2</a:t>
            </a:r>
          </a:p>
        </p:txBody>
      </p:sp>
      <p:sp>
        <p:nvSpPr>
          <p:cNvPr id="6" name="TextBox 5"/>
          <p:cNvSpPr txBox="1"/>
          <p:nvPr/>
        </p:nvSpPr>
        <p:spPr>
          <a:xfrm>
            <a:off x="10728960" y="6446520"/>
            <a:ext cx="914400" cy="274320"/>
          </a:xfrm>
          <a:prstGeom prst="rect">
            <a:avLst/>
          </a:prstGeom>
          <a:noFill/>
        </p:spPr>
        <p:txBody>
          <a:bodyPr wrap="square">
            <a:spAutoFit/>
          </a:bodyPr>
          <a:lstStyle/>
          <a:p>
            <a:pPr algn="r"/>
            <a:r>
              <a:rPr sz="900" b="0">
                <a:solidFill>
                  <a:srgbClr val="8A8A8F"/>
                </a:solidFill>
                <a:latin typeface="Calibri"/>
              </a:rPr>
              <a:t>21</a:t>
            </a:r>
          </a:p>
        </p:txBody>
      </p:sp>
      <p:sp>
        <p:nvSpPr>
          <p:cNvPr id="7" name="Oval 6"/>
          <p:cNvSpPr/>
          <p:nvPr/>
        </p:nvSpPr>
        <p:spPr>
          <a:xfrm>
            <a:off x="1463040" y="2080260"/>
            <a:ext cx="1051560" cy="105156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28282C"/>
                </a:solidFill>
                <a:latin typeface="Century Gothic"/>
              </a:rPr>
              <a:t>01</a:t>
            </a:r>
          </a:p>
        </p:txBody>
      </p:sp>
      <p:sp>
        <p:nvSpPr>
          <p:cNvPr id="8" name="TextBox 7"/>
          <p:cNvSpPr txBox="1"/>
          <p:nvPr/>
        </p:nvSpPr>
        <p:spPr>
          <a:xfrm>
            <a:off x="731520" y="3291840"/>
            <a:ext cx="2514600" cy="292608"/>
          </a:xfrm>
          <a:prstGeom prst="rect">
            <a:avLst/>
          </a:prstGeom>
          <a:noFill/>
        </p:spPr>
        <p:txBody>
          <a:bodyPr wrap="square">
            <a:spAutoFit/>
          </a:bodyPr>
          <a:lstStyle/>
          <a:p>
            <a:pPr algn="ctr"/>
            <a:r>
              <a:rPr sz="1000" b="1">
                <a:solidFill>
                  <a:srgbClr val="1F6FB8"/>
                </a:solidFill>
                <a:latin typeface="Calibri"/>
              </a:rPr>
              <a:t>TOP NEED</a:t>
            </a:r>
          </a:p>
        </p:txBody>
      </p:sp>
      <p:sp>
        <p:nvSpPr>
          <p:cNvPr id="9" name="TextBox 8"/>
          <p:cNvSpPr txBox="1"/>
          <p:nvPr/>
        </p:nvSpPr>
        <p:spPr>
          <a:xfrm>
            <a:off x="731520" y="3584448"/>
            <a:ext cx="2514600" cy="457200"/>
          </a:xfrm>
          <a:prstGeom prst="rect">
            <a:avLst/>
          </a:prstGeom>
          <a:noFill/>
        </p:spPr>
        <p:txBody>
          <a:bodyPr wrap="square">
            <a:spAutoFit/>
          </a:bodyPr>
          <a:lstStyle/>
          <a:p>
            <a:pPr algn="ctr"/>
            <a:r>
              <a:rPr sz="1800" b="1">
                <a:solidFill>
                  <a:srgbClr val="28282C"/>
                </a:solidFill>
                <a:latin typeface="Century Gothic"/>
              </a:rPr>
              <a:t>Hands-on skills</a:t>
            </a:r>
          </a:p>
        </p:txBody>
      </p:sp>
      <p:sp>
        <p:nvSpPr>
          <p:cNvPr id="10" name="TextBox 9"/>
          <p:cNvSpPr txBox="1"/>
          <p:nvPr/>
        </p:nvSpPr>
        <p:spPr>
          <a:xfrm>
            <a:off x="822960" y="4069080"/>
            <a:ext cx="2331720" cy="1280160"/>
          </a:xfrm>
          <a:prstGeom prst="rect">
            <a:avLst/>
          </a:prstGeom>
          <a:noFill/>
        </p:spPr>
        <p:txBody>
          <a:bodyPr wrap="square">
            <a:spAutoFit/>
          </a:bodyPr>
          <a:lstStyle/>
          <a:p>
            <a:pPr algn="ctr"/>
            <a:r>
              <a:rPr sz="1300" b="0">
                <a:solidFill>
                  <a:srgbClr val="8A8A8F"/>
                </a:solidFill>
                <a:latin typeface="Calibri"/>
              </a:rPr>
              <a:t>25 of 25, level with an affordable price</a:t>
            </a:r>
          </a:p>
        </p:txBody>
      </p:sp>
      <p:sp>
        <p:nvSpPr>
          <p:cNvPr id="11" name="Oval 10"/>
          <p:cNvSpPr/>
          <p:nvPr/>
        </p:nvSpPr>
        <p:spPr>
          <a:xfrm>
            <a:off x="4160520" y="2080260"/>
            <a:ext cx="1051560" cy="105156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entury Gothic"/>
              </a:rPr>
              <a:t>02</a:t>
            </a:r>
          </a:p>
        </p:txBody>
      </p:sp>
      <p:sp>
        <p:nvSpPr>
          <p:cNvPr id="12" name="TextBox 11"/>
          <p:cNvSpPr txBox="1"/>
          <p:nvPr/>
        </p:nvSpPr>
        <p:spPr>
          <a:xfrm>
            <a:off x="3429000" y="3291840"/>
            <a:ext cx="2514600" cy="292608"/>
          </a:xfrm>
          <a:prstGeom prst="rect">
            <a:avLst/>
          </a:prstGeom>
          <a:noFill/>
        </p:spPr>
        <p:txBody>
          <a:bodyPr wrap="square">
            <a:spAutoFit/>
          </a:bodyPr>
          <a:lstStyle/>
          <a:p>
            <a:pPr algn="ctr"/>
            <a:r>
              <a:rPr sz="1000" b="1">
                <a:solidFill>
                  <a:srgbClr val="1F6FB8"/>
                </a:solidFill>
                <a:latin typeface="Calibri"/>
              </a:rPr>
              <a:t>TARGET SEGMENT</a:t>
            </a:r>
          </a:p>
        </p:txBody>
      </p:sp>
      <p:sp>
        <p:nvSpPr>
          <p:cNvPr id="13" name="TextBox 12"/>
          <p:cNvSpPr txBox="1"/>
          <p:nvPr/>
        </p:nvSpPr>
        <p:spPr>
          <a:xfrm>
            <a:off x="3429000" y="3584448"/>
            <a:ext cx="2514600" cy="457200"/>
          </a:xfrm>
          <a:prstGeom prst="rect">
            <a:avLst/>
          </a:prstGeom>
          <a:noFill/>
        </p:spPr>
        <p:txBody>
          <a:bodyPr wrap="square">
            <a:spAutoFit/>
          </a:bodyPr>
          <a:lstStyle/>
          <a:p>
            <a:pPr algn="ctr"/>
            <a:r>
              <a:rPr sz="1800" b="1">
                <a:solidFill>
                  <a:srgbClr val="28282C"/>
                </a:solidFill>
                <a:latin typeface="Century Gothic"/>
              </a:rPr>
              <a:t>Career Switchers</a:t>
            </a:r>
          </a:p>
        </p:txBody>
      </p:sp>
      <p:sp>
        <p:nvSpPr>
          <p:cNvPr id="14" name="TextBox 13"/>
          <p:cNvSpPr txBox="1"/>
          <p:nvPr/>
        </p:nvSpPr>
        <p:spPr>
          <a:xfrm>
            <a:off x="3520440" y="4069080"/>
            <a:ext cx="2331720" cy="1280160"/>
          </a:xfrm>
          <a:prstGeom prst="rect">
            <a:avLst/>
          </a:prstGeom>
          <a:noFill/>
        </p:spPr>
        <p:txBody>
          <a:bodyPr wrap="square">
            <a:spAutoFit/>
          </a:bodyPr>
          <a:lstStyle/>
          <a:p>
            <a:pPr algn="ctr"/>
            <a:r>
              <a:rPr sz="1300" b="0">
                <a:solidFill>
                  <a:srgbClr val="8A8A8F"/>
                </a:solidFill>
                <a:latin typeface="Calibri"/>
              </a:rPr>
              <a:t>4.00 of 5, ahead of Campus Starters (3.25)</a:t>
            </a:r>
          </a:p>
        </p:txBody>
      </p:sp>
      <p:sp>
        <p:nvSpPr>
          <p:cNvPr id="15" name="Oval 14"/>
          <p:cNvSpPr/>
          <p:nvPr/>
        </p:nvSpPr>
        <p:spPr>
          <a:xfrm>
            <a:off x="6858000" y="2080260"/>
            <a:ext cx="1051560" cy="1051560"/>
          </a:xfrm>
          <a:prstGeom prst="ellipse">
            <a:avLst/>
          </a:prstGeom>
          <a:solidFill>
            <a:srgbClr val="FFFFFF"/>
          </a:solidFill>
          <a:ln w="381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28282C"/>
                </a:solidFill>
                <a:latin typeface="Century Gothic"/>
              </a:rPr>
              <a:t>03</a:t>
            </a:r>
          </a:p>
        </p:txBody>
      </p:sp>
      <p:sp>
        <p:nvSpPr>
          <p:cNvPr id="16" name="TextBox 15"/>
          <p:cNvSpPr txBox="1"/>
          <p:nvPr/>
        </p:nvSpPr>
        <p:spPr>
          <a:xfrm>
            <a:off x="6126480" y="3291840"/>
            <a:ext cx="2514600" cy="292608"/>
          </a:xfrm>
          <a:prstGeom prst="rect">
            <a:avLst/>
          </a:prstGeom>
          <a:noFill/>
        </p:spPr>
        <p:txBody>
          <a:bodyPr wrap="square">
            <a:spAutoFit/>
          </a:bodyPr>
          <a:lstStyle/>
          <a:p>
            <a:pPr algn="ctr"/>
            <a:r>
              <a:rPr sz="1000" b="1">
                <a:solidFill>
                  <a:srgbClr val="1F6FB8"/>
                </a:solidFill>
                <a:latin typeface="Calibri"/>
              </a:rPr>
              <a:t>PERSONA</a:t>
            </a:r>
          </a:p>
        </p:txBody>
      </p:sp>
      <p:sp>
        <p:nvSpPr>
          <p:cNvPr id="17" name="TextBox 16"/>
          <p:cNvSpPr txBox="1"/>
          <p:nvPr/>
        </p:nvSpPr>
        <p:spPr>
          <a:xfrm>
            <a:off x="6126480" y="3584448"/>
            <a:ext cx="2514600" cy="457200"/>
          </a:xfrm>
          <a:prstGeom prst="rect">
            <a:avLst/>
          </a:prstGeom>
          <a:noFill/>
        </p:spPr>
        <p:txBody>
          <a:bodyPr wrap="square">
            <a:spAutoFit/>
          </a:bodyPr>
          <a:lstStyle/>
          <a:p>
            <a:pPr algn="ctr"/>
            <a:r>
              <a:rPr sz="1800" b="1">
                <a:solidFill>
                  <a:srgbClr val="28282C"/>
                </a:solidFill>
                <a:latin typeface="Century Gothic"/>
              </a:rPr>
              <a:t>Tunde, 27</a:t>
            </a:r>
          </a:p>
        </p:txBody>
      </p:sp>
      <p:sp>
        <p:nvSpPr>
          <p:cNvPr id="18" name="TextBox 17"/>
          <p:cNvSpPr txBox="1"/>
          <p:nvPr/>
        </p:nvSpPr>
        <p:spPr>
          <a:xfrm>
            <a:off x="6217920" y="4069080"/>
            <a:ext cx="2331720" cy="1280160"/>
          </a:xfrm>
          <a:prstGeom prst="rect">
            <a:avLst/>
          </a:prstGeom>
          <a:noFill/>
        </p:spPr>
        <p:txBody>
          <a:bodyPr wrap="square">
            <a:spAutoFit/>
          </a:bodyPr>
          <a:lstStyle/>
          <a:p>
            <a:pPr algn="ctr"/>
            <a:r>
              <a:rPr sz="1300" b="0">
                <a:solidFill>
                  <a:srgbClr val="8A8A8F"/>
                </a:solidFill>
                <a:latin typeface="Calibri"/>
              </a:rPr>
              <a:t>Customer service officer in Lagos who wants a cyber job within a year</a:t>
            </a:r>
          </a:p>
        </p:txBody>
      </p:sp>
      <p:sp>
        <p:nvSpPr>
          <p:cNvPr id="19" name="Oval 18"/>
          <p:cNvSpPr/>
          <p:nvPr/>
        </p:nvSpPr>
        <p:spPr>
          <a:xfrm>
            <a:off x="9555480" y="2080260"/>
            <a:ext cx="1051560" cy="1051560"/>
          </a:xfrm>
          <a:prstGeom prst="ellipse">
            <a:avLst/>
          </a:prstGeom>
          <a:gradFill rotWithShape="1">
            <a:gsLst>
              <a:gs pos="0">
                <a:srgbClr val="2F7FCC"/>
              </a:gs>
              <a:gs pos="100000">
                <a:srgbClr val="174A8B"/>
              </a:gs>
            </a:gsLst>
            <a:lin scaled="0" ang="18900000"/>
          </a:gradFill>
          <a:ln w="38100">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entury Gothic"/>
              </a:rPr>
              <a:t>04</a:t>
            </a:r>
          </a:p>
        </p:txBody>
      </p:sp>
      <p:sp>
        <p:nvSpPr>
          <p:cNvPr id="20" name="TextBox 19"/>
          <p:cNvSpPr txBox="1"/>
          <p:nvPr/>
        </p:nvSpPr>
        <p:spPr>
          <a:xfrm>
            <a:off x="8823960" y="3291840"/>
            <a:ext cx="2514600" cy="292608"/>
          </a:xfrm>
          <a:prstGeom prst="rect">
            <a:avLst/>
          </a:prstGeom>
          <a:noFill/>
        </p:spPr>
        <p:txBody>
          <a:bodyPr wrap="square">
            <a:spAutoFit/>
          </a:bodyPr>
          <a:lstStyle/>
          <a:p>
            <a:pPr algn="ctr"/>
            <a:r>
              <a:rPr sz="1000" b="1">
                <a:solidFill>
                  <a:srgbClr val="1F6FB8"/>
                </a:solidFill>
                <a:latin typeface="Calibri"/>
              </a:rPr>
              <a:t>JOURNEY LOW POINT</a:t>
            </a:r>
          </a:p>
        </p:txBody>
      </p:sp>
      <p:sp>
        <p:nvSpPr>
          <p:cNvPr id="21" name="TextBox 20"/>
          <p:cNvSpPr txBox="1"/>
          <p:nvPr/>
        </p:nvSpPr>
        <p:spPr>
          <a:xfrm>
            <a:off x="8823960" y="3584448"/>
            <a:ext cx="2514600" cy="457200"/>
          </a:xfrm>
          <a:prstGeom prst="rect">
            <a:avLst/>
          </a:prstGeom>
          <a:noFill/>
        </p:spPr>
        <p:txBody>
          <a:bodyPr wrap="square">
            <a:spAutoFit/>
          </a:bodyPr>
          <a:lstStyle/>
          <a:p>
            <a:pPr algn="ctr"/>
            <a:r>
              <a:rPr sz="1800" b="1">
                <a:solidFill>
                  <a:srgbClr val="28282C"/>
                </a:solidFill>
                <a:latin typeface="Century Gothic"/>
              </a:rPr>
              <a:t>Consideration</a:t>
            </a:r>
          </a:p>
        </p:txBody>
      </p:sp>
      <p:sp>
        <p:nvSpPr>
          <p:cNvPr id="22" name="TextBox 21"/>
          <p:cNvSpPr txBox="1"/>
          <p:nvPr/>
        </p:nvSpPr>
        <p:spPr>
          <a:xfrm>
            <a:off x="8915400" y="4069080"/>
            <a:ext cx="2331720" cy="1280160"/>
          </a:xfrm>
          <a:prstGeom prst="rect">
            <a:avLst/>
          </a:prstGeom>
          <a:noFill/>
        </p:spPr>
        <p:txBody>
          <a:bodyPr wrap="square">
            <a:spAutoFit/>
          </a:bodyPr>
          <a:lstStyle/>
          <a:p>
            <a:pPr algn="ctr"/>
            <a:r>
              <a:rPr sz="1300" b="0">
                <a:solidFill>
                  <a:srgbClr val="8A8A8F"/>
                </a:solidFill>
                <a:latin typeface="Calibri"/>
              </a:rPr>
              <a:t>Fear of scams and hidden prices: fix with clear prices, reviews, a free class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par>
                          <p:cTn id="54" fill="hold">
                            <p:stCondLst>
                              <p:cond delay="2500"/>
                            </p:stCondLst>
                            <p:childTnLst>
                              <p:par>
                                <p:cTn id="55" presetID="10" presetClass="entr" presetSubtype="0" fill="hold" grpId="0" nodeType="after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6096000" cy="6858000"/>
          </a:xfrm>
          <a:prstGeom prst="rect">
            <a:avLst/>
          </a:prstGeom>
          <a:gradFill rotWithShape="1">
            <a:gsLst>
              <a:gs pos="0">
                <a:srgbClr val="2F7FCC"/>
              </a:gs>
              <a:gs pos="100000">
                <a:srgbClr val="174A8B"/>
              </a:gs>
            </a:gsLst>
            <a:lin scaled="0" ang="180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6000" y="0"/>
            <a:ext cx="6096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822960" y="2103120"/>
            <a:ext cx="4724400" cy="1188720"/>
          </a:xfrm>
        </p:spPr>
        <p:txBody>
          <a:bodyPr anchor="b"/>
          <a:lstStyle/>
          <a:p>
            <a:pPr algn="l"/>
            <a:r>
              <a:rPr sz="5400" b="1">
                <a:solidFill>
                  <a:srgbClr val="FFFFFF"/>
                </a:solidFill>
                <a:latin typeface="Century Gothic"/>
              </a:rPr>
              <a:t>Thank You</a:t>
            </a:r>
          </a:p>
        </p:txBody>
      </p:sp>
      <p:sp>
        <p:nvSpPr>
          <p:cNvPr id="3" name="Subtitle 2"/>
          <p:cNvSpPr>
            <a:spLocks noGrp="1"/>
          </p:cNvSpPr>
          <p:nvPr>
            <p:ph type="subTitle" idx="1"/>
          </p:nvPr>
        </p:nvSpPr>
        <p:spPr>
          <a:xfrm>
            <a:off x="822960" y="3657600"/>
            <a:ext cx="4724400" cy="548640"/>
          </a:xfrm>
        </p:spPr>
        <p:txBody>
          <a:bodyPr/>
          <a:lstStyle/>
          <a:p>
            <a:pPr algn="l"/>
            <a:r>
              <a:rPr sz="2000" b="0">
                <a:solidFill>
                  <a:srgbClr val="FFFFFF"/>
                </a:solidFill>
                <a:latin typeface="Calibri"/>
              </a:rPr>
              <a:t>Any questions?</a:t>
            </a:r>
          </a:p>
        </p:txBody>
      </p:sp>
      <p:sp>
        <p:nvSpPr>
          <p:cNvPr id="6" name="Oval 5"/>
          <p:cNvSpPr/>
          <p:nvPr/>
        </p:nvSpPr>
        <p:spPr>
          <a:xfrm>
            <a:off x="7223760" y="1508760"/>
            <a:ext cx="3840480" cy="3840480"/>
          </a:xfrm>
          <a:prstGeom prst="ellipse">
            <a:avLst/>
          </a:prstGeom>
          <a:noFill/>
          <a:ln w="50800">
            <a:solidFill>
              <a:srgbClr val="2F7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99832" y="2084832"/>
            <a:ext cx="2688336" cy="2688336"/>
          </a:xfrm>
          <a:prstGeom prst="ellipse">
            <a:avLst/>
          </a:prstGeom>
          <a:noFill/>
          <a:ln w="25400">
            <a:solidFill>
              <a:srgbClr val="8EC5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96144" y="4581144"/>
            <a:ext cx="768096" cy="768096"/>
          </a:xfrm>
          <a:prstGeom prst="ellipse">
            <a:avLst/>
          </a:prstGeom>
          <a:gradFill rotWithShape="1">
            <a:gsLst>
              <a:gs pos="0">
                <a:srgbClr val="2F7FCC"/>
              </a:gs>
              <a:gs pos="100000">
                <a:srgbClr val="174A8B"/>
              </a:gs>
            </a:gsLst>
            <a:lin scaled="0" ang="189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96112" y="3429000"/>
            <a:ext cx="1097280" cy="91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035040"/>
            <a:ext cx="4998720" cy="320040"/>
          </a:xfrm>
          <a:prstGeom prst="rect">
            <a:avLst/>
          </a:prstGeom>
          <a:noFill/>
        </p:spPr>
        <p:txBody>
          <a:bodyPr wrap="square">
            <a:spAutoFit/>
          </a:bodyPr>
          <a:lstStyle/>
          <a:p>
            <a:r>
              <a:rPr sz="1000" b="0">
                <a:solidFill>
                  <a:srgbClr val="FFFFFF"/>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2" grpId="0" animBg="1"/>
      <p:bldP spid="9" grpId="0" animBg="1"/>
      <p:bldP spid="3" grpId="0" animBg="1"/>
      <p:bldP spid="10" grpId="0" animBg="1"/>
    </p:bldLst>
  </p:timing>
</p:sld>
</file>

<file path=ppt/theme/theme1.xml><?xml version="1.0" encoding="utf-8"?>
<a:theme xmlns:a="http://schemas.openxmlformats.org/drawingml/2006/main" name="Office Theme">
  <a:themeElements>
    <a:clrScheme name="Azure">
      <a:dk1>
        <a:sysClr val="windowText" lastClr="000000"/>
      </a:dk1>
      <a:lt1>
        <a:sysClr val="window" lastClr="FFFFFF"/>
      </a:lt1>
      <a:dk2>
        <a:srgbClr val="28282C"/>
      </a:dk2>
      <a:lt2>
        <a:srgbClr val="EAF2FB"/>
      </a:lt2>
      <a:accent1>
        <a:srgbClr val="2F7FCC"/>
      </a:accent1>
      <a:accent2>
        <a:srgbClr val="174A8B"/>
      </a:accent2>
      <a:accent3>
        <a:srgbClr val="8EC5F2"/>
      </a:accent3>
      <a:accent4>
        <a:srgbClr val="1F6FB8"/>
      </a:accent4>
      <a:accent5>
        <a:srgbClr val="8A8A8F"/>
      </a:accent5>
      <a:accent6>
        <a:srgbClr val="28282C"/>
      </a:accent6>
      <a:hlink>
        <a:srgbClr val="1F6FB8"/>
      </a:hlink>
      <a:folHlink>
        <a:srgbClr val="8A8A8F"/>
      </a:folHlink>
    </a:clrScheme>
    <a:fontScheme name="Office">
      <a:majorFont>
        <a:latin typeface="Century Gothic"/>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Azure">
      <a:dk1>
        <a:sysClr val="windowText" lastClr="000000"/>
      </a:dk1>
      <a:lt1>
        <a:sysClr val="window" lastClr="FFFFFF"/>
      </a:lt1>
      <a:dk2>
        <a:srgbClr val="28282C"/>
      </a:dk2>
      <a:lt2>
        <a:srgbClr val="EAF2FB"/>
      </a:lt2>
      <a:accent1>
        <a:srgbClr val="2F7FCC"/>
      </a:accent1>
      <a:accent2>
        <a:srgbClr val="174A8B"/>
      </a:accent2>
      <a:accent3>
        <a:srgbClr val="8EC5F2"/>
      </a:accent3>
      <a:accent4>
        <a:srgbClr val="1F6FB8"/>
      </a:accent4>
      <a:accent5>
        <a:srgbClr val="8A8A8F"/>
      </a:accent5>
      <a:accent6>
        <a:srgbClr val="28282C"/>
      </a:accent6>
      <a:hlink>
        <a:srgbClr val="1F6FB8"/>
      </a:hlink>
      <a:folHlink>
        <a:srgbClr val="8A8A8F"/>
      </a:folHlink>
    </a:clrScheme>
    <a:fontScheme name="Office">
      <a:majorFont>
        <a:latin typeface="Century Gothic"/>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22</Slides>
  <Notes>22</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Part 2: Customer Analysis for CyberStart</dc:title>
  <dc:subject>Customer persona, journey map, the 5 most important needs, four segments, scores and target</dc:subject>
  <dc:creator/>
  <cp:keywords>customer persona, customer journey map, customer needs, segmentation, target segment</cp:keywords>
  <dc:description/>
  <cp:lastModifiedBy/>
  <cp:revision>1</cp:revision>
  <dcterms:created xsi:type="dcterms:W3CDTF">2026-10-11T19:17:47Z</dcterms:created>
  <dcterms:modified xsi:type="dcterms:W3CDTF">2026-10-11T19:17:47Z</dcterms:modified>
  <cp:category/>
</cp:coreProperties>
</file>