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7F7F7F"/>
            </a:solidFill>
          </c:spPr>
          <c:dPt>
            <c:idx val="1"/>
            <c:spPr>
              <a:solidFill>
                <a:srgbClr val="1F3864"/>
              </a:solidFill>
            </c:spPr>
          </c:dPt>
          <c:cat>
            <c:strRef>
              <c:f>Sheet1!$A$2:$A$6</c:f>
              <c:strCache>
                <c:ptCount val="5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  <c:pt idx="3">
                  <c:v>Learning</c:v>
                </c:pt>
                <c:pt idx="4">
                  <c:v>After the course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dLbls>
          <c:numFmt formatCode="0" sourceLinked="0"/>
          <c:txPr>
            <a:bodyPr wrap="none"/>
            <a:lstStyle/>
            <a:p>
              <a:pPr>
                <a:defRPr sz="16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79456312"/>
        <c:axId val="33489208"/>
      </c:barChart>
      <c:catAx>
        <c:axId val="79456312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33489208"/>
        <c:crosses val="autoZero"/>
        <c:auto val="1"/>
        <c:lblAlgn val="ctr"/>
        <c:lblOffset val="100"/>
        <c:noMultiLvlLbl val="0"/>
      </c:catAx>
      <c:valAx>
        <c:axId val="33489208"/>
        <c:scaling>
          <c:max val="5.0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79456312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7F7F7F"/>
            </a:solidFill>
          </c:spPr>
          <c:dPt>
            <c:idx val="0"/>
            <c:spPr>
              <a:solidFill>
                <a:srgbClr val="1F3864"/>
              </a:solidFill>
            </c:spPr>
          </c:dPt>
          <c:dPt>
            <c:idx val="2"/>
            <c:spPr>
              <a:solidFill>
                <a:srgbClr val="1F3864"/>
              </a:solidFill>
            </c:spPr>
          </c:dPt>
          <c:dPt>
            <c:idx val="3"/>
            <c:spPr>
              <a:solidFill>
                <a:srgbClr val="1F3864"/>
              </a:solidFill>
            </c:spPr>
          </c:dPt>
          <c:dPt>
            <c:idx val="5"/>
            <c:spPr>
              <a:solidFill>
                <a:srgbClr val="1F3864"/>
              </a:solidFill>
            </c:spPr>
          </c:dPt>
          <c:dPt>
            <c:idx val="7"/>
            <c:spPr>
              <a:solidFill>
                <a:srgbClr val="1F3864"/>
              </a:solidFill>
            </c:spPr>
          </c:dPt>
          <c:cat>
            <c:strRef>
              <c:f>Sheet1!$A$2:$A$13</c:f>
              <c:strCache>
                <c:ptCount val="12"/>
                <c:pt idx="0">
                  <c:v>Hands-on skills</c:v>
                </c:pt>
                <c:pt idx="1">
                  <c:v>Flexible timetable</c:v>
                </c:pt>
                <c:pt idx="2">
                  <c:v>Certificate preparation</c:v>
                </c:pt>
                <c:pt idx="3">
                  <c:v>Affordable price</c:v>
                </c:pt>
                <c:pt idx="4">
                  <c:v>Pay in parts</c:v>
                </c:pt>
                <c:pt idx="5">
                  <c:v>Better-paid job</c:v>
                </c:pt>
                <c:pt idx="6">
                  <c:v>Trust, not a scam</c:v>
                </c:pt>
                <c:pt idx="7">
                  <c:v>Feeling supported</c:v>
                </c:pt>
                <c:pt idx="8">
                  <c:v>Future-proof career</c:v>
                </c:pt>
                <c:pt idx="9">
                  <c:v>Community</c:v>
                </c:pt>
                <c:pt idx="10">
                  <c:v>Status</c:v>
                </c:pt>
                <c:pt idx="11">
                  <c:v>Inclusion</c:v>
                </c:pt>
              </c:strCache>
            </c:strRef>
          </c:cat>
          <c:val>
            <c:numRef>
              <c:f>Sheet1!$B$2:$B$13</c:f>
              <c:numCache>
                <c:formatCode>0</c:formatCode>
                <c:ptCount val="12"/>
                <c:pt idx="0">
                  <c:v>25</c:v>
                </c:pt>
                <c:pt idx="1">
                  <c:v>16</c:v>
                </c:pt>
                <c:pt idx="2">
                  <c:v>20</c:v>
                </c:pt>
                <c:pt idx="3">
                  <c:v>25</c:v>
                </c:pt>
                <c:pt idx="4">
                  <c:v>12</c:v>
                </c:pt>
                <c:pt idx="5">
                  <c:v>20</c:v>
                </c:pt>
                <c:pt idx="6">
                  <c:v>16</c:v>
                </c:pt>
                <c:pt idx="7">
                  <c:v>20</c:v>
                </c:pt>
                <c:pt idx="8">
                  <c:v>9</c:v>
                </c:pt>
                <c:pt idx="9">
                  <c:v>9</c:v>
                </c:pt>
                <c:pt idx="10">
                  <c:v>6</c:v>
                </c:pt>
                <c:pt idx="11">
                  <c:v>9</c:v>
                </c:pt>
              </c:numCache>
            </c:numRef>
          </c:val>
        </c:ser>
        <c:dLbls>
          <c:numFmt formatCode="0" sourceLinked="0"/>
          <c:txPr>
            <a:bodyPr wrap="none"/>
            <a:lstStyle/>
            <a:p>
              <a:pPr>
                <a:defRPr sz="13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79456312"/>
        <c:axId val="33489208"/>
      </c:barChart>
      <c:catAx>
        <c:axId val="79456312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33489208"/>
        <c:crosses val="autoZero"/>
        <c:auto val="1"/>
        <c:lblAlgn val="ctr"/>
        <c:lblOffset val="100"/>
        <c:noMultiLvlLbl val="0"/>
      </c:catAx>
      <c:valAx>
        <c:axId val="33489208"/>
        <c:scaling>
          <c:max val="25.0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79456312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7F7F7F"/>
            </a:solidFill>
          </c:spPr>
          <c:dPt>
            <c:idx val="1"/>
            <c:spPr>
              <a:solidFill>
                <a:srgbClr val="1F3864"/>
              </a:solidFill>
            </c:spPr>
          </c:dPt>
          <c:cat>
            <c:strRef>
              <c:f>Sheet1!$A$2:$A$5</c:f>
              <c:strCache>
                <c:ptCount val="4"/>
                <c:pt idx="0">
                  <c:v>Campus Starters</c:v>
                </c:pt>
                <c:pt idx="1">
                  <c:v>Career Switchers</c:v>
                </c:pt>
                <c:pt idx="2">
                  <c:v>Corporate Upskillers</c:v>
                </c:pt>
                <c:pt idx="3">
                  <c:v>Women in Tech Starters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3.25</c:v>
                </c:pt>
                <c:pt idx="1">
                  <c:v>4</c:v>
                </c:pt>
                <c:pt idx="2">
                  <c:v>3.15</c:v>
                </c:pt>
                <c:pt idx="3">
                  <c:v>2.95</c:v>
                </c:pt>
              </c:numCache>
            </c:numRef>
          </c:val>
        </c:ser>
        <c:dLbls>
          <c:numFmt formatCode="0.00" sourceLinked="0"/>
          <c:txPr>
            <a:bodyPr wrap="none"/>
            <a:lstStyle/>
            <a:p>
              <a:pPr>
                <a:defRPr sz="16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79456312"/>
        <c:axId val="33489208"/>
      </c:barChart>
      <c:catAx>
        <c:axId val="79456312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33489208"/>
        <c:crosses val="autoZero"/>
        <c:auto val="1"/>
        <c:lblAlgn val="ctr"/>
        <c:lblOffset val="100"/>
        <c:noMultiLvlLbl val="0"/>
      </c:catAx>
      <c:valAx>
        <c:axId val="33489208"/>
        <c:scaling>
          <c:max val="5.0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79456312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of my capstone is a customer analysis for CyberStart: a customer persona, a journey map, the most important needs, four market segments, their scores and the target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answer the six tasks in the order they were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Around the world, networks and cybersecurity is the second fastest-growing skill, and 95 percent of cyber teams have a skills gap. Nigeria is young, with a median age of about 19 and 2.1 million university students. The minimum wage is 70,000 naira a month, while junior analysts earn about 150,000 to 300,000.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persona is Tunde Bakare, a made-up customer based on the research. Tunde is 27, works in customer service in Lagos, and wants a cybersecurity job within a year, but is afraid of paying for a scam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Tunde is pushed to act by breach news, a friend's new tech job, or a free first class. Tunde chooses on labs, the full price, reviews and the certificate, and pays in three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journey has five stages: awareness, consideration, purchase, learning and after the course. Tunde starts curious, is most worried when comparing courses, and ends proud on getting a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pain point is a chance to do better: beginner videos, clear prices and reviews, instalments, weekly labs and fast support, and help to find a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Tunde feels worst when comparing courses and best after getting a job. Clear prices, reviews and a free class would lift the low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Functional needs are about what the course does, economic needs about money, emotional needs about feelings, and social needs about other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most important needs are hands-on skills and an affordable price, then certificate preparation, a better-paid job and feeling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shows all twelve needs. Skills and money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segments are Campus Starters, Career Switchers, Corporate Upskillers and Women in Tech Starters, each described by age and job, location, attitudes and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scored each segment on market size, accessibility, buying potential and competition. Career Switchers score 4.00, the highest.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Career Switchers come first, then Campus Starters.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SkillUp Academy should target Career Switchers first: they can pay in parts, have a strong reason to buy, are easy to reach, and few courses suit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short, customers need hands-on skills at a fair price, Career Switchers are the best target, and the hardest part of the journey is choosing a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list of sources, with links, is in the Sources sheet of the Excel file. I used an AI assistant to help with the research and the slide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65960"/>
            <a:ext cx="10728960" cy="1005840"/>
          </a:xfrm>
        </p:spPr>
        <p:txBody>
          <a:bodyPr anchor="b"/>
          <a:lstStyle/>
          <a:p>
            <a:pPr algn="ctr"/>
            <a:r>
              <a:rPr sz="4800" b="1">
                <a:solidFill>
                  <a:srgbClr val="1F3864"/>
                </a:solidFill>
                <a:latin typeface="Calibri"/>
              </a:rPr>
              <a:t>Customer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337560"/>
            <a:ext cx="10728960" cy="2194560"/>
          </a:xfrm>
        </p:spPr>
        <p:txBody>
          <a:bodyPr anchor="t"/>
          <a:lstStyle/>
          <a:p>
            <a:pPr algn="ctr">
              <a:spcAft>
                <a:spcPts val="1400"/>
              </a:spcAft>
            </a:pPr>
            <a:r>
              <a:rPr sz="2800" b="0">
                <a:solidFill>
                  <a:srgbClr val="000000"/>
                </a:solidFill>
                <a:latin typeface="Calibri"/>
              </a:rPr>
              <a:t>CyberStart: a beginner cybersecurity course by SkillUp Academy</a:t>
            </a:r>
          </a:p>
          <a:p>
            <a:pPr algn="ctr">
              <a:spcAft>
                <a:spcPts val="1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Capstone Project, Part 2  ·  Market Research Lab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0" y="3154680"/>
            <a:ext cx="76200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48840"/>
            <a:ext cx="9723120" cy="3703320"/>
          </a:xfrm>
        </p:spPr>
        <p:txBody>
          <a:bodyPr anchor="ctr"/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1. Customer persona: </a:t>
            </a:r>
            <a:r>
              <a:rPr sz="2000" b="0">
                <a:solidFill>
                  <a:srgbClr val="000000"/>
                </a:solidFill>
                <a:latin typeface="Calibri"/>
              </a:rPr>
              <a:t>who the typical buyer is, and what makes them buy.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2. Customer journey map: </a:t>
            </a:r>
            <a:r>
              <a:rPr sz="2000" b="0">
                <a:solidFill>
                  <a:srgbClr val="000000"/>
                </a:solidFill>
                <a:latin typeface="Calibri"/>
              </a:rPr>
              <a:t>from first hearing about the course to a new job.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3. The 5 most important needs: </a:t>
            </a:r>
            <a:r>
              <a:rPr sz="2000" b="0">
                <a:solidFill>
                  <a:srgbClr val="000000"/>
                </a:solidFill>
                <a:latin typeface="Calibri"/>
              </a:rPr>
              <a:t>chosen from 12 functional, economic, emotional and social needs.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4. Four market segments: </a:t>
            </a:r>
            <a:r>
              <a:rPr sz="2000" b="0">
                <a:solidFill>
                  <a:srgbClr val="000000"/>
                </a:solidFill>
                <a:latin typeface="Calibri"/>
              </a:rPr>
              <a:t>demographic, geographic, psychographic and behavioural.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5. Segment scores: </a:t>
            </a:r>
            <a:r>
              <a:rPr sz="2000" b="0">
                <a:solidFill>
                  <a:srgbClr val="000000"/>
                </a:solidFill>
                <a:latin typeface="Calibri"/>
              </a:rPr>
              <a:t>market size, accessibility, buying potential and competition.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6. Target segment: </a:t>
            </a:r>
            <a:r>
              <a:rPr sz="2000" b="0">
                <a:solidFill>
                  <a:srgbClr val="000000"/>
                </a:solidFill>
                <a:latin typeface="Calibri"/>
              </a:rPr>
              <a:t>the segment the business should prioritise.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The six tasks, in the order they were set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Key Facts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92480" y="1965960"/>
          <a:ext cx="10607040" cy="400507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572000"/>
                <a:gridCol w="45720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Fastest-growing skills in the world, 2025 to 2030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Networks and cybersecurity: 2nd (after AI and big data)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Cybersecurity teams with at least one skills gap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Skills most in demand in cybersecurity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AI and cloud 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Women in cybersecurity teams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22% (26% of professionals under 30)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Median 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About 19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Nigeria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University students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2.1 million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Nigeria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National minimum wage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₦70,000 a month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Nigeria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Junior security analyst pay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About ₦150,000 to ₦300,000 a month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Nigeria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People using the internet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109 million (end of 2025)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Nigeria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World and Nigerian data used in this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1. Customer Persona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48840"/>
            <a:ext cx="9723120" cy="3703320"/>
          </a:xfrm>
        </p:spPr>
        <p:txBody>
          <a:bodyPr anchor="ctr"/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Who: </a:t>
            </a:r>
            <a:r>
              <a:rPr sz="1700" b="0">
                <a:solidFill>
                  <a:srgbClr val="000000"/>
                </a:solidFill>
                <a:latin typeface="Calibri"/>
              </a:rPr>
              <a:t>27 years old, customer service officer at a phone retailer, lives in Ikeja, Lagos.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Education: </a:t>
            </a:r>
            <a:r>
              <a:rPr sz="1700" b="0">
                <a:solidFill>
                  <a:srgbClr val="000000"/>
                </a:solidFill>
                <a:latin typeface="Calibri"/>
              </a:rPr>
              <a:t>HND in Business Administration.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Money: </a:t>
            </a:r>
            <a:r>
              <a:rPr sz="1700" b="0">
                <a:solidFill>
                  <a:srgbClr val="000000"/>
                </a:solidFill>
                <a:latin typeface="Calibri"/>
              </a:rPr>
              <a:t>Steady pay above the minimum wage, can spare about ₦50,000 a month.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Goals: </a:t>
            </a:r>
            <a:r>
              <a:rPr sz="1700" b="0">
                <a:solidFill>
                  <a:srgbClr val="000000"/>
                </a:solidFill>
                <a:latin typeface="Calibri"/>
              </a:rPr>
              <a:t>move into a cybersecurity job within a year; earn more: junior analysts earn ₦150,000+ a month.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Frustrations: </a:t>
            </a:r>
            <a:r>
              <a:rPr sz="1700" b="0">
                <a:solidFill>
                  <a:srgbClr val="000000"/>
                </a:solidFill>
                <a:latin typeface="Calibri"/>
              </a:rPr>
              <a:t>does not know where to start; afraid of paying for a scam course; works 8 to 5; free programmes are full.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In Tunde's words: </a:t>
            </a:r>
            <a:r>
              <a:rPr sz="1700" b="0">
                <a:solidFill>
                  <a:srgbClr val="000000"/>
                </a:solidFill>
                <a:latin typeface="Calibri"/>
              </a:rPr>
              <a:t>“I don't mind paying, if I'm sure it will get me a job.”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Tunde Bakare: a typical career switcher (made up from the research)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1. Customer Persona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48840"/>
            <a:ext cx="9723120" cy="3703320"/>
          </a:xfrm>
        </p:spPr>
        <p:txBody>
          <a:bodyPr anchor="ctr"/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Triggers: </a:t>
            </a:r>
            <a:r>
              <a:rPr sz="1800" b="0">
                <a:solidFill>
                  <a:srgbClr val="000000"/>
                </a:solidFill>
                <a:latin typeface="Calibri"/>
              </a:rPr>
              <a:t>news of a big data breach, like the CAC breach; a friend who moved into a tech job; a free first class or a deadline to enrol.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Worries: </a:t>
            </a:r>
            <a:r>
              <a:rPr sz="1800" b="0">
                <a:solidFill>
                  <a:srgbClr val="000000"/>
                </a:solidFill>
                <a:latin typeface="Calibri"/>
              </a:rPr>
              <a:t>is it a scam? Can I fit it round work? Will I get a job?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How Tunde chooses: </a:t>
            </a:r>
            <a:r>
              <a:rPr sz="1800" b="0">
                <a:solidFill>
                  <a:srgbClr val="000000"/>
                </a:solidFill>
                <a:latin typeface="Calibri"/>
              </a:rPr>
              <a:t>hands-on labs and real tools; the full price and a payment plan; reviews from past learners; a recognised certificate.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How Tunde pays: </a:t>
            </a:r>
            <a:r>
              <a:rPr sz="1800" b="0">
                <a:solidFill>
                  <a:srgbClr val="000000"/>
                </a:solidFill>
                <a:latin typeface="Calibri"/>
              </a:rPr>
              <a:t>₦150,000 in 3 parts, from salary.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Where to reach Tunde: </a:t>
            </a:r>
            <a:r>
              <a:rPr sz="1800" b="0">
                <a:solidFill>
                  <a:srgbClr val="000000"/>
                </a:solidFill>
                <a:latin typeface="Calibri"/>
              </a:rPr>
              <a:t>Google, YouTube, TikTok, Facebook groups, WhatsApp and LinkedIn.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What makes Tunde buy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2. Customer Journey Map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46760" y="1965960"/>
          <a:ext cx="10698480" cy="360273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554480"/>
                <a:gridCol w="182880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Awareness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Consideration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After the course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Doing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Sees breach news and a TikTok video on cyber careers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Compares courses, reads reviews, asks in WhatsApp groups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Joins the free first class, pays the first part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Attends classes and weekend labs, takes the exam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Applies for jobs, shares the result, refers friends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Touchpoints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TikTok, Facebook adverts, Google search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Website, Google and Trustpilot reviews, WhatsApp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Free class, online payment plan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Learning platform, Lagos lab, mentor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Career help, LinkedIn, alumni group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Thinking and feeling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“Can I do this without IT?” Curious but unsure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“Is this a scam?” Anxious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“I hope it's worth it.” Hopeful, nervous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“Hard, but I'm getting it.” Proud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“I got the job!” Relieved and proud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Feeling (1-5)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What Tunde does and thinks at each stage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2. Customer Journey Map (continued)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46760" y="1965960"/>
          <a:ext cx="10698480" cy="285292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554480"/>
                <a:gridCol w="182880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Awareness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Consideration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Purchase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After the course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Pain points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No clear starting point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Hidden prices, few reviews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Big one-off fees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Slow support, outdated content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No links to employers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Opportunities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Beginner videos on TikTok and Google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Publish prices and reviews; fast WhatsApp replies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Free first class; 3 instalments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Weekly labs, 24-hour support, recordings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Exam prep, CV help, employer partners, referral reward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Pain points, and what SkillUp Academy can do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2. How Tunde Feels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822960" y="1874520"/>
          <a:ext cx="6812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Feeling at each stage, from 1 (very bad) to 5 (very good)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1965960"/>
            <a:ext cx="3596640" cy="402336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48840"/>
            <a:ext cx="313944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Lowest: </a:t>
            </a:r>
            <a:r>
              <a:rPr sz="1600" b="0">
                <a:solidFill>
                  <a:srgbClr val="000000"/>
                </a:solidFill>
                <a:latin typeface="Calibri"/>
              </a:rPr>
              <a:t>consideration (2), when Tunde fears scams and can't find prices.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Highest: </a:t>
            </a:r>
            <a:r>
              <a:rPr sz="1600" b="0">
                <a:solidFill>
                  <a:srgbClr val="000000"/>
                </a:solidFill>
                <a:latin typeface="Calibri"/>
              </a:rPr>
              <a:t>after the course (5), with a job.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Fix: </a:t>
            </a:r>
            <a:r>
              <a:rPr sz="1600" b="0">
                <a:solidFill>
                  <a:srgbClr val="000000"/>
                </a:solidFill>
                <a:latin typeface="Calibri"/>
              </a:rPr>
              <a:t>clear prices, real reviews and a free first class.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Graphic spid="3" grpId="0">
        <p:bldAsOne/>
      </p:bldGraphic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3. Customer Needs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01040" y="1965960"/>
          <a:ext cx="10789920" cy="32004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Emotional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Practical, hands-on skills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An affordable price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Trust that the course is genuine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Belonging to a learning community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A flexible timetable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Paying in instalments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Feeling supported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Status of a respected tech job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Preparation for a recognised certificate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A return on the money: a better-paid job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Hope for a future-proof career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Inclusion for women and non-IT people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Three functional, economic, emotional and social needs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3. The 5 Most Important Needs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524000" y="1965960"/>
          <a:ext cx="9144000" cy="3291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14400"/>
                <a:gridCol w="5120640"/>
                <a:gridCol w="182880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Practical, hands-on skills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An affordable price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Preparation for a recognised certificate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A return on the money: a better-paid job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Feeling supported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Emotional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Score = how often it came up × how much it affects buying (out of 25)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3. All Twelve Needs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822960" y="1874520"/>
          <a:ext cx="6812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Score of each need (out of 25); the top five are dark blue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1965960"/>
            <a:ext cx="3596640" cy="402336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48840"/>
            <a:ext cx="313944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Skills and money </a:t>
            </a:r>
            <a:r>
              <a:rPr sz="1600" b="0">
                <a:solidFill>
                  <a:srgbClr val="000000"/>
                </a:solidFill>
                <a:latin typeface="Calibri"/>
              </a:rPr>
              <a:t>matter most.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Top 5: </a:t>
            </a:r>
            <a:r>
              <a:rPr sz="1600" b="0">
                <a:solidFill>
                  <a:srgbClr val="000000"/>
                </a:solidFill>
                <a:latin typeface="Calibri"/>
              </a:rPr>
              <a:t>two functional, two economic and one emotional need.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Graphic spid="3" grpId="0">
        <p:bldAsOne/>
      </p:bldGraphic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4. Four Market Segments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23900" y="1965960"/>
          <a:ext cx="10744200" cy="40690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00200"/>
                <a:gridCol w="22860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Campus Starters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Career Switchers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Corporate Upskillers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Women in Tech Starters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Demographic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Students and new graduates, 18 to 24; little or no income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Working adults, 25 to 35, in non-IT jobs; steady but modest pay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Staff of banks, telecoms and government, 25 to 45; the employer pays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Women 18 to 30, students and graduates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Geographic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University towns across Nigeria; online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Lagos, Abuja and Port Harcourt; online in the evenings and at weekends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Head offices in Lagos and Abuja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Nationwide, online, with hubs in Lagos and Abuja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Psychographic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Ambitious and curious; want a head start before graduating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Want a better-paid, future-proof career; careful with money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Career growth and doing things by the book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Want a safe, supportive community and role models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Behavioural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Search for “free course”; learn on YouTube and TikTok; very price-driven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Compare courses and read reviews; search for salaries; pay in instalments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Buy through HR in groups; want recognised certificates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Apply for free fellowships; follow women's tech groups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Each segment on the four bases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5. Segment Scores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92480" y="1965960"/>
          <a:ext cx="10607040" cy="28803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43200"/>
                <a:gridCol w="1600200"/>
                <a:gridCol w="1600200"/>
                <a:gridCol w="1600200"/>
                <a:gridCol w="1600200"/>
                <a:gridCol w="146304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Market size (25%)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Accessibility (25%)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Buying potential (30%)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Competition (20%)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Score (of 5)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Campus Starters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Career Switchers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Corporate Upskillers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3.15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Women in Tech Starters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2.95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Each scored 1 (poor) to 5 (best); for competition, 5 = little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56048"/>
            <a:ext cx="1072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Score = SUMPRODUCT of the weights and the scores (see Excel).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5. Segment Scores Compared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822960" y="1874520"/>
          <a:ext cx="6812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Weighted score of each segment (out of 5)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1965960"/>
            <a:ext cx="3596640" cy="402336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48840"/>
            <a:ext cx="313944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Highest: </a:t>
            </a:r>
            <a:r>
              <a:rPr sz="1600" b="0">
                <a:solidFill>
                  <a:srgbClr val="000000"/>
                </a:solidFill>
                <a:latin typeface="Calibri"/>
              </a:rPr>
              <a:t>Career Switchers (4.00).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Next: </a:t>
            </a:r>
            <a:r>
              <a:rPr sz="1600" b="0">
                <a:solidFill>
                  <a:srgbClr val="000000"/>
                </a:solidFill>
                <a:latin typeface="Calibri"/>
              </a:rPr>
              <a:t>Campus Starters (3.25): many people, but little money.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Graphic spid="3" grpId="0">
        <p:bldAsOne/>
      </p:bldGraphic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6. Target Segment: Career Switchers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48840"/>
            <a:ext cx="9723120" cy="3703320"/>
          </a:xfrm>
        </p:spPr>
        <p:txBody>
          <a:bodyPr anchor="ctr"/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Who: </a:t>
            </a:r>
            <a:r>
              <a:rPr sz="1900" b="0">
                <a:solidFill>
                  <a:srgbClr val="000000"/>
                </a:solidFill>
                <a:latin typeface="Calibri"/>
              </a:rPr>
              <a:t>working adults aged 25 to 35 in non-IT jobs, in Lagos, Abuja and Port Harcourt.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They can pay: </a:t>
            </a:r>
            <a:r>
              <a:rPr sz="1900" b="0">
                <a:solidFill>
                  <a:srgbClr val="000000"/>
                </a:solidFill>
                <a:latin typeface="Calibri"/>
              </a:rPr>
              <a:t>they earn more than the ₦70,000 minimum wage and can pay ₦50,000 a month.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Good reason to buy: </a:t>
            </a:r>
            <a:r>
              <a:rPr sz="1900" b="0">
                <a:solidFill>
                  <a:srgbClr val="000000"/>
                </a:solidFill>
                <a:latin typeface="Calibri"/>
              </a:rPr>
              <a:t>a junior analyst job pays about ₦150,000 to ₦300,000 a month.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Easy to reach: </a:t>
            </a:r>
            <a:r>
              <a:rPr sz="1900" b="0">
                <a:solidFill>
                  <a:srgbClr val="000000"/>
                </a:solidFill>
                <a:latin typeface="Calibri"/>
              </a:rPr>
              <a:t>Google, Facebook, LinkedIn and WhatsApp; evening and weekend classes.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Calibri"/>
              </a:rPr>
              <a:t>Little competition: </a:t>
            </a:r>
            <a:r>
              <a:rPr sz="1900" b="0">
                <a:solidFill>
                  <a:srgbClr val="000000"/>
                </a:solidFill>
                <a:latin typeface="Calibri"/>
              </a:rPr>
              <a:t>few practical, affordable courses fit around a full-time job.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The segment SkillUp Academy should focus on first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48840"/>
            <a:ext cx="9723120" cy="3703320"/>
          </a:xfrm>
        </p:spPr>
        <p:txBody>
          <a:bodyPr anchor="ctr"/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Top needs: </a:t>
            </a:r>
            <a:r>
              <a:rPr sz="2000" b="0">
                <a:solidFill>
                  <a:srgbClr val="000000"/>
                </a:solidFill>
                <a:latin typeface="Calibri"/>
              </a:rPr>
              <a:t>hands-on skills, an affordable price, certificate preparation, a better-paid job and feeling supported.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Target segment: </a:t>
            </a:r>
            <a:r>
              <a:rPr sz="2000" b="0">
                <a:solidFill>
                  <a:srgbClr val="000000"/>
                </a:solidFill>
                <a:latin typeface="Calibri"/>
              </a:rPr>
              <a:t>Career Switchers, working adults of 25 to 35 who can pay in parts and want a better job.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Persona: </a:t>
            </a:r>
            <a:r>
              <a:rPr sz="2000" b="0">
                <a:solidFill>
                  <a:srgbClr val="000000"/>
                </a:solidFill>
                <a:latin typeface="Calibri"/>
              </a:rPr>
              <a:t>Tunde, 27, in Lagos: wants a cyber job within a year, fears scams, learns at weekends.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Journey: </a:t>
            </a:r>
            <a:r>
              <a:rPr sz="2000" b="0">
                <a:solidFill>
                  <a:srgbClr val="000000"/>
                </a:solidFill>
                <a:latin typeface="Calibri"/>
              </a:rPr>
              <a:t>the low point is choosing a course; clear prices, reviews and a free first class fix it.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What I found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3600" b="1">
                <a:solidFill>
                  <a:srgbClr val="1F3864"/>
                </a:solidFill>
                <a:latin typeface="Calibri"/>
              </a:rPr>
              <a:t>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48840"/>
            <a:ext cx="9723120" cy="3703320"/>
          </a:xfrm>
        </p:spPr>
        <p:txBody>
          <a:bodyPr anchor="ctr"/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World: </a:t>
            </a:r>
            <a:r>
              <a:rPr sz="1800" b="0">
                <a:solidFill>
                  <a:srgbClr val="000000"/>
                </a:solidFill>
                <a:latin typeface="Calibri"/>
              </a:rPr>
              <a:t>World Economic Forum, Future of Jobs Report 2025; ISC2 Cybersecurity Workforce Study 2025.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Nigeria: </a:t>
            </a:r>
            <a:r>
              <a:rPr sz="1800" b="0">
                <a:solidFill>
                  <a:srgbClr val="000000"/>
                </a:solidFill>
                <a:latin typeface="Calibri"/>
              </a:rPr>
              <a:t>NUC student numbers; the National Minimum Wage Act 2024; UN and World Bank data; DataReportal.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My own research: </a:t>
            </a:r>
            <a:r>
              <a:rPr sz="1800" b="0">
                <a:solidFill>
                  <a:srgbClr val="000000"/>
                </a:solidFill>
                <a:latin typeface="Calibri"/>
              </a:rPr>
              <a:t>Google Trends, Google search, social media, competitor and course reviews (part 1).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Help: </a:t>
            </a:r>
            <a:r>
              <a:rPr sz="1800" b="0">
                <a:solidFill>
                  <a:srgbClr val="000000"/>
                </a:solidFill>
                <a:latin typeface="Calibri"/>
              </a:rPr>
              <a:t>I used an AI assistant to help with research and slide design.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Calibri"/>
              </a:rPr>
              <a:t>Where the data came from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65960"/>
            <a:ext cx="10728960" cy="1005840"/>
          </a:xfrm>
        </p:spPr>
        <p:txBody>
          <a:bodyPr anchor="b"/>
          <a:lstStyle/>
          <a:p>
            <a:pPr algn="ctr"/>
            <a:r>
              <a:rPr sz="4800" b="1">
                <a:solidFill>
                  <a:srgbClr val="1F3864"/>
                </a:solidFill>
                <a:latin typeface="Calibr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337560"/>
            <a:ext cx="10728960" cy="2194560"/>
          </a:xfrm>
        </p:spPr>
        <p:txBody>
          <a:bodyPr anchor="t"/>
          <a:lstStyle/>
          <a:p>
            <a:pPr algn="ctr">
              <a:spcAft>
                <a:spcPts val="1400"/>
              </a:spcAft>
            </a:pPr>
            <a:r>
              <a:rPr sz="2800" b="0">
                <a:solidFill>
                  <a:srgbClr val="000000"/>
                </a:solidFill>
                <a:latin typeface="Calibri"/>
              </a:rPr>
              <a:t>Any questions?</a:t>
            </a:r>
          </a:p>
          <a:p>
            <a:pPr algn="ctr">
              <a:spcAft>
                <a:spcPts val="1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SkillUp Academy  ·  Capstone Project, Part 2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0" y="3154680"/>
            <a:ext cx="76200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18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Part 2: Customer Analysis for CyberStart</dc:title>
  <dc:subject>Customer persona, journey map, the 5 most important needs, four segments, scores and target</dc:subject>
  <dc:creator/>
  <cp:keywords>customer persona, customer journey map, customer needs, segmentation, target segment</cp:keywords>
  <dc:description/>
  <cp:lastModifiedBy/>
  <cp:revision>1</cp:revision>
  <dcterms:created xsi:type="dcterms:W3CDTF">2026-10-11T19:36:53Z</dcterms:created>
  <dcterms:modified xsi:type="dcterms:W3CDTF">2026-10-11T19:36:53Z</dcterms:modified>
  <cp:category/>
</cp:coreProperties>
</file>