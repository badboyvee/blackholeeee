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C5CCD6"/>
            </a:solidFill>
          </c:spPr>
          <c:dPt>
            <c:idx val="0"/>
            <c:spPr>
              <a:solidFill>
                <a:srgbClr val="0B2545"/>
              </a:solidFill>
            </c:spPr>
          </c:dPt>
          <c:dPt>
            <c:idx val="2"/>
            <c:spPr>
              <a:solidFill>
                <a:srgbClr val="0B2545"/>
              </a:solidFill>
            </c:spPr>
          </c:dPt>
          <c:dPt>
            <c:idx val="3"/>
            <c:spPr>
              <a:solidFill>
                <a:srgbClr val="0B2545"/>
              </a:solidFill>
            </c:spPr>
          </c:dPt>
          <c:dPt>
            <c:idx val="5"/>
            <c:spPr>
              <a:solidFill>
                <a:srgbClr val="0B2545"/>
              </a:solidFill>
            </c:spPr>
          </c:dPt>
          <c:dPt>
            <c:idx val="7"/>
            <c:spPr>
              <a:solidFill>
                <a:srgbClr val="0B2545"/>
              </a:solidFill>
            </c:spPr>
          </c:dPt>
          <c:cat>
            <c:strRef>
              <c:f>Sheet1!$A$2:$A$13</c:f>
              <c:strCache>
                <c:ptCount val="12"/>
                <c:pt idx="0">
                  <c:v>Hands-on skills</c:v>
                </c:pt>
                <c:pt idx="1">
                  <c:v>Flexible timetable</c:v>
                </c:pt>
                <c:pt idx="2">
                  <c:v>Certificate preparation</c:v>
                </c:pt>
                <c:pt idx="3">
                  <c:v>Affordable price</c:v>
                </c:pt>
                <c:pt idx="4">
                  <c:v>Pay in parts</c:v>
                </c:pt>
                <c:pt idx="5">
                  <c:v>Better-paid job</c:v>
                </c:pt>
                <c:pt idx="6">
                  <c:v>Trust, not a scam</c:v>
                </c:pt>
                <c:pt idx="7">
                  <c:v>Feeling supported</c:v>
                </c:pt>
                <c:pt idx="8">
                  <c:v>Future-proof career</c:v>
                </c:pt>
                <c:pt idx="9">
                  <c:v>Community</c:v>
                </c:pt>
                <c:pt idx="10">
                  <c:v>Status</c:v>
                </c:pt>
                <c:pt idx="11">
                  <c:v>Inclusion</c:v>
                </c:pt>
              </c:strCache>
            </c:strRef>
          </c:cat>
          <c:val>
            <c:numRef>
              <c:f>Sheet1!$B$2:$B$13</c:f>
              <c:numCache>
                <c:formatCode>0</c:formatCode>
                <c:ptCount val="12"/>
                <c:pt idx="0">
                  <c:v>25</c:v>
                </c:pt>
                <c:pt idx="1">
                  <c:v>16</c:v>
                </c:pt>
                <c:pt idx="2">
                  <c:v>20</c:v>
                </c:pt>
                <c:pt idx="3">
                  <c:v>25</c:v>
                </c:pt>
                <c:pt idx="4">
                  <c:v>12</c:v>
                </c:pt>
                <c:pt idx="5">
                  <c:v>20</c:v>
                </c:pt>
                <c:pt idx="6">
                  <c:v>16</c:v>
                </c:pt>
                <c:pt idx="7">
                  <c:v>20</c:v>
                </c:pt>
                <c:pt idx="8">
                  <c:v>9</c:v>
                </c:pt>
                <c:pt idx="9">
                  <c:v>9</c:v>
                </c:pt>
                <c:pt idx="10">
                  <c:v>6</c:v>
                </c:pt>
                <c:pt idx="11">
                  <c:v>9</c:v>
                </c:pt>
              </c:numCache>
            </c:numRef>
          </c:val>
        </c:ser>
        <c:dLbls>
          <c:numFmt formatCode="0" sourceLinked="0"/>
          <c:txPr>
            <a:bodyPr wrap="none"/>
            <a:lstStyle/>
            <a:p>
              <a:pPr>
                <a:defRPr sz="1300" b="1">
                  <a:solidFill>
                    <a:srgbClr val="1C243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3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C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of my capstone analyses the customers of CyberStart, SkillUp Academy's beginner cybersecurity course: a persona, a journey map, the most important needs, four segments, their scores and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answer the six tasks in the order they were set: the customer persona, the customer journey map, the five most important needs, four market segments, the segment scores and the target segment.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the world, networks and cybersecurity is the second fastest-growing skill, and 95 percent of cyber teams have a skills gap, led by AI and cloud security. Nigeria is young, with a median age of about 19 and 2.1 million university students. The minimum wage is 70,000 naira a month; junior analysts earn 150,000 or more.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1: customer persona.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Tunde Bakare, a fictional customer from the target segment: 27, a customer service officer in Lagos with an HND, steady pay and about 50,000 naira a month to spare. Tunde is careful with money and ambitious, but not yet confident with tech, short of free time, and wary of online courses.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Tunde's goal is a cybersecurity job within a year. The frustrations are not knowing where to start, fear of scams, and a full-time job; Tunde needs weekend labs, a fair price in parts and help into a job.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news, a friend's new tech job, or a free first class push Tunde to act. Each worry has an answer. Tunde chooses on labs, the full price, reviews and the certificate, and pays from salary in three parts.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2: customer journey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follows Tunde through five stages: awareness, consideration, purchase, learning and after the course. Tunde starts curious, is most anxious when comparing courses, gains confidence while learning, and ends proud on getting a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pain point is an opportunity: beginner videos for awareness, clear prices and reviews for consideration, a free class and instalments for purchase, weekly labs and fast support for learning, and job help after.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 the 5 most important needs.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needs are about what the course does, economic needs about money, emotional needs about feelings, and social needs about other people. The navy scores mark the five most important.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most important needs are hands-on skills and an affordable price, both 25 out of 25, then certificate preparation, a better-paid job and feeling supported, each 20: two functional, two economic and one emotional.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all twelve needs. Skills and money matter most; social needs matter less, but still shape how the brand talks to people.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4: four market segments.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segments are Campus Starters, students and new graduates; Career Switchers, working adults in non-IT jobs; Corporate Upskillers, staff whose employers pay; and Women in Tech Starters.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5: segment scores.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segment is scored on market size, accessibility, buying potential and competition. Career Switchers score 4.00, the highest, with four on every criterion. Campus Starters are biggest but have little money.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6: target segment.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should prioritise Career Switchers. They can pay in parts, have a strong reason to buy, are easy to reach online, and few rivals offer practical courses that fit around a job.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customers need hands-on skills at a fair price; SkillUp Academy should target Career Switchers, like Tunde; and the weakest point of the journey, choosing a course, is fixed with clear prices, reviews and a free class.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itle 1"/>
          <p:cNvSpPr>
            <a:spLocks noGrp="1"/>
          </p:cNvSpPr>
          <p:nvPr>
            <p:ph type="ctrTitle"/>
          </p:nvPr>
        </p:nvSpPr>
        <p:spPr>
          <a:xfrm>
            <a:off x="914400" y="1965960"/>
            <a:ext cx="10363200" cy="1371600"/>
          </a:xfrm>
        </p:spPr>
        <p:txBody>
          <a:bodyPr anchor="b"/>
          <a:lstStyle/>
          <a:p>
            <a:pPr algn="l"/>
            <a:r>
              <a:rPr sz="5400" b="0">
                <a:solidFill>
                  <a:srgbClr val="FFFFFF"/>
                </a:solidFill>
                <a:latin typeface="Calibri Light"/>
              </a:rPr>
              <a:t>Customer Analysis</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Persona, journey map, needs, segments and target for CyberStart</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CAPSTONE PROJECT  ·  PART 2</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par>
                          <p:cTn id="11" fill="hold">
                            <p:stCondLst>
                              <p:cond delay="500"/>
                            </p:stCondLst>
                            <p:childTnLst>
                              <p:par>
                                <p:cTn id="12" presetID="22" presetClass="entr" presetSubtype="8"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right)">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Six tasks, in the order they were set</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CONTENTS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CyberStart, a 12-week beginner cybersecurity course in Nigeria</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2</a:t>
            </a:r>
          </a:p>
        </p:txBody>
      </p:sp>
      <p:sp>
        <p:nvSpPr>
          <p:cNvPr id="9" name="Rectangle 8"/>
          <p:cNvSpPr/>
          <p:nvPr/>
        </p:nvSpPr>
        <p:spPr>
          <a:xfrm>
            <a:off x="731520" y="192024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3423920" cy="9144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7260" y="2263140"/>
            <a:ext cx="685800" cy="685800"/>
          </a:xfrm>
          <a:prstGeom prst="ellips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alibri"/>
              </a:rPr>
              <a:t>1</a:t>
            </a:r>
          </a:p>
        </p:txBody>
      </p:sp>
      <p:sp>
        <p:nvSpPr>
          <p:cNvPr id="12" name="TextBox 11"/>
          <p:cNvSpPr txBox="1"/>
          <p:nvPr/>
        </p:nvSpPr>
        <p:spPr>
          <a:xfrm>
            <a:off x="1783080" y="2286000"/>
            <a:ext cx="2235200" cy="1531620"/>
          </a:xfrm>
          <a:prstGeom prst="rect">
            <a:avLst/>
          </a:prstGeom>
          <a:noFill/>
        </p:spPr>
        <p:txBody>
          <a:bodyPr wrap="square">
            <a:spAutoFit/>
          </a:bodyPr>
          <a:lstStyle/>
          <a:p>
            <a:pPr>
              <a:spcAft>
                <a:spcPts val="400"/>
              </a:spcAft>
            </a:pPr>
            <a:r>
              <a:rPr sz="1600" b="1">
                <a:solidFill>
                  <a:srgbClr val="0B2545"/>
                </a:solidFill>
                <a:latin typeface="Calibri"/>
              </a:rPr>
              <a:t>Customer persona</a:t>
            </a:r>
          </a:p>
          <a:p>
            <a:pPr>
              <a:spcAft>
                <a:spcPts val="400"/>
              </a:spcAft>
            </a:pPr>
            <a:r>
              <a:rPr sz="1300" b="0">
                <a:solidFill>
                  <a:srgbClr val="5B6675"/>
                </a:solidFill>
                <a:latin typeface="Calibri"/>
              </a:rPr>
              <a:t>Who the typical buyer is, and what makes them buy</a:t>
            </a:r>
          </a:p>
        </p:txBody>
      </p:sp>
      <p:sp>
        <p:nvSpPr>
          <p:cNvPr id="13" name="Rectangle 12"/>
          <p:cNvSpPr/>
          <p:nvPr/>
        </p:nvSpPr>
        <p:spPr>
          <a:xfrm>
            <a:off x="4384040" y="192024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4040" y="1920240"/>
            <a:ext cx="3423920" cy="91440"/>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89780" y="2263140"/>
            <a:ext cx="685800" cy="685800"/>
          </a:xfrm>
          <a:prstGeom prst="ellipse">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alibri"/>
              </a:rPr>
              <a:t>2</a:t>
            </a:r>
          </a:p>
        </p:txBody>
      </p:sp>
      <p:sp>
        <p:nvSpPr>
          <p:cNvPr id="16" name="TextBox 15"/>
          <p:cNvSpPr txBox="1"/>
          <p:nvPr/>
        </p:nvSpPr>
        <p:spPr>
          <a:xfrm>
            <a:off x="5435600" y="2286000"/>
            <a:ext cx="2235200" cy="1531620"/>
          </a:xfrm>
          <a:prstGeom prst="rect">
            <a:avLst/>
          </a:prstGeom>
          <a:noFill/>
        </p:spPr>
        <p:txBody>
          <a:bodyPr wrap="square">
            <a:spAutoFit/>
          </a:bodyPr>
          <a:lstStyle/>
          <a:p>
            <a:pPr>
              <a:spcAft>
                <a:spcPts val="400"/>
              </a:spcAft>
            </a:pPr>
            <a:r>
              <a:rPr sz="1600" b="1">
                <a:solidFill>
                  <a:srgbClr val="0B2545"/>
                </a:solidFill>
                <a:latin typeface="Calibri"/>
              </a:rPr>
              <a:t>Customer journey map</a:t>
            </a:r>
          </a:p>
          <a:p>
            <a:pPr>
              <a:spcAft>
                <a:spcPts val="400"/>
              </a:spcAft>
            </a:pPr>
            <a:r>
              <a:rPr sz="1300" b="0">
                <a:solidFill>
                  <a:srgbClr val="5B6675"/>
                </a:solidFill>
                <a:latin typeface="Calibri"/>
              </a:rPr>
              <a:t>From first hearing about the course to a new job</a:t>
            </a:r>
          </a:p>
        </p:txBody>
      </p:sp>
      <p:sp>
        <p:nvSpPr>
          <p:cNvPr id="17" name="Rectangle 16"/>
          <p:cNvSpPr/>
          <p:nvPr/>
        </p:nvSpPr>
        <p:spPr>
          <a:xfrm>
            <a:off x="8036560" y="192024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6560" y="1920240"/>
            <a:ext cx="3423920" cy="91440"/>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42300" y="2263140"/>
            <a:ext cx="685800" cy="685800"/>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alibri"/>
              </a:rPr>
              <a:t>3</a:t>
            </a:r>
          </a:p>
        </p:txBody>
      </p:sp>
      <p:sp>
        <p:nvSpPr>
          <p:cNvPr id="20" name="TextBox 19"/>
          <p:cNvSpPr txBox="1"/>
          <p:nvPr/>
        </p:nvSpPr>
        <p:spPr>
          <a:xfrm>
            <a:off x="9088120" y="2286000"/>
            <a:ext cx="2235200" cy="1531620"/>
          </a:xfrm>
          <a:prstGeom prst="rect">
            <a:avLst/>
          </a:prstGeom>
          <a:noFill/>
        </p:spPr>
        <p:txBody>
          <a:bodyPr wrap="square">
            <a:spAutoFit/>
          </a:bodyPr>
          <a:lstStyle/>
          <a:p>
            <a:pPr>
              <a:spcAft>
                <a:spcPts val="400"/>
              </a:spcAft>
            </a:pPr>
            <a:r>
              <a:rPr sz="1600" b="1">
                <a:solidFill>
                  <a:srgbClr val="0B2545"/>
                </a:solidFill>
                <a:latin typeface="Calibri"/>
              </a:rPr>
              <a:t>The 5 most important needs</a:t>
            </a:r>
          </a:p>
          <a:p>
            <a:pPr>
              <a:spcAft>
                <a:spcPts val="400"/>
              </a:spcAft>
            </a:pPr>
            <a:r>
              <a:rPr sz="1300" b="0">
                <a:solidFill>
                  <a:srgbClr val="5B6675"/>
                </a:solidFill>
                <a:latin typeface="Calibri"/>
              </a:rPr>
              <a:t>Chosen from 12 functional, economic, emotional and social needs</a:t>
            </a:r>
          </a:p>
        </p:txBody>
      </p:sp>
      <p:sp>
        <p:nvSpPr>
          <p:cNvPr id="21" name="Rectangle 20"/>
          <p:cNvSpPr/>
          <p:nvPr/>
        </p:nvSpPr>
        <p:spPr>
          <a:xfrm>
            <a:off x="731520" y="413766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137660"/>
            <a:ext cx="3423920" cy="91440"/>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7260" y="4480560"/>
            <a:ext cx="685800" cy="685800"/>
          </a:xfrm>
          <a:prstGeom prst="ellipse">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1C2430"/>
                </a:solidFill>
                <a:latin typeface="Calibri"/>
              </a:rPr>
              <a:t>4</a:t>
            </a:r>
          </a:p>
        </p:txBody>
      </p:sp>
      <p:sp>
        <p:nvSpPr>
          <p:cNvPr id="24" name="TextBox 23"/>
          <p:cNvSpPr txBox="1"/>
          <p:nvPr/>
        </p:nvSpPr>
        <p:spPr>
          <a:xfrm>
            <a:off x="1783080" y="4503420"/>
            <a:ext cx="2235200" cy="1531620"/>
          </a:xfrm>
          <a:prstGeom prst="rect">
            <a:avLst/>
          </a:prstGeom>
          <a:noFill/>
        </p:spPr>
        <p:txBody>
          <a:bodyPr wrap="square">
            <a:spAutoFit/>
          </a:bodyPr>
          <a:lstStyle/>
          <a:p>
            <a:pPr>
              <a:spcAft>
                <a:spcPts val="400"/>
              </a:spcAft>
            </a:pPr>
            <a:r>
              <a:rPr sz="1600" b="1">
                <a:solidFill>
                  <a:srgbClr val="0B2545"/>
                </a:solidFill>
                <a:latin typeface="Calibri"/>
              </a:rPr>
              <a:t>Four market segments</a:t>
            </a:r>
          </a:p>
          <a:p>
            <a:pPr>
              <a:spcAft>
                <a:spcPts val="400"/>
              </a:spcAft>
            </a:pPr>
            <a:r>
              <a:rPr sz="1300" b="0">
                <a:solidFill>
                  <a:srgbClr val="5B6675"/>
                </a:solidFill>
                <a:latin typeface="Calibri"/>
              </a:rPr>
              <a:t>Demographic, geographic, psychographic and behavioural</a:t>
            </a:r>
          </a:p>
        </p:txBody>
      </p:sp>
      <p:sp>
        <p:nvSpPr>
          <p:cNvPr id="25" name="Rectangle 24"/>
          <p:cNvSpPr/>
          <p:nvPr/>
        </p:nvSpPr>
        <p:spPr>
          <a:xfrm>
            <a:off x="4384040" y="413766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84040" y="4137660"/>
            <a:ext cx="3423920" cy="9144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89780" y="4480560"/>
            <a:ext cx="685800" cy="68580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alibri"/>
              </a:rPr>
              <a:t>5</a:t>
            </a:r>
          </a:p>
        </p:txBody>
      </p:sp>
      <p:sp>
        <p:nvSpPr>
          <p:cNvPr id="28" name="TextBox 27"/>
          <p:cNvSpPr txBox="1"/>
          <p:nvPr/>
        </p:nvSpPr>
        <p:spPr>
          <a:xfrm>
            <a:off x="5435600" y="4503420"/>
            <a:ext cx="2235200" cy="1531620"/>
          </a:xfrm>
          <a:prstGeom prst="rect">
            <a:avLst/>
          </a:prstGeom>
          <a:noFill/>
        </p:spPr>
        <p:txBody>
          <a:bodyPr wrap="square">
            <a:spAutoFit/>
          </a:bodyPr>
          <a:lstStyle/>
          <a:p>
            <a:pPr>
              <a:spcAft>
                <a:spcPts val="400"/>
              </a:spcAft>
            </a:pPr>
            <a:r>
              <a:rPr sz="1600" b="1">
                <a:solidFill>
                  <a:srgbClr val="0B2545"/>
                </a:solidFill>
                <a:latin typeface="Calibri"/>
              </a:rPr>
              <a:t>Segment scores</a:t>
            </a:r>
          </a:p>
          <a:p>
            <a:pPr>
              <a:spcAft>
                <a:spcPts val="400"/>
              </a:spcAft>
            </a:pPr>
            <a:r>
              <a:rPr sz="1300" b="0">
                <a:solidFill>
                  <a:srgbClr val="5B6675"/>
                </a:solidFill>
                <a:latin typeface="Calibri"/>
              </a:rPr>
              <a:t>Market size, accessibility, buying potential and competition</a:t>
            </a:r>
          </a:p>
        </p:txBody>
      </p:sp>
      <p:sp>
        <p:nvSpPr>
          <p:cNvPr id="29" name="Rectangle 28"/>
          <p:cNvSpPr/>
          <p:nvPr/>
        </p:nvSpPr>
        <p:spPr>
          <a:xfrm>
            <a:off x="8036560" y="4137660"/>
            <a:ext cx="3423920" cy="198882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36560" y="4137660"/>
            <a:ext cx="3423920" cy="9144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42300" y="4480560"/>
            <a:ext cx="685800" cy="685800"/>
          </a:xfrm>
          <a:prstGeom prst="ellips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400" b="1">
                <a:solidFill>
                  <a:srgbClr val="FFFFFF"/>
                </a:solidFill>
                <a:latin typeface="Calibri"/>
              </a:rPr>
              <a:t>6</a:t>
            </a:r>
          </a:p>
        </p:txBody>
      </p:sp>
      <p:sp>
        <p:nvSpPr>
          <p:cNvPr id="32" name="TextBox 31"/>
          <p:cNvSpPr txBox="1"/>
          <p:nvPr/>
        </p:nvSpPr>
        <p:spPr>
          <a:xfrm>
            <a:off x="9088120" y="4503420"/>
            <a:ext cx="2235200" cy="1531620"/>
          </a:xfrm>
          <a:prstGeom prst="rect">
            <a:avLst/>
          </a:prstGeom>
          <a:noFill/>
        </p:spPr>
        <p:txBody>
          <a:bodyPr wrap="square">
            <a:spAutoFit/>
          </a:bodyPr>
          <a:lstStyle/>
          <a:p>
            <a:pPr>
              <a:spcAft>
                <a:spcPts val="400"/>
              </a:spcAft>
            </a:pPr>
            <a:r>
              <a:rPr sz="1600" b="1">
                <a:solidFill>
                  <a:srgbClr val="0B2545"/>
                </a:solidFill>
                <a:latin typeface="Calibri"/>
              </a:rPr>
              <a:t>Target segment</a:t>
            </a:r>
          </a:p>
          <a:p>
            <a:pPr>
              <a:spcAft>
                <a:spcPts val="400"/>
              </a:spcAft>
            </a:pPr>
            <a:r>
              <a:rPr sz="1300" b="0">
                <a:solidFill>
                  <a:srgbClr val="5B6675"/>
                </a:solidFill>
                <a:latin typeface="Calibri"/>
              </a:rPr>
              <a:t>The segment the business should prioritise</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childTnLst>
                          </p:cTn>
                        </p:par>
                        <p:par>
                          <p:cTn id="55" fill="hold">
                            <p:stCondLst>
                              <p:cond delay="1500"/>
                            </p:stCondLst>
                            <p:childTnLst>
                              <p:par>
                                <p:cTn id="56" presetID="10" presetClass="entr" presetSubtype="0" fill="hold" grpId="0" nodeType="after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500"/>
                                        <p:tgtEl>
                                          <p:spTgt spid="2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500"/>
                                        <p:tgtEl>
                                          <p:spTgt spid="2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50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500"/>
                                        <p:tgtEl>
                                          <p:spTgt spid="3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Cyber skills are in demand worldwide, and Nigeria is young</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CONTEXT</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Key figures behind the analysis, from published world and Nigerian data</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3</a:t>
            </a:r>
          </a:p>
        </p:txBody>
      </p:sp>
      <p:sp>
        <p:nvSpPr>
          <p:cNvPr id="9" name="Rectangle 8"/>
          <p:cNvSpPr/>
          <p:nvPr/>
        </p:nvSpPr>
        <p:spPr>
          <a:xfrm>
            <a:off x="731520" y="1920240"/>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73152" cy="19339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02764" y="2057400"/>
            <a:ext cx="822960" cy="256032"/>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WORLD</a:t>
            </a:r>
          </a:p>
        </p:txBody>
      </p:sp>
      <p:sp>
        <p:nvSpPr>
          <p:cNvPr id="12" name="TextBox 11"/>
          <p:cNvSpPr txBox="1"/>
          <p:nvPr/>
        </p:nvSpPr>
        <p:spPr>
          <a:xfrm>
            <a:off x="914400" y="2304288"/>
            <a:ext cx="2257044" cy="685800"/>
          </a:xfrm>
          <a:prstGeom prst="rect">
            <a:avLst/>
          </a:prstGeom>
          <a:noFill/>
        </p:spPr>
        <p:txBody>
          <a:bodyPr wrap="square">
            <a:spAutoFit/>
          </a:bodyPr>
          <a:lstStyle/>
          <a:p>
            <a:r>
              <a:rPr sz="3200" b="1">
                <a:solidFill>
                  <a:srgbClr val="0B2545"/>
                </a:solidFill>
                <a:latin typeface="Calibri"/>
              </a:rPr>
              <a:t>2nd</a:t>
            </a:r>
          </a:p>
        </p:txBody>
      </p:sp>
      <p:sp>
        <p:nvSpPr>
          <p:cNvPr id="13" name="TextBox 12"/>
          <p:cNvSpPr txBox="1"/>
          <p:nvPr/>
        </p:nvSpPr>
        <p:spPr>
          <a:xfrm>
            <a:off x="914400" y="2971800"/>
            <a:ext cx="2257044" cy="836676"/>
          </a:xfrm>
          <a:prstGeom prst="rect">
            <a:avLst/>
          </a:prstGeom>
          <a:noFill/>
        </p:spPr>
        <p:txBody>
          <a:bodyPr wrap="square">
            <a:spAutoFit/>
          </a:bodyPr>
          <a:lstStyle/>
          <a:p>
            <a:r>
              <a:rPr sz="1300" b="0">
                <a:solidFill>
                  <a:srgbClr val="5B6675"/>
                </a:solidFill>
                <a:latin typeface="Calibri"/>
              </a:rPr>
              <a:t>fastest-growing skill in the world: networks and cybersecurity</a:t>
            </a:r>
          </a:p>
        </p:txBody>
      </p:sp>
      <p:sp>
        <p:nvSpPr>
          <p:cNvPr id="14" name="Rectangle 13"/>
          <p:cNvSpPr/>
          <p:nvPr/>
        </p:nvSpPr>
        <p:spPr>
          <a:xfrm>
            <a:off x="3464052" y="1920240"/>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64052" y="1920240"/>
            <a:ext cx="73152" cy="19339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35296" y="2057400"/>
            <a:ext cx="822960" cy="256032"/>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WORLD</a:t>
            </a:r>
          </a:p>
        </p:txBody>
      </p:sp>
      <p:sp>
        <p:nvSpPr>
          <p:cNvPr id="17" name="TextBox 16"/>
          <p:cNvSpPr txBox="1"/>
          <p:nvPr/>
        </p:nvSpPr>
        <p:spPr>
          <a:xfrm>
            <a:off x="3646932" y="2304288"/>
            <a:ext cx="2257044" cy="685800"/>
          </a:xfrm>
          <a:prstGeom prst="rect">
            <a:avLst/>
          </a:prstGeom>
          <a:noFill/>
        </p:spPr>
        <p:txBody>
          <a:bodyPr wrap="square">
            <a:spAutoFit/>
          </a:bodyPr>
          <a:lstStyle/>
          <a:p>
            <a:r>
              <a:rPr sz="3200" b="1">
                <a:solidFill>
                  <a:srgbClr val="0B2545"/>
                </a:solidFill>
                <a:latin typeface="Calibri"/>
              </a:rPr>
              <a:t>95%</a:t>
            </a:r>
          </a:p>
        </p:txBody>
      </p:sp>
      <p:sp>
        <p:nvSpPr>
          <p:cNvPr id="18" name="TextBox 17"/>
          <p:cNvSpPr txBox="1"/>
          <p:nvPr/>
        </p:nvSpPr>
        <p:spPr>
          <a:xfrm>
            <a:off x="3646932" y="2971800"/>
            <a:ext cx="2257044" cy="836676"/>
          </a:xfrm>
          <a:prstGeom prst="rect">
            <a:avLst/>
          </a:prstGeom>
          <a:noFill/>
        </p:spPr>
        <p:txBody>
          <a:bodyPr wrap="square">
            <a:spAutoFit/>
          </a:bodyPr>
          <a:lstStyle/>
          <a:p>
            <a:r>
              <a:rPr sz="1300" b="0">
                <a:solidFill>
                  <a:srgbClr val="5B6675"/>
                </a:solidFill>
                <a:latin typeface="Calibri"/>
              </a:rPr>
              <a:t>of cybersecurity teams have at least one skills gap</a:t>
            </a:r>
          </a:p>
        </p:txBody>
      </p:sp>
      <p:sp>
        <p:nvSpPr>
          <p:cNvPr id="19" name="Rectangle 18"/>
          <p:cNvSpPr/>
          <p:nvPr/>
        </p:nvSpPr>
        <p:spPr>
          <a:xfrm>
            <a:off x="6196584" y="1920240"/>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6584" y="1920240"/>
            <a:ext cx="73152" cy="19339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67828" y="2057400"/>
            <a:ext cx="822960" cy="256032"/>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WORLD</a:t>
            </a:r>
          </a:p>
        </p:txBody>
      </p:sp>
      <p:sp>
        <p:nvSpPr>
          <p:cNvPr id="22" name="TextBox 21"/>
          <p:cNvSpPr txBox="1"/>
          <p:nvPr/>
        </p:nvSpPr>
        <p:spPr>
          <a:xfrm>
            <a:off x="6379464" y="2304288"/>
            <a:ext cx="2257044" cy="685800"/>
          </a:xfrm>
          <a:prstGeom prst="rect">
            <a:avLst/>
          </a:prstGeom>
          <a:noFill/>
        </p:spPr>
        <p:txBody>
          <a:bodyPr wrap="square">
            <a:spAutoFit/>
          </a:bodyPr>
          <a:lstStyle/>
          <a:p>
            <a:r>
              <a:rPr sz="3200" b="1">
                <a:solidFill>
                  <a:srgbClr val="0B2545"/>
                </a:solidFill>
                <a:latin typeface="Calibri"/>
              </a:rPr>
              <a:t>AI &amp; cloud</a:t>
            </a:r>
          </a:p>
        </p:txBody>
      </p:sp>
      <p:sp>
        <p:nvSpPr>
          <p:cNvPr id="23" name="TextBox 22"/>
          <p:cNvSpPr txBox="1"/>
          <p:nvPr/>
        </p:nvSpPr>
        <p:spPr>
          <a:xfrm>
            <a:off x="6379464" y="2971800"/>
            <a:ext cx="2257044" cy="836676"/>
          </a:xfrm>
          <a:prstGeom prst="rect">
            <a:avLst/>
          </a:prstGeom>
          <a:noFill/>
        </p:spPr>
        <p:txBody>
          <a:bodyPr wrap="square">
            <a:spAutoFit/>
          </a:bodyPr>
          <a:lstStyle/>
          <a:p>
            <a:r>
              <a:rPr sz="1300" b="0">
                <a:solidFill>
                  <a:srgbClr val="5B6675"/>
                </a:solidFill>
                <a:latin typeface="Calibri"/>
              </a:rPr>
              <a:t>the cybersecurity skills most in demand</a:t>
            </a:r>
          </a:p>
        </p:txBody>
      </p:sp>
      <p:sp>
        <p:nvSpPr>
          <p:cNvPr id="24" name="Rectangle 23"/>
          <p:cNvSpPr/>
          <p:nvPr/>
        </p:nvSpPr>
        <p:spPr>
          <a:xfrm>
            <a:off x="8929116" y="1920240"/>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29116" y="1920240"/>
            <a:ext cx="73152" cy="19339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500360" y="2057400"/>
            <a:ext cx="822960" cy="256032"/>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WORLD</a:t>
            </a:r>
          </a:p>
        </p:txBody>
      </p:sp>
      <p:sp>
        <p:nvSpPr>
          <p:cNvPr id="27" name="TextBox 26"/>
          <p:cNvSpPr txBox="1"/>
          <p:nvPr/>
        </p:nvSpPr>
        <p:spPr>
          <a:xfrm>
            <a:off x="9111996" y="2304288"/>
            <a:ext cx="2257044" cy="685800"/>
          </a:xfrm>
          <a:prstGeom prst="rect">
            <a:avLst/>
          </a:prstGeom>
          <a:noFill/>
        </p:spPr>
        <p:txBody>
          <a:bodyPr wrap="square">
            <a:spAutoFit/>
          </a:bodyPr>
          <a:lstStyle/>
          <a:p>
            <a:r>
              <a:rPr sz="3200" b="1">
                <a:solidFill>
                  <a:srgbClr val="0B2545"/>
                </a:solidFill>
                <a:latin typeface="Calibri"/>
              </a:rPr>
              <a:t>22%</a:t>
            </a:r>
          </a:p>
        </p:txBody>
      </p:sp>
      <p:sp>
        <p:nvSpPr>
          <p:cNvPr id="28" name="TextBox 27"/>
          <p:cNvSpPr txBox="1"/>
          <p:nvPr/>
        </p:nvSpPr>
        <p:spPr>
          <a:xfrm>
            <a:off x="9111996" y="2971800"/>
            <a:ext cx="2257044" cy="836676"/>
          </a:xfrm>
          <a:prstGeom prst="rect">
            <a:avLst/>
          </a:prstGeom>
          <a:noFill/>
        </p:spPr>
        <p:txBody>
          <a:bodyPr wrap="square">
            <a:spAutoFit/>
          </a:bodyPr>
          <a:lstStyle/>
          <a:p>
            <a:r>
              <a:rPr sz="1300" b="0">
                <a:solidFill>
                  <a:srgbClr val="5B6675"/>
                </a:solidFill>
                <a:latin typeface="Calibri"/>
              </a:rPr>
              <a:t>of cyber team members are women (26% under 30)</a:t>
            </a:r>
          </a:p>
        </p:txBody>
      </p:sp>
      <p:sp>
        <p:nvSpPr>
          <p:cNvPr id="29" name="Rectangle 28"/>
          <p:cNvSpPr/>
          <p:nvPr/>
        </p:nvSpPr>
        <p:spPr>
          <a:xfrm>
            <a:off x="731520" y="4055364"/>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4055364"/>
            <a:ext cx="73152" cy="19339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302764" y="4192524"/>
            <a:ext cx="822960" cy="256032"/>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NIGERIA</a:t>
            </a:r>
          </a:p>
        </p:txBody>
      </p:sp>
      <p:sp>
        <p:nvSpPr>
          <p:cNvPr id="32" name="TextBox 31"/>
          <p:cNvSpPr txBox="1"/>
          <p:nvPr/>
        </p:nvSpPr>
        <p:spPr>
          <a:xfrm>
            <a:off x="914400" y="4439412"/>
            <a:ext cx="2257044" cy="685800"/>
          </a:xfrm>
          <a:prstGeom prst="rect">
            <a:avLst/>
          </a:prstGeom>
          <a:noFill/>
        </p:spPr>
        <p:txBody>
          <a:bodyPr wrap="square">
            <a:spAutoFit/>
          </a:bodyPr>
          <a:lstStyle/>
          <a:p>
            <a:r>
              <a:rPr sz="3200" b="1">
                <a:solidFill>
                  <a:srgbClr val="0B2545"/>
                </a:solidFill>
                <a:latin typeface="Calibri"/>
              </a:rPr>
              <a:t>19</a:t>
            </a:r>
          </a:p>
        </p:txBody>
      </p:sp>
      <p:sp>
        <p:nvSpPr>
          <p:cNvPr id="33" name="TextBox 32"/>
          <p:cNvSpPr txBox="1"/>
          <p:nvPr/>
        </p:nvSpPr>
        <p:spPr>
          <a:xfrm>
            <a:off x="914400" y="5106924"/>
            <a:ext cx="2257044" cy="836676"/>
          </a:xfrm>
          <a:prstGeom prst="rect">
            <a:avLst/>
          </a:prstGeom>
          <a:noFill/>
        </p:spPr>
        <p:txBody>
          <a:bodyPr wrap="square">
            <a:spAutoFit/>
          </a:bodyPr>
          <a:lstStyle/>
          <a:p>
            <a:r>
              <a:rPr sz="1300" b="0">
                <a:solidFill>
                  <a:srgbClr val="5B6675"/>
                </a:solidFill>
                <a:latin typeface="Calibri"/>
              </a:rPr>
              <a:t>years: the median age in Nigeria</a:t>
            </a:r>
          </a:p>
        </p:txBody>
      </p:sp>
      <p:sp>
        <p:nvSpPr>
          <p:cNvPr id="34" name="Rectangle 33"/>
          <p:cNvSpPr/>
          <p:nvPr/>
        </p:nvSpPr>
        <p:spPr>
          <a:xfrm>
            <a:off x="3464052" y="4055364"/>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64052" y="4055364"/>
            <a:ext cx="73152" cy="19339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035296" y="4192524"/>
            <a:ext cx="822960" cy="256032"/>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NIGERIA</a:t>
            </a:r>
          </a:p>
        </p:txBody>
      </p:sp>
      <p:sp>
        <p:nvSpPr>
          <p:cNvPr id="37" name="TextBox 36"/>
          <p:cNvSpPr txBox="1"/>
          <p:nvPr/>
        </p:nvSpPr>
        <p:spPr>
          <a:xfrm>
            <a:off x="3646932" y="4439412"/>
            <a:ext cx="2257044" cy="685800"/>
          </a:xfrm>
          <a:prstGeom prst="rect">
            <a:avLst/>
          </a:prstGeom>
          <a:noFill/>
        </p:spPr>
        <p:txBody>
          <a:bodyPr wrap="square">
            <a:spAutoFit/>
          </a:bodyPr>
          <a:lstStyle/>
          <a:p>
            <a:r>
              <a:rPr sz="3200" b="1">
                <a:solidFill>
                  <a:srgbClr val="0B2545"/>
                </a:solidFill>
                <a:latin typeface="Calibri"/>
              </a:rPr>
              <a:t>2.1m</a:t>
            </a:r>
          </a:p>
        </p:txBody>
      </p:sp>
      <p:sp>
        <p:nvSpPr>
          <p:cNvPr id="38" name="TextBox 37"/>
          <p:cNvSpPr txBox="1"/>
          <p:nvPr/>
        </p:nvSpPr>
        <p:spPr>
          <a:xfrm>
            <a:off x="3646932" y="5106924"/>
            <a:ext cx="2257044" cy="836676"/>
          </a:xfrm>
          <a:prstGeom prst="rect">
            <a:avLst/>
          </a:prstGeom>
          <a:noFill/>
        </p:spPr>
        <p:txBody>
          <a:bodyPr wrap="square">
            <a:spAutoFit/>
          </a:bodyPr>
          <a:lstStyle/>
          <a:p>
            <a:r>
              <a:rPr sz="1300" b="0">
                <a:solidFill>
                  <a:srgbClr val="5B6675"/>
                </a:solidFill>
                <a:latin typeface="Calibri"/>
              </a:rPr>
              <a:t>university students in Nigeria</a:t>
            </a:r>
          </a:p>
        </p:txBody>
      </p:sp>
      <p:sp>
        <p:nvSpPr>
          <p:cNvPr id="39" name="Rectangle 38"/>
          <p:cNvSpPr/>
          <p:nvPr/>
        </p:nvSpPr>
        <p:spPr>
          <a:xfrm>
            <a:off x="6196584" y="4055364"/>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6584" y="4055364"/>
            <a:ext cx="73152" cy="19339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767828" y="4192524"/>
            <a:ext cx="822960" cy="256032"/>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NIGERIA</a:t>
            </a:r>
          </a:p>
        </p:txBody>
      </p:sp>
      <p:sp>
        <p:nvSpPr>
          <p:cNvPr id="42" name="TextBox 41"/>
          <p:cNvSpPr txBox="1"/>
          <p:nvPr/>
        </p:nvSpPr>
        <p:spPr>
          <a:xfrm>
            <a:off x="6379464" y="4439412"/>
            <a:ext cx="2257044" cy="685800"/>
          </a:xfrm>
          <a:prstGeom prst="rect">
            <a:avLst/>
          </a:prstGeom>
          <a:noFill/>
        </p:spPr>
        <p:txBody>
          <a:bodyPr wrap="square">
            <a:spAutoFit/>
          </a:bodyPr>
          <a:lstStyle/>
          <a:p>
            <a:r>
              <a:rPr sz="3200" b="1">
                <a:solidFill>
                  <a:srgbClr val="0B2545"/>
                </a:solidFill>
                <a:latin typeface="Calibri"/>
              </a:rPr>
              <a:t>₦70k</a:t>
            </a:r>
          </a:p>
        </p:txBody>
      </p:sp>
      <p:sp>
        <p:nvSpPr>
          <p:cNvPr id="43" name="TextBox 42"/>
          <p:cNvSpPr txBox="1"/>
          <p:nvPr/>
        </p:nvSpPr>
        <p:spPr>
          <a:xfrm>
            <a:off x="6379464" y="5106924"/>
            <a:ext cx="2257044" cy="836676"/>
          </a:xfrm>
          <a:prstGeom prst="rect">
            <a:avLst/>
          </a:prstGeom>
          <a:noFill/>
        </p:spPr>
        <p:txBody>
          <a:bodyPr wrap="square">
            <a:spAutoFit/>
          </a:bodyPr>
          <a:lstStyle/>
          <a:p>
            <a:r>
              <a:rPr sz="1300" b="0">
                <a:solidFill>
                  <a:srgbClr val="5B6675"/>
                </a:solidFill>
                <a:latin typeface="Calibri"/>
              </a:rPr>
              <a:t>national minimum wage a month</a:t>
            </a:r>
          </a:p>
        </p:txBody>
      </p:sp>
      <p:sp>
        <p:nvSpPr>
          <p:cNvPr id="44" name="Rectangle 43"/>
          <p:cNvSpPr/>
          <p:nvPr/>
        </p:nvSpPr>
        <p:spPr>
          <a:xfrm>
            <a:off x="8929116" y="4055364"/>
            <a:ext cx="2531364" cy="193395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929116" y="4055364"/>
            <a:ext cx="73152" cy="19339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500360" y="4192524"/>
            <a:ext cx="822960" cy="256032"/>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NIGERIA</a:t>
            </a:r>
          </a:p>
        </p:txBody>
      </p:sp>
      <p:sp>
        <p:nvSpPr>
          <p:cNvPr id="47" name="TextBox 46"/>
          <p:cNvSpPr txBox="1"/>
          <p:nvPr/>
        </p:nvSpPr>
        <p:spPr>
          <a:xfrm>
            <a:off x="9111996" y="4439412"/>
            <a:ext cx="2257044" cy="685800"/>
          </a:xfrm>
          <a:prstGeom prst="rect">
            <a:avLst/>
          </a:prstGeom>
          <a:noFill/>
        </p:spPr>
        <p:txBody>
          <a:bodyPr wrap="square">
            <a:spAutoFit/>
          </a:bodyPr>
          <a:lstStyle/>
          <a:p>
            <a:r>
              <a:rPr sz="3200" b="1">
                <a:solidFill>
                  <a:srgbClr val="0B2545"/>
                </a:solidFill>
                <a:latin typeface="Calibri"/>
              </a:rPr>
              <a:t>₦150k+</a:t>
            </a:r>
          </a:p>
        </p:txBody>
      </p:sp>
      <p:sp>
        <p:nvSpPr>
          <p:cNvPr id="48" name="TextBox 47"/>
          <p:cNvSpPr txBox="1"/>
          <p:nvPr/>
        </p:nvSpPr>
        <p:spPr>
          <a:xfrm>
            <a:off x="9111996" y="5106924"/>
            <a:ext cx="2257044" cy="836676"/>
          </a:xfrm>
          <a:prstGeom prst="rect">
            <a:avLst/>
          </a:prstGeom>
          <a:noFill/>
        </p:spPr>
        <p:txBody>
          <a:bodyPr wrap="square">
            <a:spAutoFit/>
          </a:bodyPr>
          <a:lstStyle/>
          <a:p>
            <a:r>
              <a:rPr sz="1300" b="0">
                <a:solidFill>
                  <a:srgbClr val="5B6675"/>
                </a:solidFill>
                <a:latin typeface="Calibri"/>
              </a:rPr>
              <a:t>a month for a junior security analyst</a:t>
            </a:r>
          </a:p>
        </p:txBody>
      </p:sp>
      <p:sp>
        <p:nvSpPr>
          <p:cNvPr id="49" name="TextBox 48"/>
          <p:cNvSpPr txBox="1"/>
          <p:nvPr/>
        </p:nvSpPr>
        <p:spPr>
          <a:xfrm>
            <a:off x="640080" y="6080760"/>
            <a:ext cx="10911840" cy="365760"/>
          </a:xfrm>
          <a:prstGeom prst="rect">
            <a:avLst/>
          </a:prstGeom>
          <a:noFill/>
        </p:spPr>
        <p:txBody>
          <a:bodyPr wrap="square">
            <a:spAutoFit/>
          </a:bodyPr>
          <a:lstStyle/>
          <a:p>
            <a:r>
              <a:rPr sz="1400" b="0">
                <a:solidFill>
                  <a:srgbClr val="5B6675"/>
                </a:solidFill>
                <a:latin typeface="Calibri"/>
              </a:rPr>
              <a:t>Sources: World Economic Forum, ISC2, NUC, UN and World Bank data, payroll and career guides (full list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50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500"/>
                                        <p:tgtEl>
                                          <p:spTgt spid="2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500"/>
                                        <p:tgtEl>
                                          <p:spTgt spid="2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500"/>
                                        <p:tgtEl>
                                          <p:spTgt spid="2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500"/>
                                        <p:tgtEl>
                                          <p:spTgt spid="28"/>
                                        </p:tgtEl>
                                      </p:cBhvr>
                                    </p:animEffect>
                                  </p:childTnLst>
                                </p:cTn>
                              </p:par>
                            </p:childTnLst>
                          </p:cTn>
                        </p:par>
                        <p:par>
                          <p:cTn id="79" fill="hold">
                            <p:stCondLst>
                              <p:cond delay="1500"/>
                            </p:stCondLst>
                            <p:childTnLst>
                              <p:par>
                                <p:cTn id="80" presetID="10" presetClass="entr" presetSubtype="0" fill="hold" grpId="0" nodeType="after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500"/>
                                        <p:tgtEl>
                                          <p:spTgt spid="2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50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500"/>
                                        <p:tgtEl>
                                          <p:spTgt spid="3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500"/>
                                        <p:tgtEl>
                                          <p:spTgt spid="3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500"/>
                                        <p:tgtEl>
                                          <p:spTgt spid="33"/>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500"/>
                                        <p:tgtEl>
                                          <p:spTgt spid="34"/>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5"/>
                                        </p:tgtEl>
                                        <p:attrNameLst>
                                          <p:attrName>style.visibility</p:attrName>
                                        </p:attrNameLst>
                                      </p:cBhvr>
                                      <p:to>
                                        <p:strVal val="visible"/>
                                      </p:to>
                                    </p:set>
                                    <p:animEffect transition="in" filter="fade">
                                      <p:cBhvr>
                                        <p:cTn id="100" dur="500"/>
                                        <p:tgtEl>
                                          <p:spTgt spid="35"/>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500"/>
                                        <p:tgtEl>
                                          <p:spTgt spid="3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fade">
                                      <p:cBhvr>
                                        <p:cTn id="106" dur="500"/>
                                        <p:tgtEl>
                                          <p:spTgt spid="37"/>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fade">
                                      <p:cBhvr>
                                        <p:cTn id="109" dur="500"/>
                                        <p:tgtEl>
                                          <p:spTgt spid="38"/>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fade">
                                      <p:cBhvr>
                                        <p:cTn id="112" dur="500"/>
                                        <p:tgtEl>
                                          <p:spTgt spid="39"/>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500"/>
                                        <p:tgtEl>
                                          <p:spTgt spid="40"/>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500"/>
                                        <p:tgtEl>
                                          <p:spTgt spid="41"/>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2"/>
                                        </p:tgtEl>
                                        <p:attrNameLst>
                                          <p:attrName>style.visibility</p:attrName>
                                        </p:attrNameLst>
                                      </p:cBhvr>
                                      <p:to>
                                        <p:strVal val="visible"/>
                                      </p:to>
                                    </p:set>
                                    <p:animEffect transition="in" filter="fade">
                                      <p:cBhvr>
                                        <p:cTn id="121" dur="500"/>
                                        <p:tgtEl>
                                          <p:spTgt spid="42"/>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fade">
                                      <p:cBhvr>
                                        <p:cTn id="124" dur="500"/>
                                        <p:tgtEl>
                                          <p:spTgt spid="43"/>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4"/>
                                        </p:tgtEl>
                                        <p:attrNameLst>
                                          <p:attrName>style.visibility</p:attrName>
                                        </p:attrNameLst>
                                      </p:cBhvr>
                                      <p:to>
                                        <p:strVal val="visible"/>
                                      </p:to>
                                    </p:set>
                                    <p:animEffect transition="in" filter="fade">
                                      <p:cBhvr>
                                        <p:cTn id="127" dur="500"/>
                                        <p:tgtEl>
                                          <p:spTgt spid="44"/>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5"/>
                                        </p:tgtEl>
                                        <p:attrNameLst>
                                          <p:attrName>style.visibility</p:attrName>
                                        </p:attrNameLst>
                                      </p:cBhvr>
                                      <p:to>
                                        <p:strVal val="visible"/>
                                      </p:to>
                                    </p:set>
                                    <p:animEffect transition="in" filter="fade">
                                      <p:cBhvr>
                                        <p:cTn id="130" dur="500"/>
                                        <p:tgtEl>
                                          <p:spTgt spid="45"/>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fade">
                                      <p:cBhvr>
                                        <p:cTn id="133" dur="500"/>
                                        <p:tgtEl>
                                          <p:spTgt spid="46"/>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500"/>
                                        <p:tgtEl>
                                          <p:spTgt spid="47"/>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48"/>
                                        </p:tgtEl>
                                        <p:attrNameLst>
                                          <p:attrName>style.visibility</p:attrName>
                                        </p:attrNameLst>
                                      </p:cBhvr>
                                      <p:to>
                                        <p:strVal val="visible"/>
                                      </p:to>
                                    </p:set>
                                    <p:animEffect transition="in" filter="fade">
                                      <p:cBhvr>
                                        <p:cTn id="139" dur="500"/>
                                        <p:tgtEl>
                                          <p:spTgt spid="48"/>
                                        </p:tgtEl>
                                      </p:cBhvr>
                                    </p:animEffect>
                                  </p:childTnLst>
                                </p:cTn>
                              </p:par>
                            </p:childTnLst>
                          </p:cTn>
                        </p:par>
                        <p:par>
                          <p:cTn id="140" fill="hold">
                            <p:stCondLst>
                              <p:cond delay="2000"/>
                            </p:stCondLst>
                            <p:childTnLst>
                              <p:par>
                                <p:cTn id="141" presetID="10" presetClass="entr" presetSubtype="0" fill="hold" grpId="0" nodeType="afterEffect">
                                  <p:stCondLst>
                                    <p:cond delay="0"/>
                                  </p:stCondLst>
                                  <p:childTnLst>
                                    <p:set>
                                      <p:cBhvr>
                                        <p:cTn id="142" dur="1" fill="hold">
                                          <p:stCondLst>
                                            <p:cond delay="0"/>
                                          </p:stCondLst>
                                        </p:cTn>
                                        <p:tgtEl>
                                          <p:spTgt spid="49"/>
                                        </p:tgtEl>
                                        <p:attrNameLst>
                                          <p:attrName>style.visibility</p:attrName>
                                        </p:attrNameLst>
                                      </p:cBhvr>
                                      <p:to>
                                        <p:strVal val="visible"/>
                                      </p:to>
                                    </p:set>
                                    <p:animEffect transition="in" filter="fade">
                                      <p:cBhvr>
                                        <p:cTn id="14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01</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Customer Persona</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Who the typical buyer is, and what makes them buy</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1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Meet Tunde, a typical Career Switcher</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1  ·  CUSTOMER PERSONA</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A fictional Career Switcher (the target segment, task 6), built from the research</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5</a:t>
            </a:r>
          </a:p>
        </p:txBody>
      </p:sp>
      <p:sp>
        <p:nvSpPr>
          <p:cNvPr id="9" name="Rectangle 8"/>
          <p:cNvSpPr/>
          <p:nvPr/>
        </p:nvSpPr>
        <p:spPr>
          <a:xfrm>
            <a:off x="731520" y="1920240"/>
            <a:ext cx="3566160" cy="425196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714500" y="2171700"/>
            <a:ext cx="1600200" cy="1600200"/>
          </a:xfrm>
          <a:prstGeom prst="ellipse">
            <a:avLst/>
          </a:prstGeom>
          <a:solidFill>
            <a:srgbClr val="DC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31136" y="2423160"/>
            <a:ext cx="566928" cy="566928"/>
          </a:xfrm>
          <a:prstGeom prst="ellips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 Same Side Corner Rectangle 11"/>
          <p:cNvSpPr/>
          <p:nvPr/>
        </p:nvSpPr>
        <p:spPr>
          <a:xfrm>
            <a:off x="2011680" y="3063240"/>
            <a:ext cx="1005840" cy="566928"/>
          </a:xfrm>
          <a:prstGeom prst="round2SameRect">
            <a:avLst>
              <a:gd name="adj1" fmla="val 45000"/>
              <a:gd name="adj2" fmla="val 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846320"/>
            <a:ext cx="3017520" cy="1234440"/>
          </a:xfrm>
          <a:prstGeom prst="rect">
            <a:avLst/>
          </a:prstGeom>
          <a:noFill/>
        </p:spPr>
        <p:txBody>
          <a:bodyPr wrap="square">
            <a:spAutoFit/>
          </a:bodyPr>
          <a:lstStyle/>
          <a:p>
            <a:pPr algn="ctr"/>
            <a:r>
              <a:rPr sz="1600" b="0" i="1">
                <a:solidFill>
                  <a:srgbClr val="DCE7F5"/>
                </a:solidFill>
                <a:latin typeface="Calibri"/>
              </a:rPr>
              <a:t>“I don't mind paying, if I'm sure it will get me a job.”</a:t>
            </a:r>
          </a:p>
        </p:txBody>
      </p:sp>
      <p:sp>
        <p:nvSpPr>
          <p:cNvPr id="14" name="TextBox 13"/>
          <p:cNvSpPr txBox="1"/>
          <p:nvPr/>
        </p:nvSpPr>
        <p:spPr>
          <a:xfrm>
            <a:off x="914400" y="3886200"/>
            <a:ext cx="3200400" cy="457200"/>
          </a:xfrm>
          <a:prstGeom prst="rect">
            <a:avLst/>
          </a:prstGeom>
          <a:noFill/>
        </p:spPr>
        <p:txBody>
          <a:bodyPr wrap="square">
            <a:spAutoFit/>
          </a:bodyPr>
          <a:lstStyle/>
          <a:p>
            <a:pPr algn="ctr"/>
            <a:r>
              <a:rPr sz="2400" b="1">
                <a:solidFill>
                  <a:srgbClr val="FFFFFF"/>
                </a:solidFill>
                <a:latin typeface="Calibri"/>
              </a:rPr>
              <a:t>Tunde Bakare</a:t>
            </a:r>
          </a:p>
        </p:txBody>
      </p:sp>
      <p:sp>
        <p:nvSpPr>
          <p:cNvPr id="15" name="Rounded Rectangle 14"/>
          <p:cNvSpPr/>
          <p:nvPr/>
        </p:nvSpPr>
        <p:spPr>
          <a:xfrm>
            <a:off x="1645920" y="4407408"/>
            <a:ext cx="1737360" cy="292608"/>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a:solidFill>
                  <a:srgbClr val="FFFFFF"/>
                </a:solidFill>
                <a:latin typeface="Calibri"/>
              </a:rPr>
              <a:t>CAREER SWITCHERS</a:t>
            </a:r>
          </a:p>
        </p:txBody>
      </p:sp>
      <p:sp>
        <p:nvSpPr>
          <p:cNvPr id="16" name="Rectangle 15"/>
          <p:cNvSpPr/>
          <p:nvPr/>
        </p:nvSpPr>
        <p:spPr>
          <a:xfrm>
            <a:off x="4526280" y="1920240"/>
            <a:ext cx="3657600" cy="42519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2057400"/>
            <a:ext cx="3200400" cy="365760"/>
          </a:xfrm>
          <a:prstGeom prst="rect">
            <a:avLst/>
          </a:prstGeom>
          <a:noFill/>
        </p:spPr>
        <p:txBody>
          <a:bodyPr wrap="square">
            <a:spAutoFit/>
          </a:bodyPr>
          <a:lstStyle/>
          <a:p>
            <a:r>
              <a:rPr sz="1200" b="1">
                <a:solidFill>
                  <a:srgbClr val="1F6FB2"/>
                </a:solidFill>
                <a:latin typeface="Calibri"/>
              </a:rPr>
              <a:t>PROFILE</a:t>
            </a:r>
          </a:p>
        </p:txBody>
      </p:sp>
      <p:sp>
        <p:nvSpPr>
          <p:cNvPr id="18" name="TextBox 17"/>
          <p:cNvSpPr txBox="1"/>
          <p:nvPr/>
        </p:nvSpPr>
        <p:spPr>
          <a:xfrm>
            <a:off x="4754880" y="2468880"/>
            <a:ext cx="3200400" cy="603504"/>
          </a:xfrm>
          <a:prstGeom prst="rect">
            <a:avLst/>
          </a:prstGeom>
          <a:noFill/>
        </p:spPr>
        <p:txBody>
          <a:bodyPr wrap="square">
            <a:spAutoFit/>
          </a:bodyPr>
          <a:lstStyle/>
          <a:p>
            <a:pPr>
              <a:spcAft>
                <a:spcPts val="0"/>
              </a:spcAft>
            </a:pPr>
            <a:r>
              <a:rPr sz="900" b="1">
                <a:solidFill>
                  <a:srgbClr val="5B6675"/>
                </a:solidFill>
                <a:latin typeface="Calibri"/>
              </a:rPr>
              <a:t>AGE</a:t>
            </a:r>
          </a:p>
          <a:p>
            <a:pPr>
              <a:spcAft>
                <a:spcPts val="0"/>
              </a:spcAft>
            </a:pPr>
            <a:r>
              <a:rPr sz="1200" b="0">
                <a:solidFill>
                  <a:srgbClr val="1C2430"/>
                </a:solidFill>
                <a:latin typeface="Calibri"/>
              </a:rPr>
              <a:t>27</a:t>
            </a:r>
          </a:p>
        </p:txBody>
      </p:sp>
      <p:sp>
        <p:nvSpPr>
          <p:cNvPr id="19" name="TextBox 18"/>
          <p:cNvSpPr txBox="1"/>
          <p:nvPr/>
        </p:nvSpPr>
        <p:spPr>
          <a:xfrm>
            <a:off x="4754880" y="3072384"/>
            <a:ext cx="3200400" cy="603504"/>
          </a:xfrm>
          <a:prstGeom prst="rect">
            <a:avLst/>
          </a:prstGeom>
          <a:noFill/>
        </p:spPr>
        <p:txBody>
          <a:bodyPr wrap="square">
            <a:spAutoFit/>
          </a:bodyPr>
          <a:lstStyle/>
          <a:p>
            <a:pPr>
              <a:spcAft>
                <a:spcPts val="0"/>
              </a:spcAft>
            </a:pPr>
            <a:r>
              <a:rPr sz="900" b="1">
                <a:solidFill>
                  <a:srgbClr val="5B6675"/>
                </a:solidFill>
                <a:latin typeface="Calibri"/>
              </a:rPr>
              <a:t>LIVES IN</a:t>
            </a:r>
          </a:p>
          <a:p>
            <a:pPr>
              <a:spcAft>
                <a:spcPts val="0"/>
              </a:spcAft>
            </a:pPr>
            <a:r>
              <a:rPr sz="1200" b="0">
                <a:solidFill>
                  <a:srgbClr val="1C2430"/>
                </a:solidFill>
                <a:latin typeface="Calibri"/>
              </a:rPr>
              <a:t>Ikeja, Lagos</a:t>
            </a:r>
          </a:p>
        </p:txBody>
      </p:sp>
      <p:sp>
        <p:nvSpPr>
          <p:cNvPr id="20" name="TextBox 19"/>
          <p:cNvSpPr txBox="1"/>
          <p:nvPr/>
        </p:nvSpPr>
        <p:spPr>
          <a:xfrm>
            <a:off x="4754880" y="3675888"/>
            <a:ext cx="3200400" cy="603504"/>
          </a:xfrm>
          <a:prstGeom prst="rect">
            <a:avLst/>
          </a:prstGeom>
          <a:noFill/>
        </p:spPr>
        <p:txBody>
          <a:bodyPr wrap="square">
            <a:spAutoFit/>
          </a:bodyPr>
          <a:lstStyle/>
          <a:p>
            <a:pPr>
              <a:spcAft>
                <a:spcPts val="0"/>
              </a:spcAft>
            </a:pPr>
            <a:r>
              <a:rPr sz="900" b="1">
                <a:solidFill>
                  <a:srgbClr val="5B6675"/>
                </a:solidFill>
                <a:latin typeface="Calibri"/>
              </a:rPr>
              <a:t>JOB</a:t>
            </a:r>
          </a:p>
          <a:p>
            <a:pPr>
              <a:spcAft>
                <a:spcPts val="0"/>
              </a:spcAft>
            </a:pPr>
            <a:r>
              <a:rPr sz="1200" b="0">
                <a:solidFill>
                  <a:srgbClr val="1C2430"/>
                </a:solidFill>
                <a:latin typeface="Calibri"/>
              </a:rPr>
              <a:t>Customer service officer at a phone retailer</a:t>
            </a:r>
          </a:p>
        </p:txBody>
      </p:sp>
      <p:sp>
        <p:nvSpPr>
          <p:cNvPr id="21" name="TextBox 20"/>
          <p:cNvSpPr txBox="1"/>
          <p:nvPr/>
        </p:nvSpPr>
        <p:spPr>
          <a:xfrm>
            <a:off x="4754880" y="4279392"/>
            <a:ext cx="3200400" cy="603504"/>
          </a:xfrm>
          <a:prstGeom prst="rect">
            <a:avLst/>
          </a:prstGeom>
          <a:noFill/>
        </p:spPr>
        <p:txBody>
          <a:bodyPr wrap="square">
            <a:spAutoFit/>
          </a:bodyPr>
          <a:lstStyle/>
          <a:p>
            <a:pPr>
              <a:spcAft>
                <a:spcPts val="0"/>
              </a:spcAft>
            </a:pPr>
            <a:r>
              <a:rPr sz="900" b="1">
                <a:solidFill>
                  <a:srgbClr val="5B6675"/>
                </a:solidFill>
                <a:latin typeface="Calibri"/>
              </a:rPr>
              <a:t>EDUCATION</a:t>
            </a:r>
          </a:p>
          <a:p>
            <a:pPr>
              <a:spcAft>
                <a:spcPts val="0"/>
              </a:spcAft>
            </a:pPr>
            <a:r>
              <a:rPr sz="1200" b="0">
                <a:solidFill>
                  <a:srgbClr val="1C2430"/>
                </a:solidFill>
                <a:latin typeface="Calibri"/>
              </a:rPr>
              <a:t>HND in Business Administration</a:t>
            </a:r>
          </a:p>
        </p:txBody>
      </p:sp>
      <p:sp>
        <p:nvSpPr>
          <p:cNvPr id="22" name="TextBox 21"/>
          <p:cNvSpPr txBox="1"/>
          <p:nvPr/>
        </p:nvSpPr>
        <p:spPr>
          <a:xfrm>
            <a:off x="4754880" y="4882896"/>
            <a:ext cx="3200400" cy="603504"/>
          </a:xfrm>
          <a:prstGeom prst="rect">
            <a:avLst/>
          </a:prstGeom>
          <a:noFill/>
        </p:spPr>
        <p:txBody>
          <a:bodyPr wrap="square">
            <a:spAutoFit/>
          </a:bodyPr>
          <a:lstStyle/>
          <a:p>
            <a:pPr>
              <a:spcAft>
                <a:spcPts val="0"/>
              </a:spcAft>
            </a:pPr>
            <a:r>
              <a:rPr sz="900" b="1">
                <a:solidFill>
                  <a:srgbClr val="5B6675"/>
                </a:solidFill>
                <a:latin typeface="Calibri"/>
              </a:rPr>
              <a:t>MONEY</a:t>
            </a:r>
          </a:p>
          <a:p>
            <a:pPr>
              <a:spcAft>
                <a:spcPts val="0"/>
              </a:spcAft>
            </a:pPr>
            <a:r>
              <a:rPr sz="1200" b="0">
                <a:solidFill>
                  <a:srgbClr val="1C2430"/>
                </a:solidFill>
                <a:latin typeface="Calibri"/>
              </a:rPr>
              <a:t>Steady pay above the minimum wage; can spare about ₦50,000 a month</a:t>
            </a:r>
          </a:p>
        </p:txBody>
      </p:sp>
      <p:sp>
        <p:nvSpPr>
          <p:cNvPr id="23" name="TextBox 22"/>
          <p:cNvSpPr txBox="1"/>
          <p:nvPr/>
        </p:nvSpPr>
        <p:spPr>
          <a:xfrm>
            <a:off x="4754880" y="5486400"/>
            <a:ext cx="3200400" cy="603504"/>
          </a:xfrm>
          <a:prstGeom prst="rect">
            <a:avLst/>
          </a:prstGeom>
          <a:noFill/>
        </p:spPr>
        <p:txBody>
          <a:bodyPr wrap="square">
            <a:spAutoFit/>
          </a:bodyPr>
          <a:lstStyle/>
          <a:p>
            <a:pPr>
              <a:spcAft>
                <a:spcPts val="0"/>
              </a:spcAft>
            </a:pPr>
            <a:r>
              <a:rPr sz="900" b="1">
                <a:solidFill>
                  <a:srgbClr val="5B6675"/>
                </a:solidFill>
                <a:latin typeface="Calibri"/>
              </a:rPr>
              <a:t>DEVICES</a:t>
            </a:r>
          </a:p>
          <a:p>
            <a:pPr>
              <a:spcAft>
                <a:spcPts val="0"/>
              </a:spcAft>
            </a:pPr>
            <a:r>
              <a:rPr sz="1200" b="0">
                <a:solidFill>
                  <a:srgbClr val="1C2430"/>
                </a:solidFill>
                <a:latin typeface="Calibri"/>
              </a:rPr>
              <a:t>Smartphone and a budget laptop</a:t>
            </a:r>
          </a:p>
        </p:txBody>
      </p:sp>
      <p:sp>
        <p:nvSpPr>
          <p:cNvPr id="24" name="Rectangle 23"/>
          <p:cNvSpPr/>
          <p:nvPr/>
        </p:nvSpPr>
        <p:spPr>
          <a:xfrm>
            <a:off x="8412480" y="1920240"/>
            <a:ext cx="3048000" cy="42519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2057400"/>
            <a:ext cx="2590800" cy="365760"/>
          </a:xfrm>
          <a:prstGeom prst="rect">
            <a:avLst/>
          </a:prstGeom>
          <a:noFill/>
        </p:spPr>
        <p:txBody>
          <a:bodyPr wrap="square">
            <a:spAutoFit/>
          </a:bodyPr>
          <a:lstStyle/>
          <a:p>
            <a:r>
              <a:rPr sz="1200" b="1">
                <a:solidFill>
                  <a:srgbClr val="1F6FB2"/>
                </a:solidFill>
                <a:latin typeface="Calibri"/>
              </a:rPr>
              <a:t>PERSONALITY</a:t>
            </a:r>
          </a:p>
        </p:txBody>
      </p:sp>
      <p:sp>
        <p:nvSpPr>
          <p:cNvPr id="26" name="TextBox 25"/>
          <p:cNvSpPr txBox="1"/>
          <p:nvPr/>
        </p:nvSpPr>
        <p:spPr>
          <a:xfrm>
            <a:off x="8641080" y="2514600"/>
            <a:ext cx="2590800" cy="329184"/>
          </a:xfrm>
          <a:prstGeom prst="rect">
            <a:avLst/>
          </a:prstGeom>
          <a:noFill/>
        </p:spPr>
        <p:txBody>
          <a:bodyPr wrap="square">
            <a:spAutoFit/>
          </a:bodyPr>
          <a:lstStyle/>
          <a:p>
            <a:r>
              <a:rPr sz="1400" b="0">
                <a:solidFill>
                  <a:srgbClr val="1C2430"/>
                </a:solidFill>
                <a:latin typeface="Calibri"/>
              </a:rPr>
              <a:t>Careful with money</a:t>
            </a:r>
          </a:p>
        </p:txBody>
      </p:sp>
      <p:sp>
        <p:nvSpPr>
          <p:cNvPr id="27" name="Oval 26"/>
          <p:cNvSpPr/>
          <p:nvPr/>
        </p:nvSpPr>
        <p:spPr>
          <a:xfrm>
            <a:off x="8686800" y="2907792"/>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015984" y="2907792"/>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345168" y="2907792"/>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674352" y="2907792"/>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003536" y="2907792"/>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41080" y="3282696"/>
            <a:ext cx="2590800" cy="329184"/>
          </a:xfrm>
          <a:prstGeom prst="rect">
            <a:avLst/>
          </a:prstGeom>
          <a:noFill/>
        </p:spPr>
        <p:txBody>
          <a:bodyPr wrap="square">
            <a:spAutoFit/>
          </a:bodyPr>
          <a:lstStyle/>
          <a:p>
            <a:r>
              <a:rPr sz="1400" b="0">
                <a:solidFill>
                  <a:srgbClr val="1C2430"/>
                </a:solidFill>
                <a:latin typeface="Calibri"/>
              </a:rPr>
              <a:t>Ambitious</a:t>
            </a:r>
          </a:p>
        </p:txBody>
      </p:sp>
      <p:sp>
        <p:nvSpPr>
          <p:cNvPr id="33" name="Oval 32"/>
          <p:cNvSpPr/>
          <p:nvPr/>
        </p:nvSpPr>
        <p:spPr>
          <a:xfrm>
            <a:off x="8686800" y="3675888"/>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015984" y="3675888"/>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345168" y="3675888"/>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674352" y="3675888"/>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03536" y="3675888"/>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4050792"/>
            <a:ext cx="2590800" cy="329184"/>
          </a:xfrm>
          <a:prstGeom prst="rect">
            <a:avLst/>
          </a:prstGeom>
          <a:noFill/>
        </p:spPr>
        <p:txBody>
          <a:bodyPr wrap="square">
            <a:spAutoFit/>
          </a:bodyPr>
          <a:lstStyle/>
          <a:p>
            <a:r>
              <a:rPr sz="1400" b="0">
                <a:solidFill>
                  <a:srgbClr val="1C2430"/>
                </a:solidFill>
                <a:latin typeface="Calibri"/>
              </a:rPr>
              <a:t>Confident with tech</a:t>
            </a:r>
          </a:p>
        </p:txBody>
      </p:sp>
      <p:sp>
        <p:nvSpPr>
          <p:cNvPr id="39" name="Oval 38"/>
          <p:cNvSpPr/>
          <p:nvPr/>
        </p:nvSpPr>
        <p:spPr>
          <a:xfrm>
            <a:off x="8686800" y="4443984"/>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015984" y="4443984"/>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345168" y="4443984"/>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74352" y="4443984"/>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03536" y="4443984"/>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41080" y="4818888"/>
            <a:ext cx="2590800" cy="329184"/>
          </a:xfrm>
          <a:prstGeom prst="rect">
            <a:avLst/>
          </a:prstGeom>
          <a:noFill/>
        </p:spPr>
        <p:txBody>
          <a:bodyPr wrap="square">
            <a:spAutoFit/>
          </a:bodyPr>
          <a:lstStyle/>
          <a:p>
            <a:r>
              <a:rPr sz="1400" b="0">
                <a:solidFill>
                  <a:srgbClr val="1C2430"/>
                </a:solidFill>
                <a:latin typeface="Calibri"/>
              </a:rPr>
              <a:t>Free time</a:t>
            </a:r>
          </a:p>
        </p:txBody>
      </p:sp>
      <p:sp>
        <p:nvSpPr>
          <p:cNvPr id="45" name="Oval 44"/>
          <p:cNvSpPr/>
          <p:nvPr/>
        </p:nvSpPr>
        <p:spPr>
          <a:xfrm>
            <a:off x="8686800" y="5212080"/>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015984" y="5212080"/>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345168" y="5212080"/>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674352" y="5212080"/>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03536" y="5212080"/>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5586984"/>
            <a:ext cx="2590800" cy="329184"/>
          </a:xfrm>
          <a:prstGeom prst="rect">
            <a:avLst/>
          </a:prstGeom>
          <a:noFill/>
        </p:spPr>
        <p:txBody>
          <a:bodyPr wrap="square">
            <a:spAutoFit/>
          </a:bodyPr>
          <a:lstStyle/>
          <a:p>
            <a:r>
              <a:rPr sz="1400" b="0">
                <a:solidFill>
                  <a:srgbClr val="1C2430"/>
                </a:solidFill>
                <a:latin typeface="Calibri"/>
              </a:rPr>
              <a:t>Trust in online courses</a:t>
            </a:r>
          </a:p>
        </p:txBody>
      </p:sp>
      <p:sp>
        <p:nvSpPr>
          <p:cNvPr id="51" name="Oval 50"/>
          <p:cNvSpPr/>
          <p:nvPr/>
        </p:nvSpPr>
        <p:spPr>
          <a:xfrm>
            <a:off x="8686800" y="5980176"/>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015984" y="5980176"/>
            <a:ext cx="219456" cy="219456"/>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345168" y="5980176"/>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674352" y="5980176"/>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03536" y="5980176"/>
            <a:ext cx="219456" cy="219456"/>
          </a:xfrm>
          <a:prstGeom prst="ellipse">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5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childTnLst>
                          </p:cTn>
                        </p:par>
                        <p:par>
                          <p:cTn id="40" fill="hold">
                            <p:stCondLst>
                              <p:cond delay="1500"/>
                            </p:stCondLst>
                            <p:childTnLst>
                              <p:par>
                                <p:cTn id="41" presetID="10" presetClass="entr" presetSubtype="0" fill="hold" grpId="0" nodeType="after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childTnLst>
                          </p:cTn>
                        </p:par>
                        <p:par>
                          <p:cTn id="65" fill="hold">
                            <p:stCondLst>
                              <p:cond delay="2000"/>
                            </p:stCondLst>
                            <p:childTnLst>
                              <p:par>
                                <p:cTn id="66" presetID="10" presetClass="entr" presetSubtype="0"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500"/>
                                        <p:tgtEl>
                                          <p:spTgt spid="42"/>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fade">
                                      <p:cBhvr>
                                        <p:cTn id="125" dur="500"/>
                                        <p:tgtEl>
                                          <p:spTgt spid="43"/>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4"/>
                                        </p:tgtEl>
                                        <p:attrNameLst>
                                          <p:attrName>style.visibility</p:attrName>
                                        </p:attrNameLst>
                                      </p:cBhvr>
                                      <p:to>
                                        <p:strVal val="visible"/>
                                      </p:to>
                                    </p:set>
                                    <p:animEffect transition="in" filter="fade">
                                      <p:cBhvr>
                                        <p:cTn id="128" dur="500"/>
                                        <p:tgtEl>
                                          <p:spTgt spid="44"/>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5"/>
                                        </p:tgtEl>
                                        <p:attrNameLst>
                                          <p:attrName>style.visibility</p:attrName>
                                        </p:attrNameLst>
                                      </p:cBhvr>
                                      <p:to>
                                        <p:strVal val="visible"/>
                                      </p:to>
                                    </p:set>
                                    <p:animEffect transition="in" filter="fade">
                                      <p:cBhvr>
                                        <p:cTn id="131" dur="500"/>
                                        <p:tgtEl>
                                          <p:spTgt spid="45"/>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6"/>
                                        </p:tgtEl>
                                        <p:attrNameLst>
                                          <p:attrName>style.visibility</p:attrName>
                                        </p:attrNameLst>
                                      </p:cBhvr>
                                      <p:to>
                                        <p:strVal val="visible"/>
                                      </p:to>
                                    </p:set>
                                    <p:animEffect transition="in" filter="fade">
                                      <p:cBhvr>
                                        <p:cTn id="134" dur="500"/>
                                        <p:tgtEl>
                                          <p:spTgt spid="46"/>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7"/>
                                        </p:tgtEl>
                                        <p:attrNameLst>
                                          <p:attrName>style.visibility</p:attrName>
                                        </p:attrNameLst>
                                      </p:cBhvr>
                                      <p:to>
                                        <p:strVal val="visible"/>
                                      </p:to>
                                    </p:set>
                                    <p:animEffect transition="in" filter="fade">
                                      <p:cBhvr>
                                        <p:cTn id="137" dur="500"/>
                                        <p:tgtEl>
                                          <p:spTgt spid="47"/>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48"/>
                                        </p:tgtEl>
                                        <p:attrNameLst>
                                          <p:attrName>style.visibility</p:attrName>
                                        </p:attrNameLst>
                                      </p:cBhvr>
                                      <p:to>
                                        <p:strVal val="visible"/>
                                      </p:to>
                                    </p:set>
                                    <p:animEffect transition="in" filter="fade">
                                      <p:cBhvr>
                                        <p:cTn id="140" dur="500"/>
                                        <p:tgtEl>
                                          <p:spTgt spid="48"/>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9"/>
                                        </p:tgtEl>
                                        <p:attrNameLst>
                                          <p:attrName>style.visibility</p:attrName>
                                        </p:attrNameLst>
                                      </p:cBhvr>
                                      <p:to>
                                        <p:strVal val="visible"/>
                                      </p:to>
                                    </p:set>
                                    <p:animEffect transition="in" filter="fade">
                                      <p:cBhvr>
                                        <p:cTn id="143" dur="500"/>
                                        <p:tgtEl>
                                          <p:spTgt spid="49"/>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0"/>
                                        </p:tgtEl>
                                        <p:attrNameLst>
                                          <p:attrName>style.visibility</p:attrName>
                                        </p:attrNameLst>
                                      </p:cBhvr>
                                      <p:to>
                                        <p:strVal val="visible"/>
                                      </p:to>
                                    </p:set>
                                    <p:animEffect transition="in" filter="fade">
                                      <p:cBhvr>
                                        <p:cTn id="146" dur="500"/>
                                        <p:tgtEl>
                                          <p:spTgt spid="50"/>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1"/>
                                        </p:tgtEl>
                                        <p:attrNameLst>
                                          <p:attrName>style.visibility</p:attrName>
                                        </p:attrNameLst>
                                      </p:cBhvr>
                                      <p:to>
                                        <p:strVal val="visible"/>
                                      </p:to>
                                    </p:set>
                                    <p:animEffect transition="in" filter="fade">
                                      <p:cBhvr>
                                        <p:cTn id="149" dur="500"/>
                                        <p:tgtEl>
                                          <p:spTgt spid="51"/>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2"/>
                                        </p:tgtEl>
                                        <p:attrNameLst>
                                          <p:attrName>style.visibility</p:attrName>
                                        </p:attrNameLst>
                                      </p:cBhvr>
                                      <p:to>
                                        <p:strVal val="visible"/>
                                      </p:to>
                                    </p:set>
                                    <p:animEffect transition="in" filter="fade">
                                      <p:cBhvr>
                                        <p:cTn id="152" dur="500"/>
                                        <p:tgtEl>
                                          <p:spTgt spid="52"/>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3"/>
                                        </p:tgtEl>
                                        <p:attrNameLst>
                                          <p:attrName>style.visibility</p:attrName>
                                        </p:attrNameLst>
                                      </p:cBhvr>
                                      <p:to>
                                        <p:strVal val="visible"/>
                                      </p:to>
                                    </p:set>
                                    <p:animEffect transition="in" filter="fade">
                                      <p:cBhvr>
                                        <p:cTn id="155" dur="500"/>
                                        <p:tgtEl>
                                          <p:spTgt spid="53"/>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4"/>
                                        </p:tgtEl>
                                        <p:attrNameLst>
                                          <p:attrName>style.visibility</p:attrName>
                                        </p:attrNameLst>
                                      </p:cBhvr>
                                      <p:to>
                                        <p:strVal val="visible"/>
                                      </p:to>
                                    </p:set>
                                    <p:animEffect transition="in" filter="fade">
                                      <p:cBhvr>
                                        <p:cTn id="158" dur="500"/>
                                        <p:tgtEl>
                                          <p:spTgt spid="54"/>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5"/>
                                        </p:tgtEl>
                                        <p:attrNameLst>
                                          <p:attrName>style.visibility</p:attrName>
                                        </p:attrNameLst>
                                      </p:cBhvr>
                                      <p:to>
                                        <p:strVal val="visible"/>
                                      </p:to>
                                    </p:set>
                                    <p:animEffect transition="in" filter="fade">
                                      <p:cBhvr>
                                        <p:cTn id="16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4" grpId="0" animBg="1"/>
      <p:bldP spid="15" grpId="0" animBg="1"/>
      <p:bldP spid="13"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Tunde wants a better job, but fears wasting money</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1  ·  CUSTOMER PERSONA</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Goals, frustrations, needs, and where to reach Tunde</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6</a:t>
            </a:r>
          </a:p>
        </p:txBody>
      </p:sp>
      <p:sp>
        <p:nvSpPr>
          <p:cNvPr id="9" name="Rectangle 8"/>
          <p:cNvSpPr/>
          <p:nvPr/>
        </p:nvSpPr>
        <p:spPr>
          <a:xfrm>
            <a:off x="73152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5250180" cy="457200"/>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Goals</a:t>
            </a:r>
          </a:p>
        </p:txBody>
      </p:sp>
      <p:sp>
        <p:nvSpPr>
          <p:cNvPr id="11" name="TextBox 10"/>
          <p:cNvSpPr txBox="1"/>
          <p:nvPr/>
        </p:nvSpPr>
        <p:spPr>
          <a:xfrm>
            <a:off x="868680" y="2487168"/>
            <a:ext cx="4975860" cy="1371600"/>
          </a:xfrm>
          <a:prstGeom prst="rect">
            <a:avLst/>
          </a:prstGeom>
          <a:noFill/>
        </p:spPr>
        <p:txBody>
          <a:bodyPr wrap="square">
            <a:spAutoFit/>
          </a:bodyPr>
          <a:lstStyle/>
          <a:p>
            <a:pPr>
              <a:spcAft>
                <a:spcPts val="600"/>
              </a:spcAft>
            </a:pPr>
            <a:r>
              <a:rPr sz="1600" b="0">
                <a:solidFill>
                  <a:srgbClr val="1C2430"/>
                </a:solidFill>
                <a:latin typeface="Calibri"/>
              </a:rPr>
              <a:t>•  Move into a cybersecurity job within a year</a:t>
            </a:r>
          </a:p>
          <a:p>
            <a:pPr>
              <a:spcAft>
                <a:spcPts val="600"/>
              </a:spcAft>
            </a:pPr>
            <a:r>
              <a:rPr sz="1600" b="0">
                <a:solidFill>
                  <a:srgbClr val="1C2430"/>
                </a:solidFill>
                <a:latin typeface="Calibri"/>
              </a:rPr>
              <a:t>•  Earn more: junior analysts earn ₦150,000+ a month</a:t>
            </a:r>
          </a:p>
          <a:p>
            <a:pPr>
              <a:spcAft>
                <a:spcPts val="600"/>
              </a:spcAft>
            </a:pPr>
            <a:r>
              <a:rPr sz="1600" b="0">
                <a:solidFill>
                  <a:srgbClr val="1C2430"/>
                </a:solidFill>
                <a:latin typeface="Calibri"/>
              </a:rPr>
              <a:t>•  Learn a skill that will not go out of date</a:t>
            </a:r>
          </a:p>
        </p:txBody>
      </p:sp>
      <p:sp>
        <p:nvSpPr>
          <p:cNvPr id="12" name="Rectangle 11"/>
          <p:cNvSpPr/>
          <p:nvPr/>
        </p:nvSpPr>
        <p:spPr>
          <a:xfrm>
            <a:off x="621030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0300" y="1920240"/>
            <a:ext cx="5250180" cy="457200"/>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Frustrations</a:t>
            </a:r>
          </a:p>
        </p:txBody>
      </p:sp>
      <p:sp>
        <p:nvSpPr>
          <p:cNvPr id="14" name="TextBox 13"/>
          <p:cNvSpPr txBox="1"/>
          <p:nvPr/>
        </p:nvSpPr>
        <p:spPr>
          <a:xfrm>
            <a:off x="6347460" y="2487168"/>
            <a:ext cx="4975860" cy="1371600"/>
          </a:xfrm>
          <a:prstGeom prst="rect">
            <a:avLst/>
          </a:prstGeom>
          <a:noFill/>
        </p:spPr>
        <p:txBody>
          <a:bodyPr wrap="square">
            <a:spAutoFit/>
          </a:bodyPr>
          <a:lstStyle/>
          <a:p>
            <a:pPr>
              <a:spcAft>
                <a:spcPts val="600"/>
              </a:spcAft>
            </a:pPr>
            <a:r>
              <a:rPr sz="1600" b="0">
                <a:solidFill>
                  <a:srgbClr val="1C2430"/>
                </a:solidFill>
                <a:latin typeface="Calibri"/>
              </a:rPr>
              <a:t>•  Does not know where to start</a:t>
            </a:r>
          </a:p>
          <a:p>
            <a:pPr>
              <a:spcAft>
                <a:spcPts val="600"/>
              </a:spcAft>
            </a:pPr>
            <a:r>
              <a:rPr sz="1600" b="0">
                <a:solidFill>
                  <a:srgbClr val="1C2430"/>
                </a:solidFill>
                <a:latin typeface="Calibri"/>
              </a:rPr>
              <a:t>•  Afraid of paying for a scam course</a:t>
            </a:r>
          </a:p>
          <a:p>
            <a:pPr>
              <a:spcAft>
                <a:spcPts val="600"/>
              </a:spcAft>
            </a:pPr>
            <a:r>
              <a:rPr sz="1600" b="0">
                <a:solidFill>
                  <a:srgbClr val="1C2430"/>
                </a:solidFill>
                <a:latin typeface="Calibri"/>
              </a:rPr>
              <a:t>•  Works 8 to 5; free programmes are full</a:t>
            </a:r>
          </a:p>
        </p:txBody>
      </p:sp>
      <p:sp>
        <p:nvSpPr>
          <p:cNvPr id="15" name="Rectangle 14"/>
          <p:cNvSpPr/>
          <p:nvPr/>
        </p:nvSpPr>
        <p:spPr>
          <a:xfrm>
            <a:off x="73152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160520"/>
            <a:ext cx="5250180" cy="45720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Needs</a:t>
            </a:r>
          </a:p>
        </p:txBody>
      </p:sp>
      <p:sp>
        <p:nvSpPr>
          <p:cNvPr id="17" name="TextBox 16"/>
          <p:cNvSpPr txBox="1"/>
          <p:nvPr/>
        </p:nvSpPr>
        <p:spPr>
          <a:xfrm>
            <a:off x="868680" y="4727448"/>
            <a:ext cx="4975860" cy="1371600"/>
          </a:xfrm>
          <a:prstGeom prst="rect">
            <a:avLst/>
          </a:prstGeom>
          <a:noFill/>
        </p:spPr>
        <p:txBody>
          <a:bodyPr wrap="square">
            <a:spAutoFit/>
          </a:bodyPr>
          <a:lstStyle/>
          <a:p>
            <a:pPr>
              <a:spcAft>
                <a:spcPts val="600"/>
              </a:spcAft>
            </a:pPr>
            <a:r>
              <a:rPr sz="1600" b="0">
                <a:solidFill>
                  <a:srgbClr val="1C2430"/>
                </a:solidFill>
                <a:latin typeface="Calibri"/>
              </a:rPr>
              <a:t>•  Hands-on labs at weekends</a:t>
            </a:r>
          </a:p>
          <a:p>
            <a:pPr>
              <a:spcAft>
                <a:spcPts val="600"/>
              </a:spcAft>
            </a:pPr>
            <a:r>
              <a:rPr sz="1600" b="0">
                <a:solidFill>
                  <a:srgbClr val="1C2430"/>
                </a:solidFill>
                <a:latin typeface="Calibri"/>
              </a:rPr>
              <a:t>•  A fair price in 3 parts</a:t>
            </a:r>
          </a:p>
          <a:p>
            <a:pPr>
              <a:spcAft>
                <a:spcPts val="600"/>
              </a:spcAft>
            </a:pPr>
            <a:r>
              <a:rPr sz="1600" b="0">
                <a:solidFill>
                  <a:srgbClr val="1C2430"/>
                </a:solidFill>
                <a:latin typeface="Calibri"/>
              </a:rPr>
              <a:t>•  Help when stuck and a route to a job</a:t>
            </a:r>
          </a:p>
        </p:txBody>
      </p:sp>
      <p:sp>
        <p:nvSpPr>
          <p:cNvPr id="18" name="Rectangle 17"/>
          <p:cNvSpPr/>
          <p:nvPr/>
        </p:nvSpPr>
        <p:spPr>
          <a:xfrm>
            <a:off x="621030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0300" y="4160520"/>
            <a:ext cx="5250180" cy="457200"/>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1C2430"/>
                </a:solidFill>
                <a:latin typeface="Calibri"/>
              </a:rPr>
              <a:t>Where to reach Tunde</a:t>
            </a:r>
          </a:p>
        </p:txBody>
      </p:sp>
      <p:sp>
        <p:nvSpPr>
          <p:cNvPr id="20" name="TextBox 19"/>
          <p:cNvSpPr txBox="1"/>
          <p:nvPr/>
        </p:nvSpPr>
        <p:spPr>
          <a:xfrm>
            <a:off x="6347460" y="4727448"/>
            <a:ext cx="4975860" cy="1371600"/>
          </a:xfrm>
          <a:prstGeom prst="rect">
            <a:avLst/>
          </a:prstGeom>
          <a:noFill/>
        </p:spPr>
        <p:txBody>
          <a:bodyPr wrap="square">
            <a:spAutoFit/>
          </a:bodyPr>
          <a:lstStyle/>
          <a:p>
            <a:pPr>
              <a:spcAft>
                <a:spcPts val="600"/>
              </a:spcAft>
            </a:pPr>
            <a:r>
              <a:rPr sz="1600" b="0">
                <a:solidFill>
                  <a:srgbClr val="1C2430"/>
                </a:solidFill>
                <a:latin typeface="Calibri"/>
              </a:rPr>
              <a:t>•  Google, YouTube and TikTok</a:t>
            </a:r>
          </a:p>
          <a:p>
            <a:pPr>
              <a:spcAft>
                <a:spcPts val="600"/>
              </a:spcAft>
            </a:pPr>
            <a:r>
              <a:rPr sz="1600" b="0">
                <a:solidFill>
                  <a:srgbClr val="1C2430"/>
                </a:solidFill>
                <a:latin typeface="Calibri"/>
              </a:rPr>
              <a:t>•  Facebook groups and WhatsApp</a:t>
            </a:r>
          </a:p>
          <a:p>
            <a:pPr>
              <a:spcAft>
                <a:spcPts val="600"/>
              </a:spcAft>
            </a:pPr>
            <a:r>
              <a:rPr sz="1600" b="0">
                <a:solidFill>
                  <a:srgbClr val="1C2430"/>
                </a:solidFill>
                <a:latin typeface="Calibri"/>
              </a:rPr>
              <a:t>•  LinkedIn for jobs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What makes Tunde buy</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1  ·  CUSTOMER PERSONA</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Buying triggers, objections and our answers, how Tunde chooses and pays</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7</a:t>
            </a:r>
          </a:p>
        </p:txBody>
      </p:sp>
      <p:sp>
        <p:nvSpPr>
          <p:cNvPr id="9" name="Rectangle 8"/>
          <p:cNvSpPr/>
          <p:nvPr/>
        </p:nvSpPr>
        <p:spPr>
          <a:xfrm>
            <a:off x="73152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5250180" cy="45720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Buying triggers</a:t>
            </a:r>
          </a:p>
        </p:txBody>
      </p:sp>
      <p:sp>
        <p:nvSpPr>
          <p:cNvPr id="11" name="TextBox 10"/>
          <p:cNvSpPr txBox="1"/>
          <p:nvPr/>
        </p:nvSpPr>
        <p:spPr>
          <a:xfrm>
            <a:off x="868680" y="2487168"/>
            <a:ext cx="4975860" cy="1371600"/>
          </a:xfrm>
          <a:prstGeom prst="rect">
            <a:avLst/>
          </a:prstGeom>
          <a:noFill/>
        </p:spPr>
        <p:txBody>
          <a:bodyPr wrap="square">
            <a:spAutoFit/>
          </a:bodyPr>
          <a:lstStyle/>
          <a:p>
            <a:pPr>
              <a:spcAft>
                <a:spcPts val="600"/>
              </a:spcAft>
            </a:pPr>
            <a:r>
              <a:rPr sz="1500" b="0">
                <a:solidFill>
                  <a:srgbClr val="1C2430"/>
                </a:solidFill>
                <a:latin typeface="Calibri"/>
              </a:rPr>
              <a:t>•  News of a big data breach, like the CAC breach</a:t>
            </a:r>
          </a:p>
          <a:p>
            <a:pPr>
              <a:spcAft>
                <a:spcPts val="600"/>
              </a:spcAft>
            </a:pPr>
            <a:r>
              <a:rPr sz="1500" b="0">
                <a:solidFill>
                  <a:srgbClr val="1C2430"/>
                </a:solidFill>
                <a:latin typeface="Calibri"/>
              </a:rPr>
              <a:t>•  A friend who moved into a tech job</a:t>
            </a:r>
          </a:p>
          <a:p>
            <a:pPr>
              <a:spcAft>
                <a:spcPts val="600"/>
              </a:spcAft>
            </a:pPr>
            <a:r>
              <a:rPr sz="1500" b="0">
                <a:solidFill>
                  <a:srgbClr val="1C2430"/>
                </a:solidFill>
                <a:latin typeface="Calibri"/>
              </a:rPr>
              <a:t>•  A free first class or a deadline to enrol</a:t>
            </a:r>
          </a:p>
        </p:txBody>
      </p:sp>
      <p:sp>
        <p:nvSpPr>
          <p:cNvPr id="12" name="Rectangle 11"/>
          <p:cNvSpPr/>
          <p:nvPr/>
        </p:nvSpPr>
        <p:spPr>
          <a:xfrm>
            <a:off x="621030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0300" y="1920240"/>
            <a:ext cx="5250180" cy="457200"/>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Objections, and our answer</a:t>
            </a:r>
          </a:p>
        </p:txBody>
      </p:sp>
      <p:sp>
        <p:nvSpPr>
          <p:cNvPr id="14" name="TextBox 13"/>
          <p:cNvSpPr txBox="1"/>
          <p:nvPr/>
        </p:nvSpPr>
        <p:spPr>
          <a:xfrm>
            <a:off x="6347460" y="2487168"/>
            <a:ext cx="4975860" cy="1371600"/>
          </a:xfrm>
          <a:prstGeom prst="rect">
            <a:avLst/>
          </a:prstGeom>
          <a:noFill/>
        </p:spPr>
        <p:txBody>
          <a:bodyPr wrap="square">
            <a:spAutoFit/>
          </a:bodyPr>
          <a:lstStyle/>
          <a:p>
            <a:pPr>
              <a:spcAft>
                <a:spcPts val="600"/>
              </a:spcAft>
            </a:pPr>
            <a:r>
              <a:rPr sz="1500" b="0">
                <a:solidFill>
                  <a:srgbClr val="1C2430"/>
                </a:solidFill>
                <a:latin typeface="Calibri"/>
              </a:rPr>
              <a:t>•  “Is it a scam?”  Real reviews and a free first class</a:t>
            </a:r>
          </a:p>
          <a:p>
            <a:pPr>
              <a:spcAft>
                <a:spcPts val="600"/>
              </a:spcAft>
            </a:pPr>
            <a:r>
              <a:rPr sz="1500" b="0">
                <a:solidFill>
                  <a:srgbClr val="1C2430"/>
                </a:solidFill>
                <a:latin typeface="Calibri"/>
              </a:rPr>
              <a:t>•  “Can I fit it round work?”  Evenings, weekends and recordings</a:t>
            </a:r>
          </a:p>
          <a:p>
            <a:pPr>
              <a:spcAft>
                <a:spcPts val="600"/>
              </a:spcAft>
            </a:pPr>
            <a:r>
              <a:rPr sz="1500" b="0">
                <a:solidFill>
                  <a:srgbClr val="1C2430"/>
                </a:solidFill>
                <a:latin typeface="Calibri"/>
              </a:rPr>
              <a:t>•  “Will I get a job?”  Exam prep, CV help, employers</a:t>
            </a:r>
          </a:p>
        </p:txBody>
      </p:sp>
      <p:sp>
        <p:nvSpPr>
          <p:cNvPr id="15" name="Rectangle 14"/>
          <p:cNvSpPr/>
          <p:nvPr/>
        </p:nvSpPr>
        <p:spPr>
          <a:xfrm>
            <a:off x="73152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160520"/>
            <a:ext cx="5250180" cy="457200"/>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How Tunde chooses</a:t>
            </a:r>
          </a:p>
        </p:txBody>
      </p:sp>
      <p:sp>
        <p:nvSpPr>
          <p:cNvPr id="17" name="TextBox 16"/>
          <p:cNvSpPr txBox="1"/>
          <p:nvPr/>
        </p:nvSpPr>
        <p:spPr>
          <a:xfrm>
            <a:off x="868680" y="4727448"/>
            <a:ext cx="4975860" cy="1371600"/>
          </a:xfrm>
          <a:prstGeom prst="rect">
            <a:avLst/>
          </a:prstGeom>
          <a:noFill/>
        </p:spPr>
        <p:txBody>
          <a:bodyPr wrap="square">
            <a:spAutoFit/>
          </a:bodyPr>
          <a:lstStyle/>
          <a:p>
            <a:pPr>
              <a:spcAft>
                <a:spcPts val="600"/>
              </a:spcAft>
            </a:pPr>
            <a:r>
              <a:rPr sz="1500" b="0">
                <a:solidFill>
                  <a:srgbClr val="1C2430"/>
                </a:solidFill>
                <a:latin typeface="Calibri"/>
              </a:rPr>
              <a:t>•  Hands-on labs and real tools</a:t>
            </a:r>
          </a:p>
          <a:p>
            <a:pPr>
              <a:spcAft>
                <a:spcPts val="600"/>
              </a:spcAft>
            </a:pPr>
            <a:r>
              <a:rPr sz="1500" b="0">
                <a:solidFill>
                  <a:srgbClr val="1C2430"/>
                </a:solidFill>
                <a:latin typeface="Calibri"/>
              </a:rPr>
              <a:t>•  The full price and a payment plan</a:t>
            </a:r>
          </a:p>
          <a:p>
            <a:pPr>
              <a:spcAft>
                <a:spcPts val="600"/>
              </a:spcAft>
            </a:pPr>
            <a:r>
              <a:rPr sz="1500" b="0">
                <a:solidFill>
                  <a:srgbClr val="1C2430"/>
                </a:solidFill>
                <a:latin typeface="Calibri"/>
              </a:rPr>
              <a:t>•  Reviews from past learners</a:t>
            </a:r>
          </a:p>
          <a:p>
            <a:pPr>
              <a:spcAft>
                <a:spcPts val="600"/>
              </a:spcAft>
            </a:pPr>
            <a:r>
              <a:rPr sz="1500" b="0">
                <a:solidFill>
                  <a:srgbClr val="1C2430"/>
                </a:solidFill>
                <a:latin typeface="Calibri"/>
              </a:rPr>
              <a:t>•  A recognised certificate</a:t>
            </a:r>
          </a:p>
        </p:txBody>
      </p:sp>
      <p:sp>
        <p:nvSpPr>
          <p:cNvPr id="18" name="Rectangle 17"/>
          <p:cNvSpPr/>
          <p:nvPr/>
        </p:nvSpPr>
        <p:spPr>
          <a:xfrm>
            <a:off x="621030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0300" y="4160520"/>
            <a:ext cx="5250180" cy="457200"/>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1C2430"/>
                </a:solidFill>
                <a:latin typeface="Calibri"/>
              </a:rPr>
              <a:t>How Tunde pays</a:t>
            </a:r>
          </a:p>
        </p:txBody>
      </p:sp>
      <p:sp>
        <p:nvSpPr>
          <p:cNvPr id="20" name="TextBox 19"/>
          <p:cNvSpPr txBox="1"/>
          <p:nvPr/>
        </p:nvSpPr>
        <p:spPr>
          <a:xfrm>
            <a:off x="6347460" y="4727448"/>
            <a:ext cx="4975860" cy="1371600"/>
          </a:xfrm>
          <a:prstGeom prst="rect">
            <a:avLst/>
          </a:prstGeom>
          <a:noFill/>
        </p:spPr>
        <p:txBody>
          <a:bodyPr wrap="square">
            <a:spAutoFit/>
          </a:bodyPr>
          <a:lstStyle/>
          <a:p>
            <a:pPr>
              <a:spcAft>
                <a:spcPts val="600"/>
              </a:spcAft>
            </a:pPr>
            <a:r>
              <a:rPr sz="1500" b="0">
                <a:solidFill>
                  <a:srgbClr val="1C2430"/>
                </a:solidFill>
                <a:latin typeface="Calibri"/>
              </a:rPr>
              <a:t>•  ₦150,000 in 3 parts of ₦50,000</a:t>
            </a:r>
          </a:p>
          <a:p>
            <a:pPr>
              <a:spcAft>
                <a:spcPts val="600"/>
              </a:spcAft>
            </a:pPr>
            <a:r>
              <a:rPr sz="1500" b="0">
                <a:solidFill>
                  <a:srgbClr val="1C2430"/>
                </a:solidFill>
                <a:latin typeface="Calibri"/>
              </a:rPr>
              <a:t>•  Pays from salary, a part each month</a:t>
            </a:r>
          </a:p>
          <a:p>
            <a:pPr>
              <a:spcAft>
                <a:spcPts val="600"/>
              </a:spcAft>
            </a:pPr>
            <a:r>
              <a:rPr sz="1500" b="0">
                <a:solidFill>
                  <a:srgbClr val="1C2430"/>
                </a:solidFill>
                <a:latin typeface="Calibri"/>
              </a:rPr>
              <a:t>•  Decides alone; asks friends on WhatsApp first</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02</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Customer Journey Map</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From first hearing about the course to a new job</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2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From curiosity to a new job: Tunde's journey</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2  ·  CUSTOMER JOURNEY MAP</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What Tunde does at each stage, where, what Tunde thinks, and how it feels</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9</a:t>
            </a:r>
          </a:p>
        </p:txBody>
      </p:sp>
      <p:sp>
        <p:nvSpPr>
          <p:cNvPr id="9" name="Pentagon 8"/>
          <p:cNvSpPr/>
          <p:nvPr/>
        </p:nvSpPr>
        <p:spPr>
          <a:xfrm>
            <a:off x="2112264" y="1920240"/>
            <a:ext cx="1953768" cy="457200"/>
          </a:xfrm>
          <a:prstGeom prst="homePlat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Awareness</a:t>
            </a:r>
          </a:p>
        </p:txBody>
      </p:sp>
      <p:sp>
        <p:nvSpPr>
          <p:cNvPr id="10" name="Chevron 9"/>
          <p:cNvSpPr/>
          <p:nvPr/>
        </p:nvSpPr>
        <p:spPr>
          <a:xfrm>
            <a:off x="4011168" y="1920240"/>
            <a:ext cx="1953768" cy="457200"/>
          </a:xfrm>
          <a:prstGeom prst="chevron">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Consideration</a:t>
            </a:r>
          </a:p>
        </p:txBody>
      </p:sp>
      <p:sp>
        <p:nvSpPr>
          <p:cNvPr id="11" name="Chevron 10"/>
          <p:cNvSpPr/>
          <p:nvPr/>
        </p:nvSpPr>
        <p:spPr>
          <a:xfrm>
            <a:off x="5910072" y="1920240"/>
            <a:ext cx="1953768" cy="457200"/>
          </a:xfrm>
          <a:prstGeom prst="chevron">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1C2430"/>
                </a:solidFill>
                <a:latin typeface="Calibri"/>
              </a:rPr>
              <a:t>Purchase</a:t>
            </a:r>
          </a:p>
        </p:txBody>
      </p:sp>
      <p:sp>
        <p:nvSpPr>
          <p:cNvPr id="12" name="Chevron 11"/>
          <p:cNvSpPr/>
          <p:nvPr/>
        </p:nvSpPr>
        <p:spPr>
          <a:xfrm>
            <a:off x="7808976" y="1920240"/>
            <a:ext cx="1953768" cy="457200"/>
          </a:xfrm>
          <a:prstGeom prst="chevron">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Learning</a:t>
            </a:r>
          </a:p>
        </p:txBody>
      </p:sp>
      <p:sp>
        <p:nvSpPr>
          <p:cNvPr id="13" name="Chevron 12"/>
          <p:cNvSpPr/>
          <p:nvPr/>
        </p:nvSpPr>
        <p:spPr>
          <a:xfrm>
            <a:off x="9707880" y="1920240"/>
            <a:ext cx="1844040" cy="457200"/>
          </a:xfrm>
          <a:prstGeom prst="chevron">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After the course</a:t>
            </a:r>
          </a:p>
        </p:txBody>
      </p:sp>
      <p:sp>
        <p:nvSpPr>
          <p:cNvPr id="14" name="Rectangle 13"/>
          <p:cNvSpPr/>
          <p:nvPr/>
        </p:nvSpPr>
        <p:spPr>
          <a:xfrm>
            <a:off x="640080" y="2450592"/>
            <a:ext cx="1417320" cy="804672"/>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0B2545"/>
                </a:solidFill>
                <a:latin typeface="Calibri"/>
              </a:rPr>
              <a:t>Doing</a:t>
            </a:r>
          </a:p>
        </p:txBody>
      </p:sp>
      <p:sp>
        <p:nvSpPr>
          <p:cNvPr id="15" name="Rectangle 14"/>
          <p:cNvSpPr/>
          <p:nvPr/>
        </p:nvSpPr>
        <p:spPr>
          <a:xfrm>
            <a:off x="2112264" y="2450592"/>
            <a:ext cx="184404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Sees breach news and a TikTok video on cyber careers</a:t>
            </a:r>
          </a:p>
        </p:txBody>
      </p:sp>
      <p:sp>
        <p:nvSpPr>
          <p:cNvPr id="16" name="Rectangle 15"/>
          <p:cNvSpPr/>
          <p:nvPr/>
        </p:nvSpPr>
        <p:spPr>
          <a:xfrm>
            <a:off x="4011168" y="2450592"/>
            <a:ext cx="184404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Compares courses, reads reviews, asks in WhatsApp groups</a:t>
            </a:r>
          </a:p>
        </p:txBody>
      </p:sp>
      <p:sp>
        <p:nvSpPr>
          <p:cNvPr id="17" name="Rectangle 16"/>
          <p:cNvSpPr/>
          <p:nvPr/>
        </p:nvSpPr>
        <p:spPr>
          <a:xfrm>
            <a:off x="5910072" y="2450592"/>
            <a:ext cx="184404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Joins the free first class, pays the first part</a:t>
            </a:r>
          </a:p>
        </p:txBody>
      </p:sp>
      <p:sp>
        <p:nvSpPr>
          <p:cNvPr id="18" name="Rectangle 17"/>
          <p:cNvSpPr/>
          <p:nvPr/>
        </p:nvSpPr>
        <p:spPr>
          <a:xfrm>
            <a:off x="7808976" y="2450592"/>
            <a:ext cx="184404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Attends classes and weekend labs, takes the exam</a:t>
            </a:r>
          </a:p>
        </p:txBody>
      </p:sp>
      <p:sp>
        <p:nvSpPr>
          <p:cNvPr id="19" name="Rectangle 18"/>
          <p:cNvSpPr/>
          <p:nvPr/>
        </p:nvSpPr>
        <p:spPr>
          <a:xfrm>
            <a:off x="9707880" y="2450592"/>
            <a:ext cx="184404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Applies for jobs, shares the result, refers friends</a:t>
            </a:r>
          </a:p>
        </p:txBody>
      </p:sp>
      <p:sp>
        <p:nvSpPr>
          <p:cNvPr id="20" name="Rectangle 19"/>
          <p:cNvSpPr/>
          <p:nvPr/>
        </p:nvSpPr>
        <p:spPr>
          <a:xfrm>
            <a:off x="640080" y="3310128"/>
            <a:ext cx="1417320" cy="658368"/>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0B2545"/>
                </a:solidFill>
                <a:latin typeface="Calibri"/>
              </a:rPr>
              <a:t>Touchpoints</a:t>
            </a:r>
          </a:p>
        </p:txBody>
      </p:sp>
      <p:sp>
        <p:nvSpPr>
          <p:cNvPr id="21" name="Rectangle 20"/>
          <p:cNvSpPr/>
          <p:nvPr/>
        </p:nvSpPr>
        <p:spPr>
          <a:xfrm>
            <a:off x="2112264" y="3310128"/>
            <a:ext cx="1844040" cy="658368"/>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TikTok, Facebook adverts, Google search</a:t>
            </a:r>
          </a:p>
        </p:txBody>
      </p:sp>
      <p:sp>
        <p:nvSpPr>
          <p:cNvPr id="22" name="Rectangle 21"/>
          <p:cNvSpPr/>
          <p:nvPr/>
        </p:nvSpPr>
        <p:spPr>
          <a:xfrm>
            <a:off x="4011168" y="3310128"/>
            <a:ext cx="1844040" cy="658368"/>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Website, Google and Trustpilot reviews, WhatsApp</a:t>
            </a:r>
          </a:p>
        </p:txBody>
      </p:sp>
      <p:sp>
        <p:nvSpPr>
          <p:cNvPr id="23" name="Rectangle 22"/>
          <p:cNvSpPr/>
          <p:nvPr/>
        </p:nvSpPr>
        <p:spPr>
          <a:xfrm>
            <a:off x="5910072" y="3310128"/>
            <a:ext cx="1844040" cy="658368"/>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Free class, online payment plan</a:t>
            </a:r>
          </a:p>
        </p:txBody>
      </p:sp>
      <p:sp>
        <p:nvSpPr>
          <p:cNvPr id="24" name="Rectangle 23"/>
          <p:cNvSpPr/>
          <p:nvPr/>
        </p:nvSpPr>
        <p:spPr>
          <a:xfrm>
            <a:off x="7808976" y="3310128"/>
            <a:ext cx="1844040" cy="658368"/>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Learning platform, Lagos lab, mentor</a:t>
            </a:r>
          </a:p>
        </p:txBody>
      </p:sp>
      <p:sp>
        <p:nvSpPr>
          <p:cNvPr id="25" name="Rectangle 24"/>
          <p:cNvSpPr/>
          <p:nvPr/>
        </p:nvSpPr>
        <p:spPr>
          <a:xfrm>
            <a:off x="9707880" y="3310128"/>
            <a:ext cx="1844040" cy="658368"/>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Career help, LinkedIn, alumni group</a:t>
            </a:r>
          </a:p>
        </p:txBody>
      </p:sp>
      <p:sp>
        <p:nvSpPr>
          <p:cNvPr id="26" name="Rectangle 25"/>
          <p:cNvSpPr/>
          <p:nvPr/>
        </p:nvSpPr>
        <p:spPr>
          <a:xfrm>
            <a:off x="640080" y="4023360"/>
            <a:ext cx="1417320" cy="768096"/>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0B2545"/>
                </a:solidFill>
                <a:latin typeface="Calibri"/>
              </a:rPr>
              <a:t>Thinking and feeling</a:t>
            </a:r>
          </a:p>
        </p:txBody>
      </p:sp>
      <p:sp>
        <p:nvSpPr>
          <p:cNvPr id="27" name="Rectangle 26"/>
          <p:cNvSpPr/>
          <p:nvPr/>
        </p:nvSpPr>
        <p:spPr>
          <a:xfrm>
            <a:off x="2112264" y="4023360"/>
            <a:ext cx="1844040" cy="76809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“Can I do this without IT?” Curious but unsure</a:t>
            </a:r>
          </a:p>
        </p:txBody>
      </p:sp>
      <p:sp>
        <p:nvSpPr>
          <p:cNvPr id="28" name="Rectangle 27"/>
          <p:cNvSpPr/>
          <p:nvPr/>
        </p:nvSpPr>
        <p:spPr>
          <a:xfrm>
            <a:off x="4011168" y="4023360"/>
            <a:ext cx="1844040" cy="76809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“Is this a scam?” Anxious</a:t>
            </a:r>
          </a:p>
        </p:txBody>
      </p:sp>
      <p:sp>
        <p:nvSpPr>
          <p:cNvPr id="29" name="Rectangle 28"/>
          <p:cNvSpPr/>
          <p:nvPr/>
        </p:nvSpPr>
        <p:spPr>
          <a:xfrm>
            <a:off x="5910072" y="4023360"/>
            <a:ext cx="1844040" cy="76809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“I hope it's worth it.” Hopeful, nervous</a:t>
            </a:r>
          </a:p>
        </p:txBody>
      </p:sp>
      <p:sp>
        <p:nvSpPr>
          <p:cNvPr id="30" name="Rectangle 29"/>
          <p:cNvSpPr/>
          <p:nvPr/>
        </p:nvSpPr>
        <p:spPr>
          <a:xfrm>
            <a:off x="7808976" y="4023360"/>
            <a:ext cx="1844040" cy="76809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“Hard, but I'm getting it.” Proud</a:t>
            </a:r>
          </a:p>
        </p:txBody>
      </p:sp>
      <p:sp>
        <p:nvSpPr>
          <p:cNvPr id="31" name="Rectangle 30"/>
          <p:cNvSpPr/>
          <p:nvPr/>
        </p:nvSpPr>
        <p:spPr>
          <a:xfrm>
            <a:off x="9707880" y="4023360"/>
            <a:ext cx="1844040" cy="768096"/>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a:solidFill>
                  <a:srgbClr val="1C2430"/>
                </a:solidFill>
                <a:latin typeface="Calibri"/>
              </a:rPr>
              <a:t>“I got the job!” Relieved and proud</a:t>
            </a:r>
          </a:p>
        </p:txBody>
      </p:sp>
      <p:sp>
        <p:nvSpPr>
          <p:cNvPr id="32" name="Rectangle 31"/>
          <p:cNvSpPr/>
          <p:nvPr/>
        </p:nvSpPr>
        <p:spPr>
          <a:xfrm>
            <a:off x="640080" y="4846320"/>
            <a:ext cx="1417320" cy="1325880"/>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0B2545"/>
                </a:solidFill>
                <a:latin typeface="Calibri"/>
              </a:rPr>
              <a:t>Feeling (1-5)</a:t>
            </a:r>
          </a:p>
        </p:txBody>
      </p:sp>
      <p:sp>
        <p:nvSpPr>
          <p:cNvPr id="33" name="Rectangle 32"/>
          <p:cNvSpPr/>
          <p:nvPr/>
        </p:nvSpPr>
        <p:spPr>
          <a:xfrm>
            <a:off x="2112264" y="4846320"/>
            <a:ext cx="9439656" cy="13258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034284" y="5618988"/>
            <a:ext cx="1898904" cy="194310"/>
          </a:xfrm>
          <a:prstGeom prst="line">
            <a:avLst/>
          </a:prstGeom>
          <a:ln w="38100">
            <a:solidFill>
              <a:srgbClr val="1F6F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933188" y="5618988"/>
            <a:ext cx="1898904" cy="194310"/>
          </a:xfrm>
          <a:prstGeom prst="line">
            <a:avLst/>
          </a:prstGeom>
          <a:ln w="38100">
            <a:solidFill>
              <a:srgbClr val="1F6FB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832092" y="5424678"/>
            <a:ext cx="1898904" cy="194310"/>
          </a:xfrm>
          <a:prstGeom prst="line">
            <a:avLst/>
          </a:prstGeom>
          <a:ln w="38100">
            <a:solidFill>
              <a:srgbClr val="1F6F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730996" y="5230368"/>
            <a:ext cx="1898904" cy="194310"/>
          </a:xfrm>
          <a:prstGeom prst="line">
            <a:avLst/>
          </a:prstGeom>
          <a:ln w="38100">
            <a:solidFill>
              <a:srgbClr val="1F6FB2"/>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2906268" y="5490972"/>
            <a:ext cx="256032" cy="256032"/>
          </a:xfrm>
          <a:prstGeom prst="ellipse">
            <a:avLst/>
          </a:prstGeom>
          <a:solidFill>
            <a:srgbClr val="F4A25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805684" y="5161788"/>
            <a:ext cx="457200" cy="310896"/>
          </a:xfrm>
          <a:prstGeom prst="rect">
            <a:avLst/>
          </a:prstGeom>
          <a:noFill/>
        </p:spPr>
        <p:txBody>
          <a:bodyPr wrap="square">
            <a:spAutoFit/>
          </a:bodyPr>
          <a:lstStyle/>
          <a:p>
            <a:pPr algn="ctr"/>
            <a:r>
              <a:rPr sz="1300" b="1">
                <a:solidFill>
                  <a:srgbClr val="0B2545"/>
                </a:solidFill>
                <a:latin typeface="Calibri"/>
              </a:rPr>
              <a:t>3</a:t>
            </a:r>
          </a:p>
        </p:txBody>
      </p:sp>
      <p:sp>
        <p:nvSpPr>
          <p:cNvPr id="40" name="Oval 39"/>
          <p:cNvSpPr/>
          <p:nvPr/>
        </p:nvSpPr>
        <p:spPr>
          <a:xfrm>
            <a:off x="4805172" y="5685282"/>
            <a:ext cx="256032" cy="256032"/>
          </a:xfrm>
          <a:prstGeom prst="ellipse">
            <a:avLst/>
          </a:prstGeom>
          <a:solidFill>
            <a:srgbClr val="D1462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04588" y="5356098"/>
            <a:ext cx="457200" cy="310896"/>
          </a:xfrm>
          <a:prstGeom prst="rect">
            <a:avLst/>
          </a:prstGeom>
          <a:noFill/>
        </p:spPr>
        <p:txBody>
          <a:bodyPr wrap="square">
            <a:spAutoFit/>
          </a:bodyPr>
          <a:lstStyle/>
          <a:p>
            <a:pPr algn="ctr"/>
            <a:r>
              <a:rPr sz="1300" b="1">
                <a:solidFill>
                  <a:srgbClr val="0B2545"/>
                </a:solidFill>
                <a:latin typeface="Calibri"/>
              </a:rPr>
              <a:t>2</a:t>
            </a:r>
          </a:p>
        </p:txBody>
      </p:sp>
      <p:sp>
        <p:nvSpPr>
          <p:cNvPr id="42" name="Oval 41"/>
          <p:cNvSpPr/>
          <p:nvPr/>
        </p:nvSpPr>
        <p:spPr>
          <a:xfrm>
            <a:off x="6704076" y="5490972"/>
            <a:ext cx="256032" cy="256032"/>
          </a:xfrm>
          <a:prstGeom prst="ellipse">
            <a:avLst/>
          </a:prstGeom>
          <a:solidFill>
            <a:srgbClr val="F4A25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03492" y="5161788"/>
            <a:ext cx="457200" cy="310896"/>
          </a:xfrm>
          <a:prstGeom prst="rect">
            <a:avLst/>
          </a:prstGeom>
          <a:noFill/>
        </p:spPr>
        <p:txBody>
          <a:bodyPr wrap="square">
            <a:spAutoFit/>
          </a:bodyPr>
          <a:lstStyle/>
          <a:p>
            <a:pPr algn="ctr"/>
            <a:r>
              <a:rPr sz="1300" b="1">
                <a:solidFill>
                  <a:srgbClr val="0B2545"/>
                </a:solidFill>
                <a:latin typeface="Calibri"/>
              </a:rPr>
              <a:t>3</a:t>
            </a:r>
          </a:p>
        </p:txBody>
      </p:sp>
      <p:sp>
        <p:nvSpPr>
          <p:cNvPr id="44" name="Oval 43"/>
          <p:cNvSpPr/>
          <p:nvPr/>
        </p:nvSpPr>
        <p:spPr>
          <a:xfrm>
            <a:off x="8602980" y="5296662"/>
            <a:ext cx="256032" cy="256032"/>
          </a:xfrm>
          <a:prstGeom prst="ellipse">
            <a:avLst/>
          </a:prstGeom>
          <a:solidFill>
            <a:srgbClr val="168277"/>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2396" y="4967478"/>
            <a:ext cx="457200" cy="310896"/>
          </a:xfrm>
          <a:prstGeom prst="rect">
            <a:avLst/>
          </a:prstGeom>
          <a:noFill/>
        </p:spPr>
        <p:txBody>
          <a:bodyPr wrap="square">
            <a:spAutoFit/>
          </a:bodyPr>
          <a:lstStyle/>
          <a:p>
            <a:pPr algn="ctr"/>
            <a:r>
              <a:rPr sz="1300" b="1">
                <a:solidFill>
                  <a:srgbClr val="0B2545"/>
                </a:solidFill>
                <a:latin typeface="Calibri"/>
              </a:rPr>
              <a:t>4</a:t>
            </a:r>
          </a:p>
        </p:txBody>
      </p:sp>
      <p:sp>
        <p:nvSpPr>
          <p:cNvPr id="46" name="Oval 45"/>
          <p:cNvSpPr/>
          <p:nvPr/>
        </p:nvSpPr>
        <p:spPr>
          <a:xfrm>
            <a:off x="10501884" y="5102352"/>
            <a:ext cx="256032" cy="256032"/>
          </a:xfrm>
          <a:prstGeom prst="ellipse">
            <a:avLst/>
          </a:prstGeom>
          <a:solidFill>
            <a:srgbClr val="168277"/>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01300" y="4773168"/>
            <a:ext cx="457200" cy="310896"/>
          </a:xfrm>
          <a:prstGeom prst="rect">
            <a:avLst/>
          </a:prstGeom>
          <a:noFill/>
        </p:spPr>
        <p:txBody>
          <a:bodyPr wrap="square">
            <a:spAutoFit/>
          </a:bodyPr>
          <a:lstStyle/>
          <a:p>
            <a:pPr algn="ctr"/>
            <a:r>
              <a:rPr sz="1300" b="1">
                <a:solidFill>
                  <a:srgbClr val="0B2545"/>
                </a:solidFill>
                <a:latin typeface="Calibri"/>
              </a:rPr>
              <a:t>5</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right)">
                                      <p:cBhvr>
                                        <p:cTn id="21" dur="500"/>
                                        <p:tgtEl>
                                          <p:spTgt spid="9"/>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right)">
                                      <p:cBhvr>
                                        <p:cTn id="24" dur="500"/>
                                        <p:tgtEl>
                                          <p:spTgt spid="10"/>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right)">
                                      <p:cBhvr>
                                        <p:cTn id="27" dur="500"/>
                                        <p:tgtEl>
                                          <p:spTgt spid="11"/>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right)">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wipe(right)">
                                      <p:cBhvr>
                                        <p:cTn id="33" dur="500"/>
                                        <p:tgtEl>
                                          <p:spTgt spid="13"/>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500"/>
                                        <p:tgtEl>
                                          <p:spTgt spid="2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500"/>
                                        <p:tgtEl>
                                          <p:spTgt spid="2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50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500"/>
                                        <p:tgtEl>
                                          <p:spTgt spid="31"/>
                                        </p:tgtEl>
                                      </p:cBhvr>
                                    </p:animEffect>
                                  </p:childTnLst>
                                </p:cTn>
                              </p:par>
                            </p:childTnLst>
                          </p:cTn>
                        </p:par>
                        <p:par>
                          <p:cTn id="89" fill="hold">
                            <p:stCondLst>
                              <p:cond delay="2000"/>
                            </p:stCondLst>
                            <p:childTnLst>
                              <p:par>
                                <p:cTn id="90" presetID="10" presetClass="entr" presetSubtype="0" fill="hold" grpId="0" nodeType="after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childTnLst>
                          </p:cTn>
                        </p:par>
                        <p:par>
                          <p:cTn id="96" fill="hold">
                            <p:stCondLst>
                              <p:cond delay="2500"/>
                            </p:stCondLst>
                            <p:childTnLst>
                              <p:par>
                                <p:cTn id="97" presetID="22" presetClass="entr" presetSubtype="8" fill="hold" nodeType="after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wipe(right)">
                                      <p:cBhvr>
                                        <p:cTn id="99" dur="500"/>
                                        <p:tgtEl>
                                          <p:spTgt spid="34"/>
                                        </p:tgtEl>
                                      </p:cBhvr>
                                    </p:animEffect>
                                  </p:childTnLst>
                                </p:cTn>
                              </p:par>
                              <p:par>
                                <p:cTn id="100" presetID="22" presetClass="entr" presetSubtype="8"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wipe(right)">
                                      <p:cBhvr>
                                        <p:cTn id="102" dur="500"/>
                                        <p:tgtEl>
                                          <p:spTgt spid="35"/>
                                        </p:tgtEl>
                                      </p:cBhvr>
                                    </p:animEffect>
                                  </p:childTnLst>
                                </p:cTn>
                              </p:par>
                              <p:par>
                                <p:cTn id="103" presetID="22" presetClass="entr" presetSubtype="8"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wipe(right)">
                                      <p:cBhvr>
                                        <p:cTn id="105" dur="500"/>
                                        <p:tgtEl>
                                          <p:spTgt spid="36"/>
                                        </p:tgtEl>
                                      </p:cBhvr>
                                    </p:animEffect>
                                  </p:childTnLst>
                                </p:cTn>
                              </p:par>
                              <p:par>
                                <p:cTn id="106" presetID="22" presetClass="entr" presetSubtype="8"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wipe(right)">
                                      <p:cBhvr>
                                        <p:cTn id="108" dur="500"/>
                                        <p:tgtEl>
                                          <p:spTgt spid="37"/>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wipe(right)">
                                      <p:cBhvr>
                                        <p:cTn id="111" dur="500"/>
                                        <p:tgtEl>
                                          <p:spTgt spid="38"/>
                                        </p:tgtEl>
                                      </p:cBhvr>
                                    </p:animEffect>
                                  </p:childTnLst>
                                </p:cTn>
                              </p:par>
                              <p:par>
                                <p:cTn id="112" presetID="22" presetClass="entr" presetSubtype="8"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wipe(right)">
                                      <p:cBhvr>
                                        <p:cTn id="114" dur="500"/>
                                        <p:tgtEl>
                                          <p:spTgt spid="39"/>
                                        </p:tgtEl>
                                      </p:cBhvr>
                                    </p:animEffect>
                                  </p:childTnLst>
                                </p:cTn>
                              </p:par>
                              <p:par>
                                <p:cTn id="115" presetID="22" presetClass="entr" presetSubtype="8"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wipe(right)">
                                      <p:cBhvr>
                                        <p:cTn id="117" dur="500"/>
                                        <p:tgtEl>
                                          <p:spTgt spid="40"/>
                                        </p:tgtEl>
                                      </p:cBhvr>
                                    </p:animEffect>
                                  </p:childTnLst>
                                </p:cTn>
                              </p:par>
                              <p:par>
                                <p:cTn id="118" presetID="22" presetClass="entr" presetSubtype="8"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wipe(right)">
                                      <p:cBhvr>
                                        <p:cTn id="120" dur="500"/>
                                        <p:tgtEl>
                                          <p:spTgt spid="41"/>
                                        </p:tgtEl>
                                      </p:cBhvr>
                                    </p:animEffect>
                                  </p:childTnLst>
                                </p:cTn>
                              </p:par>
                              <p:par>
                                <p:cTn id="121" presetID="22" presetClass="entr" presetSubtype="8" fill="hold" grpId="0"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wipe(right)">
                                      <p:cBhvr>
                                        <p:cTn id="123" dur="500"/>
                                        <p:tgtEl>
                                          <p:spTgt spid="42"/>
                                        </p:tgtEl>
                                      </p:cBhvr>
                                    </p:animEffect>
                                  </p:childTnLst>
                                </p:cTn>
                              </p:par>
                              <p:par>
                                <p:cTn id="124" presetID="22" presetClass="entr" presetSubtype="8" fill="hold" grpId="0"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wipe(right)">
                                      <p:cBhvr>
                                        <p:cTn id="126" dur="500"/>
                                        <p:tgtEl>
                                          <p:spTgt spid="43"/>
                                        </p:tgtEl>
                                      </p:cBhvr>
                                    </p:animEffect>
                                  </p:childTnLst>
                                </p:cTn>
                              </p:par>
                              <p:par>
                                <p:cTn id="127" presetID="22" presetClass="entr" presetSubtype="8" fill="hold" grpId="0"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wipe(right)">
                                      <p:cBhvr>
                                        <p:cTn id="129" dur="500"/>
                                        <p:tgtEl>
                                          <p:spTgt spid="44"/>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wipe(right)">
                                      <p:cBhvr>
                                        <p:cTn id="132" dur="500"/>
                                        <p:tgtEl>
                                          <p:spTgt spid="45"/>
                                        </p:tgtEl>
                                      </p:cBhvr>
                                    </p:animEffect>
                                  </p:childTnLst>
                                </p:cTn>
                              </p:par>
                              <p:par>
                                <p:cTn id="133" presetID="22" presetClass="entr" presetSubtype="8"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wipe(right)">
                                      <p:cBhvr>
                                        <p:cTn id="135" dur="500"/>
                                        <p:tgtEl>
                                          <p:spTgt spid="46"/>
                                        </p:tgtEl>
                                      </p:cBhvr>
                                    </p:animEffect>
                                  </p:childTnLst>
                                </p:cTn>
                              </p:par>
                              <p:par>
                                <p:cTn id="136" presetID="22" presetClass="entr" presetSubtype="8"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wipe(right)">
                                      <p:cBhvr>
                                        <p:cTn id="138"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Every pain point is an opportunity</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2  ·  CUSTOMER JOURNEY MAP</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What goes wrong at each stage of the journey, and what SkillUp Academy will do</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10</a:t>
            </a:r>
          </a:p>
        </p:txBody>
      </p:sp>
      <p:sp>
        <p:nvSpPr>
          <p:cNvPr id="9" name="Pentagon 8"/>
          <p:cNvSpPr/>
          <p:nvPr/>
        </p:nvSpPr>
        <p:spPr>
          <a:xfrm>
            <a:off x="731520" y="1920240"/>
            <a:ext cx="2149449" cy="457200"/>
          </a:xfrm>
          <a:prstGeom prst="homePlat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Awareness</a:t>
            </a:r>
          </a:p>
        </p:txBody>
      </p:sp>
      <p:sp>
        <p:nvSpPr>
          <p:cNvPr id="10" name="Rectangle 9"/>
          <p:cNvSpPr/>
          <p:nvPr/>
        </p:nvSpPr>
        <p:spPr>
          <a:xfrm>
            <a:off x="731520" y="2514600"/>
            <a:ext cx="2058009" cy="1325880"/>
          </a:xfrm>
          <a:prstGeom prst="rect">
            <a:avLst/>
          </a:prstGeom>
          <a:solidFill>
            <a:srgbClr val="FBE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514600"/>
            <a:ext cx="2058009" cy="6400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651760"/>
            <a:ext cx="1875129" cy="274320"/>
          </a:xfrm>
          <a:prstGeom prst="rect">
            <a:avLst/>
          </a:prstGeom>
          <a:noFill/>
        </p:spPr>
        <p:txBody>
          <a:bodyPr wrap="square">
            <a:spAutoFit/>
          </a:bodyPr>
          <a:lstStyle/>
          <a:p>
            <a:r>
              <a:rPr sz="1000" b="1">
                <a:solidFill>
                  <a:srgbClr val="D1462F"/>
                </a:solidFill>
                <a:latin typeface="Calibri"/>
              </a:rPr>
              <a:t>PAIN POINT</a:t>
            </a:r>
          </a:p>
        </p:txBody>
      </p:sp>
      <p:sp>
        <p:nvSpPr>
          <p:cNvPr id="13" name="TextBox 12"/>
          <p:cNvSpPr txBox="1"/>
          <p:nvPr/>
        </p:nvSpPr>
        <p:spPr>
          <a:xfrm>
            <a:off x="822960" y="2926080"/>
            <a:ext cx="1875129" cy="868680"/>
          </a:xfrm>
          <a:prstGeom prst="rect">
            <a:avLst/>
          </a:prstGeom>
          <a:noFill/>
        </p:spPr>
        <p:txBody>
          <a:bodyPr wrap="square">
            <a:spAutoFit/>
          </a:bodyPr>
          <a:lstStyle/>
          <a:p>
            <a:r>
              <a:rPr sz="1400" b="0">
                <a:solidFill>
                  <a:srgbClr val="1C2430"/>
                </a:solidFill>
                <a:latin typeface="Calibri"/>
              </a:rPr>
              <a:t>No clear starting point</a:t>
            </a:r>
          </a:p>
        </p:txBody>
      </p:sp>
      <p:sp>
        <p:nvSpPr>
          <p:cNvPr id="14" name="Down Arrow 13"/>
          <p:cNvSpPr/>
          <p:nvPr/>
        </p:nvSpPr>
        <p:spPr>
          <a:xfrm>
            <a:off x="1577644" y="3931920"/>
            <a:ext cx="365760" cy="365760"/>
          </a:xfrm>
          <a:prstGeom prst="downArrow">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389119"/>
            <a:ext cx="2058009" cy="1691640"/>
          </a:xfrm>
          <a:prstGeom prst="rect">
            <a:avLst/>
          </a:prstGeom>
          <a:solidFill>
            <a:srgbClr val="E1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389119"/>
            <a:ext cx="2058009" cy="6400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26279"/>
            <a:ext cx="1875129" cy="274320"/>
          </a:xfrm>
          <a:prstGeom prst="rect">
            <a:avLst/>
          </a:prstGeom>
          <a:noFill/>
        </p:spPr>
        <p:txBody>
          <a:bodyPr wrap="square">
            <a:spAutoFit/>
          </a:bodyPr>
          <a:lstStyle/>
          <a:p>
            <a:r>
              <a:rPr sz="1000" b="1">
                <a:solidFill>
                  <a:srgbClr val="168277"/>
                </a:solidFill>
                <a:latin typeface="Calibri"/>
              </a:rPr>
              <a:t>OPPORTUNITY</a:t>
            </a:r>
          </a:p>
        </p:txBody>
      </p:sp>
      <p:sp>
        <p:nvSpPr>
          <p:cNvPr id="18" name="TextBox 17"/>
          <p:cNvSpPr txBox="1"/>
          <p:nvPr/>
        </p:nvSpPr>
        <p:spPr>
          <a:xfrm>
            <a:off x="822960" y="4800599"/>
            <a:ext cx="1875129" cy="1234440"/>
          </a:xfrm>
          <a:prstGeom prst="rect">
            <a:avLst/>
          </a:prstGeom>
          <a:noFill/>
        </p:spPr>
        <p:txBody>
          <a:bodyPr wrap="square">
            <a:spAutoFit/>
          </a:bodyPr>
          <a:lstStyle/>
          <a:p>
            <a:r>
              <a:rPr sz="1400" b="0">
                <a:solidFill>
                  <a:srgbClr val="1C2430"/>
                </a:solidFill>
                <a:latin typeface="Calibri"/>
              </a:rPr>
              <a:t>Beginner videos on TikTok and Google</a:t>
            </a:r>
          </a:p>
        </p:txBody>
      </p:sp>
      <p:sp>
        <p:nvSpPr>
          <p:cNvPr id="19" name="Chevron 18"/>
          <p:cNvSpPr/>
          <p:nvPr/>
        </p:nvSpPr>
        <p:spPr>
          <a:xfrm>
            <a:off x="2899257" y="1920240"/>
            <a:ext cx="2149449" cy="457200"/>
          </a:xfrm>
          <a:prstGeom prst="chevron">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Consideration</a:t>
            </a:r>
          </a:p>
        </p:txBody>
      </p:sp>
      <p:sp>
        <p:nvSpPr>
          <p:cNvPr id="20" name="Rectangle 19"/>
          <p:cNvSpPr/>
          <p:nvPr/>
        </p:nvSpPr>
        <p:spPr>
          <a:xfrm>
            <a:off x="2899257" y="2514600"/>
            <a:ext cx="2058009" cy="1325880"/>
          </a:xfrm>
          <a:prstGeom prst="rect">
            <a:avLst/>
          </a:prstGeom>
          <a:solidFill>
            <a:srgbClr val="FBE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899257" y="2514600"/>
            <a:ext cx="2058009" cy="6400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0697" y="2651760"/>
            <a:ext cx="1875129" cy="274320"/>
          </a:xfrm>
          <a:prstGeom prst="rect">
            <a:avLst/>
          </a:prstGeom>
          <a:noFill/>
        </p:spPr>
        <p:txBody>
          <a:bodyPr wrap="square">
            <a:spAutoFit/>
          </a:bodyPr>
          <a:lstStyle/>
          <a:p>
            <a:r>
              <a:rPr sz="1000" b="1">
                <a:solidFill>
                  <a:srgbClr val="D1462F"/>
                </a:solidFill>
                <a:latin typeface="Calibri"/>
              </a:rPr>
              <a:t>PAIN POINT</a:t>
            </a:r>
          </a:p>
        </p:txBody>
      </p:sp>
      <p:sp>
        <p:nvSpPr>
          <p:cNvPr id="23" name="TextBox 22"/>
          <p:cNvSpPr txBox="1"/>
          <p:nvPr/>
        </p:nvSpPr>
        <p:spPr>
          <a:xfrm>
            <a:off x="2990697" y="2926080"/>
            <a:ext cx="1875129" cy="868680"/>
          </a:xfrm>
          <a:prstGeom prst="rect">
            <a:avLst/>
          </a:prstGeom>
          <a:noFill/>
        </p:spPr>
        <p:txBody>
          <a:bodyPr wrap="square">
            <a:spAutoFit/>
          </a:bodyPr>
          <a:lstStyle/>
          <a:p>
            <a:r>
              <a:rPr sz="1400" b="0">
                <a:solidFill>
                  <a:srgbClr val="1C2430"/>
                </a:solidFill>
                <a:latin typeface="Calibri"/>
              </a:rPr>
              <a:t>Hidden prices, few reviews</a:t>
            </a:r>
          </a:p>
        </p:txBody>
      </p:sp>
      <p:sp>
        <p:nvSpPr>
          <p:cNvPr id="24" name="Down Arrow 23"/>
          <p:cNvSpPr/>
          <p:nvPr/>
        </p:nvSpPr>
        <p:spPr>
          <a:xfrm>
            <a:off x="3745381" y="3931920"/>
            <a:ext cx="365760" cy="365760"/>
          </a:xfrm>
          <a:prstGeom prst="downArrow">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899257" y="4389119"/>
            <a:ext cx="2058009" cy="1691640"/>
          </a:xfrm>
          <a:prstGeom prst="rect">
            <a:avLst/>
          </a:prstGeom>
          <a:solidFill>
            <a:srgbClr val="E1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99257" y="4389119"/>
            <a:ext cx="2058009" cy="6400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90697" y="4526279"/>
            <a:ext cx="1875129" cy="274320"/>
          </a:xfrm>
          <a:prstGeom prst="rect">
            <a:avLst/>
          </a:prstGeom>
          <a:noFill/>
        </p:spPr>
        <p:txBody>
          <a:bodyPr wrap="square">
            <a:spAutoFit/>
          </a:bodyPr>
          <a:lstStyle/>
          <a:p>
            <a:r>
              <a:rPr sz="1000" b="1">
                <a:solidFill>
                  <a:srgbClr val="168277"/>
                </a:solidFill>
                <a:latin typeface="Calibri"/>
              </a:rPr>
              <a:t>OPPORTUNITY</a:t>
            </a:r>
          </a:p>
        </p:txBody>
      </p:sp>
      <p:sp>
        <p:nvSpPr>
          <p:cNvPr id="28" name="TextBox 27"/>
          <p:cNvSpPr txBox="1"/>
          <p:nvPr/>
        </p:nvSpPr>
        <p:spPr>
          <a:xfrm>
            <a:off x="2990697" y="4800599"/>
            <a:ext cx="1875129" cy="1234440"/>
          </a:xfrm>
          <a:prstGeom prst="rect">
            <a:avLst/>
          </a:prstGeom>
          <a:noFill/>
        </p:spPr>
        <p:txBody>
          <a:bodyPr wrap="square">
            <a:spAutoFit/>
          </a:bodyPr>
          <a:lstStyle/>
          <a:p>
            <a:r>
              <a:rPr sz="1400" b="0">
                <a:solidFill>
                  <a:srgbClr val="1C2430"/>
                </a:solidFill>
                <a:latin typeface="Calibri"/>
              </a:rPr>
              <a:t>Publish prices and reviews; fast WhatsApp replies</a:t>
            </a:r>
          </a:p>
        </p:txBody>
      </p:sp>
      <p:sp>
        <p:nvSpPr>
          <p:cNvPr id="29" name="Chevron 28"/>
          <p:cNvSpPr/>
          <p:nvPr/>
        </p:nvSpPr>
        <p:spPr>
          <a:xfrm>
            <a:off x="5066994" y="1920240"/>
            <a:ext cx="2149449" cy="457200"/>
          </a:xfrm>
          <a:prstGeom prst="chevron">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1C2430"/>
                </a:solidFill>
                <a:latin typeface="Calibri"/>
              </a:rPr>
              <a:t>Purchase</a:t>
            </a:r>
          </a:p>
        </p:txBody>
      </p:sp>
      <p:sp>
        <p:nvSpPr>
          <p:cNvPr id="30" name="Rectangle 29"/>
          <p:cNvSpPr/>
          <p:nvPr/>
        </p:nvSpPr>
        <p:spPr>
          <a:xfrm>
            <a:off x="5066994" y="2514600"/>
            <a:ext cx="2058009" cy="1325880"/>
          </a:xfrm>
          <a:prstGeom prst="rect">
            <a:avLst/>
          </a:prstGeom>
          <a:solidFill>
            <a:srgbClr val="FBE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66994" y="2514600"/>
            <a:ext cx="2058009" cy="6400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58434" y="2651760"/>
            <a:ext cx="1875129" cy="274320"/>
          </a:xfrm>
          <a:prstGeom prst="rect">
            <a:avLst/>
          </a:prstGeom>
          <a:noFill/>
        </p:spPr>
        <p:txBody>
          <a:bodyPr wrap="square">
            <a:spAutoFit/>
          </a:bodyPr>
          <a:lstStyle/>
          <a:p>
            <a:r>
              <a:rPr sz="1000" b="1">
                <a:solidFill>
                  <a:srgbClr val="D1462F"/>
                </a:solidFill>
                <a:latin typeface="Calibri"/>
              </a:rPr>
              <a:t>PAIN POINT</a:t>
            </a:r>
          </a:p>
        </p:txBody>
      </p:sp>
      <p:sp>
        <p:nvSpPr>
          <p:cNvPr id="33" name="TextBox 32"/>
          <p:cNvSpPr txBox="1"/>
          <p:nvPr/>
        </p:nvSpPr>
        <p:spPr>
          <a:xfrm>
            <a:off x="5158434" y="2926080"/>
            <a:ext cx="1875129" cy="868680"/>
          </a:xfrm>
          <a:prstGeom prst="rect">
            <a:avLst/>
          </a:prstGeom>
          <a:noFill/>
        </p:spPr>
        <p:txBody>
          <a:bodyPr wrap="square">
            <a:spAutoFit/>
          </a:bodyPr>
          <a:lstStyle/>
          <a:p>
            <a:r>
              <a:rPr sz="1400" b="0">
                <a:solidFill>
                  <a:srgbClr val="1C2430"/>
                </a:solidFill>
                <a:latin typeface="Calibri"/>
              </a:rPr>
              <a:t>Big one-off fees</a:t>
            </a:r>
          </a:p>
        </p:txBody>
      </p:sp>
      <p:sp>
        <p:nvSpPr>
          <p:cNvPr id="34" name="Down Arrow 33"/>
          <p:cNvSpPr/>
          <p:nvPr/>
        </p:nvSpPr>
        <p:spPr>
          <a:xfrm>
            <a:off x="5913118" y="3931920"/>
            <a:ext cx="365760" cy="365760"/>
          </a:xfrm>
          <a:prstGeom prst="downArrow">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66994" y="4389119"/>
            <a:ext cx="2058009" cy="1691640"/>
          </a:xfrm>
          <a:prstGeom prst="rect">
            <a:avLst/>
          </a:prstGeom>
          <a:solidFill>
            <a:srgbClr val="E1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66994" y="4389119"/>
            <a:ext cx="2058009" cy="6400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58434" y="4526279"/>
            <a:ext cx="1875129" cy="274320"/>
          </a:xfrm>
          <a:prstGeom prst="rect">
            <a:avLst/>
          </a:prstGeom>
          <a:noFill/>
        </p:spPr>
        <p:txBody>
          <a:bodyPr wrap="square">
            <a:spAutoFit/>
          </a:bodyPr>
          <a:lstStyle/>
          <a:p>
            <a:r>
              <a:rPr sz="1000" b="1">
                <a:solidFill>
                  <a:srgbClr val="168277"/>
                </a:solidFill>
                <a:latin typeface="Calibri"/>
              </a:rPr>
              <a:t>OPPORTUNITY</a:t>
            </a:r>
          </a:p>
        </p:txBody>
      </p:sp>
      <p:sp>
        <p:nvSpPr>
          <p:cNvPr id="38" name="TextBox 37"/>
          <p:cNvSpPr txBox="1"/>
          <p:nvPr/>
        </p:nvSpPr>
        <p:spPr>
          <a:xfrm>
            <a:off x="5158434" y="4800599"/>
            <a:ext cx="1875129" cy="1234440"/>
          </a:xfrm>
          <a:prstGeom prst="rect">
            <a:avLst/>
          </a:prstGeom>
          <a:noFill/>
        </p:spPr>
        <p:txBody>
          <a:bodyPr wrap="square">
            <a:spAutoFit/>
          </a:bodyPr>
          <a:lstStyle/>
          <a:p>
            <a:r>
              <a:rPr sz="1400" b="0">
                <a:solidFill>
                  <a:srgbClr val="1C2430"/>
                </a:solidFill>
                <a:latin typeface="Calibri"/>
              </a:rPr>
              <a:t>Free first class; 3 instalments</a:t>
            </a:r>
          </a:p>
        </p:txBody>
      </p:sp>
      <p:sp>
        <p:nvSpPr>
          <p:cNvPr id="39" name="Chevron 38"/>
          <p:cNvSpPr/>
          <p:nvPr/>
        </p:nvSpPr>
        <p:spPr>
          <a:xfrm>
            <a:off x="7234731" y="1920240"/>
            <a:ext cx="2149449" cy="457200"/>
          </a:xfrm>
          <a:prstGeom prst="chevron">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Learning</a:t>
            </a:r>
          </a:p>
        </p:txBody>
      </p:sp>
      <p:sp>
        <p:nvSpPr>
          <p:cNvPr id="40" name="Rectangle 39"/>
          <p:cNvSpPr/>
          <p:nvPr/>
        </p:nvSpPr>
        <p:spPr>
          <a:xfrm>
            <a:off x="7234731" y="2514600"/>
            <a:ext cx="2058009" cy="1325880"/>
          </a:xfrm>
          <a:prstGeom prst="rect">
            <a:avLst/>
          </a:prstGeom>
          <a:solidFill>
            <a:srgbClr val="FBE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234731" y="2514600"/>
            <a:ext cx="2058009" cy="6400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26171" y="2651760"/>
            <a:ext cx="1875129" cy="274320"/>
          </a:xfrm>
          <a:prstGeom prst="rect">
            <a:avLst/>
          </a:prstGeom>
          <a:noFill/>
        </p:spPr>
        <p:txBody>
          <a:bodyPr wrap="square">
            <a:spAutoFit/>
          </a:bodyPr>
          <a:lstStyle/>
          <a:p>
            <a:r>
              <a:rPr sz="1000" b="1">
                <a:solidFill>
                  <a:srgbClr val="D1462F"/>
                </a:solidFill>
                <a:latin typeface="Calibri"/>
              </a:rPr>
              <a:t>PAIN POINT</a:t>
            </a:r>
          </a:p>
        </p:txBody>
      </p:sp>
      <p:sp>
        <p:nvSpPr>
          <p:cNvPr id="43" name="TextBox 42"/>
          <p:cNvSpPr txBox="1"/>
          <p:nvPr/>
        </p:nvSpPr>
        <p:spPr>
          <a:xfrm>
            <a:off x="7326171" y="2926080"/>
            <a:ext cx="1875129" cy="868680"/>
          </a:xfrm>
          <a:prstGeom prst="rect">
            <a:avLst/>
          </a:prstGeom>
          <a:noFill/>
        </p:spPr>
        <p:txBody>
          <a:bodyPr wrap="square">
            <a:spAutoFit/>
          </a:bodyPr>
          <a:lstStyle/>
          <a:p>
            <a:r>
              <a:rPr sz="1400" b="0">
                <a:solidFill>
                  <a:srgbClr val="1C2430"/>
                </a:solidFill>
                <a:latin typeface="Calibri"/>
              </a:rPr>
              <a:t>Slow support, outdated content</a:t>
            </a:r>
          </a:p>
        </p:txBody>
      </p:sp>
      <p:sp>
        <p:nvSpPr>
          <p:cNvPr id="44" name="Down Arrow 43"/>
          <p:cNvSpPr/>
          <p:nvPr/>
        </p:nvSpPr>
        <p:spPr>
          <a:xfrm>
            <a:off x="8080855" y="3931920"/>
            <a:ext cx="365760" cy="365760"/>
          </a:xfrm>
          <a:prstGeom prst="downArrow">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34731" y="4389119"/>
            <a:ext cx="2058009" cy="1691640"/>
          </a:xfrm>
          <a:prstGeom prst="rect">
            <a:avLst/>
          </a:prstGeom>
          <a:solidFill>
            <a:srgbClr val="E1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234731" y="4389119"/>
            <a:ext cx="2058009" cy="6400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26171" y="4526279"/>
            <a:ext cx="1875129" cy="274320"/>
          </a:xfrm>
          <a:prstGeom prst="rect">
            <a:avLst/>
          </a:prstGeom>
          <a:noFill/>
        </p:spPr>
        <p:txBody>
          <a:bodyPr wrap="square">
            <a:spAutoFit/>
          </a:bodyPr>
          <a:lstStyle/>
          <a:p>
            <a:r>
              <a:rPr sz="1000" b="1">
                <a:solidFill>
                  <a:srgbClr val="168277"/>
                </a:solidFill>
                <a:latin typeface="Calibri"/>
              </a:rPr>
              <a:t>OPPORTUNITY</a:t>
            </a:r>
          </a:p>
        </p:txBody>
      </p:sp>
      <p:sp>
        <p:nvSpPr>
          <p:cNvPr id="48" name="TextBox 47"/>
          <p:cNvSpPr txBox="1"/>
          <p:nvPr/>
        </p:nvSpPr>
        <p:spPr>
          <a:xfrm>
            <a:off x="7326171" y="4800599"/>
            <a:ext cx="1875129" cy="1234440"/>
          </a:xfrm>
          <a:prstGeom prst="rect">
            <a:avLst/>
          </a:prstGeom>
          <a:noFill/>
        </p:spPr>
        <p:txBody>
          <a:bodyPr wrap="square">
            <a:spAutoFit/>
          </a:bodyPr>
          <a:lstStyle/>
          <a:p>
            <a:r>
              <a:rPr sz="1400" b="0">
                <a:solidFill>
                  <a:srgbClr val="1C2430"/>
                </a:solidFill>
                <a:latin typeface="Calibri"/>
              </a:rPr>
              <a:t>Weekly labs, 24-hour support, recordings</a:t>
            </a:r>
          </a:p>
        </p:txBody>
      </p:sp>
      <p:sp>
        <p:nvSpPr>
          <p:cNvPr id="49" name="Chevron 48"/>
          <p:cNvSpPr/>
          <p:nvPr/>
        </p:nvSpPr>
        <p:spPr>
          <a:xfrm>
            <a:off x="9402468" y="1920240"/>
            <a:ext cx="2058009" cy="457200"/>
          </a:xfrm>
          <a:prstGeom prst="chevron">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a:solidFill>
                  <a:srgbClr val="FFFFFF"/>
                </a:solidFill>
                <a:latin typeface="Calibri"/>
              </a:rPr>
              <a:t>After the course</a:t>
            </a:r>
          </a:p>
        </p:txBody>
      </p:sp>
      <p:sp>
        <p:nvSpPr>
          <p:cNvPr id="50" name="Rectangle 49"/>
          <p:cNvSpPr/>
          <p:nvPr/>
        </p:nvSpPr>
        <p:spPr>
          <a:xfrm>
            <a:off x="9402468" y="2514600"/>
            <a:ext cx="2058009" cy="1325880"/>
          </a:xfrm>
          <a:prstGeom prst="rect">
            <a:avLst/>
          </a:prstGeom>
          <a:solidFill>
            <a:srgbClr val="FBE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402468" y="2514600"/>
            <a:ext cx="2058009" cy="6400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93908" y="2651760"/>
            <a:ext cx="1875129" cy="274320"/>
          </a:xfrm>
          <a:prstGeom prst="rect">
            <a:avLst/>
          </a:prstGeom>
          <a:noFill/>
        </p:spPr>
        <p:txBody>
          <a:bodyPr wrap="square">
            <a:spAutoFit/>
          </a:bodyPr>
          <a:lstStyle/>
          <a:p>
            <a:r>
              <a:rPr sz="1000" b="1">
                <a:solidFill>
                  <a:srgbClr val="D1462F"/>
                </a:solidFill>
                <a:latin typeface="Calibri"/>
              </a:rPr>
              <a:t>PAIN POINT</a:t>
            </a:r>
          </a:p>
        </p:txBody>
      </p:sp>
      <p:sp>
        <p:nvSpPr>
          <p:cNvPr id="53" name="TextBox 52"/>
          <p:cNvSpPr txBox="1"/>
          <p:nvPr/>
        </p:nvSpPr>
        <p:spPr>
          <a:xfrm>
            <a:off x="9493908" y="2926080"/>
            <a:ext cx="1875129" cy="868680"/>
          </a:xfrm>
          <a:prstGeom prst="rect">
            <a:avLst/>
          </a:prstGeom>
          <a:noFill/>
        </p:spPr>
        <p:txBody>
          <a:bodyPr wrap="square">
            <a:spAutoFit/>
          </a:bodyPr>
          <a:lstStyle/>
          <a:p>
            <a:r>
              <a:rPr sz="1400" b="0">
                <a:solidFill>
                  <a:srgbClr val="1C2430"/>
                </a:solidFill>
                <a:latin typeface="Calibri"/>
              </a:rPr>
              <a:t>No links to employers</a:t>
            </a:r>
          </a:p>
        </p:txBody>
      </p:sp>
      <p:sp>
        <p:nvSpPr>
          <p:cNvPr id="54" name="Down Arrow 53"/>
          <p:cNvSpPr/>
          <p:nvPr/>
        </p:nvSpPr>
        <p:spPr>
          <a:xfrm>
            <a:off x="10248592" y="3931920"/>
            <a:ext cx="365760" cy="365760"/>
          </a:xfrm>
          <a:prstGeom prst="downArrow">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402468" y="4389119"/>
            <a:ext cx="2058009" cy="1691640"/>
          </a:xfrm>
          <a:prstGeom prst="rect">
            <a:avLst/>
          </a:prstGeom>
          <a:solidFill>
            <a:srgbClr val="E1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402468" y="4389119"/>
            <a:ext cx="2058009" cy="6400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493908" y="4526279"/>
            <a:ext cx="1875129" cy="274320"/>
          </a:xfrm>
          <a:prstGeom prst="rect">
            <a:avLst/>
          </a:prstGeom>
          <a:noFill/>
        </p:spPr>
        <p:txBody>
          <a:bodyPr wrap="square">
            <a:spAutoFit/>
          </a:bodyPr>
          <a:lstStyle/>
          <a:p>
            <a:r>
              <a:rPr sz="1000" b="1">
                <a:solidFill>
                  <a:srgbClr val="168277"/>
                </a:solidFill>
                <a:latin typeface="Calibri"/>
              </a:rPr>
              <a:t>OPPORTUNITY</a:t>
            </a:r>
          </a:p>
        </p:txBody>
      </p:sp>
      <p:sp>
        <p:nvSpPr>
          <p:cNvPr id="58" name="TextBox 57"/>
          <p:cNvSpPr txBox="1"/>
          <p:nvPr/>
        </p:nvSpPr>
        <p:spPr>
          <a:xfrm>
            <a:off x="9493908" y="4800599"/>
            <a:ext cx="1875129" cy="1234440"/>
          </a:xfrm>
          <a:prstGeom prst="rect">
            <a:avLst/>
          </a:prstGeom>
          <a:noFill/>
        </p:spPr>
        <p:txBody>
          <a:bodyPr wrap="square">
            <a:spAutoFit/>
          </a:bodyPr>
          <a:lstStyle/>
          <a:p>
            <a:r>
              <a:rPr sz="1400" b="0">
                <a:solidFill>
                  <a:srgbClr val="1C2430"/>
                </a:solidFill>
                <a:latin typeface="Calibri"/>
              </a:rPr>
              <a:t>Exam prep, CV help, employer partners, referral reward</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childTnLst>
                          </p:cTn>
                        </p:par>
                        <p:par>
                          <p:cTn id="49" fill="hold">
                            <p:stCondLst>
                              <p:cond delay="1500"/>
                            </p:stCondLst>
                            <p:childTnLst>
                              <p:par>
                                <p:cTn id="50" presetID="10" presetClass="entr" presetSubtype="0" fill="hold" grpId="0" nodeType="after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500"/>
                                        <p:tgtEl>
                                          <p:spTgt spid="28"/>
                                        </p:tgtEl>
                                      </p:cBhvr>
                                    </p:animEffect>
                                  </p:childTnLst>
                                </p:cTn>
                              </p:par>
                            </p:childTnLst>
                          </p:cTn>
                        </p:par>
                        <p:par>
                          <p:cTn id="80" fill="hold">
                            <p:stCondLst>
                              <p:cond delay="2000"/>
                            </p:stCondLst>
                            <p:childTnLst>
                              <p:par>
                                <p:cTn id="81" presetID="10" presetClass="entr" presetSubtype="0" fill="hold" grpId="0" nodeType="after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childTnLst>
                          </p:cTn>
                        </p:par>
                        <p:par>
                          <p:cTn id="111" fill="hold">
                            <p:stCondLst>
                              <p:cond delay="2500"/>
                            </p:stCondLst>
                            <p:childTnLst>
                              <p:par>
                                <p:cTn id="112" presetID="10" presetClass="entr" presetSubtype="0" fill="hold" grpId="0" nodeType="after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00"/>
                                        <p:tgtEl>
                                          <p:spTgt spid="4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500"/>
                                        <p:tgtEl>
                                          <p:spTgt spid="4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00"/>
                                        <p:tgtEl>
                                          <p:spTgt spid="4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500"/>
                                        <p:tgtEl>
                                          <p:spTgt spid="4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00"/>
                                        <p:tgtEl>
                                          <p:spTgt spid="4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500"/>
                                        <p:tgtEl>
                                          <p:spTgt spid="4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00"/>
                                        <p:tgtEl>
                                          <p:spTgt spid="48"/>
                                        </p:tgtEl>
                                      </p:cBhvr>
                                    </p:animEffect>
                                  </p:childTnLst>
                                </p:cTn>
                              </p:par>
                            </p:childTnLst>
                          </p:cTn>
                        </p:par>
                        <p:par>
                          <p:cTn id="142" fill="hold">
                            <p:stCondLst>
                              <p:cond delay="3000"/>
                            </p:stCondLst>
                            <p:childTnLst>
                              <p:par>
                                <p:cTn id="143" presetID="10" presetClass="entr" presetSubtype="0" fill="hold" grpId="0" nodeType="afterEffect">
                                  <p:stCondLst>
                                    <p:cond delay="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5" dur="500"/>
                                        <p:tgtEl>
                                          <p:spTgt spid="4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8" dur="500"/>
                                        <p:tgtEl>
                                          <p:spTgt spid="5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52"/>
                                        </p:tgtEl>
                                        <p:attrNameLst>
                                          <p:attrName>style.visibility</p:attrName>
                                        </p:attrNameLst>
                                      </p:cBhvr>
                                      <p:to>
                                        <p:strVal val="visible"/>
                                      </p:to>
                                    </p:set>
                                    <p:animEffect transition="in" filter="fade">
                                      <p:cBhvr>
                                        <p:cTn id="154" dur="500"/>
                                        <p:tgtEl>
                                          <p:spTgt spid="5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53"/>
                                        </p:tgtEl>
                                        <p:attrNameLst>
                                          <p:attrName>style.visibility</p:attrName>
                                        </p:attrNameLst>
                                      </p:cBhvr>
                                      <p:to>
                                        <p:strVal val="visible"/>
                                      </p:to>
                                    </p:set>
                                    <p:animEffect transition="in" filter="fade">
                                      <p:cBhvr>
                                        <p:cTn id="157" dur="500"/>
                                        <p:tgtEl>
                                          <p:spTgt spid="53"/>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54"/>
                                        </p:tgtEl>
                                        <p:attrNameLst>
                                          <p:attrName>style.visibility</p:attrName>
                                        </p:attrNameLst>
                                      </p:cBhvr>
                                      <p:to>
                                        <p:strVal val="visible"/>
                                      </p:to>
                                    </p:set>
                                    <p:animEffect transition="in" filter="fade">
                                      <p:cBhvr>
                                        <p:cTn id="160" dur="500"/>
                                        <p:tgtEl>
                                          <p:spTgt spid="5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55"/>
                                        </p:tgtEl>
                                        <p:attrNameLst>
                                          <p:attrName>style.visibility</p:attrName>
                                        </p:attrNameLst>
                                      </p:cBhvr>
                                      <p:to>
                                        <p:strVal val="visible"/>
                                      </p:to>
                                    </p:set>
                                    <p:animEffect transition="in" filter="fade">
                                      <p:cBhvr>
                                        <p:cTn id="163" dur="500"/>
                                        <p:tgtEl>
                                          <p:spTgt spid="5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56"/>
                                        </p:tgtEl>
                                        <p:attrNameLst>
                                          <p:attrName>style.visibility</p:attrName>
                                        </p:attrNameLst>
                                      </p:cBhvr>
                                      <p:to>
                                        <p:strVal val="visible"/>
                                      </p:to>
                                    </p:set>
                                    <p:animEffect transition="in" filter="fade">
                                      <p:cBhvr>
                                        <p:cTn id="166" dur="500"/>
                                        <p:tgtEl>
                                          <p:spTgt spid="56"/>
                                        </p:tgtEl>
                                      </p:cBhvr>
                                    </p:animEffect>
                                  </p:childTnLst>
                                </p:cTn>
                              </p:par>
                              <p:par>
                                <p:cTn id="167" presetID="10" presetClass="entr" presetSubtype="0" fill="hold" grpId="0" nodeType="withEffect">
                                  <p:stCondLst>
                                    <p:cond delay="0"/>
                                  </p:stCondLst>
                                  <p:childTnLst>
                                    <p:set>
                                      <p:cBhvr>
                                        <p:cTn id="168" dur="1" fill="hold">
                                          <p:stCondLst>
                                            <p:cond delay="0"/>
                                          </p:stCondLst>
                                        </p:cTn>
                                        <p:tgtEl>
                                          <p:spTgt spid="57"/>
                                        </p:tgtEl>
                                        <p:attrNameLst>
                                          <p:attrName>style.visibility</p:attrName>
                                        </p:attrNameLst>
                                      </p:cBhvr>
                                      <p:to>
                                        <p:strVal val="visible"/>
                                      </p:to>
                                    </p:set>
                                    <p:animEffect transition="in" filter="fade">
                                      <p:cBhvr>
                                        <p:cTn id="169" dur="500"/>
                                        <p:tgtEl>
                                          <p:spTgt spid="5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58"/>
                                        </p:tgtEl>
                                        <p:attrNameLst>
                                          <p:attrName>style.visibility</p:attrName>
                                        </p:attrNameLst>
                                      </p:cBhvr>
                                      <p:to>
                                        <p:strVal val="visible"/>
                                      </p:to>
                                    </p:set>
                                    <p:animEffect transition="in" filter="fade">
                                      <p:cBhvr>
                                        <p:cTn id="172"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03</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The 5 Most Important Needs</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Chosen from 12 functional, economic, emotional and social needs</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3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Customers have four kinds of needs</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3  ·  THE 5 MOST IMPORTANT NEEDS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Three needs of each type, with each need's importance score (of 25)</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12</a:t>
            </a:r>
          </a:p>
        </p:txBody>
      </p:sp>
      <p:sp>
        <p:nvSpPr>
          <p:cNvPr id="9" name="Rectangle 8"/>
          <p:cNvSpPr/>
          <p:nvPr/>
        </p:nvSpPr>
        <p:spPr>
          <a:xfrm>
            <a:off x="731520" y="1920240"/>
            <a:ext cx="5250180" cy="192024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5250180" cy="45720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Functional needs</a:t>
            </a:r>
            <a:r>
              <a:rPr sz="1500" b="0">
                <a:solidFill>
                  <a:srgbClr val="FFFFFF"/>
                </a:solidFill>
                <a:latin typeface="Calibri"/>
              </a:rPr>
              <a:t>   what the course does</a:t>
            </a:r>
          </a:p>
        </p:txBody>
      </p:sp>
      <p:sp>
        <p:nvSpPr>
          <p:cNvPr id="11" name="TextBox 10"/>
          <p:cNvSpPr txBox="1"/>
          <p:nvPr/>
        </p:nvSpPr>
        <p:spPr>
          <a:xfrm>
            <a:off x="914400" y="2468880"/>
            <a:ext cx="4061460" cy="384048"/>
          </a:xfrm>
          <a:prstGeom prst="rect">
            <a:avLst/>
          </a:prstGeom>
          <a:noFill/>
        </p:spPr>
        <p:txBody>
          <a:bodyPr wrap="square">
            <a:spAutoFit/>
          </a:bodyPr>
          <a:lstStyle/>
          <a:p>
            <a:r>
              <a:rPr sz="1500" b="0">
                <a:solidFill>
                  <a:srgbClr val="1C2430"/>
                </a:solidFill>
                <a:latin typeface="Calibri"/>
              </a:rPr>
              <a:t>Practical, hands-on skills</a:t>
            </a:r>
          </a:p>
        </p:txBody>
      </p:sp>
      <p:sp>
        <p:nvSpPr>
          <p:cNvPr id="12" name="Rounded Rectangle 11"/>
          <p:cNvSpPr/>
          <p:nvPr/>
        </p:nvSpPr>
        <p:spPr>
          <a:xfrm>
            <a:off x="5067300" y="2523744"/>
            <a:ext cx="731520" cy="274320"/>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FFFFFF"/>
                </a:solidFill>
                <a:latin typeface="Calibri"/>
              </a:rPr>
              <a:t>25</a:t>
            </a:r>
          </a:p>
        </p:txBody>
      </p:sp>
      <p:sp>
        <p:nvSpPr>
          <p:cNvPr id="13" name="TextBox 12"/>
          <p:cNvSpPr txBox="1"/>
          <p:nvPr/>
        </p:nvSpPr>
        <p:spPr>
          <a:xfrm>
            <a:off x="914400" y="2880360"/>
            <a:ext cx="4061460" cy="384048"/>
          </a:xfrm>
          <a:prstGeom prst="rect">
            <a:avLst/>
          </a:prstGeom>
          <a:noFill/>
        </p:spPr>
        <p:txBody>
          <a:bodyPr wrap="square">
            <a:spAutoFit/>
          </a:bodyPr>
          <a:lstStyle/>
          <a:p>
            <a:r>
              <a:rPr sz="1500" b="0">
                <a:solidFill>
                  <a:srgbClr val="1C2430"/>
                </a:solidFill>
                <a:latin typeface="Calibri"/>
              </a:rPr>
              <a:t>A flexible timetable</a:t>
            </a:r>
          </a:p>
        </p:txBody>
      </p:sp>
      <p:sp>
        <p:nvSpPr>
          <p:cNvPr id="14" name="Rounded Rectangle 13"/>
          <p:cNvSpPr/>
          <p:nvPr/>
        </p:nvSpPr>
        <p:spPr>
          <a:xfrm>
            <a:off x="5067300" y="293522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16</a:t>
            </a:r>
          </a:p>
        </p:txBody>
      </p:sp>
      <p:sp>
        <p:nvSpPr>
          <p:cNvPr id="15" name="TextBox 14"/>
          <p:cNvSpPr txBox="1"/>
          <p:nvPr/>
        </p:nvSpPr>
        <p:spPr>
          <a:xfrm>
            <a:off x="914400" y="3291840"/>
            <a:ext cx="4061460" cy="384048"/>
          </a:xfrm>
          <a:prstGeom prst="rect">
            <a:avLst/>
          </a:prstGeom>
          <a:noFill/>
        </p:spPr>
        <p:txBody>
          <a:bodyPr wrap="square">
            <a:spAutoFit/>
          </a:bodyPr>
          <a:lstStyle/>
          <a:p>
            <a:r>
              <a:rPr sz="1500" b="0">
                <a:solidFill>
                  <a:srgbClr val="1C2430"/>
                </a:solidFill>
                <a:latin typeface="Calibri"/>
              </a:rPr>
              <a:t>Preparation for a recognised certificate</a:t>
            </a:r>
          </a:p>
        </p:txBody>
      </p:sp>
      <p:sp>
        <p:nvSpPr>
          <p:cNvPr id="16" name="Rounded Rectangle 15"/>
          <p:cNvSpPr/>
          <p:nvPr/>
        </p:nvSpPr>
        <p:spPr>
          <a:xfrm>
            <a:off x="5067300" y="3346704"/>
            <a:ext cx="731520" cy="274320"/>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FFFFFF"/>
                </a:solidFill>
                <a:latin typeface="Calibri"/>
              </a:rPr>
              <a:t>20</a:t>
            </a:r>
          </a:p>
        </p:txBody>
      </p:sp>
      <p:sp>
        <p:nvSpPr>
          <p:cNvPr id="17" name="Rectangle 16"/>
          <p:cNvSpPr/>
          <p:nvPr/>
        </p:nvSpPr>
        <p:spPr>
          <a:xfrm>
            <a:off x="6210300" y="1920240"/>
            <a:ext cx="5250180" cy="192024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0300" y="1920240"/>
            <a:ext cx="5250180" cy="457200"/>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Economic needs</a:t>
            </a:r>
            <a:r>
              <a:rPr sz="1500" b="0">
                <a:solidFill>
                  <a:srgbClr val="FFFFFF"/>
                </a:solidFill>
                <a:latin typeface="Calibri"/>
              </a:rPr>
              <a:t>   money</a:t>
            </a:r>
          </a:p>
        </p:txBody>
      </p:sp>
      <p:sp>
        <p:nvSpPr>
          <p:cNvPr id="19" name="TextBox 18"/>
          <p:cNvSpPr txBox="1"/>
          <p:nvPr/>
        </p:nvSpPr>
        <p:spPr>
          <a:xfrm>
            <a:off x="6393180" y="2468880"/>
            <a:ext cx="4061460" cy="384048"/>
          </a:xfrm>
          <a:prstGeom prst="rect">
            <a:avLst/>
          </a:prstGeom>
          <a:noFill/>
        </p:spPr>
        <p:txBody>
          <a:bodyPr wrap="square">
            <a:spAutoFit/>
          </a:bodyPr>
          <a:lstStyle/>
          <a:p>
            <a:r>
              <a:rPr sz="1500" b="0">
                <a:solidFill>
                  <a:srgbClr val="1C2430"/>
                </a:solidFill>
                <a:latin typeface="Calibri"/>
              </a:rPr>
              <a:t>An affordable price</a:t>
            </a:r>
          </a:p>
        </p:txBody>
      </p:sp>
      <p:sp>
        <p:nvSpPr>
          <p:cNvPr id="20" name="Rounded Rectangle 19"/>
          <p:cNvSpPr/>
          <p:nvPr/>
        </p:nvSpPr>
        <p:spPr>
          <a:xfrm>
            <a:off x="10546080" y="2523744"/>
            <a:ext cx="731520" cy="274320"/>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FFFFFF"/>
                </a:solidFill>
                <a:latin typeface="Calibri"/>
              </a:rPr>
              <a:t>25</a:t>
            </a:r>
          </a:p>
        </p:txBody>
      </p:sp>
      <p:sp>
        <p:nvSpPr>
          <p:cNvPr id="21" name="TextBox 20"/>
          <p:cNvSpPr txBox="1"/>
          <p:nvPr/>
        </p:nvSpPr>
        <p:spPr>
          <a:xfrm>
            <a:off x="6393180" y="2880360"/>
            <a:ext cx="4061460" cy="384048"/>
          </a:xfrm>
          <a:prstGeom prst="rect">
            <a:avLst/>
          </a:prstGeom>
          <a:noFill/>
        </p:spPr>
        <p:txBody>
          <a:bodyPr wrap="square">
            <a:spAutoFit/>
          </a:bodyPr>
          <a:lstStyle/>
          <a:p>
            <a:r>
              <a:rPr sz="1500" b="0">
                <a:solidFill>
                  <a:srgbClr val="1C2430"/>
                </a:solidFill>
                <a:latin typeface="Calibri"/>
              </a:rPr>
              <a:t>Paying in instalments</a:t>
            </a:r>
          </a:p>
        </p:txBody>
      </p:sp>
      <p:sp>
        <p:nvSpPr>
          <p:cNvPr id="22" name="Rounded Rectangle 21"/>
          <p:cNvSpPr/>
          <p:nvPr/>
        </p:nvSpPr>
        <p:spPr>
          <a:xfrm>
            <a:off x="10546080" y="293522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12</a:t>
            </a:r>
          </a:p>
        </p:txBody>
      </p:sp>
      <p:sp>
        <p:nvSpPr>
          <p:cNvPr id="23" name="TextBox 22"/>
          <p:cNvSpPr txBox="1"/>
          <p:nvPr/>
        </p:nvSpPr>
        <p:spPr>
          <a:xfrm>
            <a:off x="6393180" y="3291840"/>
            <a:ext cx="4061460" cy="384048"/>
          </a:xfrm>
          <a:prstGeom prst="rect">
            <a:avLst/>
          </a:prstGeom>
          <a:noFill/>
        </p:spPr>
        <p:txBody>
          <a:bodyPr wrap="square">
            <a:spAutoFit/>
          </a:bodyPr>
          <a:lstStyle/>
          <a:p>
            <a:r>
              <a:rPr sz="1500" b="0">
                <a:solidFill>
                  <a:srgbClr val="1C2430"/>
                </a:solidFill>
                <a:latin typeface="Calibri"/>
              </a:rPr>
              <a:t>A return on the money: a better-paid job</a:t>
            </a:r>
          </a:p>
        </p:txBody>
      </p:sp>
      <p:sp>
        <p:nvSpPr>
          <p:cNvPr id="24" name="Rounded Rectangle 23"/>
          <p:cNvSpPr/>
          <p:nvPr/>
        </p:nvSpPr>
        <p:spPr>
          <a:xfrm>
            <a:off x="10546080" y="3346704"/>
            <a:ext cx="731520" cy="274320"/>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FFFFFF"/>
                </a:solidFill>
                <a:latin typeface="Calibri"/>
              </a:rPr>
              <a:t>20</a:t>
            </a:r>
          </a:p>
        </p:txBody>
      </p:sp>
      <p:sp>
        <p:nvSpPr>
          <p:cNvPr id="25" name="Rectangle 24"/>
          <p:cNvSpPr/>
          <p:nvPr/>
        </p:nvSpPr>
        <p:spPr>
          <a:xfrm>
            <a:off x="731520" y="4069080"/>
            <a:ext cx="5250180" cy="192024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4069080"/>
            <a:ext cx="5250180" cy="457200"/>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FFFFFF"/>
                </a:solidFill>
                <a:latin typeface="Calibri"/>
              </a:rPr>
              <a:t>Emotional needs</a:t>
            </a:r>
            <a:r>
              <a:rPr sz="1500" b="0">
                <a:solidFill>
                  <a:srgbClr val="FFFFFF"/>
                </a:solidFill>
                <a:latin typeface="Calibri"/>
              </a:rPr>
              <a:t>   feelings</a:t>
            </a:r>
          </a:p>
        </p:txBody>
      </p:sp>
      <p:sp>
        <p:nvSpPr>
          <p:cNvPr id="27" name="TextBox 26"/>
          <p:cNvSpPr txBox="1"/>
          <p:nvPr/>
        </p:nvSpPr>
        <p:spPr>
          <a:xfrm>
            <a:off x="914400" y="4617720"/>
            <a:ext cx="4061460" cy="384048"/>
          </a:xfrm>
          <a:prstGeom prst="rect">
            <a:avLst/>
          </a:prstGeom>
          <a:noFill/>
        </p:spPr>
        <p:txBody>
          <a:bodyPr wrap="square">
            <a:spAutoFit/>
          </a:bodyPr>
          <a:lstStyle/>
          <a:p>
            <a:r>
              <a:rPr sz="1500" b="0">
                <a:solidFill>
                  <a:srgbClr val="1C2430"/>
                </a:solidFill>
                <a:latin typeface="Calibri"/>
              </a:rPr>
              <a:t>Trust that the course is genuine</a:t>
            </a:r>
          </a:p>
        </p:txBody>
      </p:sp>
      <p:sp>
        <p:nvSpPr>
          <p:cNvPr id="28" name="Rounded Rectangle 27"/>
          <p:cNvSpPr/>
          <p:nvPr/>
        </p:nvSpPr>
        <p:spPr>
          <a:xfrm>
            <a:off x="5067300" y="467258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16</a:t>
            </a:r>
          </a:p>
        </p:txBody>
      </p:sp>
      <p:sp>
        <p:nvSpPr>
          <p:cNvPr id="29" name="TextBox 28"/>
          <p:cNvSpPr txBox="1"/>
          <p:nvPr/>
        </p:nvSpPr>
        <p:spPr>
          <a:xfrm>
            <a:off x="914400" y="5029200"/>
            <a:ext cx="4061460" cy="384048"/>
          </a:xfrm>
          <a:prstGeom prst="rect">
            <a:avLst/>
          </a:prstGeom>
          <a:noFill/>
        </p:spPr>
        <p:txBody>
          <a:bodyPr wrap="square">
            <a:spAutoFit/>
          </a:bodyPr>
          <a:lstStyle/>
          <a:p>
            <a:r>
              <a:rPr sz="1500" b="0">
                <a:solidFill>
                  <a:srgbClr val="1C2430"/>
                </a:solidFill>
                <a:latin typeface="Calibri"/>
              </a:rPr>
              <a:t>Feeling supported</a:t>
            </a:r>
          </a:p>
        </p:txBody>
      </p:sp>
      <p:sp>
        <p:nvSpPr>
          <p:cNvPr id="30" name="Rounded Rectangle 29"/>
          <p:cNvSpPr/>
          <p:nvPr/>
        </p:nvSpPr>
        <p:spPr>
          <a:xfrm>
            <a:off x="5067300" y="5084064"/>
            <a:ext cx="731520" cy="274320"/>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FFFFFF"/>
                </a:solidFill>
                <a:latin typeface="Calibri"/>
              </a:rPr>
              <a:t>20</a:t>
            </a:r>
          </a:p>
        </p:txBody>
      </p:sp>
      <p:sp>
        <p:nvSpPr>
          <p:cNvPr id="31" name="TextBox 30"/>
          <p:cNvSpPr txBox="1"/>
          <p:nvPr/>
        </p:nvSpPr>
        <p:spPr>
          <a:xfrm>
            <a:off x="914400" y="5440680"/>
            <a:ext cx="4061460" cy="384048"/>
          </a:xfrm>
          <a:prstGeom prst="rect">
            <a:avLst/>
          </a:prstGeom>
          <a:noFill/>
        </p:spPr>
        <p:txBody>
          <a:bodyPr wrap="square">
            <a:spAutoFit/>
          </a:bodyPr>
          <a:lstStyle/>
          <a:p>
            <a:r>
              <a:rPr sz="1500" b="0">
                <a:solidFill>
                  <a:srgbClr val="1C2430"/>
                </a:solidFill>
                <a:latin typeface="Calibri"/>
              </a:rPr>
              <a:t>Hope for a future-proof career</a:t>
            </a:r>
          </a:p>
        </p:txBody>
      </p:sp>
      <p:sp>
        <p:nvSpPr>
          <p:cNvPr id="32" name="Rounded Rectangle 31"/>
          <p:cNvSpPr/>
          <p:nvPr/>
        </p:nvSpPr>
        <p:spPr>
          <a:xfrm>
            <a:off x="5067300" y="549554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9</a:t>
            </a:r>
          </a:p>
        </p:txBody>
      </p:sp>
      <p:sp>
        <p:nvSpPr>
          <p:cNvPr id="33" name="Rectangle 32"/>
          <p:cNvSpPr/>
          <p:nvPr/>
        </p:nvSpPr>
        <p:spPr>
          <a:xfrm>
            <a:off x="6210300" y="4069080"/>
            <a:ext cx="5250180" cy="192024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0300" y="4069080"/>
            <a:ext cx="5250180" cy="457200"/>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ctr"/>
            <a:r>
              <a:rPr sz="1500" b="1">
                <a:solidFill>
                  <a:srgbClr val="1C2430"/>
                </a:solidFill>
                <a:latin typeface="Calibri"/>
              </a:rPr>
              <a:t>Social needs</a:t>
            </a:r>
            <a:r>
              <a:rPr sz="1500" b="0">
                <a:solidFill>
                  <a:srgbClr val="1C2430"/>
                </a:solidFill>
                <a:latin typeface="Calibri"/>
              </a:rPr>
              <a:t>   other people</a:t>
            </a:r>
          </a:p>
        </p:txBody>
      </p:sp>
      <p:sp>
        <p:nvSpPr>
          <p:cNvPr id="35" name="TextBox 34"/>
          <p:cNvSpPr txBox="1"/>
          <p:nvPr/>
        </p:nvSpPr>
        <p:spPr>
          <a:xfrm>
            <a:off x="6393180" y="4617720"/>
            <a:ext cx="4061460" cy="384048"/>
          </a:xfrm>
          <a:prstGeom prst="rect">
            <a:avLst/>
          </a:prstGeom>
          <a:noFill/>
        </p:spPr>
        <p:txBody>
          <a:bodyPr wrap="square">
            <a:spAutoFit/>
          </a:bodyPr>
          <a:lstStyle/>
          <a:p>
            <a:r>
              <a:rPr sz="1500" b="0">
                <a:solidFill>
                  <a:srgbClr val="1C2430"/>
                </a:solidFill>
                <a:latin typeface="Calibri"/>
              </a:rPr>
              <a:t>Belonging to a learning community</a:t>
            </a:r>
          </a:p>
        </p:txBody>
      </p:sp>
      <p:sp>
        <p:nvSpPr>
          <p:cNvPr id="36" name="Rounded Rectangle 35"/>
          <p:cNvSpPr/>
          <p:nvPr/>
        </p:nvSpPr>
        <p:spPr>
          <a:xfrm>
            <a:off x="10546080" y="467258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9</a:t>
            </a:r>
          </a:p>
        </p:txBody>
      </p:sp>
      <p:sp>
        <p:nvSpPr>
          <p:cNvPr id="37" name="TextBox 36"/>
          <p:cNvSpPr txBox="1"/>
          <p:nvPr/>
        </p:nvSpPr>
        <p:spPr>
          <a:xfrm>
            <a:off x="6393180" y="5029200"/>
            <a:ext cx="4061460" cy="384048"/>
          </a:xfrm>
          <a:prstGeom prst="rect">
            <a:avLst/>
          </a:prstGeom>
          <a:noFill/>
        </p:spPr>
        <p:txBody>
          <a:bodyPr wrap="square">
            <a:spAutoFit/>
          </a:bodyPr>
          <a:lstStyle/>
          <a:p>
            <a:r>
              <a:rPr sz="1500" b="0">
                <a:solidFill>
                  <a:srgbClr val="1C2430"/>
                </a:solidFill>
                <a:latin typeface="Calibri"/>
              </a:rPr>
              <a:t>Status of a respected tech job</a:t>
            </a:r>
          </a:p>
        </p:txBody>
      </p:sp>
      <p:sp>
        <p:nvSpPr>
          <p:cNvPr id="38" name="Rounded Rectangle 37"/>
          <p:cNvSpPr/>
          <p:nvPr/>
        </p:nvSpPr>
        <p:spPr>
          <a:xfrm>
            <a:off x="10546080" y="508406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6</a:t>
            </a:r>
          </a:p>
        </p:txBody>
      </p:sp>
      <p:sp>
        <p:nvSpPr>
          <p:cNvPr id="39" name="TextBox 38"/>
          <p:cNvSpPr txBox="1"/>
          <p:nvPr/>
        </p:nvSpPr>
        <p:spPr>
          <a:xfrm>
            <a:off x="6393180" y="5440680"/>
            <a:ext cx="4061460" cy="384048"/>
          </a:xfrm>
          <a:prstGeom prst="rect">
            <a:avLst/>
          </a:prstGeom>
          <a:noFill/>
        </p:spPr>
        <p:txBody>
          <a:bodyPr wrap="square">
            <a:spAutoFit/>
          </a:bodyPr>
          <a:lstStyle/>
          <a:p>
            <a:r>
              <a:rPr sz="1500" b="0">
                <a:solidFill>
                  <a:srgbClr val="1C2430"/>
                </a:solidFill>
                <a:latin typeface="Calibri"/>
              </a:rPr>
              <a:t>Inclusion for women and non-IT people</a:t>
            </a:r>
          </a:p>
        </p:txBody>
      </p:sp>
      <p:sp>
        <p:nvSpPr>
          <p:cNvPr id="40" name="Rounded Rectangle 39"/>
          <p:cNvSpPr/>
          <p:nvPr/>
        </p:nvSpPr>
        <p:spPr>
          <a:xfrm>
            <a:off x="10546080" y="5495544"/>
            <a:ext cx="731520" cy="274320"/>
          </a:xfrm>
          <a:prstGeom prst="roundRect">
            <a:avLst>
              <a:gd name="adj" fmla="val 50000"/>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100" b="1">
                <a:solidFill>
                  <a:srgbClr val="1C2430"/>
                </a:solidFill>
                <a:latin typeface="Calibri"/>
              </a:rPr>
              <a:t>9</a:t>
            </a:r>
          </a:p>
        </p:txBody>
      </p:sp>
      <p:sp>
        <p:nvSpPr>
          <p:cNvPr id="41" name="TextBox 40"/>
          <p:cNvSpPr txBox="1"/>
          <p:nvPr/>
        </p:nvSpPr>
        <p:spPr>
          <a:xfrm>
            <a:off x="640080" y="6080760"/>
            <a:ext cx="10911840" cy="365760"/>
          </a:xfrm>
          <a:prstGeom prst="rect">
            <a:avLst/>
          </a:prstGeom>
          <a:noFill/>
        </p:spPr>
        <p:txBody>
          <a:bodyPr wrap="square">
            <a:spAutoFit/>
          </a:bodyPr>
          <a:lstStyle/>
          <a:p>
            <a:r>
              <a:rPr sz="1400" b="0">
                <a:solidFill>
                  <a:srgbClr val="5B6675"/>
                </a:solidFill>
                <a:latin typeface="Calibri"/>
              </a:rPr>
              <a:t>Navy score: one of the 5 most important needs. Importance = how often it came up in the research × its effect on buying.</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childTnLst>
                          </p:cTn>
                        </p:par>
                        <p:par>
                          <p:cTn id="68" fill="hold">
                            <p:stCondLst>
                              <p:cond delay="2000"/>
                            </p:stCondLst>
                            <p:childTnLst>
                              <p:par>
                                <p:cTn id="69" presetID="10" presetClass="entr" presetSubtype="0"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childTnLst>
                          </p:cTn>
                        </p:par>
                        <p:par>
                          <p:cTn id="93" fill="hold">
                            <p:stCondLst>
                              <p:cond delay="2500"/>
                            </p:stCondLst>
                            <p:childTnLst>
                              <p:par>
                                <p:cTn id="94" presetID="10" presetClass="entr" presetSubtype="0" fill="hold" grpId="0" nodeType="after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childTnLst>
                          </p:cTn>
                        </p:par>
                        <p:par>
                          <p:cTn id="118" fill="hold">
                            <p:stCondLst>
                              <p:cond delay="3000"/>
                            </p:stCondLst>
                            <p:childTnLst>
                              <p:par>
                                <p:cTn id="119" presetID="10" presetClass="entr" presetSubtype="0"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Skills and money matter most to customers</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3  ·  THE 5 MOST IMPORTANT NEEDS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The 5 most important needs, ranked by importance (of 25)</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13</a:t>
            </a:r>
          </a:p>
        </p:txBody>
      </p:sp>
      <p:sp>
        <p:nvSpPr>
          <p:cNvPr id="9" name="Rectangle 8"/>
          <p:cNvSpPr/>
          <p:nvPr/>
        </p:nvSpPr>
        <p:spPr>
          <a:xfrm>
            <a:off x="731520" y="1956816"/>
            <a:ext cx="10728960" cy="749808"/>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6968" y="2075688"/>
            <a:ext cx="512064" cy="512064"/>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000" b="1">
                <a:solidFill>
                  <a:srgbClr val="FFFFFF"/>
                </a:solidFill>
                <a:latin typeface="Calibri"/>
              </a:rPr>
              <a:t>1</a:t>
            </a:r>
          </a:p>
        </p:txBody>
      </p:sp>
      <p:sp>
        <p:nvSpPr>
          <p:cNvPr id="11" name="TextBox 10"/>
          <p:cNvSpPr txBox="1"/>
          <p:nvPr/>
        </p:nvSpPr>
        <p:spPr>
          <a:xfrm>
            <a:off x="1554480" y="1975104"/>
            <a:ext cx="5303520" cy="384048"/>
          </a:xfrm>
          <a:prstGeom prst="rect">
            <a:avLst/>
          </a:prstGeom>
          <a:noFill/>
        </p:spPr>
        <p:txBody>
          <a:bodyPr wrap="square">
            <a:spAutoFit/>
          </a:bodyPr>
          <a:lstStyle/>
          <a:p>
            <a:r>
              <a:rPr sz="1600" b="1">
                <a:solidFill>
                  <a:srgbClr val="0B2545"/>
                </a:solidFill>
                <a:latin typeface="Calibri"/>
              </a:rPr>
              <a:t>Practical, hands-on skills</a:t>
            </a:r>
          </a:p>
        </p:txBody>
      </p:sp>
      <p:sp>
        <p:nvSpPr>
          <p:cNvPr id="12" name="TextBox 11"/>
          <p:cNvSpPr txBox="1"/>
          <p:nvPr/>
        </p:nvSpPr>
        <p:spPr>
          <a:xfrm>
            <a:off x="1554480" y="2276856"/>
            <a:ext cx="5303520" cy="457200"/>
          </a:xfrm>
          <a:prstGeom prst="rect">
            <a:avLst/>
          </a:prstGeom>
          <a:noFill/>
        </p:spPr>
        <p:txBody>
          <a:bodyPr wrap="square">
            <a:spAutoFit/>
          </a:bodyPr>
          <a:lstStyle/>
          <a:p>
            <a:r>
              <a:rPr sz="1100" b="0">
                <a:solidFill>
                  <a:srgbClr val="5B6675"/>
                </a:solidFill>
                <a:latin typeface="Calibri"/>
              </a:rPr>
              <a:t>“No labs” and “too much theory” drive low course ratings; TryHackMe is praised for its labs</a:t>
            </a:r>
          </a:p>
        </p:txBody>
      </p:sp>
      <p:sp>
        <p:nvSpPr>
          <p:cNvPr id="13" name="Rounded Rectangle 12"/>
          <p:cNvSpPr/>
          <p:nvPr/>
        </p:nvSpPr>
        <p:spPr>
          <a:xfrm>
            <a:off x="6903720" y="2194560"/>
            <a:ext cx="1097280" cy="274320"/>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FUNCTIONAL</a:t>
            </a:r>
          </a:p>
        </p:txBody>
      </p:sp>
      <p:sp>
        <p:nvSpPr>
          <p:cNvPr id="14" name="Rectangle 13"/>
          <p:cNvSpPr/>
          <p:nvPr/>
        </p:nvSpPr>
        <p:spPr>
          <a:xfrm>
            <a:off x="8183879" y="2221992"/>
            <a:ext cx="2606040" cy="219456"/>
          </a:xfrm>
          <a:prstGeom prst="rect">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83879" y="2221992"/>
            <a:ext cx="2606040" cy="2194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35639" y="2121408"/>
            <a:ext cx="685800" cy="411480"/>
          </a:xfrm>
          <a:prstGeom prst="rect">
            <a:avLst/>
          </a:prstGeom>
          <a:noFill/>
        </p:spPr>
        <p:txBody>
          <a:bodyPr wrap="square">
            <a:spAutoFit/>
          </a:bodyPr>
          <a:lstStyle/>
          <a:p>
            <a:r>
              <a:rPr sz="1600" b="1">
                <a:solidFill>
                  <a:srgbClr val="0B2545"/>
                </a:solidFill>
                <a:latin typeface="Calibri"/>
              </a:rPr>
              <a:t>25</a:t>
            </a:r>
          </a:p>
        </p:txBody>
      </p:sp>
      <p:sp>
        <p:nvSpPr>
          <p:cNvPr id="17" name="Rectangle 16"/>
          <p:cNvSpPr/>
          <p:nvPr/>
        </p:nvSpPr>
        <p:spPr>
          <a:xfrm>
            <a:off x="731520" y="2779776"/>
            <a:ext cx="10728960" cy="7498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86968" y="2898648"/>
            <a:ext cx="512064" cy="512064"/>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000" b="1">
                <a:solidFill>
                  <a:srgbClr val="FFFFFF"/>
                </a:solidFill>
                <a:latin typeface="Calibri"/>
              </a:rPr>
              <a:t>2</a:t>
            </a:r>
          </a:p>
        </p:txBody>
      </p:sp>
      <p:sp>
        <p:nvSpPr>
          <p:cNvPr id="19" name="TextBox 18"/>
          <p:cNvSpPr txBox="1"/>
          <p:nvPr/>
        </p:nvSpPr>
        <p:spPr>
          <a:xfrm>
            <a:off x="1554480" y="2798064"/>
            <a:ext cx="5303520" cy="384048"/>
          </a:xfrm>
          <a:prstGeom prst="rect">
            <a:avLst/>
          </a:prstGeom>
          <a:noFill/>
        </p:spPr>
        <p:txBody>
          <a:bodyPr wrap="square">
            <a:spAutoFit/>
          </a:bodyPr>
          <a:lstStyle/>
          <a:p>
            <a:r>
              <a:rPr sz="1600" b="1">
                <a:solidFill>
                  <a:srgbClr val="0B2545"/>
                </a:solidFill>
                <a:latin typeface="Calibri"/>
              </a:rPr>
              <a:t>An affordable price</a:t>
            </a:r>
          </a:p>
        </p:txBody>
      </p:sp>
      <p:sp>
        <p:nvSpPr>
          <p:cNvPr id="20" name="TextBox 19"/>
          <p:cNvSpPr txBox="1"/>
          <p:nvPr/>
        </p:nvSpPr>
        <p:spPr>
          <a:xfrm>
            <a:off x="1554480" y="3099816"/>
            <a:ext cx="5303520" cy="457200"/>
          </a:xfrm>
          <a:prstGeom prst="rect">
            <a:avLst/>
          </a:prstGeom>
          <a:noFill/>
        </p:spPr>
        <p:txBody>
          <a:bodyPr wrap="square">
            <a:spAutoFit/>
          </a:bodyPr>
          <a:lstStyle/>
          <a:p>
            <a:r>
              <a:rPr sz="1100" b="0">
                <a:solidFill>
                  <a:srgbClr val="5B6675"/>
                </a:solidFill>
                <a:latin typeface="Calibri"/>
              </a:rPr>
              <a:t>Rising “free course” searches; 20,000+ apply for about 500 free CyberGirls places</a:t>
            </a:r>
          </a:p>
        </p:txBody>
      </p:sp>
      <p:sp>
        <p:nvSpPr>
          <p:cNvPr id="21" name="Rounded Rectangle 20"/>
          <p:cNvSpPr/>
          <p:nvPr/>
        </p:nvSpPr>
        <p:spPr>
          <a:xfrm>
            <a:off x="6903720" y="3017520"/>
            <a:ext cx="1097280" cy="274320"/>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ECONOMIC</a:t>
            </a:r>
          </a:p>
        </p:txBody>
      </p:sp>
      <p:sp>
        <p:nvSpPr>
          <p:cNvPr id="22" name="Rectangle 21"/>
          <p:cNvSpPr/>
          <p:nvPr/>
        </p:nvSpPr>
        <p:spPr>
          <a:xfrm>
            <a:off x="8183879" y="3044952"/>
            <a:ext cx="2606040" cy="219456"/>
          </a:xfrm>
          <a:prstGeom prst="rect">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83879" y="3044952"/>
            <a:ext cx="2606040" cy="2194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5639" y="2944368"/>
            <a:ext cx="685800" cy="411480"/>
          </a:xfrm>
          <a:prstGeom prst="rect">
            <a:avLst/>
          </a:prstGeom>
          <a:noFill/>
        </p:spPr>
        <p:txBody>
          <a:bodyPr wrap="square">
            <a:spAutoFit/>
          </a:bodyPr>
          <a:lstStyle/>
          <a:p>
            <a:r>
              <a:rPr sz="1600" b="1">
                <a:solidFill>
                  <a:srgbClr val="0B2545"/>
                </a:solidFill>
                <a:latin typeface="Calibri"/>
              </a:rPr>
              <a:t>25</a:t>
            </a:r>
          </a:p>
        </p:txBody>
      </p:sp>
      <p:sp>
        <p:nvSpPr>
          <p:cNvPr id="25" name="Rectangle 24"/>
          <p:cNvSpPr/>
          <p:nvPr/>
        </p:nvSpPr>
        <p:spPr>
          <a:xfrm>
            <a:off x="731520" y="3602736"/>
            <a:ext cx="10728960" cy="749808"/>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86968" y="3721608"/>
            <a:ext cx="512064" cy="512064"/>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000" b="1">
                <a:solidFill>
                  <a:srgbClr val="FFFFFF"/>
                </a:solidFill>
                <a:latin typeface="Calibri"/>
              </a:rPr>
              <a:t>3</a:t>
            </a:r>
          </a:p>
        </p:txBody>
      </p:sp>
      <p:sp>
        <p:nvSpPr>
          <p:cNvPr id="27" name="TextBox 26"/>
          <p:cNvSpPr txBox="1"/>
          <p:nvPr/>
        </p:nvSpPr>
        <p:spPr>
          <a:xfrm>
            <a:off x="1554480" y="3621024"/>
            <a:ext cx="5303520" cy="384048"/>
          </a:xfrm>
          <a:prstGeom prst="rect">
            <a:avLst/>
          </a:prstGeom>
          <a:noFill/>
        </p:spPr>
        <p:txBody>
          <a:bodyPr wrap="square">
            <a:spAutoFit/>
          </a:bodyPr>
          <a:lstStyle/>
          <a:p>
            <a:r>
              <a:rPr sz="1600" b="1">
                <a:solidFill>
                  <a:srgbClr val="0B2545"/>
                </a:solidFill>
                <a:latin typeface="Calibri"/>
              </a:rPr>
              <a:t>Preparation for a recognised certificate</a:t>
            </a:r>
          </a:p>
        </p:txBody>
      </p:sp>
      <p:sp>
        <p:nvSpPr>
          <p:cNvPr id="28" name="TextBox 27"/>
          <p:cNvSpPr txBox="1"/>
          <p:nvPr/>
        </p:nvSpPr>
        <p:spPr>
          <a:xfrm>
            <a:off x="1554480" y="3922776"/>
            <a:ext cx="5303520" cy="457200"/>
          </a:xfrm>
          <a:prstGeom prst="rect">
            <a:avLst/>
          </a:prstGeom>
          <a:noFill/>
        </p:spPr>
        <p:txBody>
          <a:bodyPr wrap="square">
            <a:spAutoFit/>
          </a:bodyPr>
          <a:lstStyle/>
          <a:p>
            <a:r>
              <a:rPr sz="1100" b="0">
                <a:solidFill>
                  <a:srgbClr val="5B6675"/>
                </a:solidFill>
                <a:latin typeface="Calibri"/>
              </a:rPr>
              <a:t>Guides say get Security+ first; ISC2's free exam offer ended in May 2026</a:t>
            </a:r>
          </a:p>
        </p:txBody>
      </p:sp>
      <p:sp>
        <p:nvSpPr>
          <p:cNvPr id="29" name="Rounded Rectangle 28"/>
          <p:cNvSpPr/>
          <p:nvPr/>
        </p:nvSpPr>
        <p:spPr>
          <a:xfrm>
            <a:off x="6903720" y="3840480"/>
            <a:ext cx="1097280" cy="274320"/>
          </a:xfrm>
          <a:prstGeom prst="roundRect">
            <a:avLst>
              <a:gd name="adj" fmla="val 50000"/>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FUNCTIONAL</a:t>
            </a:r>
          </a:p>
        </p:txBody>
      </p:sp>
      <p:sp>
        <p:nvSpPr>
          <p:cNvPr id="30" name="Rectangle 29"/>
          <p:cNvSpPr/>
          <p:nvPr/>
        </p:nvSpPr>
        <p:spPr>
          <a:xfrm>
            <a:off x="8183879" y="3867912"/>
            <a:ext cx="2606040" cy="219456"/>
          </a:xfrm>
          <a:prstGeom prst="rect">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83879" y="3867912"/>
            <a:ext cx="2084832" cy="219456"/>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35639" y="3767328"/>
            <a:ext cx="685800" cy="411480"/>
          </a:xfrm>
          <a:prstGeom prst="rect">
            <a:avLst/>
          </a:prstGeom>
          <a:noFill/>
        </p:spPr>
        <p:txBody>
          <a:bodyPr wrap="square">
            <a:spAutoFit/>
          </a:bodyPr>
          <a:lstStyle/>
          <a:p>
            <a:r>
              <a:rPr sz="1600" b="1">
                <a:solidFill>
                  <a:srgbClr val="0B2545"/>
                </a:solidFill>
                <a:latin typeface="Calibri"/>
              </a:rPr>
              <a:t>20</a:t>
            </a:r>
          </a:p>
        </p:txBody>
      </p:sp>
      <p:sp>
        <p:nvSpPr>
          <p:cNvPr id="33" name="Rectangle 32"/>
          <p:cNvSpPr/>
          <p:nvPr/>
        </p:nvSpPr>
        <p:spPr>
          <a:xfrm>
            <a:off x="731520" y="4425696"/>
            <a:ext cx="10728960" cy="7498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86968" y="4544568"/>
            <a:ext cx="512064" cy="512064"/>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000" b="1">
                <a:solidFill>
                  <a:srgbClr val="FFFFFF"/>
                </a:solidFill>
                <a:latin typeface="Calibri"/>
              </a:rPr>
              <a:t>4</a:t>
            </a:r>
          </a:p>
        </p:txBody>
      </p:sp>
      <p:sp>
        <p:nvSpPr>
          <p:cNvPr id="35" name="TextBox 34"/>
          <p:cNvSpPr txBox="1"/>
          <p:nvPr/>
        </p:nvSpPr>
        <p:spPr>
          <a:xfrm>
            <a:off x="1554480" y="4443984"/>
            <a:ext cx="5303520" cy="384048"/>
          </a:xfrm>
          <a:prstGeom prst="rect">
            <a:avLst/>
          </a:prstGeom>
          <a:noFill/>
        </p:spPr>
        <p:txBody>
          <a:bodyPr wrap="square">
            <a:spAutoFit/>
          </a:bodyPr>
          <a:lstStyle/>
          <a:p>
            <a:r>
              <a:rPr sz="1600" b="1">
                <a:solidFill>
                  <a:srgbClr val="0B2545"/>
                </a:solidFill>
                <a:latin typeface="Calibri"/>
              </a:rPr>
              <a:t>A return on the money: a better-paid job</a:t>
            </a:r>
          </a:p>
        </p:txBody>
      </p:sp>
      <p:sp>
        <p:nvSpPr>
          <p:cNvPr id="36" name="TextBox 35"/>
          <p:cNvSpPr txBox="1"/>
          <p:nvPr/>
        </p:nvSpPr>
        <p:spPr>
          <a:xfrm>
            <a:off x="1554480" y="4745736"/>
            <a:ext cx="5303520" cy="457200"/>
          </a:xfrm>
          <a:prstGeom prst="rect">
            <a:avLst/>
          </a:prstGeom>
          <a:noFill/>
        </p:spPr>
        <p:txBody>
          <a:bodyPr wrap="square">
            <a:spAutoFit/>
          </a:bodyPr>
          <a:lstStyle/>
          <a:p>
            <a:r>
              <a:rPr sz="1100" b="0">
                <a:solidFill>
                  <a:srgbClr val="5B6675"/>
                </a:solidFill>
                <a:latin typeface="Calibri"/>
              </a:rPr>
              <a:t>Junior analysts earn about ₦150,000 to ₦300,000 a month; people search for salaries</a:t>
            </a:r>
          </a:p>
        </p:txBody>
      </p:sp>
      <p:sp>
        <p:nvSpPr>
          <p:cNvPr id="37" name="Rounded Rectangle 36"/>
          <p:cNvSpPr/>
          <p:nvPr/>
        </p:nvSpPr>
        <p:spPr>
          <a:xfrm>
            <a:off x="6903720" y="4663440"/>
            <a:ext cx="1097280" cy="274320"/>
          </a:xfrm>
          <a:prstGeom prst="roundRect">
            <a:avLst>
              <a:gd name="adj" fmla="val 50000"/>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ECONOMIC</a:t>
            </a:r>
          </a:p>
        </p:txBody>
      </p:sp>
      <p:sp>
        <p:nvSpPr>
          <p:cNvPr id="38" name="Rectangle 37"/>
          <p:cNvSpPr/>
          <p:nvPr/>
        </p:nvSpPr>
        <p:spPr>
          <a:xfrm>
            <a:off x="8183879" y="4690872"/>
            <a:ext cx="2606040" cy="219456"/>
          </a:xfrm>
          <a:prstGeom prst="rect">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83879" y="4690872"/>
            <a:ext cx="2084832" cy="219456"/>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35639" y="4590288"/>
            <a:ext cx="685800" cy="411480"/>
          </a:xfrm>
          <a:prstGeom prst="rect">
            <a:avLst/>
          </a:prstGeom>
          <a:noFill/>
        </p:spPr>
        <p:txBody>
          <a:bodyPr wrap="square">
            <a:spAutoFit/>
          </a:bodyPr>
          <a:lstStyle/>
          <a:p>
            <a:r>
              <a:rPr sz="1600" b="1">
                <a:solidFill>
                  <a:srgbClr val="0B2545"/>
                </a:solidFill>
                <a:latin typeface="Calibri"/>
              </a:rPr>
              <a:t>20</a:t>
            </a:r>
          </a:p>
        </p:txBody>
      </p:sp>
      <p:sp>
        <p:nvSpPr>
          <p:cNvPr id="41" name="Rectangle 40"/>
          <p:cNvSpPr/>
          <p:nvPr/>
        </p:nvSpPr>
        <p:spPr>
          <a:xfrm>
            <a:off x="731520" y="5248656"/>
            <a:ext cx="10728960" cy="749808"/>
          </a:xfrm>
          <a:prstGeom prst="rect">
            <a:avLst/>
          </a:prstGeom>
          <a:solidFill>
            <a:srgbClr val="F3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86968" y="5367528"/>
            <a:ext cx="512064" cy="512064"/>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000" b="1">
                <a:solidFill>
                  <a:srgbClr val="FFFFFF"/>
                </a:solidFill>
                <a:latin typeface="Calibri"/>
              </a:rPr>
              <a:t>5</a:t>
            </a:r>
          </a:p>
        </p:txBody>
      </p:sp>
      <p:sp>
        <p:nvSpPr>
          <p:cNvPr id="43" name="TextBox 42"/>
          <p:cNvSpPr txBox="1"/>
          <p:nvPr/>
        </p:nvSpPr>
        <p:spPr>
          <a:xfrm>
            <a:off x="1554480" y="5266944"/>
            <a:ext cx="5303520" cy="384048"/>
          </a:xfrm>
          <a:prstGeom prst="rect">
            <a:avLst/>
          </a:prstGeom>
          <a:noFill/>
        </p:spPr>
        <p:txBody>
          <a:bodyPr wrap="square">
            <a:spAutoFit/>
          </a:bodyPr>
          <a:lstStyle/>
          <a:p>
            <a:r>
              <a:rPr sz="1600" b="1">
                <a:solidFill>
                  <a:srgbClr val="0B2545"/>
                </a:solidFill>
                <a:latin typeface="Calibri"/>
              </a:rPr>
              <a:t>Feeling supported</a:t>
            </a:r>
          </a:p>
        </p:txBody>
      </p:sp>
      <p:sp>
        <p:nvSpPr>
          <p:cNvPr id="44" name="TextBox 43"/>
          <p:cNvSpPr txBox="1"/>
          <p:nvPr/>
        </p:nvSpPr>
        <p:spPr>
          <a:xfrm>
            <a:off x="1554480" y="5568696"/>
            <a:ext cx="5303520" cy="457200"/>
          </a:xfrm>
          <a:prstGeom prst="rect">
            <a:avLst/>
          </a:prstGeom>
          <a:noFill/>
        </p:spPr>
        <p:txBody>
          <a:bodyPr wrap="square">
            <a:spAutoFit/>
          </a:bodyPr>
          <a:lstStyle/>
          <a:p>
            <a:r>
              <a:rPr sz="1100" b="0">
                <a:solidFill>
                  <a:srgbClr val="5B6675"/>
                </a:solidFill>
                <a:latin typeface="Calibri"/>
              </a:rPr>
              <a:t>Slow support is a complaint about ALX, TryHackMe and AltSchool; 48% of cyber professionals feel exhausted keeping up</a:t>
            </a:r>
          </a:p>
        </p:txBody>
      </p:sp>
      <p:sp>
        <p:nvSpPr>
          <p:cNvPr id="45" name="Rounded Rectangle 44"/>
          <p:cNvSpPr/>
          <p:nvPr/>
        </p:nvSpPr>
        <p:spPr>
          <a:xfrm>
            <a:off x="6903720" y="5486400"/>
            <a:ext cx="1097280" cy="274320"/>
          </a:xfrm>
          <a:prstGeom prst="roundRect">
            <a:avLst>
              <a:gd name="adj" fmla="val 50000"/>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EMOTIONAL</a:t>
            </a:r>
          </a:p>
        </p:txBody>
      </p:sp>
      <p:sp>
        <p:nvSpPr>
          <p:cNvPr id="46" name="Rectangle 45"/>
          <p:cNvSpPr/>
          <p:nvPr/>
        </p:nvSpPr>
        <p:spPr>
          <a:xfrm>
            <a:off x="8183879" y="5513832"/>
            <a:ext cx="2606040" cy="219456"/>
          </a:xfrm>
          <a:prstGeom prst="rect">
            <a:avLst/>
          </a:prstGeom>
          <a:solidFill>
            <a:srgbClr val="E3E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83879" y="5513832"/>
            <a:ext cx="2084832" cy="219456"/>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835639" y="5413248"/>
            <a:ext cx="685800" cy="411480"/>
          </a:xfrm>
          <a:prstGeom prst="rect">
            <a:avLst/>
          </a:prstGeom>
          <a:noFill/>
        </p:spPr>
        <p:txBody>
          <a:bodyPr wrap="square">
            <a:spAutoFit/>
          </a:bodyPr>
          <a:lstStyle/>
          <a:p>
            <a:r>
              <a:rPr sz="1600" b="1">
                <a:solidFill>
                  <a:srgbClr val="0B2545"/>
                </a:solidFill>
                <a:latin typeface="Calibri"/>
              </a:rPr>
              <a:t>20</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right)">
                                      <p:cBhvr>
                                        <p:cTn id="21" dur="500"/>
                                        <p:tgtEl>
                                          <p:spTgt spid="9"/>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right)">
                                      <p:cBhvr>
                                        <p:cTn id="24" dur="500"/>
                                        <p:tgtEl>
                                          <p:spTgt spid="10"/>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right)">
                                      <p:cBhvr>
                                        <p:cTn id="27" dur="500"/>
                                        <p:tgtEl>
                                          <p:spTgt spid="11"/>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right)">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wipe(right)">
                                      <p:cBhvr>
                                        <p:cTn id="33" dur="500"/>
                                        <p:tgtEl>
                                          <p:spTgt spid="13"/>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wipe(right)">
                                      <p:cBhvr>
                                        <p:cTn id="36" dur="500"/>
                                        <p:tgtEl>
                                          <p:spTgt spid="14"/>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wipe(right)">
                                      <p:cBhvr>
                                        <p:cTn id="39" dur="500"/>
                                        <p:tgtEl>
                                          <p:spTgt spid="15"/>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wipe(right)">
                                      <p:cBhvr>
                                        <p:cTn id="42" dur="500"/>
                                        <p:tgtEl>
                                          <p:spTgt spid="16"/>
                                        </p:tgtEl>
                                      </p:cBhvr>
                                    </p:animEffect>
                                  </p:childTnLst>
                                </p:cTn>
                              </p:par>
                            </p:childTnLst>
                          </p:cTn>
                        </p:par>
                        <p:par>
                          <p:cTn id="43" fill="hold">
                            <p:stCondLst>
                              <p:cond delay="1500"/>
                            </p:stCondLst>
                            <p:childTnLst>
                              <p:par>
                                <p:cTn id="44" presetID="22" presetClass="entr" presetSubtype="8" fill="hold" grpId="0" nodeType="after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wipe(right)">
                                      <p:cBhvr>
                                        <p:cTn id="46" dur="500"/>
                                        <p:tgtEl>
                                          <p:spTgt spid="17"/>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wipe(right)">
                                      <p:cBhvr>
                                        <p:cTn id="49" dur="500"/>
                                        <p:tgtEl>
                                          <p:spTgt spid="18"/>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right)">
                                      <p:cBhvr>
                                        <p:cTn id="52" dur="500"/>
                                        <p:tgtEl>
                                          <p:spTgt spid="19"/>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wipe(right)">
                                      <p:cBhvr>
                                        <p:cTn id="55" dur="50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500"/>
                                        <p:tgtEl>
                                          <p:spTgt spid="21"/>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wipe(right)">
                                      <p:cBhvr>
                                        <p:cTn id="61" dur="500"/>
                                        <p:tgtEl>
                                          <p:spTgt spid="22"/>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wipe(right)">
                                      <p:cBhvr>
                                        <p:cTn id="64" dur="500"/>
                                        <p:tgtEl>
                                          <p:spTgt spid="23"/>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wipe(right)">
                                      <p:cBhvr>
                                        <p:cTn id="67" dur="500"/>
                                        <p:tgtEl>
                                          <p:spTgt spid="24"/>
                                        </p:tgtEl>
                                      </p:cBhvr>
                                    </p:animEffect>
                                  </p:childTnLst>
                                </p:cTn>
                              </p:par>
                            </p:childTnLst>
                          </p:cTn>
                        </p:par>
                        <p:par>
                          <p:cTn id="68" fill="hold">
                            <p:stCondLst>
                              <p:cond delay="2000"/>
                            </p:stCondLst>
                            <p:childTnLst>
                              <p:par>
                                <p:cTn id="69" presetID="22" presetClass="entr" presetSubtype="8"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wipe(right)">
                                      <p:cBhvr>
                                        <p:cTn id="71" dur="500"/>
                                        <p:tgtEl>
                                          <p:spTgt spid="25"/>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wipe(right)">
                                      <p:cBhvr>
                                        <p:cTn id="74" dur="500"/>
                                        <p:tgtEl>
                                          <p:spTgt spid="26"/>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wipe(right)">
                                      <p:cBhvr>
                                        <p:cTn id="77" dur="500"/>
                                        <p:tgtEl>
                                          <p:spTgt spid="27"/>
                                        </p:tgtEl>
                                      </p:cBhvr>
                                    </p:animEffect>
                                  </p:childTnLst>
                                </p:cTn>
                              </p:par>
                              <p:par>
                                <p:cTn id="78" presetID="22" presetClass="entr" presetSubtype="8"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wipe(right)">
                                      <p:cBhvr>
                                        <p:cTn id="80" dur="500"/>
                                        <p:tgtEl>
                                          <p:spTgt spid="2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wipe(right)">
                                      <p:cBhvr>
                                        <p:cTn id="83" dur="500"/>
                                        <p:tgtEl>
                                          <p:spTgt spid="29"/>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wipe(right)">
                                      <p:cBhvr>
                                        <p:cTn id="86" dur="500"/>
                                        <p:tgtEl>
                                          <p:spTgt spid="30"/>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wipe(right)">
                                      <p:cBhvr>
                                        <p:cTn id="89" dur="500"/>
                                        <p:tgtEl>
                                          <p:spTgt spid="31"/>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wipe(right)">
                                      <p:cBhvr>
                                        <p:cTn id="92" dur="500"/>
                                        <p:tgtEl>
                                          <p:spTgt spid="32"/>
                                        </p:tgtEl>
                                      </p:cBhvr>
                                    </p:animEffect>
                                  </p:childTnLst>
                                </p:cTn>
                              </p:par>
                            </p:childTnLst>
                          </p:cTn>
                        </p:par>
                        <p:par>
                          <p:cTn id="93" fill="hold">
                            <p:stCondLst>
                              <p:cond delay="2500"/>
                            </p:stCondLst>
                            <p:childTnLst>
                              <p:par>
                                <p:cTn id="94" presetID="22" presetClass="entr" presetSubtype="8" fill="hold" grpId="0" nodeType="after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wipe(right)">
                                      <p:cBhvr>
                                        <p:cTn id="96" dur="500"/>
                                        <p:tgtEl>
                                          <p:spTgt spid="33"/>
                                        </p:tgtEl>
                                      </p:cBhvr>
                                    </p:animEffect>
                                  </p:childTnLst>
                                </p:cTn>
                              </p:par>
                              <p:par>
                                <p:cTn id="97" presetID="22" presetClass="entr" presetSubtype="8"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wipe(right)">
                                      <p:cBhvr>
                                        <p:cTn id="99" dur="500"/>
                                        <p:tgtEl>
                                          <p:spTgt spid="34"/>
                                        </p:tgtEl>
                                      </p:cBhvr>
                                    </p:animEffect>
                                  </p:childTnLst>
                                </p:cTn>
                              </p:par>
                              <p:par>
                                <p:cTn id="100" presetID="22" presetClass="entr" presetSubtype="8"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wipe(right)">
                                      <p:cBhvr>
                                        <p:cTn id="102" dur="500"/>
                                        <p:tgtEl>
                                          <p:spTgt spid="35"/>
                                        </p:tgtEl>
                                      </p:cBhvr>
                                    </p:animEffect>
                                  </p:childTnLst>
                                </p:cTn>
                              </p:par>
                              <p:par>
                                <p:cTn id="103" presetID="22" presetClass="entr" presetSubtype="8"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wipe(right)">
                                      <p:cBhvr>
                                        <p:cTn id="105" dur="500"/>
                                        <p:tgtEl>
                                          <p:spTgt spid="36"/>
                                        </p:tgtEl>
                                      </p:cBhvr>
                                    </p:animEffect>
                                  </p:childTnLst>
                                </p:cTn>
                              </p:par>
                              <p:par>
                                <p:cTn id="106" presetID="22" presetClass="entr" presetSubtype="8"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wipe(right)">
                                      <p:cBhvr>
                                        <p:cTn id="108" dur="500"/>
                                        <p:tgtEl>
                                          <p:spTgt spid="37"/>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wipe(right)">
                                      <p:cBhvr>
                                        <p:cTn id="111" dur="500"/>
                                        <p:tgtEl>
                                          <p:spTgt spid="38"/>
                                        </p:tgtEl>
                                      </p:cBhvr>
                                    </p:animEffect>
                                  </p:childTnLst>
                                </p:cTn>
                              </p:par>
                              <p:par>
                                <p:cTn id="112" presetID="22" presetClass="entr" presetSubtype="8"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wipe(right)">
                                      <p:cBhvr>
                                        <p:cTn id="114" dur="500"/>
                                        <p:tgtEl>
                                          <p:spTgt spid="39"/>
                                        </p:tgtEl>
                                      </p:cBhvr>
                                    </p:animEffect>
                                  </p:childTnLst>
                                </p:cTn>
                              </p:par>
                              <p:par>
                                <p:cTn id="115" presetID="22" presetClass="entr" presetSubtype="8"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wipe(right)">
                                      <p:cBhvr>
                                        <p:cTn id="117" dur="500"/>
                                        <p:tgtEl>
                                          <p:spTgt spid="40"/>
                                        </p:tgtEl>
                                      </p:cBhvr>
                                    </p:animEffect>
                                  </p:childTnLst>
                                </p:cTn>
                              </p:par>
                            </p:childTnLst>
                          </p:cTn>
                        </p:par>
                        <p:par>
                          <p:cTn id="118" fill="hold">
                            <p:stCondLst>
                              <p:cond delay="30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right)">
                                      <p:cBhvr>
                                        <p:cTn id="121" dur="500"/>
                                        <p:tgtEl>
                                          <p:spTgt spid="41"/>
                                        </p:tgtEl>
                                      </p:cBhvr>
                                    </p:animEffect>
                                  </p:childTnLst>
                                </p:cTn>
                              </p:par>
                              <p:par>
                                <p:cTn id="122" presetID="22" presetClass="entr" presetSubtype="8" fill="hold" grpId="0"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wipe(right)">
                                      <p:cBhvr>
                                        <p:cTn id="124" dur="500"/>
                                        <p:tgtEl>
                                          <p:spTgt spid="42"/>
                                        </p:tgtEl>
                                      </p:cBhvr>
                                    </p:animEffect>
                                  </p:childTnLst>
                                </p:cTn>
                              </p:par>
                              <p:par>
                                <p:cTn id="125" presetID="22" presetClass="entr" presetSubtype="8" fill="hold" grpId="0"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wipe(right)">
                                      <p:cBhvr>
                                        <p:cTn id="127" dur="500"/>
                                        <p:tgtEl>
                                          <p:spTgt spid="43"/>
                                        </p:tgtEl>
                                      </p:cBhvr>
                                    </p:animEffect>
                                  </p:childTnLst>
                                </p:cTn>
                              </p:par>
                              <p:par>
                                <p:cTn id="128" presetID="22" presetClass="entr" presetSubtype="8" fill="hold" grpId="0" nodeType="with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wipe(right)">
                                      <p:cBhvr>
                                        <p:cTn id="130" dur="500"/>
                                        <p:tgtEl>
                                          <p:spTgt spid="44"/>
                                        </p:tgtEl>
                                      </p:cBhvr>
                                    </p:animEffect>
                                  </p:childTnLst>
                                </p:cTn>
                              </p:par>
                              <p:par>
                                <p:cTn id="131" presetID="22" presetClass="entr" presetSubtype="8"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wipe(right)">
                                      <p:cBhvr>
                                        <p:cTn id="133" dur="500"/>
                                        <p:tgtEl>
                                          <p:spTgt spid="45"/>
                                        </p:tgtEl>
                                      </p:cBhvr>
                                    </p:animEffect>
                                  </p:childTnLst>
                                </p:cTn>
                              </p:par>
                              <p:par>
                                <p:cTn id="134" presetID="22" presetClass="entr" presetSubtype="8" fill="hold" grpId="0" nodeType="with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wipe(right)">
                                      <p:cBhvr>
                                        <p:cTn id="136" dur="500"/>
                                        <p:tgtEl>
                                          <p:spTgt spid="46"/>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animEffect transition="in" filter="wipe(right)">
                                      <p:cBhvr>
                                        <p:cTn id="139" dur="500"/>
                                        <p:tgtEl>
                                          <p:spTgt spid="47"/>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48"/>
                                        </p:tgtEl>
                                        <p:attrNameLst>
                                          <p:attrName>style.visibility</p:attrName>
                                        </p:attrNameLst>
                                      </p:cBhvr>
                                      <p:to>
                                        <p:strVal val="visible"/>
                                      </p:to>
                                    </p:set>
                                    <p:animEffect transition="in" filter="wipe(right)">
                                      <p:cBhvr>
                                        <p:cTn id="142"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Five needs score 20 or more out of 25</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3  ·  THE 5 MOST IMPORTANT NEEDS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Importance of each need, out of 25; the top five in navy</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14</a:t>
            </a:r>
          </a:p>
        </p:txBody>
      </p:sp>
      <p:sp>
        <p:nvSpPr>
          <p:cNvPr id="9" name="Rectangle 8"/>
          <p:cNvSpPr/>
          <p:nvPr/>
        </p:nvSpPr>
        <p:spPr>
          <a:xfrm>
            <a:off x="7818120" y="1965960"/>
            <a:ext cx="3596640" cy="40233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1C2430"/>
                </a:solidFill>
                <a:latin typeface="Calibri"/>
              </a:rPr>
              <a:t>Top 5: </a:t>
            </a:r>
            <a:r>
              <a:rPr sz="1700" b="0">
                <a:solidFill>
                  <a:srgbClr val="1C2430"/>
                </a:solidFill>
                <a:latin typeface="Calibri"/>
              </a:rPr>
              <a:t>two functional, two economic and one emotional need.</a:t>
            </a:r>
          </a:p>
          <a:p>
            <a:pPr>
              <a:spcAft>
                <a:spcPts val="1200"/>
              </a:spcAft>
            </a:pPr>
            <a:r>
              <a:rPr sz="1700" b="1">
                <a:solidFill>
                  <a:srgbClr val="1C2430"/>
                </a:solidFill>
                <a:latin typeface="Calibri"/>
              </a:rPr>
              <a:t>Skills and money </a:t>
            </a:r>
            <a:r>
              <a:rPr sz="1700" b="0">
                <a:solidFill>
                  <a:srgbClr val="1C2430"/>
                </a:solidFill>
                <a:latin typeface="Calibri"/>
              </a:rPr>
              <a:t>matter most.</a:t>
            </a:r>
          </a:p>
          <a:p>
            <a:pPr>
              <a:spcAft>
                <a:spcPts val="1200"/>
              </a:spcAft>
            </a:pPr>
            <a:r>
              <a:rPr sz="1700" b="1">
                <a:solidFill>
                  <a:srgbClr val="1C2430"/>
                </a:solidFill>
                <a:latin typeface="Calibri"/>
              </a:rPr>
              <a:t>Social needs </a:t>
            </a:r>
            <a:r>
              <a:rPr sz="1700" b="0">
                <a:solidFill>
                  <a:srgbClr val="1C2430"/>
                </a:solidFill>
                <a:latin typeface="Calibri"/>
              </a:rPr>
              <a:t>score lowest, but still shape the brand.</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right)">
                                      <p:cBhvr>
                                        <p:cTn id="21" dur="500"/>
                                        <p:tgtEl>
                                          <p:spTgt spid="3"/>
                                        </p:tgtEl>
                                      </p:cBhvr>
                                    </p:animEffect>
                                  </p:childTnLst>
                                </p:cTn>
                              </p:par>
                            </p:childTnLst>
                          </p:cTn>
                        </p:par>
                        <p:par>
                          <p:cTn id="22" fill="hold">
                            <p:stCondLst>
                              <p:cond delay="15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Graphic spid="3" grpId="0">
        <p:bldAsOne/>
      </p:bldGraphic>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04</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Four Market Segments</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Demographic, geographic, psychographic and behavioural</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4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The market splits into four segments</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4  ·  FOUR MARKET SEGMENTS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Each segment on the four bases: demographic, geographic, psychographic and behavioural</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16</a:t>
            </a:r>
          </a:p>
        </p:txBody>
      </p:sp>
      <p:sp>
        <p:nvSpPr>
          <p:cNvPr id="9" name="Rectangle 8"/>
          <p:cNvSpPr/>
          <p:nvPr/>
        </p:nvSpPr>
        <p:spPr>
          <a:xfrm>
            <a:off x="731520" y="1920240"/>
            <a:ext cx="2545080" cy="42519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2545080" cy="566928"/>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500" b="1">
                <a:solidFill>
                  <a:srgbClr val="FFFFFF"/>
                </a:solidFill>
                <a:latin typeface="Calibri"/>
              </a:rPr>
              <a:t>Campus Starters</a:t>
            </a:r>
          </a:p>
        </p:txBody>
      </p:sp>
      <p:sp>
        <p:nvSpPr>
          <p:cNvPr id="11" name="TextBox 10"/>
          <p:cNvSpPr txBox="1"/>
          <p:nvPr/>
        </p:nvSpPr>
        <p:spPr>
          <a:xfrm>
            <a:off x="841248" y="2560320"/>
            <a:ext cx="2325624" cy="457200"/>
          </a:xfrm>
          <a:prstGeom prst="rect">
            <a:avLst/>
          </a:prstGeom>
          <a:noFill/>
        </p:spPr>
        <p:txBody>
          <a:bodyPr wrap="square">
            <a:spAutoFit/>
          </a:bodyPr>
          <a:lstStyle/>
          <a:p>
            <a:r>
              <a:rPr sz="1100" b="1">
                <a:solidFill>
                  <a:srgbClr val="1F6FB2"/>
                </a:solidFill>
                <a:latin typeface="Calibri"/>
              </a:rPr>
              <a:t>2.1 million university students (NUC)</a:t>
            </a:r>
          </a:p>
        </p:txBody>
      </p:sp>
      <p:sp>
        <p:nvSpPr>
          <p:cNvPr id="12" name="TextBox 11"/>
          <p:cNvSpPr txBox="1"/>
          <p:nvPr/>
        </p:nvSpPr>
        <p:spPr>
          <a:xfrm>
            <a:off x="841248" y="3017520"/>
            <a:ext cx="2325624" cy="768096"/>
          </a:xfrm>
          <a:prstGeom prst="rect">
            <a:avLst/>
          </a:prstGeom>
          <a:noFill/>
        </p:spPr>
        <p:txBody>
          <a:bodyPr wrap="square">
            <a:spAutoFit/>
          </a:bodyPr>
          <a:lstStyle/>
          <a:p>
            <a:pPr>
              <a:spcAft>
                <a:spcPts val="0"/>
              </a:spcAft>
            </a:pPr>
            <a:r>
              <a:rPr sz="900" b="1">
                <a:solidFill>
                  <a:srgbClr val="5B6675"/>
                </a:solidFill>
                <a:latin typeface="Calibri"/>
              </a:rPr>
              <a:t>DEMOGRAPHIC</a:t>
            </a:r>
          </a:p>
          <a:p>
            <a:pPr>
              <a:spcAft>
                <a:spcPts val="0"/>
              </a:spcAft>
            </a:pPr>
            <a:r>
              <a:rPr sz="1200" b="0">
                <a:solidFill>
                  <a:srgbClr val="1C2430"/>
                </a:solidFill>
                <a:latin typeface="Calibri"/>
              </a:rPr>
              <a:t>Students and new graduates, 18 to 24; little or no income</a:t>
            </a:r>
          </a:p>
        </p:txBody>
      </p:sp>
      <p:sp>
        <p:nvSpPr>
          <p:cNvPr id="13" name="TextBox 12"/>
          <p:cNvSpPr txBox="1"/>
          <p:nvPr/>
        </p:nvSpPr>
        <p:spPr>
          <a:xfrm>
            <a:off x="841248" y="3785616"/>
            <a:ext cx="2325624" cy="768096"/>
          </a:xfrm>
          <a:prstGeom prst="rect">
            <a:avLst/>
          </a:prstGeom>
          <a:noFill/>
        </p:spPr>
        <p:txBody>
          <a:bodyPr wrap="square">
            <a:spAutoFit/>
          </a:bodyPr>
          <a:lstStyle/>
          <a:p>
            <a:pPr>
              <a:spcAft>
                <a:spcPts val="0"/>
              </a:spcAft>
            </a:pPr>
            <a:r>
              <a:rPr sz="900" b="1">
                <a:solidFill>
                  <a:srgbClr val="5B6675"/>
                </a:solidFill>
                <a:latin typeface="Calibri"/>
              </a:rPr>
              <a:t>GEOGRAPHIC</a:t>
            </a:r>
          </a:p>
          <a:p>
            <a:pPr>
              <a:spcAft>
                <a:spcPts val="0"/>
              </a:spcAft>
            </a:pPr>
            <a:r>
              <a:rPr sz="1200" b="0">
                <a:solidFill>
                  <a:srgbClr val="1C2430"/>
                </a:solidFill>
                <a:latin typeface="Calibri"/>
              </a:rPr>
              <a:t>University towns across Nigeria; online</a:t>
            </a:r>
          </a:p>
        </p:txBody>
      </p:sp>
      <p:sp>
        <p:nvSpPr>
          <p:cNvPr id="14" name="TextBox 13"/>
          <p:cNvSpPr txBox="1"/>
          <p:nvPr/>
        </p:nvSpPr>
        <p:spPr>
          <a:xfrm>
            <a:off x="841248" y="4553712"/>
            <a:ext cx="2325624" cy="768096"/>
          </a:xfrm>
          <a:prstGeom prst="rect">
            <a:avLst/>
          </a:prstGeom>
          <a:noFill/>
        </p:spPr>
        <p:txBody>
          <a:bodyPr wrap="square">
            <a:spAutoFit/>
          </a:bodyPr>
          <a:lstStyle/>
          <a:p>
            <a:pPr>
              <a:spcAft>
                <a:spcPts val="0"/>
              </a:spcAft>
            </a:pPr>
            <a:r>
              <a:rPr sz="900" b="1">
                <a:solidFill>
                  <a:srgbClr val="5B6675"/>
                </a:solidFill>
                <a:latin typeface="Calibri"/>
              </a:rPr>
              <a:t>PSYCHOGRAPHIC</a:t>
            </a:r>
          </a:p>
          <a:p>
            <a:pPr>
              <a:spcAft>
                <a:spcPts val="0"/>
              </a:spcAft>
            </a:pPr>
            <a:r>
              <a:rPr sz="1200" b="0">
                <a:solidFill>
                  <a:srgbClr val="1C2430"/>
                </a:solidFill>
                <a:latin typeface="Calibri"/>
              </a:rPr>
              <a:t>Ambitious and curious; want a head start before graduating</a:t>
            </a:r>
          </a:p>
        </p:txBody>
      </p:sp>
      <p:sp>
        <p:nvSpPr>
          <p:cNvPr id="15" name="TextBox 14"/>
          <p:cNvSpPr txBox="1"/>
          <p:nvPr/>
        </p:nvSpPr>
        <p:spPr>
          <a:xfrm>
            <a:off x="841248" y="5321808"/>
            <a:ext cx="2325624" cy="768096"/>
          </a:xfrm>
          <a:prstGeom prst="rect">
            <a:avLst/>
          </a:prstGeom>
          <a:noFill/>
        </p:spPr>
        <p:txBody>
          <a:bodyPr wrap="square">
            <a:spAutoFit/>
          </a:bodyPr>
          <a:lstStyle/>
          <a:p>
            <a:pPr>
              <a:spcAft>
                <a:spcPts val="0"/>
              </a:spcAft>
            </a:pPr>
            <a:r>
              <a:rPr sz="900" b="1">
                <a:solidFill>
                  <a:srgbClr val="5B6675"/>
                </a:solidFill>
                <a:latin typeface="Calibri"/>
              </a:rPr>
              <a:t>BEHAVIOURAL</a:t>
            </a:r>
          </a:p>
          <a:p>
            <a:pPr>
              <a:spcAft>
                <a:spcPts val="0"/>
              </a:spcAft>
            </a:pPr>
            <a:r>
              <a:rPr sz="1200" b="0">
                <a:solidFill>
                  <a:srgbClr val="1C2430"/>
                </a:solidFill>
                <a:latin typeface="Calibri"/>
              </a:rPr>
              <a:t>Search for “free course”; learn on YouTube and TikTok; very price-driven</a:t>
            </a:r>
          </a:p>
        </p:txBody>
      </p:sp>
      <p:sp>
        <p:nvSpPr>
          <p:cNvPr id="16" name="Rectangle 15"/>
          <p:cNvSpPr/>
          <p:nvPr/>
        </p:nvSpPr>
        <p:spPr>
          <a:xfrm>
            <a:off x="3459480" y="1920240"/>
            <a:ext cx="2545080" cy="4251960"/>
          </a:xfrm>
          <a:prstGeom prst="rect">
            <a:avLst/>
          </a:prstGeom>
          <a:solidFill>
            <a:srgbClr val="FFFFFF"/>
          </a:solidFill>
          <a:ln w="28575">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59480" y="1920240"/>
            <a:ext cx="2545080" cy="566928"/>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500" b="1">
                <a:solidFill>
                  <a:srgbClr val="FFFFFF"/>
                </a:solidFill>
                <a:latin typeface="Calibri"/>
              </a:rPr>
              <a:t>Career Switchers</a:t>
            </a:r>
          </a:p>
        </p:txBody>
      </p:sp>
      <p:sp>
        <p:nvSpPr>
          <p:cNvPr id="18" name="TextBox 17"/>
          <p:cNvSpPr txBox="1"/>
          <p:nvPr/>
        </p:nvSpPr>
        <p:spPr>
          <a:xfrm>
            <a:off x="3569208" y="2560320"/>
            <a:ext cx="2325624" cy="457200"/>
          </a:xfrm>
          <a:prstGeom prst="rect">
            <a:avLst/>
          </a:prstGeom>
          <a:noFill/>
        </p:spPr>
        <p:txBody>
          <a:bodyPr wrap="square">
            <a:spAutoFit/>
          </a:bodyPr>
          <a:lstStyle/>
          <a:p>
            <a:r>
              <a:rPr sz="1100" b="1">
                <a:solidFill>
                  <a:srgbClr val="168277"/>
                </a:solidFill>
                <a:latin typeface="Calibri"/>
              </a:rPr>
              <a:t>109 million internet users; median age about 19</a:t>
            </a:r>
          </a:p>
        </p:txBody>
      </p:sp>
      <p:sp>
        <p:nvSpPr>
          <p:cNvPr id="19" name="TextBox 18"/>
          <p:cNvSpPr txBox="1"/>
          <p:nvPr/>
        </p:nvSpPr>
        <p:spPr>
          <a:xfrm>
            <a:off x="3569208" y="3017520"/>
            <a:ext cx="2325624" cy="768096"/>
          </a:xfrm>
          <a:prstGeom prst="rect">
            <a:avLst/>
          </a:prstGeom>
          <a:noFill/>
        </p:spPr>
        <p:txBody>
          <a:bodyPr wrap="square">
            <a:spAutoFit/>
          </a:bodyPr>
          <a:lstStyle/>
          <a:p>
            <a:pPr>
              <a:spcAft>
                <a:spcPts val="0"/>
              </a:spcAft>
            </a:pPr>
            <a:r>
              <a:rPr sz="900" b="1">
                <a:solidFill>
                  <a:srgbClr val="5B6675"/>
                </a:solidFill>
                <a:latin typeface="Calibri"/>
              </a:rPr>
              <a:t>DEMOGRAPHIC</a:t>
            </a:r>
          </a:p>
          <a:p>
            <a:pPr>
              <a:spcAft>
                <a:spcPts val="0"/>
              </a:spcAft>
            </a:pPr>
            <a:r>
              <a:rPr sz="1200" b="0">
                <a:solidFill>
                  <a:srgbClr val="1C2430"/>
                </a:solidFill>
                <a:latin typeface="Calibri"/>
              </a:rPr>
              <a:t>Working adults, 25 to 35, in non-IT jobs; steady but modest pay</a:t>
            </a:r>
          </a:p>
        </p:txBody>
      </p:sp>
      <p:sp>
        <p:nvSpPr>
          <p:cNvPr id="20" name="TextBox 19"/>
          <p:cNvSpPr txBox="1"/>
          <p:nvPr/>
        </p:nvSpPr>
        <p:spPr>
          <a:xfrm>
            <a:off x="3569208" y="3785616"/>
            <a:ext cx="2325624" cy="768096"/>
          </a:xfrm>
          <a:prstGeom prst="rect">
            <a:avLst/>
          </a:prstGeom>
          <a:noFill/>
        </p:spPr>
        <p:txBody>
          <a:bodyPr wrap="square">
            <a:spAutoFit/>
          </a:bodyPr>
          <a:lstStyle/>
          <a:p>
            <a:pPr>
              <a:spcAft>
                <a:spcPts val="0"/>
              </a:spcAft>
            </a:pPr>
            <a:r>
              <a:rPr sz="900" b="1">
                <a:solidFill>
                  <a:srgbClr val="5B6675"/>
                </a:solidFill>
                <a:latin typeface="Calibri"/>
              </a:rPr>
              <a:t>GEOGRAPHIC</a:t>
            </a:r>
          </a:p>
          <a:p>
            <a:pPr>
              <a:spcAft>
                <a:spcPts val="0"/>
              </a:spcAft>
            </a:pPr>
            <a:r>
              <a:rPr sz="1200" b="0">
                <a:solidFill>
                  <a:srgbClr val="1C2430"/>
                </a:solidFill>
                <a:latin typeface="Calibri"/>
              </a:rPr>
              <a:t>Lagos, Abuja and Port Harcourt; online in the evenings and at weekends</a:t>
            </a:r>
          </a:p>
        </p:txBody>
      </p:sp>
      <p:sp>
        <p:nvSpPr>
          <p:cNvPr id="21" name="TextBox 20"/>
          <p:cNvSpPr txBox="1"/>
          <p:nvPr/>
        </p:nvSpPr>
        <p:spPr>
          <a:xfrm>
            <a:off x="3569208" y="4553712"/>
            <a:ext cx="2325624" cy="768096"/>
          </a:xfrm>
          <a:prstGeom prst="rect">
            <a:avLst/>
          </a:prstGeom>
          <a:noFill/>
        </p:spPr>
        <p:txBody>
          <a:bodyPr wrap="square">
            <a:spAutoFit/>
          </a:bodyPr>
          <a:lstStyle/>
          <a:p>
            <a:pPr>
              <a:spcAft>
                <a:spcPts val="0"/>
              </a:spcAft>
            </a:pPr>
            <a:r>
              <a:rPr sz="900" b="1">
                <a:solidFill>
                  <a:srgbClr val="5B6675"/>
                </a:solidFill>
                <a:latin typeface="Calibri"/>
              </a:rPr>
              <a:t>PSYCHOGRAPHIC</a:t>
            </a:r>
          </a:p>
          <a:p>
            <a:pPr>
              <a:spcAft>
                <a:spcPts val="0"/>
              </a:spcAft>
            </a:pPr>
            <a:r>
              <a:rPr sz="1200" b="0">
                <a:solidFill>
                  <a:srgbClr val="1C2430"/>
                </a:solidFill>
                <a:latin typeface="Calibri"/>
              </a:rPr>
              <a:t>Want a better-paid, future-proof career; careful with money</a:t>
            </a:r>
          </a:p>
        </p:txBody>
      </p:sp>
      <p:sp>
        <p:nvSpPr>
          <p:cNvPr id="22" name="TextBox 21"/>
          <p:cNvSpPr txBox="1"/>
          <p:nvPr/>
        </p:nvSpPr>
        <p:spPr>
          <a:xfrm>
            <a:off x="3569208" y="5321808"/>
            <a:ext cx="2325624" cy="768096"/>
          </a:xfrm>
          <a:prstGeom prst="rect">
            <a:avLst/>
          </a:prstGeom>
          <a:noFill/>
        </p:spPr>
        <p:txBody>
          <a:bodyPr wrap="square">
            <a:spAutoFit/>
          </a:bodyPr>
          <a:lstStyle/>
          <a:p>
            <a:pPr>
              <a:spcAft>
                <a:spcPts val="0"/>
              </a:spcAft>
            </a:pPr>
            <a:r>
              <a:rPr sz="900" b="1">
                <a:solidFill>
                  <a:srgbClr val="5B6675"/>
                </a:solidFill>
                <a:latin typeface="Calibri"/>
              </a:rPr>
              <a:t>BEHAVIOURAL</a:t>
            </a:r>
          </a:p>
          <a:p>
            <a:pPr>
              <a:spcAft>
                <a:spcPts val="0"/>
              </a:spcAft>
            </a:pPr>
            <a:r>
              <a:rPr sz="1200" b="0">
                <a:solidFill>
                  <a:srgbClr val="1C2430"/>
                </a:solidFill>
                <a:latin typeface="Calibri"/>
              </a:rPr>
              <a:t>Compare courses and read reviews; search for salaries; pay in instalments</a:t>
            </a:r>
          </a:p>
        </p:txBody>
      </p:sp>
      <p:sp>
        <p:nvSpPr>
          <p:cNvPr id="23" name="Rectangle 22"/>
          <p:cNvSpPr/>
          <p:nvPr/>
        </p:nvSpPr>
        <p:spPr>
          <a:xfrm>
            <a:off x="6187440" y="1920240"/>
            <a:ext cx="2545080" cy="42519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87440" y="1920240"/>
            <a:ext cx="2545080" cy="566928"/>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500" b="1">
                <a:solidFill>
                  <a:srgbClr val="1C2430"/>
                </a:solidFill>
                <a:latin typeface="Calibri"/>
              </a:rPr>
              <a:t>Corporate Upskillers</a:t>
            </a:r>
          </a:p>
        </p:txBody>
      </p:sp>
      <p:sp>
        <p:nvSpPr>
          <p:cNvPr id="25" name="TextBox 24"/>
          <p:cNvSpPr txBox="1"/>
          <p:nvPr/>
        </p:nvSpPr>
        <p:spPr>
          <a:xfrm>
            <a:off x="6297168" y="2560320"/>
            <a:ext cx="2325624" cy="457200"/>
          </a:xfrm>
          <a:prstGeom prst="rect">
            <a:avLst/>
          </a:prstGeom>
          <a:noFill/>
        </p:spPr>
        <p:txBody>
          <a:bodyPr wrap="square">
            <a:spAutoFit/>
          </a:bodyPr>
          <a:lstStyle/>
          <a:p>
            <a:r>
              <a:rPr sz="1100" b="1">
                <a:solidFill>
                  <a:srgbClr val="9A5A1E"/>
                </a:solidFill>
                <a:latin typeface="Calibri"/>
              </a:rPr>
              <a:t>Banks, finance and insurance are 29.2% of the cyber market</a:t>
            </a:r>
          </a:p>
        </p:txBody>
      </p:sp>
      <p:sp>
        <p:nvSpPr>
          <p:cNvPr id="26" name="TextBox 25"/>
          <p:cNvSpPr txBox="1"/>
          <p:nvPr/>
        </p:nvSpPr>
        <p:spPr>
          <a:xfrm>
            <a:off x="6297168" y="3017520"/>
            <a:ext cx="2325624" cy="768096"/>
          </a:xfrm>
          <a:prstGeom prst="rect">
            <a:avLst/>
          </a:prstGeom>
          <a:noFill/>
        </p:spPr>
        <p:txBody>
          <a:bodyPr wrap="square">
            <a:spAutoFit/>
          </a:bodyPr>
          <a:lstStyle/>
          <a:p>
            <a:pPr>
              <a:spcAft>
                <a:spcPts val="0"/>
              </a:spcAft>
            </a:pPr>
            <a:r>
              <a:rPr sz="900" b="1">
                <a:solidFill>
                  <a:srgbClr val="5B6675"/>
                </a:solidFill>
                <a:latin typeface="Calibri"/>
              </a:rPr>
              <a:t>DEMOGRAPHIC</a:t>
            </a:r>
          </a:p>
          <a:p>
            <a:pPr>
              <a:spcAft>
                <a:spcPts val="0"/>
              </a:spcAft>
            </a:pPr>
            <a:r>
              <a:rPr sz="1200" b="0">
                <a:solidFill>
                  <a:srgbClr val="1C2430"/>
                </a:solidFill>
                <a:latin typeface="Calibri"/>
              </a:rPr>
              <a:t>Staff of banks, telecoms and government, 25 to 45; the employer pays</a:t>
            </a:r>
          </a:p>
        </p:txBody>
      </p:sp>
      <p:sp>
        <p:nvSpPr>
          <p:cNvPr id="27" name="TextBox 26"/>
          <p:cNvSpPr txBox="1"/>
          <p:nvPr/>
        </p:nvSpPr>
        <p:spPr>
          <a:xfrm>
            <a:off x="6297168" y="3785616"/>
            <a:ext cx="2325624" cy="768096"/>
          </a:xfrm>
          <a:prstGeom prst="rect">
            <a:avLst/>
          </a:prstGeom>
          <a:noFill/>
        </p:spPr>
        <p:txBody>
          <a:bodyPr wrap="square">
            <a:spAutoFit/>
          </a:bodyPr>
          <a:lstStyle/>
          <a:p>
            <a:pPr>
              <a:spcAft>
                <a:spcPts val="0"/>
              </a:spcAft>
            </a:pPr>
            <a:r>
              <a:rPr sz="900" b="1">
                <a:solidFill>
                  <a:srgbClr val="5B6675"/>
                </a:solidFill>
                <a:latin typeface="Calibri"/>
              </a:rPr>
              <a:t>GEOGRAPHIC</a:t>
            </a:r>
          </a:p>
          <a:p>
            <a:pPr>
              <a:spcAft>
                <a:spcPts val="0"/>
              </a:spcAft>
            </a:pPr>
            <a:r>
              <a:rPr sz="1200" b="0">
                <a:solidFill>
                  <a:srgbClr val="1C2430"/>
                </a:solidFill>
                <a:latin typeface="Calibri"/>
              </a:rPr>
              <a:t>Head offices in Lagos and Abuja</a:t>
            </a:r>
          </a:p>
        </p:txBody>
      </p:sp>
      <p:sp>
        <p:nvSpPr>
          <p:cNvPr id="28" name="TextBox 27"/>
          <p:cNvSpPr txBox="1"/>
          <p:nvPr/>
        </p:nvSpPr>
        <p:spPr>
          <a:xfrm>
            <a:off x="6297168" y="4553712"/>
            <a:ext cx="2325624" cy="768096"/>
          </a:xfrm>
          <a:prstGeom prst="rect">
            <a:avLst/>
          </a:prstGeom>
          <a:noFill/>
        </p:spPr>
        <p:txBody>
          <a:bodyPr wrap="square">
            <a:spAutoFit/>
          </a:bodyPr>
          <a:lstStyle/>
          <a:p>
            <a:pPr>
              <a:spcAft>
                <a:spcPts val="0"/>
              </a:spcAft>
            </a:pPr>
            <a:r>
              <a:rPr sz="900" b="1">
                <a:solidFill>
                  <a:srgbClr val="5B6675"/>
                </a:solidFill>
                <a:latin typeface="Calibri"/>
              </a:rPr>
              <a:t>PSYCHOGRAPHIC</a:t>
            </a:r>
          </a:p>
          <a:p>
            <a:pPr>
              <a:spcAft>
                <a:spcPts val="0"/>
              </a:spcAft>
            </a:pPr>
            <a:r>
              <a:rPr sz="1200" b="0">
                <a:solidFill>
                  <a:srgbClr val="1C2430"/>
                </a:solidFill>
                <a:latin typeface="Calibri"/>
              </a:rPr>
              <a:t>Career growth and doing things by the book</a:t>
            </a:r>
          </a:p>
        </p:txBody>
      </p:sp>
      <p:sp>
        <p:nvSpPr>
          <p:cNvPr id="29" name="TextBox 28"/>
          <p:cNvSpPr txBox="1"/>
          <p:nvPr/>
        </p:nvSpPr>
        <p:spPr>
          <a:xfrm>
            <a:off x="6297168" y="5321808"/>
            <a:ext cx="2325624" cy="768096"/>
          </a:xfrm>
          <a:prstGeom prst="rect">
            <a:avLst/>
          </a:prstGeom>
          <a:noFill/>
        </p:spPr>
        <p:txBody>
          <a:bodyPr wrap="square">
            <a:spAutoFit/>
          </a:bodyPr>
          <a:lstStyle/>
          <a:p>
            <a:pPr>
              <a:spcAft>
                <a:spcPts val="0"/>
              </a:spcAft>
            </a:pPr>
            <a:r>
              <a:rPr sz="900" b="1">
                <a:solidFill>
                  <a:srgbClr val="5B6675"/>
                </a:solidFill>
                <a:latin typeface="Calibri"/>
              </a:rPr>
              <a:t>BEHAVIOURAL</a:t>
            </a:r>
          </a:p>
          <a:p>
            <a:pPr>
              <a:spcAft>
                <a:spcPts val="0"/>
              </a:spcAft>
            </a:pPr>
            <a:r>
              <a:rPr sz="1200" b="0">
                <a:solidFill>
                  <a:srgbClr val="1C2430"/>
                </a:solidFill>
                <a:latin typeface="Calibri"/>
              </a:rPr>
              <a:t>Buy through HR in groups; want recognised certificates</a:t>
            </a:r>
          </a:p>
        </p:txBody>
      </p:sp>
      <p:sp>
        <p:nvSpPr>
          <p:cNvPr id="30" name="Rectangle 29"/>
          <p:cNvSpPr/>
          <p:nvPr/>
        </p:nvSpPr>
        <p:spPr>
          <a:xfrm>
            <a:off x="8915400" y="1920240"/>
            <a:ext cx="2545080" cy="42519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15400" y="1920240"/>
            <a:ext cx="2545080" cy="566928"/>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500" b="1">
                <a:solidFill>
                  <a:srgbClr val="FFFFFF"/>
                </a:solidFill>
                <a:latin typeface="Calibri"/>
              </a:rPr>
              <a:t>Women in Tech Starters</a:t>
            </a:r>
          </a:p>
        </p:txBody>
      </p:sp>
      <p:sp>
        <p:nvSpPr>
          <p:cNvPr id="32" name="TextBox 31"/>
          <p:cNvSpPr txBox="1"/>
          <p:nvPr/>
        </p:nvSpPr>
        <p:spPr>
          <a:xfrm>
            <a:off x="9025128" y="2560320"/>
            <a:ext cx="2325624" cy="457200"/>
          </a:xfrm>
          <a:prstGeom prst="rect">
            <a:avLst/>
          </a:prstGeom>
          <a:noFill/>
        </p:spPr>
        <p:txBody>
          <a:bodyPr wrap="square">
            <a:spAutoFit/>
          </a:bodyPr>
          <a:lstStyle/>
          <a:p>
            <a:r>
              <a:rPr sz="1100" b="1">
                <a:solidFill>
                  <a:srgbClr val="D1462F"/>
                </a:solidFill>
                <a:latin typeface="Calibri"/>
              </a:rPr>
              <a:t>20,000+ applications a year to CyberGirls</a:t>
            </a:r>
          </a:p>
        </p:txBody>
      </p:sp>
      <p:sp>
        <p:nvSpPr>
          <p:cNvPr id="33" name="TextBox 32"/>
          <p:cNvSpPr txBox="1"/>
          <p:nvPr/>
        </p:nvSpPr>
        <p:spPr>
          <a:xfrm>
            <a:off x="9025128" y="3017520"/>
            <a:ext cx="2325624" cy="768096"/>
          </a:xfrm>
          <a:prstGeom prst="rect">
            <a:avLst/>
          </a:prstGeom>
          <a:noFill/>
        </p:spPr>
        <p:txBody>
          <a:bodyPr wrap="square">
            <a:spAutoFit/>
          </a:bodyPr>
          <a:lstStyle/>
          <a:p>
            <a:pPr>
              <a:spcAft>
                <a:spcPts val="0"/>
              </a:spcAft>
            </a:pPr>
            <a:r>
              <a:rPr sz="900" b="1">
                <a:solidFill>
                  <a:srgbClr val="5B6675"/>
                </a:solidFill>
                <a:latin typeface="Calibri"/>
              </a:rPr>
              <a:t>DEMOGRAPHIC</a:t>
            </a:r>
          </a:p>
          <a:p>
            <a:pPr>
              <a:spcAft>
                <a:spcPts val="0"/>
              </a:spcAft>
            </a:pPr>
            <a:r>
              <a:rPr sz="1200" b="0">
                <a:solidFill>
                  <a:srgbClr val="1C2430"/>
                </a:solidFill>
                <a:latin typeface="Calibri"/>
              </a:rPr>
              <a:t>Women 18 to 30, students and graduates</a:t>
            </a:r>
          </a:p>
        </p:txBody>
      </p:sp>
      <p:sp>
        <p:nvSpPr>
          <p:cNvPr id="34" name="TextBox 33"/>
          <p:cNvSpPr txBox="1"/>
          <p:nvPr/>
        </p:nvSpPr>
        <p:spPr>
          <a:xfrm>
            <a:off x="9025128" y="3785616"/>
            <a:ext cx="2325624" cy="768096"/>
          </a:xfrm>
          <a:prstGeom prst="rect">
            <a:avLst/>
          </a:prstGeom>
          <a:noFill/>
        </p:spPr>
        <p:txBody>
          <a:bodyPr wrap="square">
            <a:spAutoFit/>
          </a:bodyPr>
          <a:lstStyle/>
          <a:p>
            <a:pPr>
              <a:spcAft>
                <a:spcPts val="0"/>
              </a:spcAft>
            </a:pPr>
            <a:r>
              <a:rPr sz="900" b="1">
                <a:solidFill>
                  <a:srgbClr val="5B6675"/>
                </a:solidFill>
                <a:latin typeface="Calibri"/>
              </a:rPr>
              <a:t>GEOGRAPHIC</a:t>
            </a:r>
          </a:p>
          <a:p>
            <a:pPr>
              <a:spcAft>
                <a:spcPts val="0"/>
              </a:spcAft>
            </a:pPr>
            <a:r>
              <a:rPr sz="1200" b="0">
                <a:solidFill>
                  <a:srgbClr val="1C2430"/>
                </a:solidFill>
                <a:latin typeface="Calibri"/>
              </a:rPr>
              <a:t>Nationwide, online, with hubs in Lagos and Abuja</a:t>
            </a:r>
          </a:p>
        </p:txBody>
      </p:sp>
      <p:sp>
        <p:nvSpPr>
          <p:cNvPr id="35" name="TextBox 34"/>
          <p:cNvSpPr txBox="1"/>
          <p:nvPr/>
        </p:nvSpPr>
        <p:spPr>
          <a:xfrm>
            <a:off x="9025128" y="4553712"/>
            <a:ext cx="2325624" cy="768096"/>
          </a:xfrm>
          <a:prstGeom prst="rect">
            <a:avLst/>
          </a:prstGeom>
          <a:noFill/>
        </p:spPr>
        <p:txBody>
          <a:bodyPr wrap="square">
            <a:spAutoFit/>
          </a:bodyPr>
          <a:lstStyle/>
          <a:p>
            <a:pPr>
              <a:spcAft>
                <a:spcPts val="0"/>
              </a:spcAft>
            </a:pPr>
            <a:r>
              <a:rPr sz="900" b="1">
                <a:solidFill>
                  <a:srgbClr val="5B6675"/>
                </a:solidFill>
                <a:latin typeface="Calibri"/>
              </a:rPr>
              <a:t>PSYCHOGRAPHIC</a:t>
            </a:r>
          </a:p>
          <a:p>
            <a:pPr>
              <a:spcAft>
                <a:spcPts val="0"/>
              </a:spcAft>
            </a:pPr>
            <a:r>
              <a:rPr sz="1200" b="0">
                <a:solidFill>
                  <a:srgbClr val="1C2430"/>
                </a:solidFill>
                <a:latin typeface="Calibri"/>
              </a:rPr>
              <a:t>Want a safe, supportive community and role models</a:t>
            </a:r>
          </a:p>
        </p:txBody>
      </p:sp>
      <p:sp>
        <p:nvSpPr>
          <p:cNvPr id="36" name="TextBox 35"/>
          <p:cNvSpPr txBox="1"/>
          <p:nvPr/>
        </p:nvSpPr>
        <p:spPr>
          <a:xfrm>
            <a:off x="9025128" y="5321808"/>
            <a:ext cx="2325624" cy="768096"/>
          </a:xfrm>
          <a:prstGeom prst="rect">
            <a:avLst/>
          </a:prstGeom>
          <a:noFill/>
        </p:spPr>
        <p:txBody>
          <a:bodyPr wrap="square">
            <a:spAutoFit/>
          </a:bodyPr>
          <a:lstStyle/>
          <a:p>
            <a:pPr>
              <a:spcAft>
                <a:spcPts val="0"/>
              </a:spcAft>
            </a:pPr>
            <a:r>
              <a:rPr sz="900" b="1">
                <a:solidFill>
                  <a:srgbClr val="5B6675"/>
                </a:solidFill>
                <a:latin typeface="Calibri"/>
              </a:rPr>
              <a:t>BEHAVIOURAL</a:t>
            </a:r>
          </a:p>
          <a:p>
            <a:pPr>
              <a:spcAft>
                <a:spcPts val="0"/>
              </a:spcAft>
            </a:pPr>
            <a:r>
              <a:rPr sz="1200" b="0">
                <a:solidFill>
                  <a:srgbClr val="1C2430"/>
                </a:solidFill>
                <a:latin typeface="Calibri"/>
              </a:rPr>
              <a:t>Apply for free fellowships; follow women's tech groups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par>
                          <p:cTn id="40" fill="hold">
                            <p:stCondLst>
                              <p:cond delay="1500"/>
                            </p:stCondLst>
                            <p:childTnLst>
                              <p:par>
                                <p:cTn id="41" presetID="10" presetClass="entr" presetSubtype="0" fill="hold" grpId="0" nodeType="after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childTnLst>
                          </p:cTn>
                        </p:par>
                        <p:par>
                          <p:cTn id="62" fill="hold">
                            <p:stCondLst>
                              <p:cond delay="2000"/>
                            </p:stCondLst>
                            <p:childTnLst>
                              <p:par>
                                <p:cTn id="63" presetID="10" presetClass="entr" presetSubtype="0" fill="hold" grpId="0" nodeType="after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childTnLst>
                          </p:cTn>
                        </p:par>
                        <p:par>
                          <p:cTn id="84" fill="hold">
                            <p:stCondLst>
                              <p:cond delay="2500"/>
                            </p:stCondLst>
                            <p:childTnLst>
                              <p:par>
                                <p:cTn id="85" presetID="10" presetClass="entr" presetSubtype="0" fill="hold" grpId="0" nodeType="after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05</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Segment Scores</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Market size, accessibility, buying potential and competition</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5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Career Switchers have the best overall score</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5  ·  SEGMENT SCORES</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Scores 1 (low) to 5 (high), darker = better; for competition, 5 = little competition</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18</a:t>
            </a:r>
          </a:p>
        </p:txBody>
      </p:sp>
      <p:sp>
        <p:nvSpPr>
          <p:cNvPr id="9" name="Rectangle 8"/>
          <p:cNvSpPr/>
          <p:nvPr/>
        </p:nvSpPr>
        <p:spPr>
          <a:xfrm>
            <a:off x="731520" y="1920240"/>
            <a:ext cx="274320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Segment</a:t>
            </a:r>
          </a:p>
        </p:txBody>
      </p:sp>
      <p:sp>
        <p:nvSpPr>
          <p:cNvPr id="10" name="Rectangle 9"/>
          <p:cNvSpPr/>
          <p:nvPr/>
        </p:nvSpPr>
        <p:spPr>
          <a:xfrm>
            <a:off x="3474720" y="1920240"/>
            <a:ext cx="160020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Market size</a:t>
            </a:r>
          </a:p>
          <a:p>
            <a:pPr algn="ctr"/>
            <a:r>
              <a:rPr sz="1300" b="1">
                <a:solidFill>
                  <a:srgbClr val="FFFFFF"/>
                </a:solidFill>
                <a:latin typeface="Calibri"/>
              </a:rPr>
              <a:t>(25%)</a:t>
            </a:r>
          </a:p>
        </p:txBody>
      </p:sp>
      <p:sp>
        <p:nvSpPr>
          <p:cNvPr id="11" name="Rectangle 10"/>
          <p:cNvSpPr/>
          <p:nvPr/>
        </p:nvSpPr>
        <p:spPr>
          <a:xfrm>
            <a:off x="5074920" y="1920240"/>
            <a:ext cx="160020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Accessibility</a:t>
            </a:r>
          </a:p>
          <a:p>
            <a:pPr algn="ctr"/>
            <a:r>
              <a:rPr sz="1300" b="1">
                <a:solidFill>
                  <a:srgbClr val="FFFFFF"/>
                </a:solidFill>
                <a:latin typeface="Calibri"/>
              </a:rPr>
              <a:t>(25%)</a:t>
            </a:r>
          </a:p>
        </p:txBody>
      </p:sp>
      <p:sp>
        <p:nvSpPr>
          <p:cNvPr id="12" name="Rectangle 11"/>
          <p:cNvSpPr/>
          <p:nvPr/>
        </p:nvSpPr>
        <p:spPr>
          <a:xfrm>
            <a:off x="6675120" y="1920240"/>
            <a:ext cx="160020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Buying potential</a:t>
            </a:r>
          </a:p>
          <a:p>
            <a:pPr algn="ctr"/>
            <a:r>
              <a:rPr sz="1300" b="1">
                <a:solidFill>
                  <a:srgbClr val="FFFFFF"/>
                </a:solidFill>
                <a:latin typeface="Calibri"/>
              </a:rPr>
              <a:t>(30%)</a:t>
            </a:r>
          </a:p>
        </p:txBody>
      </p:sp>
      <p:sp>
        <p:nvSpPr>
          <p:cNvPr id="13" name="Rectangle 12"/>
          <p:cNvSpPr/>
          <p:nvPr/>
        </p:nvSpPr>
        <p:spPr>
          <a:xfrm>
            <a:off x="8275320" y="1920240"/>
            <a:ext cx="160020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Competition</a:t>
            </a:r>
          </a:p>
          <a:p>
            <a:pPr algn="ctr"/>
            <a:r>
              <a:rPr sz="1300" b="1">
                <a:solidFill>
                  <a:srgbClr val="FFFFFF"/>
                </a:solidFill>
                <a:latin typeface="Calibri"/>
              </a:rPr>
              <a:t>(20%)</a:t>
            </a:r>
          </a:p>
        </p:txBody>
      </p:sp>
      <p:sp>
        <p:nvSpPr>
          <p:cNvPr id="14" name="Rectangle 13"/>
          <p:cNvSpPr/>
          <p:nvPr/>
        </p:nvSpPr>
        <p:spPr>
          <a:xfrm>
            <a:off x="9875520" y="1920240"/>
            <a:ext cx="1737360" cy="603504"/>
          </a:xfrm>
          <a:prstGeom prst="rect">
            <a:avLst/>
          </a:prstGeom>
          <a:solidFill>
            <a:srgbClr val="0B254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r>
              <a:rPr sz="1300" b="1">
                <a:solidFill>
                  <a:srgbClr val="FFFFFF"/>
                </a:solidFill>
                <a:latin typeface="Calibri"/>
              </a:rPr>
              <a:t>Weighted score</a:t>
            </a:r>
          </a:p>
        </p:txBody>
      </p:sp>
      <p:sp>
        <p:nvSpPr>
          <p:cNvPr id="15" name="Rectangle 14"/>
          <p:cNvSpPr/>
          <p:nvPr/>
        </p:nvSpPr>
        <p:spPr>
          <a:xfrm>
            <a:off x="731520" y="2523744"/>
            <a:ext cx="274320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2523744"/>
            <a:ext cx="91440" cy="804672"/>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615184"/>
            <a:ext cx="2468880" cy="365760"/>
          </a:xfrm>
          <a:prstGeom prst="rect">
            <a:avLst/>
          </a:prstGeom>
          <a:noFill/>
        </p:spPr>
        <p:txBody>
          <a:bodyPr wrap="square">
            <a:spAutoFit/>
          </a:bodyPr>
          <a:lstStyle/>
          <a:p>
            <a:r>
              <a:rPr sz="1500" b="1">
                <a:solidFill>
                  <a:srgbClr val="0B2545"/>
                </a:solidFill>
                <a:latin typeface="Calibri"/>
              </a:rPr>
              <a:t>Campus Starters</a:t>
            </a:r>
          </a:p>
        </p:txBody>
      </p:sp>
      <p:sp>
        <p:nvSpPr>
          <p:cNvPr id="18" name="Rectangle 17"/>
          <p:cNvSpPr/>
          <p:nvPr/>
        </p:nvSpPr>
        <p:spPr>
          <a:xfrm>
            <a:off x="3474720" y="2523744"/>
            <a:ext cx="1600200" cy="804672"/>
          </a:xfrm>
          <a:prstGeom prst="rect">
            <a:avLst/>
          </a:prstGeom>
          <a:solidFill>
            <a:srgbClr val="1F5FA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5</a:t>
            </a:r>
          </a:p>
        </p:txBody>
      </p:sp>
      <p:sp>
        <p:nvSpPr>
          <p:cNvPr id="19" name="Rectangle 18"/>
          <p:cNvSpPr/>
          <p:nvPr/>
        </p:nvSpPr>
        <p:spPr>
          <a:xfrm>
            <a:off x="5074920" y="2523744"/>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20" name="Rectangle 19"/>
          <p:cNvSpPr/>
          <p:nvPr/>
        </p:nvSpPr>
        <p:spPr>
          <a:xfrm>
            <a:off x="6675120" y="2523744"/>
            <a:ext cx="1600200" cy="804672"/>
          </a:xfrm>
          <a:prstGeom prst="rect">
            <a:avLst/>
          </a:prstGeom>
          <a:solidFill>
            <a:srgbClr val="D3E2F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2</a:t>
            </a:r>
          </a:p>
        </p:txBody>
      </p:sp>
      <p:sp>
        <p:nvSpPr>
          <p:cNvPr id="21" name="Rectangle 20"/>
          <p:cNvSpPr/>
          <p:nvPr/>
        </p:nvSpPr>
        <p:spPr>
          <a:xfrm>
            <a:off x="8275320" y="2523744"/>
            <a:ext cx="1600200" cy="804672"/>
          </a:xfrm>
          <a:prstGeom prst="rect">
            <a:avLst/>
          </a:prstGeom>
          <a:solidFill>
            <a:srgbClr val="D3E2F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2</a:t>
            </a:r>
          </a:p>
        </p:txBody>
      </p:sp>
      <p:sp>
        <p:nvSpPr>
          <p:cNvPr id="22" name="Rectangle 21"/>
          <p:cNvSpPr/>
          <p:nvPr/>
        </p:nvSpPr>
        <p:spPr>
          <a:xfrm>
            <a:off x="9875520" y="2523744"/>
            <a:ext cx="173736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012680" y="3054096"/>
            <a:ext cx="950976" cy="146304"/>
          </a:xfrm>
          <a:prstGeom prst="rect">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66960" y="2578608"/>
            <a:ext cx="1554480" cy="438912"/>
          </a:xfrm>
          <a:prstGeom prst="rect">
            <a:avLst/>
          </a:prstGeom>
          <a:noFill/>
        </p:spPr>
        <p:txBody>
          <a:bodyPr wrap="square">
            <a:spAutoFit/>
          </a:bodyPr>
          <a:lstStyle/>
          <a:p>
            <a:pPr algn="ctr"/>
            <a:r>
              <a:rPr sz="1800" b="1">
                <a:solidFill>
                  <a:srgbClr val="0B2545"/>
                </a:solidFill>
                <a:latin typeface="Calibri"/>
              </a:rPr>
              <a:t>3.25</a:t>
            </a:r>
          </a:p>
        </p:txBody>
      </p:sp>
      <p:sp>
        <p:nvSpPr>
          <p:cNvPr id="25" name="Rectangle 24"/>
          <p:cNvSpPr/>
          <p:nvPr/>
        </p:nvSpPr>
        <p:spPr>
          <a:xfrm>
            <a:off x="731520" y="3328416"/>
            <a:ext cx="274320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3328416"/>
            <a:ext cx="91440" cy="804672"/>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3419856"/>
            <a:ext cx="2468880" cy="365760"/>
          </a:xfrm>
          <a:prstGeom prst="rect">
            <a:avLst/>
          </a:prstGeom>
          <a:noFill/>
        </p:spPr>
        <p:txBody>
          <a:bodyPr wrap="square">
            <a:spAutoFit/>
          </a:bodyPr>
          <a:lstStyle/>
          <a:p>
            <a:r>
              <a:rPr sz="1500" b="1">
                <a:solidFill>
                  <a:srgbClr val="0B2545"/>
                </a:solidFill>
                <a:latin typeface="Calibri"/>
              </a:rPr>
              <a:t>Career Switchers</a:t>
            </a:r>
          </a:p>
        </p:txBody>
      </p:sp>
      <p:sp>
        <p:nvSpPr>
          <p:cNvPr id="28" name="Rounded Rectangle 27"/>
          <p:cNvSpPr/>
          <p:nvPr/>
        </p:nvSpPr>
        <p:spPr>
          <a:xfrm>
            <a:off x="987552" y="3803904"/>
            <a:ext cx="822960" cy="237744"/>
          </a:xfrm>
          <a:prstGeom prst="roundRect">
            <a:avLst>
              <a:gd name="adj" fmla="val 50000"/>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900" b="1">
                <a:solidFill>
                  <a:srgbClr val="FFFFFF"/>
                </a:solidFill>
                <a:latin typeface="Calibri"/>
              </a:rPr>
              <a:t>TARGET</a:t>
            </a:r>
          </a:p>
        </p:txBody>
      </p:sp>
      <p:sp>
        <p:nvSpPr>
          <p:cNvPr id="29" name="Rectangle 28"/>
          <p:cNvSpPr/>
          <p:nvPr/>
        </p:nvSpPr>
        <p:spPr>
          <a:xfrm>
            <a:off x="3474720" y="3328416"/>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30" name="Rectangle 29"/>
          <p:cNvSpPr/>
          <p:nvPr/>
        </p:nvSpPr>
        <p:spPr>
          <a:xfrm>
            <a:off x="5074920" y="3328416"/>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31" name="Rectangle 30"/>
          <p:cNvSpPr/>
          <p:nvPr/>
        </p:nvSpPr>
        <p:spPr>
          <a:xfrm>
            <a:off x="6675120" y="3328416"/>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32" name="Rectangle 31"/>
          <p:cNvSpPr/>
          <p:nvPr/>
        </p:nvSpPr>
        <p:spPr>
          <a:xfrm>
            <a:off x="8275320" y="3328416"/>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33" name="Rectangle 32"/>
          <p:cNvSpPr/>
          <p:nvPr/>
        </p:nvSpPr>
        <p:spPr>
          <a:xfrm>
            <a:off x="9875520" y="3328416"/>
            <a:ext cx="173736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012680" y="3858768"/>
            <a:ext cx="1170432" cy="146304"/>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6960" y="3383280"/>
            <a:ext cx="1554480" cy="438912"/>
          </a:xfrm>
          <a:prstGeom prst="rect">
            <a:avLst/>
          </a:prstGeom>
          <a:noFill/>
        </p:spPr>
        <p:txBody>
          <a:bodyPr wrap="square">
            <a:spAutoFit/>
          </a:bodyPr>
          <a:lstStyle/>
          <a:p>
            <a:pPr algn="ctr"/>
            <a:r>
              <a:rPr sz="1800" b="1">
                <a:solidFill>
                  <a:srgbClr val="0B2545"/>
                </a:solidFill>
                <a:latin typeface="Calibri"/>
              </a:rPr>
              <a:t>4.00</a:t>
            </a:r>
          </a:p>
        </p:txBody>
      </p:sp>
      <p:sp>
        <p:nvSpPr>
          <p:cNvPr id="36" name="Rectangle 35"/>
          <p:cNvSpPr/>
          <p:nvPr/>
        </p:nvSpPr>
        <p:spPr>
          <a:xfrm>
            <a:off x="731520" y="4133088"/>
            <a:ext cx="274320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4133088"/>
            <a:ext cx="91440" cy="804672"/>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224528"/>
            <a:ext cx="2468880" cy="365760"/>
          </a:xfrm>
          <a:prstGeom prst="rect">
            <a:avLst/>
          </a:prstGeom>
          <a:noFill/>
        </p:spPr>
        <p:txBody>
          <a:bodyPr wrap="square">
            <a:spAutoFit/>
          </a:bodyPr>
          <a:lstStyle/>
          <a:p>
            <a:r>
              <a:rPr sz="1500" b="1">
                <a:solidFill>
                  <a:srgbClr val="0B2545"/>
                </a:solidFill>
                <a:latin typeface="Calibri"/>
              </a:rPr>
              <a:t>Corporate Upskillers</a:t>
            </a:r>
          </a:p>
        </p:txBody>
      </p:sp>
      <p:sp>
        <p:nvSpPr>
          <p:cNvPr id="39" name="Rectangle 38"/>
          <p:cNvSpPr/>
          <p:nvPr/>
        </p:nvSpPr>
        <p:spPr>
          <a:xfrm>
            <a:off x="3474720" y="4133088"/>
            <a:ext cx="1600200" cy="804672"/>
          </a:xfrm>
          <a:prstGeom prst="rect">
            <a:avLst/>
          </a:prstGeom>
          <a:solidFill>
            <a:srgbClr val="D3E2F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2</a:t>
            </a:r>
          </a:p>
        </p:txBody>
      </p:sp>
      <p:sp>
        <p:nvSpPr>
          <p:cNvPr id="40" name="Rectangle 39"/>
          <p:cNvSpPr/>
          <p:nvPr/>
        </p:nvSpPr>
        <p:spPr>
          <a:xfrm>
            <a:off x="5074920" y="4133088"/>
            <a:ext cx="1600200" cy="804672"/>
          </a:xfrm>
          <a:prstGeom prst="rect">
            <a:avLst/>
          </a:prstGeom>
          <a:solidFill>
            <a:srgbClr val="A6C3E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3</a:t>
            </a:r>
          </a:p>
        </p:txBody>
      </p:sp>
      <p:sp>
        <p:nvSpPr>
          <p:cNvPr id="41" name="Rectangle 40"/>
          <p:cNvSpPr/>
          <p:nvPr/>
        </p:nvSpPr>
        <p:spPr>
          <a:xfrm>
            <a:off x="6675120" y="4133088"/>
            <a:ext cx="1600200" cy="804672"/>
          </a:xfrm>
          <a:prstGeom prst="rect">
            <a:avLst/>
          </a:prstGeom>
          <a:solidFill>
            <a:srgbClr val="1F5FA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5</a:t>
            </a:r>
          </a:p>
        </p:txBody>
      </p:sp>
      <p:sp>
        <p:nvSpPr>
          <p:cNvPr id="42" name="Rectangle 41"/>
          <p:cNvSpPr/>
          <p:nvPr/>
        </p:nvSpPr>
        <p:spPr>
          <a:xfrm>
            <a:off x="8275320" y="4133088"/>
            <a:ext cx="1600200" cy="804672"/>
          </a:xfrm>
          <a:prstGeom prst="rect">
            <a:avLst/>
          </a:prstGeom>
          <a:solidFill>
            <a:srgbClr val="D3E2F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2</a:t>
            </a:r>
          </a:p>
        </p:txBody>
      </p:sp>
      <p:sp>
        <p:nvSpPr>
          <p:cNvPr id="43" name="Rectangle 42"/>
          <p:cNvSpPr/>
          <p:nvPr/>
        </p:nvSpPr>
        <p:spPr>
          <a:xfrm>
            <a:off x="9875520" y="4133088"/>
            <a:ext cx="173736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12680" y="4663440"/>
            <a:ext cx="921715" cy="146304"/>
          </a:xfrm>
          <a:prstGeom prst="rect">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66960" y="4187952"/>
            <a:ext cx="1554480" cy="438912"/>
          </a:xfrm>
          <a:prstGeom prst="rect">
            <a:avLst/>
          </a:prstGeom>
          <a:noFill/>
        </p:spPr>
        <p:txBody>
          <a:bodyPr wrap="square">
            <a:spAutoFit/>
          </a:bodyPr>
          <a:lstStyle/>
          <a:p>
            <a:pPr algn="ctr"/>
            <a:r>
              <a:rPr sz="1800" b="1">
                <a:solidFill>
                  <a:srgbClr val="0B2545"/>
                </a:solidFill>
                <a:latin typeface="Calibri"/>
              </a:rPr>
              <a:t>3.15</a:t>
            </a:r>
          </a:p>
        </p:txBody>
      </p:sp>
      <p:sp>
        <p:nvSpPr>
          <p:cNvPr id="46" name="Rectangle 45"/>
          <p:cNvSpPr/>
          <p:nvPr/>
        </p:nvSpPr>
        <p:spPr>
          <a:xfrm>
            <a:off x="731520" y="4937760"/>
            <a:ext cx="274320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1520" y="4937760"/>
            <a:ext cx="91440" cy="804672"/>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5029200"/>
            <a:ext cx="2468880" cy="365760"/>
          </a:xfrm>
          <a:prstGeom prst="rect">
            <a:avLst/>
          </a:prstGeom>
          <a:noFill/>
        </p:spPr>
        <p:txBody>
          <a:bodyPr wrap="square">
            <a:spAutoFit/>
          </a:bodyPr>
          <a:lstStyle/>
          <a:p>
            <a:r>
              <a:rPr sz="1500" b="1">
                <a:solidFill>
                  <a:srgbClr val="0B2545"/>
                </a:solidFill>
                <a:latin typeface="Calibri"/>
              </a:rPr>
              <a:t>Women in Tech Starters</a:t>
            </a:r>
          </a:p>
        </p:txBody>
      </p:sp>
      <p:sp>
        <p:nvSpPr>
          <p:cNvPr id="49" name="Rectangle 48"/>
          <p:cNvSpPr/>
          <p:nvPr/>
        </p:nvSpPr>
        <p:spPr>
          <a:xfrm>
            <a:off x="3474720" y="4937760"/>
            <a:ext cx="1600200" cy="804672"/>
          </a:xfrm>
          <a:prstGeom prst="rect">
            <a:avLst/>
          </a:prstGeom>
          <a:solidFill>
            <a:srgbClr val="A6C3E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3</a:t>
            </a:r>
          </a:p>
        </p:txBody>
      </p:sp>
      <p:sp>
        <p:nvSpPr>
          <p:cNvPr id="50" name="Rectangle 49"/>
          <p:cNvSpPr/>
          <p:nvPr/>
        </p:nvSpPr>
        <p:spPr>
          <a:xfrm>
            <a:off x="5074920" y="4937760"/>
            <a:ext cx="1600200" cy="804672"/>
          </a:xfrm>
          <a:prstGeom prst="rect">
            <a:avLst/>
          </a:prstGeom>
          <a:solidFill>
            <a:srgbClr val="5B8FCC"/>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FFFFFF"/>
                </a:solidFill>
                <a:latin typeface="Calibri"/>
              </a:rPr>
              <a:t>4</a:t>
            </a:r>
          </a:p>
        </p:txBody>
      </p:sp>
      <p:sp>
        <p:nvSpPr>
          <p:cNvPr id="51" name="Rectangle 50"/>
          <p:cNvSpPr/>
          <p:nvPr/>
        </p:nvSpPr>
        <p:spPr>
          <a:xfrm>
            <a:off x="6675120" y="4937760"/>
            <a:ext cx="1600200" cy="804672"/>
          </a:xfrm>
          <a:prstGeom prst="rect">
            <a:avLst/>
          </a:prstGeom>
          <a:solidFill>
            <a:srgbClr val="D3E2F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2</a:t>
            </a:r>
          </a:p>
        </p:txBody>
      </p:sp>
      <p:sp>
        <p:nvSpPr>
          <p:cNvPr id="52" name="Rectangle 51"/>
          <p:cNvSpPr/>
          <p:nvPr/>
        </p:nvSpPr>
        <p:spPr>
          <a:xfrm>
            <a:off x="8275320" y="4937760"/>
            <a:ext cx="1600200" cy="804672"/>
          </a:xfrm>
          <a:prstGeom prst="rect">
            <a:avLst/>
          </a:prstGeom>
          <a:solidFill>
            <a:srgbClr val="A6C3E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C2430"/>
                </a:solidFill>
                <a:latin typeface="Calibri"/>
              </a:rPr>
              <a:t>3</a:t>
            </a:r>
          </a:p>
        </p:txBody>
      </p:sp>
      <p:sp>
        <p:nvSpPr>
          <p:cNvPr id="53" name="Rectangle 52"/>
          <p:cNvSpPr/>
          <p:nvPr/>
        </p:nvSpPr>
        <p:spPr>
          <a:xfrm>
            <a:off x="9875520" y="4937760"/>
            <a:ext cx="1737360" cy="804672"/>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12680" y="5468112"/>
            <a:ext cx="863193" cy="146304"/>
          </a:xfrm>
          <a:prstGeom prst="rect">
            <a:avLst/>
          </a:prstGeom>
          <a:solidFill>
            <a:srgbClr val="C5CC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66960" y="4992624"/>
            <a:ext cx="1554480" cy="438912"/>
          </a:xfrm>
          <a:prstGeom prst="rect">
            <a:avLst/>
          </a:prstGeom>
          <a:noFill/>
        </p:spPr>
        <p:txBody>
          <a:bodyPr wrap="square">
            <a:spAutoFit/>
          </a:bodyPr>
          <a:lstStyle/>
          <a:p>
            <a:pPr algn="ctr"/>
            <a:r>
              <a:rPr sz="1800" b="1">
                <a:solidFill>
                  <a:srgbClr val="0B2545"/>
                </a:solidFill>
                <a:latin typeface="Calibri"/>
              </a:rPr>
              <a:t>2.95</a:t>
            </a:r>
          </a:p>
        </p:txBody>
      </p:sp>
      <p:sp>
        <p:nvSpPr>
          <p:cNvPr id="56" name="TextBox 55"/>
          <p:cNvSpPr txBox="1"/>
          <p:nvPr/>
        </p:nvSpPr>
        <p:spPr>
          <a:xfrm>
            <a:off x="640080" y="5852160"/>
            <a:ext cx="10911840" cy="365760"/>
          </a:xfrm>
          <a:prstGeom prst="rect">
            <a:avLst/>
          </a:prstGeom>
          <a:noFill/>
        </p:spPr>
        <p:txBody>
          <a:bodyPr wrap="square">
            <a:spAutoFit/>
          </a:bodyPr>
          <a:lstStyle/>
          <a:p>
            <a:r>
              <a:rPr sz="1400" b="0">
                <a:solidFill>
                  <a:srgbClr val="5B6675"/>
                </a:solidFill>
                <a:latin typeface="Calibri"/>
              </a:rPr>
              <a:t>Weighted score (of 5) = SUMPRODUCT of the weights and the scores, worked out in Excel.</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childTnLst>
                          </p:cTn>
                        </p:par>
                        <p:par>
                          <p:cTn id="68" fill="hold">
                            <p:stCondLst>
                              <p:cond delay="2000"/>
                            </p:stCondLst>
                            <p:childTnLst>
                              <p:par>
                                <p:cTn id="69" presetID="10" presetClass="entr" presetSubtype="0"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childTnLst>
                          </p:cTn>
                        </p:par>
                        <p:par>
                          <p:cTn id="102" fill="hold">
                            <p:stCondLst>
                              <p:cond delay="2500"/>
                            </p:stCondLst>
                            <p:childTnLst>
                              <p:par>
                                <p:cTn id="103" presetID="10" presetClass="entr" presetSubtype="0"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00"/>
                                        <p:tgtEl>
                                          <p:spTgt spid="4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500"/>
                                        <p:tgtEl>
                                          <p:spTgt spid="4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00"/>
                                        <p:tgtEl>
                                          <p:spTgt spid="4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500"/>
                                        <p:tgtEl>
                                          <p:spTgt spid="45"/>
                                        </p:tgtEl>
                                      </p:cBhvr>
                                    </p:animEffect>
                                  </p:childTnLst>
                                </p:cTn>
                              </p:par>
                            </p:childTnLst>
                          </p:cTn>
                        </p:par>
                        <p:par>
                          <p:cTn id="133" fill="hold">
                            <p:stCondLst>
                              <p:cond delay="3000"/>
                            </p:stCondLst>
                            <p:childTnLst>
                              <p:par>
                                <p:cTn id="134" presetID="10" presetClass="entr" presetSubtype="0" fill="hold" grpId="0" nodeType="after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500"/>
                                        <p:tgtEl>
                                          <p:spTgt spid="46"/>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39" dur="500"/>
                                        <p:tgtEl>
                                          <p:spTgt spid="47"/>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2" dur="500"/>
                                        <p:tgtEl>
                                          <p:spTgt spid="48"/>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5" dur="500"/>
                                        <p:tgtEl>
                                          <p:spTgt spid="4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8" dur="500"/>
                                        <p:tgtEl>
                                          <p:spTgt spid="5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52"/>
                                        </p:tgtEl>
                                        <p:attrNameLst>
                                          <p:attrName>style.visibility</p:attrName>
                                        </p:attrNameLst>
                                      </p:cBhvr>
                                      <p:to>
                                        <p:strVal val="visible"/>
                                      </p:to>
                                    </p:set>
                                    <p:animEffect transition="in" filter="fade">
                                      <p:cBhvr>
                                        <p:cTn id="154" dur="500"/>
                                        <p:tgtEl>
                                          <p:spTgt spid="5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53"/>
                                        </p:tgtEl>
                                        <p:attrNameLst>
                                          <p:attrName>style.visibility</p:attrName>
                                        </p:attrNameLst>
                                      </p:cBhvr>
                                      <p:to>
                                        <p:strVal val="visible"/>
                                      </p:to>
                                    </p:set>
                                    <p:animEffect transition="in" filter="fade">
                                      <p:cBhvr>
                                        <p:cTn id="157" dur="500"/>
                                        <p:tgtEl>
                                          <p:spTgt spid="53"/>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54"/>
                                        </p:tgtEl>
                                        <p:attrNameLst>
                                          <p:attrName>style.visibility</p:attrName>
                                        </p:attrNameLst>
                                      </p:cBhvr>
                                      <p:to>
                                        <p:strVal val="visible"/>
                                      </p:to>
                                    </p:set>
                                    <p:animEffect transition="in" filter="fade">
                                      <p:cBhvr>
                                        <p:cTn id="160" dur="500"/>
                                        <p:tgtEl>
                                          <p:spTgt spid="5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55"/>
                                        </p:tgtEl>
                                        <p:attrNameLst>
                                          <p:attrName>style.visibility</p:attrName>
                                        </p:attrNameLst>
                                      </p:cBhvr>
                                      <p:to>
                                        <p:strVal val="visible"/>
                                      </p:to>
                                    </p:set>
                                    <p:animEffect transition="in" filter="fade">
                                      <p:cBhvr>
                                        <p:cTn id="163" dur="500"/>
                                        <p:tgtEl>
                                          <p:spTgt spid="55"/>
                                        </p:tgtEl>
                                      </p:cBhvr>
                                    </p:animEffect>
                                  </p:childTnLst>
                                </p:cTn>
                              </p:par>
                            </p:childTnLst>
                          </p:cTn>
                        </p:par>
                        <p:par>
                          <p:cTn id="164" fill="hold">
                            <p:stCondLst>
                              <p:cond delay="3500"/>
                            </p:stCondLst>
                            <p:childTnLst>
                              <p:par>
                                <p:cTn id="165" presetID="10" presetClass="entr" presetSubtype="0" fill="hold" grpId="0" nodeType="after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fade">
                                      <p:cBhvr>
                                        <p:cTn id="167"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8" name="TextBox 7"/>
          <p:cNvSpPr txBox="1"/>
          <p:nvPr/>
        </p:nvSpPr>
        <p:spPr>
          <a:xfrm>
            <a:off x="7071360" y="1188720"/>
            <a:ext cx="4206240" cy="3291840"/>
          </a:xfrm>
          <a:prstGeom prst="rect">
            <a:avLst/>
          </a:prstGeom>
          <a:noFill/>
        </p:spPr>
        <p:txBody>
          <a:bodyPr wrap="square">
            <a:spAutoFit/>
          </a:bodyPr>
          <a:lstStyle/>
          <a:p>
            <a:pPr algn="r"/>
            <a:r>
              <a:rPr sz="20000" b="0">
                <a:solidFill>
                  <a:srgbClr val="24598F"/>
                </a:solidFill>
                <a:latin typeface="Calibri Light"/>
              </a:rPr>
              <a:t>06</a:t>
            </a:r>
          </a:p>
        </p:txBody>
      </p:sp>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Target Segment</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The segment the business should prioritise</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TASK 6 OF 6</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8" grpId="0" animBg="1"/>
      <p:bldP spid="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Prioritise Career Switchers</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6  ·  TARGET SEGMENT</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Why this is the segment SkillUp Academy should focus on</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20</a:t>
            </a:r>
          </a:p>
        </p:txBody>
      </p:sp>
      <p:sp>
        <p:nvSpPr>
          <p:cNvPr id="9" name="Oval 8"/>
          <p:cNvSpPr/>
          <p:nvPr/>
        </p:nvSpPr>
        <p:spPr>
          <a:xfrm>
            <a:off x="960120" y="2011680"/>
            <a:ext cx="3383280" cy="3383280"/>
          </a:xfrm>
          <a:prstGeom prst="ellipse">
            <a:avLst/>
          </a:prstGeom>
          <a:solidFill>
            <a:srgbClr val="DC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94460" y="2446020"/>
            <a:ext cx="2514600" cy="2514600"/>
          </a:xfrm>
          <a:prstGeom prst="ellipse">
            <a:avLst/>
          </a:prstGeom>
          <a:solidFill>
            <a:srgbClr val="A6C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805940" y="2857500"/>
            <a:ext cx="1691640" cy="1691640"/>
          </a:xfrm>
          <a:prstGeom prst="ellips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171700" y="3223260"/>
            <a:ext cx="960120" cy="9601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2200" b="1">
                <a:solidFill>
                  <a:srgbClr val="FFFFFF"/>
                </a:solidFill>
                <a:latin typeface="Calibri"/>
              </a:rPr>
              <a:t>4.00</a:t>
            </a:r>
          </a:p>
        </p:txBody>
      </p:sp>
      <p:sp>
        <p:nvSpPr>
          <p:cNvPr id="13" name="TextBox 12"/>
          <p:cNvSpPr txBox="1"/>
          <p:nvPr/>
        </p:nvSpPr>
        <p:spPr>
          <a:xfrm>
            <a:off x="731520" y="5486400"/>
            <a:ext cx="3840480" cy="384048"/>
          </a:xfrm>
          <a:prstGeom prst="rect">
            <a:avLst/>
          </a:prstGeom>
          <a:noFill/>
        </p:spPr>
        <p:txBody>
          <a:bodyPr wrap="square">
            <a:spAutoFit/>
          </a:bodyPr>
          <a:lstStyle/>
          <a:p>
            <a:pPr algn="ctr"/>
            <a:r>
              <a:rPr sz="1600" b="1">
                <a:solidFill>
                  <a:srgbClr val="0B2545"/>
                </a:solidFill>
                <a:latin typeface="Calibri"/>
              </a:rPr>
              <a:t>Career Switchers  ·  score of 5</a:t>
            </a:r>
          </a:p>
        </p:txBody>
      </p:sp>
      <p:sp>
        <p:nvSpPr>
          <p:cNvPr id="14" name="Oval 13"/>
          <p:cNvSpPr/>
          <p:nvPr/>
        </p:nvSpPr>
        <p:spPr>
          <a:xfrm>
            <a:off x="4983480" y="2057400"/>
            <a:ext cx="457200" cy="457200"/>
          </a:xfrm>
          <a:prstGeom prst="ellipse">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alibri"/>
              </a:rPr>
              <a:t>1</a:t>
            </a:r>
          </a:p>
        </p:txBody>
      </p:sp>
      <p:sp>
        <p:nvSpPr>
          <p:cNvPr id="15" name="TextBox 14"/>
          <p:cNvSpPr txBox="1"/>
          <p:nvPr/>
        </p:nvSpPr>
        <p:spPr>
          <a:xfrm>
            <a:off x="5577840" y="1920240"/>
            <a:ext cx="5882640" cy="804672"/>
          </a:xfrm>
          <a:prstGeom prst="rect">
            <a:avLst/>
          </a:prstGeom>
          <a:noFill/>
        </p:spPr>
        <p:txBody>
          <a:bodyPr wrap="square">
            <a:spAutoFit/>
          </a:bodyPr>
          <a:lstStyle/>
          <a:p>
            <a:pPr>
              <a:spcAft>
                <a:spcPts val="0"/>
              </a:spcAft>
            </a:pPr>
            <a:r>
              <a:rPr sz="1400" b="1">
                <a:solidFill>
                  <a:srgbClr val="1C2430"/>
                </a:solidFill>
                <a:latin typeface="Calibri"/>
              </a:rPr>
              <a:t>Who</a:t>
            </a:r>
          </a:p>
          <a:p>
            <a:pPr>
              <a:spcAft>
                <a:spcPts val="0"/>
              </a:spcAft>
            </a:pPr>
            <a:r>
              <a:rPr sz="1400" b="0">
                <a:solidFill>
                  <a:srgbClr val="1C2430"/>
                </a:solidFill>
                <a:latin typeface="Calibri"/>
              </a:rPr>
              <a:t>working adults of 25 to 35 in non-IT jobs, in Lagos, Abuja and Port Harcourt</a:t>
            </a:r>
          </a:p>
        </p:txBody>
      </p:sp>
      <p:sp>
        <p:nvSpPr>
          <p:cNvPr id="16" name="Oval 15"/>
          <p:cNvSpPr/>
          <p:nvPr/>
        </p:nvSpPr>
        <p:spPr>
          <a:xfrm>
            <a:off x="4983480" y="2880360"/>
            <a:ext cx="457200" cy="457200"/>
          </a:xfrm>
          <a:prstGeom prst="ellipse">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alibri"/>
              </a:rPr>
              <a:t>2</a:t>
            </a:r>
          </a:p>
        </p:txBody>
      </p:sp>
      <p:sp>
        <p:nvSpPr>
          <p:cNvPr id="17" name="TextBox 16"/>
          <p:cNvSpPr txBox="1"/>
          <p:nvPr/>
        </p:nvSpPr>
        <p:spPr>
          <a:xfrm>
            <a:off x="5577840" y="2743200"/>
            <a:ext cx="5882640" cy="804672"/>
          </a:xfrm>
          <a:prstGeom prst="rect">
            <a:avLst/>
          </a:prstGeom>
          <a:noFill/>
        </p:spPr>
        <p:txBody>
          <a:bodyPr wrap="square">
            <a:spAutoFit/>
          </a:bodyPr>
          <a:lstStyle/>
          <a:p>
            <a:pPr>
              <a:spcAft>
                <a:spcPts val="0"/>
              </a:spcAft>
            </a:pPr>
            <a:r>
              <a:rPr sz="1400" b="1">
                <a:solidFill>
                  <a:srgbClr val="1C2430"/>
                </a:solidFill>
                <a:latin typeface="Calibri"/>
              </a:rPr>
              <a:t>Can pay</a:t>
            </a:r>
          </a:p>
          <a:p>
            <a:pPr>
              <a:spcAft>
                <a:spcPts val="0"/>
              </a:spcAft>
            </a:pPr>
            <a:r>
              <a:rPr sz="1400" b="0">
                <a:solidFill>
                  <a:srgbClr val="1C2430"/>
                </a:solidFill>
                <a:latin typeface="Calibri"/>
              </a:rPr>
              <a:t>steady pay above the ₦70,000 minimum wage; ₦50,000 a month in 3 parts</a:t>
            </a:r>
          </a:p>
        </p:txBody>
      </p:sp>
      <p:sp>
        <p:nvSpPr>
          <p:cNvPr id="18" name="Oval 17"/>
          <p:cNvSpPr/>
          <p:nvPr/>
        </p:nvSpPr>
        <p:spPr>
          <a:xfrm>
            <a:off x="4983480" y="3703320"/>
            <a:ext cx="457200" cy="457200"/>
          </a:xfrm>
          <a:prstGeom prst="ellipse">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alibri"/>
              </a:rPr>
              <a:t>3</a:t>
            </a:r>
          </a:p>
        </p:txBody>
      </p:sp>
      <p:sp>
        <p:nvSpPr>
          <p:cNvPr id="19" name="TextBox 18"/>
          <p:cNvSpPr txBox="1"/>
          <p:nvPr/>
        </p:nvSpPr>
        <p:spPr>
          <a:xfrm>
            <a:off x="5577840" y="3566160"/>
            <a:ext cx="5882640" cy="804672"/>
          </a:xfrm>
          <a:prstGeom prst="rect">
            <a:avLst/>
          </a:prstGeom>
          <a:noFill/>
        </p:spPr>
        <p:txBody>
          <a:bodyPr wrap="square">
            <a:spAutoFit/>
          </a:bodyPr>
          <a:lstStyle/>
          <a:p>
            <a:pPr>
              <a:spcAft>
                <a:spcPts val="0"/>
              </a:spcAft>
            </a:pPr>
            <a:r>
              <a:rPr sz="1400" b="1">
                <a:solidFill>
                  <a:srgbClr val="1C2430"/>
                </a:solidFill>
                <a:latin typeface="Calibri"/>
              </a:rPr>
              <a:t>Strong reason to buy</a:t>
            </a:r>
          </a:p>
          <a:p>
            <a:pPr>
              <a:spcAft>
                <a:spcPts val="0"/>
              </a:spcAft>
            </a:pPr>
            <a:r>
              <a:rPr sz="1400" b="0">
                <a:solidFill>
                  <a:srgbClr val="1C2430"/>
                </a:solidFill>
                <a:latin typeface="Calibri"/>
              </a:rPr>
              <a:t>a junior analyst job pays about ₦150,000 to ₦300,000 a month</a:t>
            </a:r>
          </a:p>
        </p:txBody>
      </p:sp>
      <p:sp>
        <p:nvSpPr>
          <p:cNvPr id="20" name="Oval 19"/>
          <p:cNvSpPr/>
          <p:nvPr/>
        </p:nvSpPr>
        <p:spPr>
          <a:xfrm>
            <a:off x="4983480" y="4526280"/>
            <a:ext cx="457200" cy="457200"/>
          </a:xfrm>
          <a:prstGeom prst="ellipse">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1C2430"/>
                </a:solidFill>
                <a:latin typeface="Calibri"/>
              </a:rPr>
              <a:t>4</a:t>
            </a:r>
          </a:p>
        </p:txBody>
      </p:sp>
      <p:sp>
        <p:nvSpPr>
          <p:cNvPr id="21" name="TextBox 20"/>
          <p:cNvSpPr txBox="1"/>
          <p:nvPr/>
        </p:nvSpPr>
        <p:spPr>
          <a:xfrm>
            <a:off x="5577840" y="4389120"/>
            <a:ext cx="5882640" cy="804672"/>
          </a:xfrm>
          <a:prstGeom prst="rect">
            <a:avLst/>
          </a:prstGeom>
          <a:noFill/>
        </p:spPr>
        <p:txBody>
          <a:bodyPr wrap="square">
            <a:spAutoFit/>
          </a:bodyPr>
          <a:lstStyle/>
          <a:p>
            <a:pPr>
              <a:spcAft>
                <a:spcPts val="0"/>
              </a:spcAft>
            </a:pPr>
            <a:r>
              <a:rPr sz="1400" b="1">
                <a:solidFill>
                  <a:srgbClr val="1C2430"/>
                </a:solidFill>
                <a:latin typeface="Calibri"/>
              </a:rPr>
              <a:t>Easy to reach</a:t>
            </a:r>
          </a:p>
          <a:p>
            <a:pPr>
              <a:spcAft>
                <a:spcPts val="0"/>
              </a:spcAft>
            </a:pPr>
            <a:r>
              <a:rPr sz="1400" b="0">
                <a:solidFill>
                  <a:srgbClr val="1C2430"/>
                </a:solidFill>
                <a:latin typeface="Calibri"/>
              </a:rPr>
              <a:t>Google, Facebook, LinkedIn and WhatsApp; evening and weekend classes</a:t>
            </a:r>
          </a:p>
        </p:txBody>
      </p:sp>
      <p:sp>
        <p:nvSpPr>
          <p:cNvPr id="22" name="Oval 21"/>
          <p:cNvSpPr/>
          <p:nvPr/>
        </p:nvSpPr>
        <p:spPr>
          <a:xfrm>
            <a:off x="4983480" y="5349240"/>
            <a:ext cx="457200" cy="45720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600" b="1">
                <a:solidFill>
                  <a:srgbClr val="FFFFFF"/>
                </a:solidFill>
                <a:latin typeface="Calibri"/>
              </a:rPr>
              <a:t>5</a:t>
            </a:r>
          </a:p>
        </p:txBody>
      </p:sp>
      <p:sp>
        <p:nvSpPr>
          <p:cNvPr id="23" name="TextBox 22"/>
          <p:cNvSpPr txBox="1"/>
          <p:nvPr/>
        </p:nvSpPr>
        <p:spPr>
          <a:xfrm>
            <a:off x="5577840" y="5212080"/>
            <a:ext cx="5882640" cy="804672"/>
          </a:xfrm>
          <a:prstGeom prst="rect">
            <a:avLst/>
          </a:prstGeom>
          <a:noFill/>
        </p:spPr>
        <p:txBody>
          <a:bodyPr wrap="square">
            <a:spAutoFit/>
          </a:bodyPr>
          <a:lstStyle/>
          <a:p>
            <a:pPr>
              <a:spcAft>
                <a:spcPts val="0"/>
              </a:spcAft>
            </a:pPr>
            <a:r>
              <a:rPr sz="1400" b="1">
                <a:solidFill>
                  <a:srgbClr val="1C2430"/>
                </a:solidFill>
                <a:latin typeface="Calibri"/>
              </a:rPr>
              <a:t>Little competition</a:t>
            </a:r>
          </a:p>
          <a:p>
            <a:pPr>
              <a:spcAft>
                <a:spcPts val="0"/>
              </a:spcAft>
            </a:pPr>
            <a:r>
              <a:rPr sz="1400" b="0">
                <a:solidFill>
                  <a:srgbClr val="1C2430"/>
                </a:solidFill>
                <a:latin typeface="Calibri"/>
              </a:rPr>
              <a:t>few practical, mid-price courses fit around a full-time job</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childTnLst>
                          </p:cTn>
                        </p:par>
                        <p:par>
                          <p:cTn id="55" fill="hold">
                            <p:stCondLst>
                              <p:cond delay="3000"/>
                            </p:stCondLst>
                            <p:childTnLst>
                              <p:par>
                                <p:cTn id="56" presetID="10" presetClass="entr" presetSubtype="0" fill="hold" grpId="0" nodeType="after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childTnLst>
                          </p:cTn>
                        </p:par>
                        <p:par>
                          <p:cTn id="62" fill="hold">
                            <p:stCondLst>
                              <p:cond delay="35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621792"/>
            <a:ext cx="10911840" cy="621792"/>
          </a:xfrm>
        </p:spPr>
        <p:txBody>
          <a:bodyPr anchor="ctr"/>
          <a:lstStyle/>
          <a:p>
            <a:pPr algn="l"/>
            <a:r>
              <a:rPr sz="2800" b="0">
                <a:solidFill>
                  <a:srgbClr val="0B2545"/>
                </a:solidFill>
                <a:latin typeface="Calibri Light"/>
              </a:rPr>
              <a:t>Target Career Switchers with a practical course</a:t>
            </a:r>
          </a:p>
        </p:txBody>
      </p:sp>
      <p:sp>
        <p:nvSpPr>
          <p:cNvPr id="4" name="TextBox 3"/>
          <p:cNvSpPr txBox="1"/>
          <p:nvPr/>
        </p:nvSpPr>
        <p:spPr>
          <a:xfrm>
            <a:off x="640080" y="347472"/>
            <a:ext cx="10911840" cy="292608"/>
          </a:xfrm>
          <a:prstGeom prst="rect">
            <a:avLst/>
          </a:prstGeom>
          <a:noFill/>
        </p:spPr>
        <p:txBody>
          <a:bodyPr wrap="square">
            <a:spAutoFit/>
          </a:bodyPr>
          <a:lstStyle/>
          <a:p>
            <a:r>
              <a:rPr sz="1200" b="1">
                <a:solidFill>
                  <a:srgbClr val="1F6FB2"/>
                </a:solidFill>
                <a:latin typeface="Calibri"/>
              </a:rPr>
              <a:t>CONCLUSION</a:t>
            </a:r>
          </a:p>
        </p:txBody>
      </p:sp>
      <p:sp>
        <p:nvSpPr>
          <p:cNvPr id="5" name="TextBox 4"/>
          <p:cNvSpPr txBox="1"/>
          <p:nvPr/>
        </p:nvSpPr>
        <p:spPr>
          <a:xfrm>
            <a:off x="640080" y="1243584"/>
            <a:ext cx="10911840" cy="365760"/>
          </a:xfrm>
          <a:prstGeom prst="rect">
            <a:avLst/>
          </a:prstGeom>
          <a:noFill/>
        </p:spPr>
        <p:txBody>
          <a:bodyPr wrap="square">
            <a:spAutoFit/>
          </a:bodyPr>
          <a:lstStyle/>
          <a:p>
            <a:pPr algn="l"/>
            <a:r>
              <a:rPr sz="1500" b="0">
                <a:solidFill>
                  <a:srgbClr val="5B6675"/>
                </a:solidFill>
                <a:latin typeface="Calibri"/>
              </a:rPr>
              <a:t>The key findings of the customer analysis</a:t>
            </a:r>
          </a:p>
        </p:txBody>
      </p:sp>
      <p:cxnSp>
        <p:nvCxnSpPr>
          <p:cNvPr id="6" name="Straight Connector 5"/>
          <p:cNvCxnSpPr/>
          <p:nvPr/>
        </p:nvCxnSpPr>
        <p:spPr>
          <a:xfrm>
            <a:off x="731520" y="1719072"/>
            <a:ext cx="10728960" cy="0"/>
          </a:xfrm>
          <a:prstGeom prst="line">
            <a:avLst/>
          </a:prstGeom>
          <a:ln w="12700">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6400800"/>
            <a:ext cx="7315200" cy="274320"/>
          </a:xfrm>
          <a:prstGeom prst="rect">
            <a:avLst/>
          </a:prstGeom>
          <a:noFill/>
        </p:spPr>
        <p:txBody>
          <a:bodyPr wrap="square">
            <a:spAutoFit/>
          </a:bodyPr>
          <a:lstStyle/>
          <a:p>
            <a:r>
              <a:rPr sz="1000" b="0">
                <a:solidFill>
                  <a:srgbClr val="5B6675"/>
                </a:solidFill>
                <a:latin typeface="Calibri"/>
              </a:rPr>
              <a:t>SkillUp Academy  ·  Capstone Project, Part 2</a:t>
            </a:r>
          </a:p>
        </p:txBody>
      </p:sp>
      <p:sp>
        <p:nvSpPr>
          <p:cNvPr id="8" name="TextBox 7"/>
          <p:cNvSpPr txBox="1"/>
          <p:nvPr/>
        </p:nvSpPr>
        <p:spPr>
          <a:xfrm>
            <a:off x="10637520" y="6400800"/>
            <a:ext cx="914400" cy="274320"/>
          </a:xfrm>
          <a:prstGeom prst="rect">
            <a:avLst/>
          </a:prstGeom>
          <a:noFill/>
        </p:spPr>
        <p:txBody>
          <a:bodyPr wrap="square">
            <a:spAutoFit/>
          </a:bodyPr>
          <a:lstStyle/>
          <a:p>
            <a:pPr algn="r"/>
            <a:r>
              <a:rPr sz="1000" b="0">
                <a:solidFill>
                  <a:srgbClr val="5B6675"/>
                </a:solidFill>
                <a:latin typeface="Calibri"/>
              </a:rPr>
              <a:t>21</a:t>
            </a:r>
          </a:p>
        </p:txBody>
      </p:sp>
      <p:sp>
        <p:nvSpPr>
          <p:cNvPr id="9" name="Rectangle 8"/>
          <p:cNvSpPr/>
          <p:nvPr/>
        </p:nvSpPr>
        <p:spPr>
          <a:xfrm>
            <a:off x="73152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920240"/>
            <a:ext cx="91440" cy="2011680"/>
          </a:xfrm>
          <a:prstGeom prst="rect">
            <a:avLst/>
          </a:prstGeom>
          <a:solidFill>
            <a:srgbClr val="1F6F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103120"/>
            <a:ext cx="4792980" cy="320040"/>
          </a:xfrm>
          <a:prstGeom prst="rect">
            <a:avLst/>
          </a:prstGeom>
          <a:noFill/>
        </p:spPr>
        <p:txBody>
          <a:bodyPr wrap="square">
            <a:spAutoFit/>
          </a:bodyPr>
          <a:lstStyle/>
          <a:p>
            <a:r>
              <a:rPr sz="1100" b="1">
                <a:solidFill>
                  <a:srgbClr val="5B6675"/>
                </a:solidFill>
                <a:latin typeface="Calibri"/>
              </a:rPr>
              <a:t>TOP NEED</a:t>
            </a:r>
          </a:p>
        </p:txBody>
      </p:sp>
      <p:sp>
        <p:nvSpPr>
          <p:cNvPr id="12" name="TextBox 11"/>
          <p:cNvSpPr txBox="1"/>
          <p:nvPr/>
        </p:nvSpPr>
        <p:spPr>
          <a:xfrm>
            <a:off x="1051560" y="2395728"/>
            <a:ext cx="4792980" cy="566928"/>
          </a:xfrm>
          <a:prstGeom prst="rect">
            <a:avLst/>
          </a:prstGeom>
          <a:noFill/>
        </p:spPr>
        <p:txBody>
          <a:bodyPr wrap="square">
            <a:spAutoFit/>
          </a:bodyPr>
          <a:lstStyle/>
          <a:p>
            <a:r>
              <a:rPr sz="2800" b="1">
                <a:solidFill>
                  <a:srgbClr val="0B2545"/>
                </a:solidFill>
                <a:latin typeface="Calibri"/>
              </a:rPr>
              <a:t>Hands-on skills</a:t>
            </a:r>
          </a:p>
        </p:txBody>
      </p:sp>
      <p:sp>
        <p:nvSpPr>
          <p:cNvPr id="13" name="TextBox 12"/>
          <p:cNvSpPr txBox="1"/>
          <p:nvPr/>
        </p:nvSpPr>
        <p:spPr>
          <a:xfrm>
            <a:off x="1051560" y="2971800"/>
            <a:ext cx="4792980" cy="914400"/>
          </a:xfrm>
          <a:prstGeom prst="rect">
            <a:avLst/>
          </a:prstGeom>
          <a:noFill/>
        </p:spPr>
        <p:txBody>
          <a:bodyPr wrap="square">
            <a:spAutoFit/>
          </a:bodyPr>
          <a:lstStyle/>
          <a:p>
            <a:r>
              <a:rPr sz="1400" b="0">
                <a:solidFill>
                  <a:srgbClr val="5B6675"/>
                </a:solidFill>
                <a:latin typeface="Calibri"/>
              </a:rPr>
              <a:t>25 of 25, level with an affordable price</a:t>
            </a:r>
          </a:p>
        </p:txBody>
      </p:sp>
      <p:sp>
        <p:nvSpPr>
          <p:cNvPr id="14" name="Rectangle 13"/>
          <p:cNvSpPr/>
          <p:nvPr/>
        </p:nvSpPr>
        <p:spPr>
          <a:xfrm>
            <a:off x="6210300" y="192024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0300" y="1920240"/>
            <a:ext cx="91440" cy="2011680"/>
          </a:xfrm>
          <a:prstGeom prst="rect">
            <a:avLst/>
          </a:prstGeom>
          <a:solidFill>
            <a:srgbClr val="168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0340" y="2103120"/>
            <a:ext cx="4792980" cy="320040"/>
          </a:xfrm>
          <a:prstGeom prst="rect">
            <a:avLst/>
          </a:prstGeom>
          <a:noFill/>
        </p:spPr>
        <p:txBody>
          <a:bodyPr wrap="square">
            <a:spAutoFit/>
          </a:bodyPr>
          <a:lstStyle/>
          <a:p>
            <a:r>
              <a:rPr sz="1100" b="1">
                <a:solidFill>
                  <a:srgbClr val="5B6675"/>
                </a:solidFill>
                <a:latin typeface="Calibri"/>
              </a:rPr>
              <a:t>TARGET SEGMENT</a:t>
            </a:r>
          </a:p>
        </p:txBody>
      </p:sp>
      <p:sp>
        <p:nvSpPr>
          <p:cNvPr id="17" name="TextBox 16"/>
          <p:cNvSpPr txBox="1"/>
          <p:nvPr/>
        </p:nvSpPr>
        <p:spPr>
          <a:xfrm>
            <a:off x="6530340" y="2395728"/>
            <a:ext cx="4792980" cy="566928"/>
          </a:xfrm>
          <a:prstGeom prst="rect">
            <a:avLst/>
          </a:prstGeom>
          <a:noFill/>
        </p:spPr>
        <p:txBody>
          <a:bodyPr wrap="square">
            <a:spAutoFit/>
          </a:bodyPr>
          <a:lstStyle/>
          <a:p>
            <a:r>
              <a:rPr sz="2800" b="1">
                <a:solidFill>
                  <a:srgbClr val="0B2545"/>
                </a:solidFill>
                <a:latin typeface="Calibri"/>
              </a:rPr>
              <a:t>Career Switchers</a:t>
            </a:r>
          </a:p>
        </p:txBody>
      </p:sp>
      <p:sp>
        <p:nvSpPr>
          <p:cNvPr id="18" name="TextBox 17"/>
          <p:cNvSpPr txBox="1"/>
          <p:nvPr/>
        </p:nvSpPr>
        <p:spPr>
          <a:xfrm>
            <a:off x="6530340" y="2971800"/>
            <a:ext cx="4792980" cy="914400"/>
          </a:xfrm>
          <a:prstGeom prst="rect">
            <a:avLst/>
          </a:prstGeom>
          <a:noFill/>
        </p:spPr>
        <p:txBody>
          <a:bodyPr wrap="square">
            <a:spAutoFit/>
          </a:bodyPr>
          <a:lstStyle/>
          <a:p>
            <a:r>
              <a:rPr sz="1400" b="0">
                <a:solidFill>
                  <a:srgbClr val="5B6675"/>
                </a:solidFill>
                <a:latin typeface="Calibri"/>
              </a:rPr>
              <a:t>4.00 of 5, ahead of Campus Starters (3.25)</a:t>
            </a:r>
          </a:p>
        </p:txBody>
      </p:sp>
      <p:sp>
        <p:nvSpPr>
          <p:cNvPr id="19" name="Rectangle 18"/>
          <p:cNvSpPr/>
          <p:nvPr/>
        </p:nvSpPr>
        <p:spPr>
          <a:xfrm>
            <a:off x="73152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160520"/>
            <a:ext cx="91440" cy="2011680"/>
          </a:xfrm>
          <a:prstGeom prst="rect">
            <a:avLst/>
          </a:prstGeom>
          <a:solidFill>
            <a:srgbClr val="F4A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343400"/>
            <a:ext cx="4792980" cy="320040"/>
          </a:xfrm>
          <a:prstGeom prst="rect">
            <a:avLst/>
          </a:prstGeom>
          <a:noFill/>
        </p:spPr>
        <p:txBody>
          <a:bodyPr wrap="square">
            <a:spAutoFit/>
          </a:bodyPr>
          <a:lstStyle/>
          <a:p>
            <a:r>
              <a:rPr sz="1100" b="1">
                <a:solidFill>
                  <a:srgbClr val="5B6675"/>
                </a:solidFill>
                <a:latin typeface="Calibri"/>
              </a:rPr>
              <a:t>PERSONA</a:t>
            </a:r>
          </a:p>
        </p:txBody>
      </p:sp>
      <p:sp>
        <p:nvSpPr>
          <p:cNvPr id="22" name="TextBox 21"/>
          <p:cNvSpPr txBox="1"/>
          <p:nvPr/>
        </p:nvSpPr>
        <p:spPr>
          <a:xfrm>
            <a:off x="1051560" y="4636008"/>
            <a:ext cx="4792980" cy="566928"/>
          </a:xfrm>
          <a:prstGeom prst="rect">
            <a:avLst/>
          </a:prstGeom>
          <a:noFill/>
        </p:spPr>
        <p:txBody>
          <a:bodyPr wrap="square">
            <a:spAutoFit/>
          </a:bodyPr>
          <a:lstStyle/>
          <a:p>
            <a:r>
              <a:rPr sz="2800" b="1">
                <a:solidFill>
                  <a:srgbClr val="0B2545"/>
                </a:solidFill>
                <a:latin typeface="Calibri"/>
              </a:rPr>
              <a:t>Tunde, 27, Lagos</a:t>
            </a:r>
          </a:p>
        </p:txBody>
      </p:sp>
      <p:sp>
        <p:nvSpPr>
          <p:cNvPr id="23" name="TextBox 22"/>
          <p:cNvSpPr txBox="1"/>
          <p:nvPr/>
        </p:nvSpPr>
        <p:spPr>
          <a:xfrm>
            <a:off x="1051560" y="5212080"/>
            <a:ext cx="4792980" cy="914400"/>
          </a:xfrm>
          <a:prstGeom prst="rect">
            <a:avLst/>
          </a:prstGeom>
          <a:noFill/>
        </p:spPr>
        <p:txBody>
          <a:bodyPr wrap="square">
            <a:spAutoFit/>
          </a:bodyPr>
          <a:lstStyle/>
          <a:p>
            <a:r>
              <a:rPr sz="1400" b="0">
                <a:solidFill>
                  <a:srgbClr val="5B6675"/>
                </a:solidFill>
                <a:latin typeface="Calibri"/>
              </a:rPr>
              <a:t>Customer service officer who wants a cyber job within a year</a:t>
            </a:r>
          </a:p>
        </p:txBody>
      </p:sp>
      <p:sp>
        <p:nvSpPr>
          <p:cNvPr id="24" name="Rectangle 23"/>
          <p:cNvSpPr/>
          <p:nvPr/>
        </p:nvSpPr>
        <p:spPr>
          <a:xfrm>
            <a:off x="6210300" y="4160520"/>
            <a:ext cx="5250180" cy="201168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0300" y="4160520"/>
            <a:ext cx="91440" cy="2011680"/>
          </a:xfrm>
          <a:prstGeom prst="rect">
            <a:avLst/>
          </a:prstGeom>
          <a:solidFill>
            <a:srgbClr val="D146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0340" y="4343400"/>
            <a:ext cx="4792980" cy="320040"/>
          </a:xfrm>
          <a:prstGeom prst="rect">
            <a:avLst/>
          </a:prstGeom>
          <a:noFill/>
        </p:spPr>
        <p:txBody>
          <a:bodyPr wrap="square">
            <a:spAutoFit/>
          </a:bodyPr>
          <a:lstStyle/>
          <a:p>
            <a:r>
              <a:rPr sz="1100" b="1">
                <a:solidFill>
                  <a:srgbClr val="5B6675"/>
                </a:solidFill>
                <a:latin typeface="Calibri"/>
              </a:rPr>
              <a:t>JOURNEY LOW POINT</a:t>
            </a:r>
          </a:p>
        </p:txBody>
      </p:sp>
      <p:sp>
        <p:nvSpPr>
          <p:cNvPr id="27" name="TextBox 26"/>
          <p:cNvSpPr txBox="1"/>
          <p:nvPr/>
        </p:nvSpPr>
        <p:spPr>
          <a:xfrm>
            <a:off x="6530340" y="4636008"/>
            <a:ext cx="4792980" cy="566928"/>
          </a:xfrm>
          <a:prstGeom prst="rect">
            <a:avLst/>
          </a:prstGeom>
          <a:noFill/>
        </p:spPr>
        <p:txBody>
          <a:bodyPr wrap="square">
            <a:spAutoFit/>
          </a:bodyPr>
          <a:lstStyle/>
          <a:p>
            <a:r>
              <a:rPr sz="2800" b="1">
                <a:solidFill>
                  <a:srgbClr val="0B2545"/>
                </a:solidFill>
                <a:latin typeface="Calibri"/>
              </a:rPr>
              <a:t>Consideration</a:t>
            </a:r>
          </a:p>
        </p:txBody>
      </p:sp>
      <p:sp>
        <p:nvSpPr>
          <p:cNvPr id="28" name="TextBox 27"/>
          <p:cNvSpPr txBox="1"/>
          <p:nvPr/>
        </p:nvSpPr>
        <p:spPr>
          <a:xfrm>
            <a:off x="6530340" y="5212080"/>
            <a:ext cx="4792980" cy="914400"/>
          </a:xfrm>
          <a:prstGeom prst="rect">
            <a:avLst/>
          </a:prstGeom>
          <a:noFill/>
        </p:spPr>
        <p:txBody>
          <a:bodyPr wrap="square">
            <a:spAutoFit/>
          </a:bodyPr>
          <a:lstStyle/>
          <a:p>
            <a:r>
              <a:rPr sz="1400" b="0">
                <a:solidFill>
                  <a:srgbClr val="5B6675"/>
                </a:solidFill>
                <a:latin typeface="Calibri"/>
              </a:rPr>
              <a:t>Fear of scams and hidden prices: fix with clear prices, reviews and a free first class</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par>
                                <p:cTn id="11" presetID="22" presetClass="entr" presetSubtype="8"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right)">
                                      <p:cBhvr>
                                        <p:cTn id="13" dur="500"/>
                                        <p:tgtEl>
                                          <p:spTgt spid="6"/>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childTnLst>
                          </p:cTn>
                        </p:par>
                        <p:par>
                          <p:cTn id="50" fill="hold">
                            <p:stCondLst>
                              <p:cond delay="200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par>
                          <p:cTn id="66" fill="hold">
                            <p:stCondLst>
                              <p:cond delay="250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itle 1"/>
          <p:cNvSpPr>
            <a:spLocks noGrp="1"/>
          </p:cNvSpPr>
          <p:nvPr>
            <p:ph type="ctrTitle"/>
          </p:nvPr>
        </p:nvSpPr>
        <p:spPr>
          <a:xfrm>
            <a:off x="914400" y="1965960"/>
            <a:ext cx="1036320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914400" y="3703320"/>
            <a:ext cx="10363200" cy="1188720"/>
          </a:xfrm>
        </p:spPr>
        <p:txBody>
          <a:bodyPr anchor="t"/>
          <a:lstStyle/>
          <a:p>
            <a:pPr algn="l"/>
            <a:r>
              <a:rPr sz="2200" b="0">
                <a:solidFill>
                  <a:srgbClr val="C9D6E8"/>
                </a:solidFill>
                <a:latin typeface="Calibri"/>
              </a:rPr>
              <a:t>Any questions?</a:t>
            </a:r>
          </a:p>
        </p:txBody>
      </p:sp>
      <p:sp>
        <p:nvSpPr>
          <p:cNvPr id="4" name="TextBox 3"/>
          <p:cNvSpPr txBox="1"/>
          <p:nvPr/>
        </p:nvSpPr>
        <p:spPr>
          <a:xfrm>
            <a:off x="914400" y="1600200"/>
            <a:ext cx="10363200" cy="365760"/>
          </a:xfrm>
          <a:prstGeom prst="rect">
            <a:avLst/>
          </a:prstGeom>
          <a:noFill/>
        </p:spPr>
        <p:txBody>
          <a:bodyPr wrap="square">
            <a:spAutoFit/>
          </a:bodyPr>
          <a:lstStyle/>
          <a:p>
            <a:r>
              <a:rPr sz="1400" b="1">
                <a:solidFill>
                  <a:srgbClr val="8DB8E8"/>
                </a:solidFill>
                <a:latin typeface="Calibri"/>
              </a:rPr>
              <a:t>CAPSTONE PROJECT  ·  PART 2</a:t>
            </a:r>
          </a:p>
        </p:txBody>
      </p:sp>
      <p:cxnSp>
        <p:nvCxnSpPr>
          <p:cNvPr id="5" name="Straight Connector 4"/>
          <p:cNvCxnSpPr/>
          <p:nvPr/>
        </p:nvCxnSpPr>
        <p:spPr>
          <a:xfrm>
            <a:off x="1005840" y="3520440"/>
            <a:ext cx="1371600" cy="0"/>
          </a:xfrm>
          <a:prstGeom prst="line">
            <a:avLst/>
          </a:prstGeom>
          <a:ln w="317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a:off x="914400" y="5897880"/>
            <a:ext cx="10363200" cy="0"/>
          </a:xfrm>
          <a:prstGeom prst="line">
            <a:avLst/>
          </a:prstGeom>
          <a:ln w="12700">
            <a:solidFill>
              <a:srgbClr val="2E4A6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5989320"/>
            <a:ext cx="10363200" cy="365760"/>
          </a:xfrm>
          <a:prstGeom prst="rect">
            <a:avLst/>
          </a:prstGeom>
          <a:noFill/>
        </p:spPr>
        <p:txBody>
          <a:bodyPr wrap="square">
            <a:spAutoFit/>
          </a:bodyPr>
          <a:lstStyle/>
          <a:p>
            <a:r>
              <a:rPr sz="1300" b="0">
                <a:solidFill>
                  <a:srgbClr val="C9D6E8"/>
                </a:solidFill>
                <a:latin typeface="Calibri"/>
              </a:rPr>
              <a:t>SkillUp Academy   |   Market Research Lab   |   October 2026</a:t>
            </a:r>
          </a:p>
        </p:txBody>
      </p:sp>
    </p:spTree>
  </p:cSld>
  <p:clrMapOvr>
    <a:masterClrMapping/>
  </p:clrMapOvr>
  <mc:AlternateContent xmlns:mc="http://schemas.openxmlformats.org/markup-compatibility/2006">
    <mc:Choice xmlns:p14="http://schemas.microsoft.com/office/powerpoint/2010/main" Requires="p14">
      <p:transition spd="slow" p14:dur="1500" advTm="10000">
        <p:push dir="u"/>
      </p:transition>
    </mc:Choice>
    <mc:Fallback>
      <p:transition spd="slow" advTm="10000">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par>
                          <p:cTn id="11" fill="hold">
                            <p:stCondLst>
                              <p:cond delay="500"/>
                            </p:stCondLst>
                            <p:childTnLst>
                              <p:par>
                                <p:cTn id="12" presetID="22" presetClass="entr" presetSubtype="8"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right)">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P spid="3" grpId="0" animBg="1"/>
    </p:bldLst>
  </p:timing>
</p:sld>
</file>

<file path=ppt/theme/theme1.xml><?xml version="1.0" encoding="utf-8"?>
<a:theme xmlns:a="http://schemas.openxmlformats.org/drawingml/2006/main" name="Office Theme">
  <a:themeElements>
    <a:clrScheme name="Navy Report">
      <a:dk1>
        <a:sysClr val="windowText" lastClr="000000"/>
      </a:dk1>
      <a:lt1>
        <a:sysClr val="window" lastClr="FFFFFF"/>
      </a:lt1>
      <a:dk2>
        <a:srgbClr val="0B2545"/>
      </a:dk2>
      <a:lt2>
        <a:srgbClr val="F3F5F8"/>
      </a:lt2>
      <a:accent1>
        <a:srgbClr val="0B2545"/>
      </a:accent1>
      <a:accent2>
        <a:srgbClr val="1F6FB2"/>
      </a:accent2>
      <a:accent3>
        <a:srgbClr val="6FA8DC"/>
      </a:accent3>
      <a:accent4>
        <a:srgbClr val="C5CCD6"/>
      </a:accent4>
      <a:accent5>
        <a:srgbClr val="5B6675"/>
      </a:accent5>
      <a:accent6>
        <a:srgbClr val="13315C"/>
      </a:accent6>
      <a:hlink>
        <a:srgbClr val="1F6FB2"/>
      </a:hlink>
      <a:folHlink>
        <a:srgbClr val="5B6675"/>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Navy Report">
      <a:dk1>
        <a:sysClr val="windowText" lastClr="000000"/>
      </a:dk1>
      <a:lt1>
        <a:sysClr val="window" lastClr="FFFFFF"/>
      </a:lt1>
      <a:dk2>
        <a:srgbClr val="0B2545"/>
      </a:dk2>
      <a:lt2>
        <a:srgbClr val="F3F5F8"/>
      </a:lt2>
      <a:accent1>
        <a:srgbClr val="0B2545"/>
      </a:accent1>
      <a:accent2>
        <a:srgbClr val="1F6FB2"/>
      </a:accent2>
      <a:accent3>
        <a:srgbClr val="6FA8DC"/>
      </a:accent3>
      <a:accent4>
        <a:srgbClr val="C5CCD6"/>
      </a:accent4>
      <a:accent5>
        <a:srgbClr val="5B6675"/>
      </a:accent5>
      <a:accent6>
        <a:srgbClr val="13315C"/>
      </a:accent6>
      <a:hlink>
        <a:srgbClr val="1F6FB2"/>
      </a:hlink>
      <a:folHlink>
        <a:srgbClr val="5B6675"/>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22</Slides>
  <Notes>22</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Part 2: Customer Analysis for CyberStart</dc:title>
  <dc:subject>Customer persona, journey map, the 5 most important needs, four segments, scores and target</dc:subject>
  <dc:creator/>
  <cp:keywords>customer persona, customer journey map, customer needs, segmentation, target segment</cp:keywords>
  <dc:description/>
  <cp:lastModifiedBy/>
  <cp:revision>1</cp:revision>
  <dcterms:created xsi:type="dcterms:W3CDTF">2026-10-11T18:57:05Z</dcterms:created>
  <dcterms:modified xsi:type="dcterms:W3CDTF">2026-10-11T18:57:05Z</dcterms:modified>
  <cp:category/>
</cp:coreProperties>
</file>