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C5CCD6"/>
            </a:solidFill>
          </c:spPr>
          <c:dPt>
            <c:idx val="0"/>
            <c:spPr>
              <a:solidFill>
                <a:srgbClr val="0B2545"/>
              </a:solidFill>
            </c:spPr>
          </c:dPt>
          <c:dPt>
            <c:idx val="2"/>
            <c:spPr>
              <a:solidFill>
                <a:srgbClr val="0B2545"/>
              </a:solidFill>
            </c:spPr>
          </c:dPt>
          <c:dPt>
            <c:idx val="3"/>
            <c:spPr>
              <a:solidFill>
                <a:srgbClr val="0B2545"/>
              </a:solidFill>
            </c:spPr>
          </c:dPt>
          <c:dPt>
            <c:idx val="5"/>
            <c:spPr>
              <a:solidFill>
                <a:srgbClr val="0B2545"/>
              </a:solidFill>
            </c:spPr>
          </c:dPt>
          <c:dPt>
            <c:idx val="7"/>
            <c:spPr>
              <a:solidFill>
                <a:srgbClr val="0B2545"/>
              </a:solidFill>
            </c:spPr>
          </c:dPt>
          <c:cat>
            <c:strRef>
              <c:f>Sheet1!$A$2:$A$13</c:f>
              <c:strCache>
                <c:ptCount val="12"/>
                <c:pt idx="0">
                  <c:v>Hands-on skills</c:v>
                </c:pt>
                <c:pt idx="1">
                  <c:v>Flexible timetable</c:v>
                </c:pt>
                <c:pt idx="2">
                  <c:v>Certificate preparation</c:v>
                </c:pt>
                <c:pt idx="3">
                  <c:v>Affordable price</c:v>
                </c:pt>
                <c:pt idx="4">
                  <c:v>Pay in parts</c:v>
                </c:pt>
                <c:pt idx="5">
                  <c:v>Better-paid job</c:v>
                </c:pt>
                <c:pt idx="6">
                  <c:v>Trust, not a scam</c:v>
                </c:pt>
                <c:pt idx="7">
                  <c:v>Feeling supported</c:v>
                </c:pt>
                <c:pt idx="8">
                  <c:v>Future-proof career</c:v>
                </c:pt>
                <c:pt idx="9">
                  <c:v>Community</c:v>
                </c:pt>
                <c:pt idx="10">
                  <c:v>Status</c:v>
                </c:pt>
                <c:pt idx="11">
                  <c:v>Inclusion</c:v>
                </c:pt>
              </c:strCache>
            </c:strRef>
          </c:cat>
          <c:val>
            <c:numRef>
              <c:f>Sheet1!$B$2:$B$13</c:f>
              <c:numCache>
                <c:formatCode>0</c:formatCode>
                <c:ptCount val="12"/>
                <c:pt idx="0">
                  <c:v>25</c:v>
                </c:pt>
                <c:pt idx="1">
                  <c:v>16</c:v>
                </c:pt>
                <c:pt idx="2">
                  <c:v>20</c:v>
                </c:pt>
                <c:pt idx="3">
                  <c:v>25</c:v>
                </c:pt>
                <c:pt idx="4">
                  <c:v>12</c:v>
                </c:pt>
                <c:pt idx="5">
                  <c:v>20</c:v>
                </c:pt>
                <c:pt idx="6">
                  <c:v>16</c:v>
                </c:pt>
                <c:pt idx="7">
                  <c:v>20</c:v>
                </c:pt>
                <c:pt idx="8">
                  <c:v>9</c:v>
                </c:pt>
                <c:pt idx="9">
                  <c:v>9</c:v>
                </c:pt>
                <c:pt idx="10">
                  <c:v>6</c:v>
                </c:pt>
                <c:pt idx="11">
                  <c:v>9</c:v>
                </c:pt>
              </c:numCache>
            </c:numRef>
          </c:val>
        </c:ser>
        <c:dLbls>
          <c:numFmt formatCode="0" sourceLinked="0"/>
          <c:txPr>
            <a:bodyPr wrap="none"/>
            <a:lstStyle/>
            <a:p>
              <a:pPr>
                <a:defRPr sz="1300" b="1">
                  <a:solidFill>
                    <a:srgbClr val="1C243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79456312"/>
        <c:axId val="33489208"/>
      </c:barChart>
      <c:catAx>
        <c:axId val="79456312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300"/>
            </a:pPr>
          </a:p>
        </c:txPr>
        <c:crossAx val="33489208"/>
        <c:crosses val="autoZero"/>
        <c:auto val="1"/>
        <c:lblAlgn val="ctr"/>
        <c:lblOffset val="100"/>
        <c:noMultiLvlLbl val="0"/>
      </c:catAx>
      <c:valAx>
        <c:axId val="33489208"/>
        <c:scaling>
          <c:max val="25.0"/>
          <c:min val="0.0"/>
        </c:scaling>
        <c:delete val="0"/>
        <c:axPos val="b"/>
        <c:majorTickMark val="none"/>
        <c:minorTickMark val="none"/>
        <c:tickLblPos val="none"/>
        <c:spPr>
          <a:ln>
            <a:noFill/>
          </a:ln>
        </c:spPr>
        <c:crossAx val="79456312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600">
          <a:solidFill>
            <a:srgbClr val="1C243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C5CCD6"/>
            </a:solidFill>
          </c:spPr>
          <c:dPt>
            <c:idx val="1"/>
            <c:spPr>
              <a:solidFill>
                <a:srgbClr val="0B2545"/>
              </a:solidFill>
            </c:spPr>
          </c:dPt>
          <c:cat>
            <c:strRef>
              <c:f>Sheet1!$A$2:$A$5</c:f>
              <c:strCache>
                <c:ptCount val="4"/>
                <c:pt idx="0">
                  <c:v>Campus Starters</c:v>
                </c:pt>
                <c:pt idx="1">
                  <c:v>Career Switchers</c:v>
                </c:pt>
                <c:pt idx="2">
                  <c:v>Corporate Upskillers</c:v>
                </c:pt>
                <c:pt idx="3">
                  <c:v>Women in Tech Starters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3.25</c:v>
                </c:pt>
                <c:pt idx="1">
                  <c:v>4</c:v>
                </c:pt>
                <c:pt idx="2">
                  <c:v>3.15</c:v>
                </c:pt>
                <c:pt idx="3">
                  <c:v>2.95</c:v>
                </c:pt>
              </c:numCache>
            </c:numRef>
          </c:val>
        </c:ser>
        <c:dLbls>
          <c:numFmt formatCode="0.00" sourceLinked="0"/>
          <c:txPr>
            <a:bodyPr wrap="none"/>
            <a:lstStyle/>
            <a:p>
              <a:pPr>
                <a:defRPr sz="1600" b="1">
                  <a:solidFill>
                    <a:srgbClr val="1C243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79456312"/>
        <c:axId val="33489208"/>
      </c:barChart>
      <c:catAx>
        <c:axId val="79456312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600"/>
            </a:pPr>
          </a:p>
        </c:txPr>
        <c:crossAx val="33489208"/>
        <c:crosses val="autoZero"/>
        <c:auto val="1"/>
        <c:lblAlgn val="ctr"/>
        <c:lblOffset val="100"/>
        <c:noMultiLvlLbl val="0"/>
      </c:catAx>
      <c:valAx>
        <c:axId val="33489208"/>
        <c:scaling>
          <c:max val="5.0"/>
          <c:min val="0.0"/>
        </c:scaling>
        <c:delete val="0"/>
        <c:axPos val="b"/>
        <c:majorTickMark val="none"/>
        <c:minorTickMark val="none"/>
        <c:tickLblPos val="none"/>
        <c:spPr>
          <a:ln>
            <a:noFill/>
          </a:ln>
        </c:spPr>
        <c:crossAx val="79456312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600">
          <a:solidFill>
            <a:srgbClr val="1C243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Feeling</c:v>
                </c:pt>
              </c:strCache>
            </c:strRef>
          </c:tx>
          <c:spPr>
            <a:ln w="44450">
              <a:solidFill>
                <a:srgbClr val="1F6FB2"/>
              </a:solidFill>
            </a:ln>
          </c:spPr>
          <c:marker>
            <c:symbol val="circle"/>
            <c:size val="12"/>
            <c:spPr>
              <a:solidFill>
                <a:srgbClr val="0B2545"/>
              </a:solidFill>
              <a:ln>
                <a:solidFill>
                  <a:srgbClr val="0B2545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Awareness</c:v>
                </c:pt>
                <c:pt idx="1">
                  <c:v>Consideration</c:v>
                </c:pt>
                <c:pt idx="2">
                  <c:v>Purchase</c:v>
                </c:pt>
                <c:pt idx="3">
                  <c:v>Learning</c:v>
                </c:pt>
                <c:pt idx="4">
                  <c:v>After the course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3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numCache>
            </c:numRef>
          </c:val>
          <c:smooth val="0"/>
        </c:ser>
        <c:dLbls>
          <c:txPr>
            <a:bodyPr wrap="none"/>
            <a:lstStyle/>
            <a:p>
              <a:pPr>
                <a:defRPr sz="1600" b="1"/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5.5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2118791784"/>
        <c:crosses val="autoZero"/>
        <c:majorUnit val="1.0"/>
      </c:valAx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500">
          <a:solidFill>
            <a:srgbClr val="1C243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2 of my capstone analyses the customers of CyberStart: their needs, four market segments, the target segment, a customer persona and a customer journey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Around the world, networks and cybersecurity is the second fastest-growing skill, and 95 percent of cyber teams have a skills gap, led by AI and cloud security. Nigeria is young, with a median age of about 19 and 2.1 million university students. The minimum wage is 70,000 naira a month, while junior analysts earn about 150,000 to 300,000.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Functional needs are about what the course does: hands-on skills, a flexible timetable and certificate preparation. Economic needs are about money, emotional needs about trust, support and hope, and social needs about community, status and inclusion.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scored each need for how often it came up in the research and how much it affects the decision to buy. The five most important are hands-on skills, an affordable price, certificate preparation, a better-paid job and feeling supported.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chart shows every need. Skills and money matter most; social needs matter less, but still shape how the brand talks to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used all four bases: demographic, geographic, psychographic and behavioural.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segments are Campus Starters, Career Switchers, Corporate Upskillers and Women in Tech Starters.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scored each segment on market size, accessibility, buying potential and competition. Career Switchers score 4.00, the highest.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Career Switchers come first. Campus Starters are the biggest group but have little money, and Corporate Upskillers pay well but are few and already served.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SkillUp Academy should prioritise Career Switchers. They can pay in parts, have a strong reason to buy, are easy to reach online, and few rivals offer practical courses that fit around a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Meet Tunde Bakare, a fictional customer from the target segment: 27, in customer service in Lagos, and keen to get a cybersecurity job within a year. Tunde is afraid of paying for a scam course, works 8 to 5, and finds courses on Google, YouTube, TikTok and WhatsApp.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journey has five stages: awareness, consideration, purchase, learning and after the course. Tunde starts curious, becomes anxious when choosing a course, and ends proud on getting a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journey has five stages: awareness, consideration, purchase, learning and after the course. Each pain point is an opportunity: beginner videos, clear prices and reviews, instalments, weekly labs and fast support, and job help.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Tunde's feelings dip when he compares courses, because he fears scams and cannot find prices. Clear prices, reviews and a free first class lift that low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SkillUp Academy should target Career Switchers with a practical, affordable course paid in parts, and fix the low point of the journey with clear prices, reviews and a free first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for listening.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 anchor="b"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965960"/>
            <a:ext cx="10363200" cy="1371600"/>
          </a:xfrm>
        </p:spPr>
        <p:txBody>
          <a:bodyPr anchor="b"/>
          <a:lstStyle/>
          <a:p>
            <a:pPr algn="l"/>
            <a:r>
              <a:rPr sz="5400" b="0">
                <a:solidFill>
                  <a:srgbClr val="FFFFFF"/>
                </a:solidFill>
                <a:latin typeface="Calibri Light"/>
              </a:rPr>
              <a:t>Customer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3703320"/>
            <a:ext cx="10363200" cy="1188720"/>
          </a:xfrm>
        </p:spPr>
        <p:txBody>
          <a:bodyPr anchor="t"/>
          <a:lstStyle/>
          <a:p>
            <a:pPr algn="l"/>
            <a:r>
              <a:rPr sz="2200" b="0">
                <a:solidFill>
                  <a:srgbClr val="C9D6E8"/>
                </a:solidFill>
                <a:latin typeface="Calibri"/>
              </a:rPr>
              <a:t>Needs, segments, persona and journey map for CyberStart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6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8DB8E8"/>
                </a:solidFill>
                <a:latin typeface="Calibri"/>
              </a:rPr>
              <a:t>CAPSTONE PROJECT  ·  PART 2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1005840" y="3520440"/>
            <a:ext cx="1371600" cy="0"/>
          </a:xfrm>
          <a:prstGeom prst="line">
            <a:avLst/>
          </a:prstGeom>
          <a:ln w="31750">
            <a:solidFill>
              <a:srgbClr val="6FA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>
            <a:off x="914400" y="5897880"/>
            <a:ext cx="10363200" cy="0"/>
          </a:xfrm>
          <a:prstGeom prst="line">
            <a:avLst/>
          </a:prstGeom>
          <a:ln w="12700">
            <a:solidFill>
              <a:srgbClr val="2E4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14400" y="5989320"/>
            <a:ext cx="1036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9D6E8"/>
                </a:solidFill>
                <a:latin typeface="Calibri"/>
              </a:rPr>
              <a:t>SkillUp Academy   |   Market Research Lab   |   October 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 animBg="1"/>
      <p:bldP spid="3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1792"/>
            <a:ext cx="10911840" cy="621792"/>
          </a:xfrm>
        </p:spPr>
        <p:txBody>
          <a:bodyPr anchor="ctr"/>
          <a:lstStyle/>
          <a:p>
            <a:pPr algn="l"/>
            <a:r>
              <a:rPr sz="2800" b="0">
                <a:solidFill>
                  <a:srgbClr val="0B2545"/>
                </a:solidFill>
                <a:latin typeface="Calibri Light"/>
              </a:rPr>
              <a:t>Cyber skills are in demand worldwide; Nigeria is young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792480" y="1965960"/>
          <a:ext cx="10607040" cy="3922776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4572000"/>
                <a:gridCol w="457200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Fact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Figure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2430"/>
                          </a:solidFill>
                          <a:latin typeface="Calibri"/>
                        </a:rPr>
                        <a:t>Fastest-growing skills in the world, 2025 to 2030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Networks and cybersecurity: 2nd (after AI and big data)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World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2430"/>
                          </a:solidFill>
                          <a:latin typeface="Calibri"/>
                        </a:rPr>
                        <a:t>Cybersecurity teams with at least one skills gap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World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2430"/>
                          </a:solidFill>
                          <a:latin typeface="Calibri"/>
                        </a:rPr>
                        <a:t>Skills most in demand in cybersecurity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AI and cloud security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World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2430"/>
                          </a:solidFill>
                          <a:latin typeface="Calibri"/>
                        </a:rPr>
                        <a:t>Women in cybersecurity teams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22% (26% of professionals under 30)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World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2430"/>
                          </a:solidFill>
                          <a:latin typeface="Calibri"/>
                        </a:rPr>
                        <a:t>Median 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About 19 years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Nigeria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2430"/>
                          </a:solidFill>
                          <a:latin typeface="Calibri"/>
                        </a:rPr>
                        <a:t>University students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2.1 million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Nigeria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2430"/>
                          </a:solidFill>
                          <a:latin typeface="Calibri"/>
                        </a:rPr>
                        <a:t>National minimum wage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₦70,000 a month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Nigeria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2430"/>
                          </a:solidFill>
                          <a:latin typeface="Calibri"/>
                        </a:rPr>
                        <a:t>Junior security analyst pay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About ₦150,000 to ₦300,000 a month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Nigeria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2430"/>
                          </a:solidFill>
                          <a:latin typeface="Calibri"/>
                        </a:rPr>
                        <a:t>People using the internet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109 million (end of 2025)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Nigeria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347472"/>
            <a:ext cx="1091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Calibri"/>
              </a:rPr>
              <a:t>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3584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6675"/>
                </a:solidFill>
                <a:latin typeface="Calibri"/>
              </a:rPr>
              <a:t>World and Nigerian data behind the analysis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731520" y="1719072"/>
            <a:ext cx="10728960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675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98464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675"/>
                </a:solidFill>
                <a:latin typeface="Calibri"/>
              </a:rPr>
              <a:t>Sources: World Economic Forum, ISC2, NUC, UN and World Bank data, DataReportal (full list in Excel).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 animBg="1"/>
      <p:bldP spid="5" grpId="0" animBg="1"/>
      <p:bldP spid="9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1792"/>
            <a:ext cx="10911840" cy="621792"/>
          </a:xfrm>
        </p:spPr>
        <p:txBody>
          <a:bodyPr anchor="ctr"/>
          <a:lstStyle/>
          <a:p>
            <a:pPr algn="l"/>
            <a:r>
              <a:rPr sz="2800" b="0">
                <a:solidFill>
                  <a:srgbClr val="0B2545"/>
                </a:solidFill>
                <a:latin typeface="Calibri Light"/>
              </a:rPr>
              <a:t>Customers have four kinds of needs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701040" y="1965960"/>
          <a:ext cx="10789920" cy="347472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697480"/>
                <a:gridCol w="2697480"/>
                <a:gridCol w="2697480"/>
                <a:gridCol w="26974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Functional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Economic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Emotional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C2430"/>
                          </a:solidFill>
                          <a:latin typeface="Calibri"/>
                        </a:rPr>
                        <a:t>Practical, hands-on skills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C2430"/>
                          </a:solidFill>
                          <a:latin typeface="Calibri"/>
                        </a:rPr>
                        <a:t>An affordable price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C2430"/>
                          </a:solidFill>
                          <a:latin typeface="Calibri"/>
                        </a:rPr>
                        <a:t>Trust that the course is genuine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C2430"/>
                          </a:solidFill>
                          <a:latin typeface="Calibri"/>
                        </a:rPr>
                        <a:t>Belonging to a learning community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C2430"/>
                          </a:solidFill>
                          <a:latin typeface="Calibri"/>
                        </a:rPr>
                        <a:t>A flexible timetable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C2430"/>
                          </a:solidFill>
                          <a:latin typeface="Calibri"/>
                        </a:rPr>
                        <a:t>Paying in instalments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C2430"/>
                          </a:solidFill>
                          <a:latin typeface="Calibri"/>
                        </a:rPr>
                        <a:t>Feeling supported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C2430"/>
                          </a:solidFill>
                          <a:latin typeface="Calibri"/>
                        </a:rPr>
                        <a:t>Status of a respected tech job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C2430"/>
                          </a:solidFill>
                          <a:latin typeface="Calibri"/>
                        </a:rPr>
                        <a:t>Preparation for a recognised certificate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C2430"/>
                          </a:solidFill>
                          <a:latin typeface="Calibri"/>
                        </a:rPr>
                        <a:t>A return on the money: a better-paid job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C2430"/>
                          </a:solidFill>
                          <a:latin typeface="Calibri"/>
                        </a:rPr>
                        <a:t>Hope for a future-proof career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C2430"/>
                          </a:solidFill>
                          <a:latin typeface="Calibri"/>
                        </a:rPr>
                        <a:t>Inclusion for women and non-IT people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347472"/>
            <a:ext cx="1091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Calibri"/>
              </a:rPr>
              <a:t>CUSTOMER NEEDS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3584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6675"/>
                </a:solidFill>
                <a:latin typeface="Calibri"/>
              </a:rPr>
              <a:t>Three functional, economic, emotional and social needs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731520" y="1719072"/>
            <a:ext cx="10728960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675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50408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675"/>
                </a:solidFill>
                <a:latin typeface="Calibri"/>
              </a:rPr>
              <a:t>Each need is backed by evidence from the research; see the Customer Needs sheet in Excel.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 animBg="1"/>
      <p:bldP spid="5" grpId="0" animBg="1"/>
      <p:bldP spid="9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1792"/>
            <a:ext cx="10911840" cy="621792"/>
          </a:xfrm>
        </p:spPr>
        <p:txBody>
          <a:bodyPr anchor="ctr"/>
          <a:lstStyle/>
          <a:p>
            <a:pPr algn="l"/>
            <a:r>
              <a:rPr sz="2800" b="0">
                <a:solidFill>
                  <a:srgbClr val="0B2545"/>
                </a:solidFill>
                <a:latin typeface="Calibri Light"/>
              </a:rPr>
              <a:t>Skills and money matter most to customers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655320" y="1965960"/>
          <a:ext cx="10881360" cy="425196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731520"/>
                <a:gridCol w="3108960"/>
                <a:gridCol w="1371600"/>
                <a:gridCol w="914400"/>
                <a:gridCol w="475488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Need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Score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2430"/>
                          </a:solidFill>
                          <a:latin typeface="Calibri"/>
                        </a:rPr>
                        <a:t>Practical, hands-on skills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Functional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“No labs” and “too much theory” drive low course ratings; TryHackMe is praised for its labs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2430"/>
                          </a:solidFill>
                          <a:latin typeface="Calibri"/>
                        </a:rPr>
                        <a:t>An affordable price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Economic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Rising “free course” searches; 20,000+ apply for about 500 free CyberGirls places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2430"/>
                          </a:solidFill>
                          <a:latin typeface="Calibri"/>
                        </a:rPr>
                        <a:t>Preparation for a recognised certificate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Functional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Guides say get Security+ first; ISC2's free exam offer ended in May 2026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2430"/>
                          </a:solidFill>
                          <a:latin typeface="Calibri"/>
                        </a:rPr>
                        <a:t>A return on the money: a better-paid job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Economic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Junior analysts earn about ₦150,000 to ₦300,000 a month; people search for salaries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2430"/>
                          </a:solidFill>
                          <a:latin typeface="Calibri"/>
                        </a:rPr>
                        <a:t>Feeling supported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Emotional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Slow support is a complaint about ALX, TryHackMe and AltSchool; 48% of cyber professionals feel exhausted keeping up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347472"/>
            <a:ext cx="1091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Calibri"/>
              </a:rPr>
              <a:t>CUSTOMER NEEDS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3584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6675"/>
                </a:solidFill>
                <a:latin typeface="Calibri"/>
              </a:rPr>
              <a:t>The 5 most important needs: importance = how often it came up × its effect on buying (of 25)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731520" y="1719072"/>
            <a:ext cx="10728960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675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 animBg="1"/>
      <p:bldP spid="5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1792"/>
            <a:ext cx="10911840" cy="621792"/>
          </a:xfrm>
        </p:spPr>
        <p:txBody>
          <a:bodyPr anchor="ctr"/>
          <a:lstStyle/>
          <a:p>
            <a:pPr algn="l"/>
            <a:r>
              <a:rPr sz="2800" b="0">
                <a:solidFill>
                  <a:srgbClr val="0B2545"/>
                </a:solidFill>
                <a:latin typeface="Calibri Light"/>
              </a:rPr>
              <a:t>Five needs score 20 or more out of 25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822960" y="1874520"/>
          <a:ext cx="68122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347472"/>
            <a:ext cx="1091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Calibri"/>
              </a:rPr>
              <a:t>CUSTOMER NEEDS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3584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6675"/>
                </a:solidFill>
                <a:latin typeface="Calibri"/>
              </a:rPr>
              <a:t>Importance of each need, out of 25; the top five highlighted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731520" y="1719072"/>
            <a:ext cx="10728960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675"/>
                </a:solidFill>
                <a:latin typeface="Calibr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1965960"/>
            <a:ext cx="35966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2148840"/>
            <a:ext cx="3139440" cy="3657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1C2430"/>
                </a:solidFill>
                <a:latin typeface="Calibri"/>
              </a:rPr>
              <a:t>Top 5: </a:t>
            </a:r>
            <a:r>
              <a:rPr sz="1700" b="0">
                <a:solidFill>
                  <a:srgbClr val="1C2430"/>
                </a:solidFill>
                <a:latin typeface="Calibri"/>
              </a:rPr>
              <a:t>two functional, two economic and one emotional need.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C2430"/>
                </a:solidFill>
                <a:latin typeface="Calibri"/>
              </a:rPr>
              <a:t>Money and skills </a:t>
            </a:r>
            <a:r>
              <a:rPr sz="1700" b="0">
                <a:solidFill>
                  <a:srgbClr val="1C2430"/>
                </a:solidFill>
                <a:latin typeface="Calibri"/>
              </a:rPr>
              <a:t>matter most.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C2430"/>
                </a:solidFill>
                <a:latin typeface="Calibri"/>
              </a:rPr>
              <a:t>Social needs </a:t>
            </a:r>
            <a:r>
              <a:rPr sz="1700" b="0">
                <a:solidFill>
                  <a:srgbClr val="1C2430"/>
                </a:solidFill>
                <a:latin typeface="Calibri"/>
              </a:rPr>
              <a:t>score lowest, but still shape the brand.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 animBg="1"/>
      <p:bldP spid="5" grpId="0" animBg="1"/>
      <p:bldGraphic spid="3" grpId="0">
        <p:bldAsOne/>
      </p:bldGraphic>
      <p:bldP spid="9" grpId="0" animBg="1"/>
      <p:bldP spid="10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1792"/>
            <a:ext cx="10911840" cy="621792"/>
          </a:xfrm>
        </p:spPr>
        <p:txBody>
          <a:bodyPr anchor="ctr"/>
          <a:lstStyle/>
          <a:p>
            <a:pPr algn="l"/>
            <a:r>
              <a:rPr sz="2800" b="0">
                <a:solidFill>
                  <a:srgbClr val="0B2545"/>
                </a:solidFill>
                <a:latin typeface="Calibri Light"/>
              </a:rPr>
              <a:t>Four bases describe the customers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701040" y="1965960"/>
          <a:ext cx="10789920" cy="342900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926080"/>
                <a:gridCol w="786384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What it looks at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1C2430"/>
                          </a:solidFill>
                          <a:latin typeface="Calibri"/>
                        </a:rPr>
                        <a:t>Demographic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C2430"/>
                          </a:solidFill>
                          <a:latin typeface="Calibri"/>
                        </a:rPr>
                        <a:t>Age, education, job and income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1C2430"/>
                          </a:solidFill>
                          <a:latin typeface="Calibri"/>
                        </a:rPr>
                        <a:t>Geographic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C2430"/>
                          </a:solidFill>
                          <a:latin typeface="Calibri"/>
                        </a:rPr>
                        <a:t>Where they live and how they can attend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1C2430"/>
                          </a:solidFill>
                          <a:latin typeface="Calibri"/>
                        </a:rPr>
                        <a:t>Psychographic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C2430"/>
                          </a:solidFill>
                          <a:latin typeface="Calibri"/>
                        </a:rPr>
                        <a:t>Values, goals, attitudes and lifestyle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1C2430"/>
                          </a:solidFill>
                          <a:latin typeface="Calibri"/>
                        </a:rPr>
                        <a:t>Behavioural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C2430"/>
                          </a:solidFill>
                          <a:latin typeface="Calibri"/>
                        </a:rPr>
                        <a:t>How they search, decide, buy and learn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347472"/>
            <a:ext cx="1091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Calibri"/>
              </a:rPr>
              <a:t>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3584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6675"/>
                </a:solidFill>
                <a:latin typeface="Calibri"/>
              </a:rPr>
              <a:t>Four ways to group the customers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731520" y="1719072"/>
            <a:ext cx="10728960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675"/>
                </a:solidFill>
                <a:latin typeface="Calibri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04688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675"/>
                </a:solidFill>
                <a:latin typeface="Calibri"/>
              </a:rPr>
              <a:t>Together they give four segments of CyberStart's possible customers.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 animBg="1"/>
      <p:bldP spid="5" grpId="0" animBg="1"/>
      <p:bldP spid="9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1792"/>
            <a:ext cx="10911840" cy="621792"/>
          </a:xfrm>
        </p:spPr>
        <p:txBody>
          <a:bodyPr anchor="ctr"/>
          <a:lstStyle/>
          <a:p>
            <a:pPr algn="l"/>
            <a:r>
              <a:rPr sz="2800" b="0">
                <a:solidFill>
                  <a:srgbClr val="0B2545"/>
                </a:solidFill>
                <a:latin typeface="Calibri Light"/>
              </a:rPr>
              <a:t>The market splits into four segments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723900" y="1965960"/>
          <a:ext cx="10744200" cy="406908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600200"/>
                <a:gridCol w="2286000"/>
                <a:gridCol w="2286000"/>
                <a:gridCol w="2286000"/>
                <a:gridCol w="228600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Campus Starters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Career Switchers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Corporate Upskillers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Women in Tech Starters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C2430"/>
                          </a:solidFill>
                          <a:latin typeface="Calibri"/>
                        </a:rPr>
                        <a:t>Demographic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Students and new graduates, 18 to 24; little or no income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Working adults, 25 to 35, in non-IT jobs; steady but modest pay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Staff of banks, telecoms and government, 25 to 45; the employer pays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Women 18 to 30, students and graduates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C2430"/>
                          </a:solidFill>
                          <a:latin typeface="Calibri"/>
                        </a:rPr>
                        <a:t>Geographic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University towns across Nigeria; online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Lagos, Abuja and Port Harcourt; online in the evenings and at weekends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Head offices in Lagos and Abuja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Nationwide, online, with hubs in Lagos and Abuja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C2430"/>
                          </a:solidFill>
                          <a:latin typeface="Calibri"/>
                        </a:rPr>
                        <a:t>Psychographic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Ambitious and curious; want a head start before graduating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Want a better-paid, future-proof career; careful with money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Career growth and doing things by the book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Want a safe, supportive community and role models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C2430"/>
                          </a:solidFill>
                          <a:latin typeface="Calibri"/>
                        </a:rPr>
                        <a:t>Behavioural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Search for “free course”; learn on YouTube and TikTok; very price-driven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Compare courses and read reviews; search for salaries; pay in instalments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Buy through HR in groups; want recognised certificates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Apply for free fellowships; follow women's tech groups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347472"/>
            <a:ext cx="1091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Calibri"/>
              </a:rPr>
              <a:t>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3584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6675"/>
                </a:solidFill>
                <a:latin typeface="Calibri"/>
              </a:rPr>
              <a:t>Each segment described on the four bases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731520" y="1719072"/>
            <a:ext cx="10728960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675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 animBg="1"/>
      <p:bldP spid="5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1792"/>
            <a:ext cx="10911840" cy="621792"/>
          </a:xfrm>
        </p:spPr>
        <p:txBody>
          <a:bodyPr anchor="ctr"/>
          <a:lstStyle/>
          <a:p>
            <a:pPr algn="l"/>
            <a:r>
              <a:rPr sz="2800" b="0">
                <a:solidFill>
                  <a:srgbClr val="0B2545"/>
                </a:solidFill>
                <a:latin typeface="Calibri Light"/>
              </a:rPr>
              <a:t>Career Switchers have the best overall score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792480" y="1965960"/>
          <a:ext cx="10607040" cy="288036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743200"/>
                <a:gridCol w="1600200"/>
                <a:gridCol w="1600200"/>
                <a:gridCol w="1600200"/>
                <a:gridCol w="1600200"/>
                <a:gridCol w="1463040"/>
              </a:tblGrid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Market size (25%)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Accessibility (25%)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Buying potential (30%)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Competition (20%)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Score (of 5)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C2430"/>
                          </a:solidFill>
                          <a:latin typeface="Calibri"/>
                        </a:rPr>
                        <a:t>Campus Starters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C243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C243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C243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C243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C2430"/>
                          </a:solidFill>
                          <a:latin typeface="Calibri"/>
                        </a:rPr>
                        <a:t>3.25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1C2430"/>
                          </a:solidFill>
                          <a:latin typeface="Calibri"/>
                        </a:rPr>
                        <a:t>Career Switchers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C243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C243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C243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C243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C2430"/>
                          </a:solidFill>
                          <a:latin typeface="Calibri"/>
                        </a:rPr>
                        <a:t>4.00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C2430"/>
                          </a:solidFill>
                          <a:latin typeface="Calibri"/>
                        </a:rPr>
                        <a:t>Corporate Upskillers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C243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C243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C243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C243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C2430"/>
                          </a:solidFill>
                          <a:latin typeface="Calibri"/>
                        </a:rPr>
                        <a:t>3.15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C2430"/>
                          </a:solidFill>
                          <a:latin typeface="Calibri"/>
                        </a:rPr>
                        <a:t>Women in Tech Starters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C243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C243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C243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C243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C2430"/>
                          </a:solidFill>
                          <a:latin typeface="Calibri"/>
                        </a:rPr>
                        <a:t>2.95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347472"/>
            <a:ext cx="1091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Calibri"/>
              </a:rPr>
              <a:t>SEGMENT SCORING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3584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6675"/>
                </a:solidFill>
                <a:latin typeface="Calibri"/>
              </a:rPr>
              <a:t>Scored 1 (poor) to 5 (best); weights in brackets; for competition, 5 = little competition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731520" y="1719072"/>
            <a:ext cx="10728960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675"/>
                </a:solidFill>
                <a:latin typeface="Calibr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56048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675"/>
                </a:solidFill>
                <a:latin typeface="Calibri"/>
              </a:rPr>
              <a:t>Score = SUMPRODUCT of the weights and the scores in Excel.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 animBg="1"/>
      <p:bldP spid="5" grpId="0" animBg="1"/>
      <p:bldP spid="9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1792"/>
            <a:ext cx="10911840" cy="621792"/>
          </a:xfrm>
        </p:spPr>
        <p:txBody>
          <a:bodyPr anchor="ctr"/>
          <a:lstStyle/>
          <a:p>
            <a:pPr algn="l"/>
            <a:r>
              <a:rPr sz="2800" b="0">
                <a:solidFill>
                  <a:srgbClr val="0B2545"/>
                </a:solidFill>
                <a:latin typeface="Calibri Light"/>
              </a:rPr>
              <a:t>Career Switchers lead with 4.00 out of 5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822960" y="1874520"/>
          <a:ext cx="68122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347472"/>
            <a:ext cx="1091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Calibri"/>
              </a:rPr>
              <a:t>SEGMENT SCORING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3584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6675"/>
                </a:solidFill>
                <a:latin typeface="Calibri"/>
              </a:rPr>
              <a:t>Weighted score of each segment (of 5)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731520" y="1719072"/>
            <a:ext cx="10728960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675"/>
                </a:solidFill>
                <a:latin typeface="Calibri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1965960"/>
            <a:ext cx="35966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2148840"/>
            <a:ext cx="3139440" cy="3657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1C2430"/>
                </a:solidFill>
                <a:latin typeface="Calibri"/>
              </a:rPr>
              <a:t>Highest: </a:t>
            </a:r>
            <a:r>
              <a:rPr sz="1700" b="0">
                <a:solidFill>
                  <a:srgbClr val="1C2430"/>
                </a:solidFill>
                <a:latin typeface="Calibri"/>
              </a:rPr>
              <a:t>Career Switchers (4.00).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C2430"/>
                </a:solidFill>
                <a:latin typeface="Calibri"/>
              </a:rPr>
              <a:t>Next: </a:t>
            </a:r>
            <a:r>
              <a:rPr sz="1700" b="0">
                <a:solidFill>
                  <a:srgbClr val="1C2430"/>
                </a:solidFill>
                <a:latin typeface="Calibri"/>
              </a:rPr>
              <a:t>Campus Starters (3.25): many people, but little money.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C2430"/>
                </a:solidFill>
                <a:latin typeface="Calibri"/>
              </a:rPr>
              <a:t>Corporate Upskillers </a:t>
            </a:r>
            <a:r>
              <a:rPr sz="1700" b="0">
                <a:solidFill>
                  <a:srgbClr val="1C2430"/>
                </a:solidFill>
                <a:latin typeface="Calibri"/>
              </a:rPr>
              <a:t>pay well, but the market is small and served.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 animBg="1"/>
      <p:bldP spid="5" grpId="0" animBg="1"/>
      <p:bldGraphic spid="3" grpId="0">
        <p:bldAsOne/>
      </p:bldGraphic>
      <p:bldP spid="9" grpId="0" animBg="1"/>
      <p:bldP spid="10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1792"/>
            <a:ext cx="10911840" cy="621792"/>
          </a:xfrm>
        </p:spPr>
        <p:txBody>
          <a:bodyPr anchor="ctr"/>
          <a:lstStyle/>
          <a:p>
            <a:pPr algn="l"/>
            <a:r>
              <a:rPr sz="2800" b="0">
                <a:solidFill>
                  <a:srgbClr val="0B2545"/>
                </a:solidFill>
                <a:latin typeface="Calibri Light"/>
              </a:rPr>
              <a:t>Prioritise Career Switchers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965960"/>
            <a:ext cx="1072896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2148840"/>
            <a:ext cx="10088880" cy="3703320"/>
          </a:xfrm>
        </p:spPr>
        <p:txBody>
          <a:bodyPr anchor="ctr"/>
          <a:lstStyle/>
          <a:p>
            <a:pPr>
              <a:spcAft>
                <a:spcPts val="1000"/>
              </a:spcAft>
              <a:buClr>
                <a:srgbClr val="1F6FB2"/>
              </a:buClr>
            </a:pPr>
            <a:r>
              <a:rPr sz="2000" b="1">
                <a:solidFill>
                  <a:srgbClr val="0B2545"/>
                </a:solidFill>
                <a:latin typeface="Calibri"/>
              </a:rPr>
              <a:t>Who: </a:t>
            </a:r>
            <a:r>
              <a:rPr sz="2000" b="0">
                <a:solidFill>
                  <a:srgbClr val="1C2430"/>
                </a:solidFill>
                <a:latin typeface="Calibri"/>
              </a:rPr>
              <a:t>working adults of 25 to 35 in non-IT jobs, in Lagos, Abuja and Port Harcourt.</a:t>
            </a:r>
          </a:p>
          <a:p>
            <a:pPr>
              <a:spcAft>
                <a:spcPts val="1000"/>
              </a:spcAft>
              <a:buClr>
                <a:srgbClr val="1F6FB2"/>
              </a:buClr>
            </a:pPr>
            <a:r>
              <a:rPr sz="2000" b="1">
                <a:solidFill>
                  <a:srgbClr val="0B2545"/>
                </a:solidFill>
                <a:latin typeface="Calibri"/>
              </a:rPr>
              <a:t>Can pay: </a:t>
            </a:r>
            <a:r>
              <a:rPr sz="2000" b="0">
                <a:solidFill>
                  <a:srgbClr val="1C2430"/>
                </a:solidFill>
                <a:latin typeface="Calibri"/>
              </a:rPr>
              <a:t>steady pay above the ₦70,000 minimum wage; ₦50,000 a month in 3 parts.</a:t>
            </a:r>
          </a:p>
          <a:p>
            <a:pPr>
              <a:spcAft>
                <a:spcPts val="1000"/>
              </a:spcAft>
              <a:buClr>
                <a:srgbClr val="1F6FB2"/>
              </a:buClr>
            </a:pPr>
            <a:r>
              <a:rPr sz="2000" b="1">
                <a:solidFill>
                  <a:srgbClr val="0B2545"/>
                </a:solidFill>
                <a:latin typeface="Calibri"/>
              </a:rPr>
              <a:t>Strong reason to buy: </a:t>
            </a:r>
            <a:r>
              <a:rPr sz="2000" b="0">
                <a:solidFill>
                  <a:srgbClr val="1C2430"/>
                </a:solidFill>
                <a:latin typeface="Calibri"/>
              </a:rPr>
              <a:t>a junior analyst job pays about ₦150,000 to ₦300,000 a month.</a:t>
            </a:r>
          </a:p>
          <a:p>
            <a:pPr>
              <a:spcAft>
                <a:spcPts val="1000"/>
              </a:spcAft>
              <a:buClr>
                <a:srgbClr val="1F6FB2"/>
              </a:buClr>
            </a:pPr>
            <a:r>
              <a:rPr sz="2000" b="1">
                <a:solidFill>
                  <a:srgbClr val="0B2545"/>
                </a:solidFill>
                <a:latin typeface="Calibri"/>
              </a:rPr>
              <a:t>Easy to reach: </a:t>
            </a:r>
            <a:r>
              <a:rPr sz="2000" b="0">
                <a:solidFill>
                  <a:srgbClr val="1C2430"/>
                </a:solidFill>
                <a:latin typeface="Calibri"/>
              </a:rPr>
              <a:t>Google, Facebook, LinkedIn and WhatsApp; classes in the evenings and at weekends.</a:t>
            </a:r>
          </a:p>
          <a:p>
            <a:pPr>
              <a:spcAft>
                <a:spcPts val="1000"/>
              </a:spcAft>
              <a:buClr>
                <a:srgbClr val="1F6FB2"/>
              </a:buClr>
            </a:pPr>
            <a:r>
              <a:rPr sz="2000" b="1">
                <a:solidFill>
                  <a:srgbClr val="0B2545"/>
                </a:solidFill>
                <a:latin typeface="Calibri"/>
              </a:rPr>
              <a:t>Little competition: </a:t>
            </a:r>
            <a:r>
              <a:rPr sz="2000" b="0">
                <a:solidFill>
                  <a:srgbClr val="1C2430"/>
                </a:solidFill>
                <a:latin typeface="Calibri"/>
              </a:rPr>
              <a:t>few practical, mid-price courses fit around a full-time job.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91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Calibri"/>
              </a:rPr>
              <a:t>TARGET SEGMENT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3584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6675"/>
                </a:solidFill>
                <a:latin typeface="Calibri"/>
              </a:rPr>
              <a:t>The target segment the business should focus on, and why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731520" y="1719072"/>
            <a:ext cx="10728960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675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 animBg="1"/>
      <p:bldP spid="5" grpId="0" animBg="1"/>
      <p:bldP spid="9" grpId="0" animBg="1"/>
      <p:bldP spid="3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1792"/>
            <a:ext cx="10911840" cy="621792"/>
          </a:xfrm>
        </p:spPr>
        <p:txBody>
          <a:bodyPr anchor="ctr"/>
          <a:lstStyle/>
          <a:p>
            <a:pPr algn="l"/>
            <a:r>
              <a:rPr sz="2800" b="0">
                <a:solidFill>
                  <a:srgbClr val="0B2545"/>
                </a:solidFill>
                <a:latin typeface="Calibri Light"/>
              </a:rPr>
              <a:t>Meet Tunde, a typical Career Switcher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91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Calibri"/>
              </a:rPr>
              <a:t>CUSTOMER PERSONA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3584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6675"/>
                </a:solidFill>
                <a:latin typeface="Calibri"/>
              </a:rPr>
              <a:t>A fictional customer from the target segment, built from the research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731520" y="1719072"/>
            <a:ext cx="10728960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675"/>
                </a:solidFill>
                <a:latin typeface="Calibri"/>
              </a:rP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965960"/>
            <a:ext cx="393192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2240280"/>
            <a:ext cx="1097280" cy="1097280"/>
          </a:xfrm>
          <a:prstGeom prst="ellipse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TB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2286000"/>
            <a:ext cx="22402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200" b="1">
                <a:solidFill>
                  <a:srgbClr val="1C2430"/>
                </a:solidFill>
                <a:latin typeface="Calibri"/>
              </a:rPr>
              <a:t>Tunde Bakare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5B6675"/>
                </a:solidFill>
                <a:latin typeface="Calibri"/>
              </a:rPr>
              <a:t>Career Switchers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474720"/>
            <a:ext cx="34747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1C2430"/>
                </a:solidFill>
                <a:latin typeface="Calibri"/>
              </a:rPr>
              <a:t>Age: </a:t>
            </a:r>
            <a:r>
              <a:rPr sz="1300" b="0">
                <a:solidFill>
                  <a:srgbClr val="1C2430"/>
                </a:solidFill>
                <a:latin typeface="Calibri"/>
              </a:rPr>
              <a:t>27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C2430"/>
                </a:solidFill>
                <a:latin typeface="Calibri"/>
              </a:rPr>
              <a:t>Lives in: </a:t>
            </a:r>
            <a:r>
              <a:rPr sz="1300" b="0">
                <a:solidFill>
                  <a:srgbClr val="1C2430"/>
                </a:solidFill>
                <a:latin typeface="Calibri"/>
              </a:rPr>
              <a:t>Ikeja, Lagos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C2430"/>
                </a:solidFill>
                <a:latin typeface="Calibri"/>
              </a:rPr>
              <a:t>Job: </a:t>
            </a:r>
            <a:r>
              <a:rPr sz="1300" b="0">
                <a:solidFill>
                  <a:srgbClr val="1C2430"/>
                </a:solidFill>
                <a:latin typeface="Calibri"/>
              </a:rPr>
              <a:t>Customer service officer at a phone retailer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C2430"/>
                </a:solidFill>
                <a:latin typeface="Calibri"/>
              </a:rPr>
              <a:t>Education: </a:t>
            </a:r>
            <a:r>
              <a:rPr sz="1300" b="0">
                <a:solidFill>
                  <a:srgbClr val="1C2430"/>
                </a:solidFill>
                <a:latin typeface="Calibri"/>
              </a:rPr>
              <a:t>HND in Business Administration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C2430"/>
                </a:solidFill>
                <a:latin typeface="Calibri"/>
              </a:rPr>
              <a:t>Money: </a:t>
            </a:r>
            <a:r>
              <a:rPr sz="1300" b="0">
                <a:solidFill>
                  <a:srgbClr val="1C2430"/>
                </a:solidFill>
                <a:latin typeface="Calibri"/>
              </a:rPr>
              <a:t>Steady pay above the minimum wage; can spare about ₦50,000 a month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C2430"/>
                </a:solidFill>
                <a:latin typeface="Calibri"/>
              </a:rPr>
              <a:t>Devices: </a:t>
            </a:r>
            <a:r>
              <a:rPr sz="1300" b="0">
                <a:solidFill>
                  <a:srgbClr val="1C2430"/>
                </a:solidFill>
                <a:latin typeface="Calibri"/>
              </a:rPr>
              <a:t>Smartphone and a budget laptop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30352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0B2545"/>
                </a:solidFill>
                <a:latin typeface="Calibri"/>
              </a:rPr>
              <a:t>“I don't mind paying, if I'm sure it will get me a job.”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92040" y="1965960"/>
            <a:ext cx="3169920" cy="19888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0" y="2075688"/>
            <a:ext cx="2804160" cy="180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Goals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C2430"/>
                </a:solidFill>
                <a:latin typeface="Calibri"/>
              </a:rPr>
              <a:t>•  Move into a cybersecurity job within a year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C2430"/>
                </a:solidFill>
                <a:latin typeface="Calibri"/>
              </a:rPr>
              <a:t>•  Earn more: junior analysts earn ₦150,000+ a month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C2430"/>
                </a:solidFill>
                <a:latin typeface="Calibri"/>
              </a:rPr>
              <a:t>•  Learn a skill that will not go out of date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90560" y="1965960"/>
            <a:ext cx="3169920" cy="19888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19160" y="2075688"/>
            <a:ext cx="2804160" cy="180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Frustrations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C2430"/>
                </a:solidFill>
                <a:latin typeface="Calibri"/>
              </a:rPr>
              <a:t>•  Does not know where to start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C2430"/>
                </a:solidFill>
                <a:latin typeface="Calibri"/>
              </a:rPr>
              <a:t>•  Afraid of paying for a scam course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C2430"/>
                </a:solidFill>
                <a:latin typeface="Calibri"/>
              </a:rPr>
              <a:t>•  Works 8 to 5; free programmes are full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92040" y="4183380"/>
            <a:ext cx="3169920" cy="19888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0" y="4293108"/>
            <a:ext cx="2804160" cy="180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Needs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C2430"/>
                </a:solidFill>
                <a:latin typeface="Calibri"/>
              </a:rPr>
              <a:t>•  Hands-on labs at weekends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C2430"/>
                </a:solidFill>
                <a:latin typeface="Calibri"/>
              </a:rPr>
              <a:t>•  A fair price in 3 parts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C2430"/>
                </a:solidFill>
                <a:latin typeface="Calibri"/>
              </a:rPr>
              <a:t>•  Help when stuck and a route to a job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90560" y="4183380"/>
            <a:ext cx="3169920" cy="19888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19160" y="4293108"/>
            <a:ext cx="2804160" cy="180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Where to reach them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C2430"/>
                </a:solidFill>
                <a:latin typeface="Calibri"/>
              </a:rPr>
              <a:t>•  Google, YouTube and TikTok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C2430"/>
                </a:solidFill>
                <a:latin typeface="Calibri"/>
              </a:rPr>
              <a:t>•  Facebook groups and WhatsApp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C2430"/>
                </a:solidFill>
                <a:latin typeface="Calibri"/>
              </a:rPr>
              <a:t>•  LinkedIn for jobs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 animBg="1"/>
      <p:bldP spid="5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1792"/>
            <a:ext cx="10911840" cy="621792"/>
          </a:xfrm>
        </p:spPr>
        <p:txBody>
          <a:bodyPr anchor="ctr"/>
          <a:lstStyle/>
          <a:p>
            <a:pPr algn="l"/>
            <a:r>
              <a:rPr sz="2800" b="0">
                <a:solidFill>
                  <a:srgbClr val="0B2545"/>
                </a:solidFill>
                <a:latin typeface="Calibri Light"/>
              </a:rPr>
              <a:t>From curiosity to a new job: Tunde's journey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701040" y="1965960"/>
          <a:ext cx="10789920" cy="411480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554480"/>
                <a:gridCol w="1847088"/>
                <a:gridCol w="1847088"/>
                <a:gridCol w="1847088"/>
                <a:gridCol w="1847088"/>
                <a:gridCol w="1847088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Awareness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Consideration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Purchase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Learning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After the course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12344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C2430"/>
                          </a:solidFill>
                          <a:latin typeface="Calibri"/>
                        </a:rPr>
                        <a:t>Doing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Sees breach news and a TikTok video on cyber careers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Compares courses, reads reviews, asks in WhatsApp groups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Joins the free first class, pays the first part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Attends classes and weekend labs, takes the exam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Applies for jobs, shares the result, refers friends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2344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C2430"/>
                          </a:solidFill>
                          <a:latin typeface="Calibri"/>
                        </a:rPr>
                        <a:t>Touchpoints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TikTok, Facebook adverts, Google search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Website, Google and Trustpilot reviews, WhatsApp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Free class, online payment plan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Learning platform, Lagos lab, mentor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Career help, LinkedIn, alumni group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12344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C2430"/>
                          </a:solidFill>
                          <a:latin typeface="Calibri"/>
                        </a:rPr>
                        <a:t>Thinking and feeling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“Can I do this without IT?” Curious but unsure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“Is this a scam?” Anxious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“I hope it's worth it.” Hopeful, nervous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“Hard, but I'm getting it.” Proud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“I got the job!” Relieved and proud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347472"/>
            <a:ext cx="1091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Calibri"/>
              </a:rPr>
              <a:t>CUSTOMER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3584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6675"/>
                </a:solidFill>
                <a:latin typeface="Calibri"/>
              </a:rPr>
              <a:t>Customer journey map of Tunde Bakare: what Tunde does, where, and how it feels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731520" y="1719072"/>
            <a:ext cx="10728960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675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 animBg="1"/>
      <p:bldP spid="5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1792"/>
            <a:ext cx="10911840" cy="621792"/>
          </a:xfrm>
        </p:spPr>
        <p:txBody>
          <a:bodyPr anchor="ctr"/>
          <a:lstStyle/>
          <a:p>
            <a:pPr algn="l"/>
            <a:r>
              <a:rPr sz="2800" b="0">
                <a:solidFill>
                  <a:srgbClr val="0B2545"/>
                </a:solidFill>
                <a:latin typeface="Calibri Light"/>
              </a:rPr>
              <a:t>Every pain point is an opportunity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701040" y="1965960"/>
          <a:ext cx="10789920" cy="333756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554480"/>
                <a:gridCol w="1847088"/>
                <a:gridCol w="1847088"/>
                <a:gridCol w="1847088"/>
                <a:gridCol w="1847088"/>
                <a:gridCol w="1847088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Awareness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Consideration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Purchase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Learning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After the course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C2430"/>
                          </a:solidFill>
                          <a:latin typeface="Calibri"/>
                        </a:rPr>
                        <a:t>Pain points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No clear starting point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Hidden prices, few reviews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Big one-off fees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Slow support, outdated content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No links to employers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C2430"/>
                          </a:solidFill>
                          <a:latin typeface="Calibri"/>
                        </a:rPr>
                        <a:t>Opportunities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Beginner videos on TikTok and Google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Publish prices and reviews; fast WhatsApp replies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Free first class; 3 instalments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Weekly labs, 24-hour support, recordings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Exam prep, CV help, employer partners, referral reward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347472"/>
            <a:ext cx="1091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Calibri"/>
              </a:rPr>
              <a:t>CUSTOMER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3584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6675"/>
                </a:solidFill>
                <a:latin typeface="Calibri"/>
              </a:rPr>
              <a:t>What goes wrong at each stage, and what SkillUp Academy can do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731520" y="1719072"/>
            <a:ext cx="10728960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675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 animBg="1"/>
      <p:bldP spid="5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1792"/>
            <a:ext cx="10911840" cy="621792"/>
          </a:xfrm>
        </p:spPr>
        <p:txBody>
          <a:bodyPr anchor="ctr"/>
          <a:lstStyle/>
          <a:p>
            <a:pPr algn="l"/>
            <a:r>
              <a:rPr sz="2800" b="0">
                <a:solidFill>
                  <a:srgbClr val="0B2545"/>
                </a:solidFill>
                <a:latin typeface="Calibri Light"/>
              </a:rPr>
              <a:t>Choosing a course is the low point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822960" y="1874520"/>
          <a:ext cx="68122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347472"/>
            <a:ext cx="1091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Calibri"/>
              </a:rPr>
              <a:t>CUSTOMER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3584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6675"/>
                </a:solidFill>
                <a:latin typeface="Calibri"/>
              </a:rPr>
              <a:t>How the customer feels at each stage: 1 (very negative) to 5 (very positive)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731520" y="1719072"/>
            <a:ext cx="10728960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675"/>
                </a:solidFill>
                <a:latin typeface="Calibri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1965960"/>
            <a:ext cx="35966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2148840"/>
            <a:ext cx="3139440" cy="3657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1C2430"/>
                </a:solidFill>
                <a:latin typeface="Calibri"/>
              </a:rPr>
              <a:t>Lowest point: </a:t>
            </a:r>
            <a:r>
              <a:rPr sz="1700" b="0">
                <a:solidFill>
                  <a:srgbClr val="1C2430"/>
                </a:solidFill>
                <a:latin typeface="Calibri"/>
              </a:rPr>
              <a:t>consideration, choosing a course: fear of scams and hidden prices.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C2430"/>
                </a:solidFill>
                <a:latin typeface="Calibri"/>
              </a:rPr>
              <a:t>Fix: </a:t>
            </a:r>
            <a:r>
              <a:rPr sz="1700" b="0">
                <a:solidFill>
                  <a:srgbClr val="1C2430"/>
                </a:solidFill>
                <a:latin typeface="Calibri"/>
              </a:rPr>
              <a:t>clear prices, real reviews and a free first class.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C2430"/>
                </a:solidFill>
                <a:latin typeface="Calibri"/>
              </a:rPr>
              <a:t>Highest point: </a:t>
            </a:r>
            <a:r>
              <a:rPr sz="1700" b="0">
                <a:solidFill>
                  <a:srgbClr val="1C2430"/>
                </a:solidFill>
                <a:latin typeface="Calibri"/>
              </a:rPr>
              <a:t>after the course, with a job.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 animBg="1"/>
      <p:bldP spid="5" grpId="0" animBg="1"/>
      <p:bldGraphic spid="3" grpId="0">
        <p:bldAsOne/>
      </p:bldGraphic>
      <p:bldP spid="9" grpId="0" animBg="1"/>
      <p:bldP spid="10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1792"/>
            <a:ext cx="10911840" cy="621792"/>
          </a:xfrm>
        </p:spPr>
        <p:txBody>
          <a:bodyPr anchor="ctr"/>
          <a:lstStyle/>
          <a:p>
            <a:pPr algn="l"/>
            <a:r>
              <a:rPr sz="2800" b="0">
                <a:solidFill>
                  <a:srgbClr val="0B2545"/>
                </a:solidFill>
                <a:latin typeface="Calibri Light"/>
              </a:rPr>
              <a:t>Target Career Switchers with a practical course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965960"/>
            <a:ext cx="1072896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2148840"/>
            <a:ext cx="10088880" cy="3703320"/>
          </a:xfrm>
        </p:spPr>
        <p:txBody>
          <a:bodyPr anchor="ctr"/>
          <a:lstStyle/>
          <a:p>
            <a:pPr>
              <a:spcAft>
                <a:spcPts val="1000"/>
              </a:spcAft>
              <a:buClr>
                <a:srgbClr val="1F6FB2"/>
              </a:buClr>
            </a:pPr>
            <a:r>
              <a:rPr sz="2000" b="1">
                <a:solidFill>
                  <a:srgbClr val="0B2545"/>
                </a:solidFill>
                <a:latin typeface="Calibri"/>
              </a:rPr>
              <a:t>Top needs: </a:t>
            </a:r>
            <a:r>
              <a:rPr sz="2000" b="0">
                <a:solidFill>
                  <a:srgbClr val="1C2430"/>
                </a:solidFill>
                <a:latin typeface="Calibri"/>
              </a:rPr>
              <a:t>hands-on skills, an affordable price, certificate preparation, a better-paid job and feeling supported.</a:t>
            </a:r>
          </a:p>
          <a:p>
            <a:pPr>
              <a:spcAft>
                <a:spcPts val="1000"/>
              </a:spcAft>
              <a:buClr>
                <a:srgbClr val="1F6FB2"/>
              </a:buClr>
            </a:pPr>
            <a:r>
              <a:rPr sz="2000" b="1">
                <a:solidFill>
                  <a:srgbClr val="0B2545"/>
                </a:solidFill>
                <a:latin typeface="Calibri"/>
              </a:rPr>
              <a:t>Target segment: </a:t>
            </a:r>
            <a:r>
              <a:rPr sz="2000" b="0">
                <a:solidFill>
                  <a:srgbClr val="1C2430"/>
                </a:solidFill>
                <a:latin typeface="Calibri"/>
              </a:rPr>
              <a:t>Career Switchers, working adults of 25 to 35 who can pay in parts and want a better job.</a:t>
            </a:r>
          </a:p>
          <a:p>
            <a:pPr>
              <a:spcAft>
                <a:spcPts val="1000"/>
              </a:spcAft>
              <a:buClr>
                <a:srgbClr val="1F6FB2"/>
              </a:buClr>
            </a:pPr>
            <a:r>
              <a:rPr sz="2000" b="1">
                <a:solidFill>
                  <a:srgbClr val="0B2545"/>
                </a:solidFill>
                <a:latin typeface="Calibri"/>
              </a:rPr>
              <a:t>Persona: </a:t>
            </a:r>
            <a:r>
              <a:rPr sz="2000" b="0">
                <a:solidFill>
                  <a:srgbClr val="1C2430"/>
                </a:solidFill>
                <a:latin typeface="Calibri"/>
              </a:rPr>
              <a:t>Tunde, 27, in Lagos: wants a cyber job within a year, fears scams, learns at weekends.</a:t>
            </a:r>
          </a:p>
          <a:p>
            <a:pPr>
              <a:spcAft>
                <a:spcPts val="1000"/>
              </a:spcAft>
              <a:buClr>
                <a:srgbClr val="1F6FB2"/>
              </a:buClr>
            </a:pPr>
            <a:r>
              <a:rPr sz="2000" b="1">
                <a:solidFill>
                  <a:srgbClr val="0B2545"/>
                </a:solidFill>
                <a:latin typeface="Calibri"/>
              </a:rPr>
              <a:t>Journey: </a:t>
            </a:r>
            <a:r>
              <a:rPr sz="2000" b="0">
                <a:solidFill>
                  <a:srgbClr val="1C2430"/>
                </a:solidFill>
                <a:latin typeface="Calibri"/>
              </a:rPr>
              <a:t>the low point is choosing a course; clear prices, reviews and a free first class fix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91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3584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6675"/>
                </a:solidFill>
                <a:latin typeface="Calibri"/>
              </a:rPr>
              <a:t>What the customer analysis shows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731520" y="1719072"/>
            <a:ext cx="10728960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675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 animBg="1"/>
      <p:bldP spid="5" grpId="0" animBg="1"/>
      <p:bldP spid="9" grpId="0" animBg="1"/>
      <p:bldP spid="3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965960"/>
            <a:ext cx="10363200" cy="1371600"/>
          </a:xfrm>
        </p:spPr>
        <p:txBody>
          <a:bodyPr anchor="b"/>
          <a:lstStyle/>
          <a:p>
            <a:pPr algn="l"/>
            <a:r>
              <a:rPr sz="4800" b="0">
                <a:solidFill>
                  <a:srgbClr val="FFFFFF"/>
                </a:solidFill>
                <a:latin typeface="Calibri Light"/>
              </a:rP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3703320"/>
            <a:ext cx="10363200" cy="1188720"/>
          </a:xfrm>
        </p:spPr>
        <p:txBody>
          <a:bodyPr anchor="t"/>
          <a:lstStyle/>
          <a:p>
            <a:pPr algn="l"/>
            <a:r>
              <a:rPr sz="2200" b="0">
                <a:solidFill>
                  <a:srgbClr val="C9D6E8"/>
                </a:solidFill>
                <a:latin typeface="Calibri"/>
              </a:rPr>
              <a:t>Any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6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8DB8E8"/>
                </a:solidFill>
                <a:latin typeface="Calibri"/>
              </a:rPr>
              <a:t>CAPSTONE PROJECT  ·  PART 2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1005840" y="3520440"/>
            <a:ext cx="1371600" cy="0"/>
          </a:xfrm>
          <a:prstGeom prst="line">
            <a:avLst/>
          </a:prstGeom>
          <a:ln w="31750">
            <a:solidFill>
              <a:srgbClr val="6FA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>
            <a:off x="914400" y="5897880"/>
            <a:ext cx="10363200" cy="0"/>
          </a:xfrm>
          <a:prstGeom prst="line">
            <a:avLst/>
          </a:prstGeom>
          <a:ln w="12700">
            <a:solidFill>
              <a:srgbClr val="2E4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14400" y="5989320"/>
            <a:ext cx="1036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9D6E8"/>
                </a:solidFill>
                <a:latin typeface="Calibri"/>
              </a:rPr>
              <a:t>SkillUp Academy   |   Market Research Lab   |   October 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 animBg="1"/>
      <p:bldP spid="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Navy Report">
      <a:dk1>
        <a:sysClr val="windowText" lastClr="000000"/>
      </a:dk1>
      <a:lt1>
        <a:sysClr val="window" lastClr="FFFFFF"/>
      </a:lt1>
      <a:dk2>
        <a:srgbClr val="0B2545"/>
      </a:dk2>
      <a:lt2>
        <a:srgbClr val="F3F5F8"/>
      </a:lt2>
      <a:accent1>
        <a:srgbClr val="0B2545"/>
      </a:accent1>
      <a:accent2>
        <a:srgbClr val="1F6FB2"/>
      </a:accent2>
      <a:accent3>
        <a:srgbClr val="6FA8DC"/>
      </a:accent3>
      <a:accent4>
        <a:srgbClr val="C5CCD6"/>
      </a:accent4>
      <a:accent5>
        <a:srgbClr val="5B6675"/>
      </a:accent5>
      <a:accent6>
        <a:srgbClr val="13315C"/>
      </a:accent6>
      <a:hlink>
        <a:srgbClr val="1F6FB2"/>
      </a:hlink>
      <a:folHlink>
        <a:srgbClr val="5B6675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Navy Report">
      <a:dk1>
        <a:sysClr val="windowText" lastClr="000000"/>
      </a:dk1>
      <a:lt1>
        <a:sysClr val="window" lastClr="FFFFFF"/>
      </a:lt1>
      <a:dk2>
        <a:srgbClr val="0B2545"/>
      </a:dk2>
      <a:lt2>
        <a:srgbClr val="F3F5F8"/>
      </a:lt2>
      <a:accent1>
        <a:srgbClr val="0B2545"/>
      </a:accent1>
      <a:accent2>
        <a:srgbClr val="1F6FB2"/>
      </a:accent2>
      <a:accent3>
        <a:srgbClr val="6FA8DC"/>
      </a:accent3>
      <a:accent4>
        <a:srgbClr val="C5CCD6"/>
      </a:accent4>
      <a:accent5>
        <a:srgbClr val="5B6675"/>
      </a:accent5>
      <a:accent6>
        <a:srgbClr val="13315C"/>
      </a:accent6>
      <a:hlink>
        <a:srgbClr val="1F6FB2"/>
      </a:hlink>
      <a:folHlink>
        <a:srgbClr val="5B6675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16</Slides>
  <Notes>16</Notes>
  <HiddenSlides>0</HiddenSlides>
  <MMClips>0</MMClip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 Part 2: Customer Analysis for CyberStart</dc:title>
  <dc:subject>Customer needs, market segments, target segment, persona and journey map</dc:subject>
  <dc:creator/>
  <cp:keywords>customer needs, segmentation, persona, customer journey map</cp:keywords>
  <dc:description/>
  <cp:lastModifiedBy/>
  <cp:revision>1</cp:revision>
  <dcterms:created xsi:type="dcterms:W3CDTF">2026-10-11T18:33:40Z</dcterms:created>
  <dcterms:modified xsi:type="dcterms:W3CDTF">2026-10-11T18:33:40Z</dcterms:modified>
  <cp:category/>
</cp:coreProperties>
</file>