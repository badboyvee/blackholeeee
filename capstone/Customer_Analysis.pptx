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9D3E0"/>
            </a:solidFill>
          </c:spPr>
          <c:dPt>
            <c:idx val="0"/>
            <c:spPr>
              <a:solidFill>
                <a:srgbClr val="F28C28"/>
              </a:solidFill>
            </c:spPr>
          </c:dPt>
          <c:dPt>
            <c:idx val="2"/>
            <c:spPr>
              <a:solidFill>
                <a:srgbClr val="F28C28"/>
              </a:solidFill>
            </c:spPr>
          </c:dPt>
          <c:dPt>
            <c:idx val="3"/>
            <c:spPr>
              <a:solidFill>
                <a:srgbClr val="F28C28"/>
              </a:solidFill>
            </c:spPr>
          </c:dPt>
          <c:dPt>
            <c:idx val="5"/>
            <c:spPr>
              <a:solidFill>
                <a:srgbClr val="F28C28"/>
              </a:solidFill>
            </c:spPr>
          </c:dPt>
          <c:dPt>
            <c:idx val="7"/>
            <c:spPr>
              <a:solidFill>
                <a:srgbClr val="F28C28"/>
              </a:solidFill>
            </c:spPr>
          </c:dPt>
          <c:cat>
            <c:strRef>
              <c:f>Sheet1!$A$2:$A$13</c:f>
              <c:strCache>
                <c:ptCount val="12"/>
                <c:pt idx="0">
                  <c:v>Hands-on skills</c:v>
                </c:pt>
                <c:pt idx="1">
                  <c:v>Flexible timetable</c:v>
                </c:pt>
                <c:pt idx="2">
                  <c:v>Certificate preparation</c:v>
                </c:pt>
                <c:pt idx="3">
                  <c:v>Affordable price</c:v>
                </c:pt>
                <c:pt idx="4">
                  <c:v>Pay in parts</c:v>
                </c:pt>
                <c:pt idx="5">
                  <c:v>Better-paid job</c:v>
                </c:pt>
                <c:pt idx="6">
                  <c:v>Trust, not a scam</c:v>
                </c:pt>
                <c:pt idx="7">
                  <c:v>Feeling supported</c:v>
                </c:pt>
                <c:pt idx="8">
                  <c:v>Future-proof career</c:v>
                </c:pt>
                <c:pt idx="9">
                  <c:v>Community</c:v>
                </c:pt>
                <c:pt idx="10">
                  <c:v>Status</c:v>
                </c:pt>
                <c:pt idx="11">
                  <c:v>Inclusion</c:v>
                </c:pt>
              </c:strCache>
            </c:strRef>
          </c:cat>
          <c:val>
            <c:numRef>
              <c:f>Sheet1!$B$2:$B$13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20</c:v>
                </c:pt>
                <c:pt idx="3">
                  <c:v>25</c:v>
                </c:pt>
                <c:pt idx="4">
                  <c:v>12</c:v>
                </c:pt>
                <c:pt idx="5">
                  <c:v>20</c:v>
                </c:pt>
                <c:pt idx="6">
                  <c:v>16</c:v>
                </c:pt>
                <c:pt idx="7">
                  <c:v>20</c:v>
                </c:pt>
                <c:pt idx="8">
                  <c:v>9</c:v>
                </c:pt>
                <c:pt idx="9">
                  <c:v>9</c:v>
                </c:pt>
                <c:pt idx="10">
                  <c:v>6</c:v>
                </c:pt>
                <c:pt idx="11">
                  <c:v>9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300" b="1">
                  <a:solidFill>
                    <a:srgbClr val="17243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2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17243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9D3E0"/>
            </a:solidFill>
          </c:spPr>
          <c:dPt>
            <c:idx val="1"/>
            <c:spPr>
              <a:solidFill>
                <a:srgbClr val="F28C28"/>
              </a:solidFill>
            </c:spPr>
          </c:dPt>
          <c:cat>
            <c:strRef>
              <c:f>Sheet1!$A$2:$A$5</c:f>
              <c:strCache>
                <c:ptCount val="4"/>
                <c:pt idx="0">
                  <c:v>Campus Starters</c:v>
                </c:pt>
                <c:pt idx="1">
                  <c:v>Career Switchers</c:v>
                </c:pt>
                <c:pt idx="2">
                  <c:v>Corporate Upskillers</c:v>
                </c:pt>
                <c:pt idx="3">
                  <c:v>Women in Tech Starters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3.25</c:v>
                </c:pt>
                <c:pt idx="1">
                  <c:v>4</c:v>
                </c:pt>
                <c:pt idx="2">
                  <c:v>3.15</c:v>
                </c:pt>
                <c:pt idx="3">
                  <c:v>2.95</c:v>
                </c:pt>
              </c:numCache>
            </c:numRef>
          </c:val>
        </c:ser>
        <c:dLbls>
          <c:numFmt formatCode="0.00" sourceLinked="0"/>
          <c:txPr>
            <a:bodyPr wrap="none"/>
            <a:lstStyle/>
            <a:p>
              <a:pPr>
                <a:defRPr sz="1600" b="1">
                  <a:solidFill>
                    <a:srgbClr val="17243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17243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Feeling</c:v>
                </c:pt>
              </c:strCache>
            </c:strRef>
          </c:tx>
          <c:spPr>
            <a:ln w="44450">
              <a:solidFill>
                <a:srgbClr val="F28C28"/>
              </a:solidFill>
            </a:ln>
          </c:spPr>
          <c:marker>
            <c:symbol val="circle"/>
            <c:size val="12"/>
            <c:spPr>
              <a:solidFill>
                <a:srgbClr val="1E56A0"/>
              </a:solidFill>
              <a:ln>
                <a:solidFill>
                  <a:srgbClr val="1E56A0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Awareness</c:v>
                </c:pt>
                <c:pt idx="1">
                  <c:v>Consideration</c:v>
                </c:pt>
                <c:pt idx="2">
                  <c:v>Purchase</c:v>
                </c:pt>
                <c:pt idx="3">
                  <c:v>Learning</c:v>
                </c:pt>
                <c:pt idx="4">
                  <c:v>After the course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  <c:smooth val="0"/>
        </c:ser>
        <c:dLbls>
          <c:txPr>
            <a:bodyPr wrap="none"/>
            <a:lstStyle/>
            <a:p>
              <a:pPr>
                <a:defRPr sz="1600" b="1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2118791784"/>
        <c:crosses val="autoZero"/>
        <c:majorUnit val="1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500">
          <a:solidFill>
            <a:srgbClr val="17243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of my capstone analyses the customers of CyberStart: their needs, four market segments, the target segment, a customer persona and a customer journey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Around the world, networks and cybersecurity is the second fastest-growing skill, and 95 percent of cyber teams have a skills gap, led by AI and cloud security. Nigeria is young, with a median age of about 19 and 2.1 million university students. The minimum wage is 70,000 naira a month, while junior analysts earn about 150,000 to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Functional needs are about what the course does: hands-on skills, a flexible timetable and certificate preparation. Economic needs are about money, emotional needs about trust, support and hope, and social needs about community, status and inclusion.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need for how often it came up in the research and how much it affects the decision to buy. The five most important are hands-on skills, an affordable price, certificate preparation, a better-paid job and feeling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shows every need. Skills and money matter most; social needs matter less, but still shape how the brand talks to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used all four bases: demographic, geographic, psychographic and behavioural.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segments are Campus Starters, Career Switchers, Corporate Upskillers and Women in Tech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segment on market size, accessibility, buying potential and competition. Career Switchers score 4.00, the highest.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Career Switchers come first. Campus Starters are the biggest group but have little money, and Corporate Upskillers pay well but are few and already 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prioritise Career Switchers. They can pay in parts, have a strong reason to buy, are easy to reach online, and few rivals offer practical courses that fit around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Tunde Bakare, a fictional customer from the target segment: 27, in customer service in Lagos, and keen to get a cybersecurity job within a year. Tunde is afraid of paying for a scam course, works 8 to 5, and finds courses on Google, YouTube, TikTok and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Tunde starts curious, becomes anxious when choosing a course, and ends proud on getting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Each pain point is an opportunity: beginner videos, clear prices and reviews, instalments, weekly labs and fast support, and job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Tunde's feelings dip when he compares courses, because he fears scams and cannot find prices. Clear prices, reviews and a free first class lift that low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target Career Switchers with a practical, affordable course paid in parts, and fix the low point of the journey with clear prices, reviews and a free first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60080" y="3017520"/>
            <a:ext cx="2926080" cy="14630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60080" y="3401568"/>
            <a:ext cx="2377440" cy="146304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60080" y="3785616"/>
            <a:ext cx="1828800" cy="146304"/>
          </a:xfrm>
          <a:prstGeom prst="rect">
            <a:avLst/>
          </a:prstGeom>
          <a:solidFill>
            <a:srgbClr val="8FB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057400"/>
            <a:ext cx="5760720" cy="1371600"/>
          </a:xfrm>
        </p:spPr>
        <p:txBody>
          <a:bodyPr anchor="b"/>
          <a:lstStyle/>
          <a:p>
            <a:pPr algn="l"/>
            <a:r>
              <a:rPr sz="5400" b="0">
                <a:solidFill>
                  <a:srgbClr val="FFFFFF"/>
                </a:solidFill>
                <a:latin typeface="Calibri Light"/>
              </a:rPr>
              <a:t>Customer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840480"/>
            <a:ext cx="5760720" cy="1828800"/>
          </a:xfrm>
        </p:spPr>
        <p:txBody>
          <a:bodyPr anchor="t"/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CE7F5"/>
                </a:solidFill>
                <a:latin typeface="Calibri"/>
              </a:rPr>
              <a:t>Needs, segments, persona and journey map for CyberStart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DCE7F5"/>
                </a:solidFill>
                <a:latin typeface="Calibri"/>
              </a:rPr>
              <a:t>SkillUp Academy  ·  Capstone Project, Part 2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914400" y="3630168"/>
            <a:ext cx="137160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World and Nigerian Data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392277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572000"/>
                <a:gridCol w="4572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Fastest-growing skills in the world, 2025 to 2030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Networks and cybersecurity: 2nd (after AI and big data)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Cybersecurity teams with at least one skills gap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Skills most in demand in 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AI and cloud 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Women in cybersecurity teams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22% (26% of professionals under 30)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Median 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About 19 years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University students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2.1 million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National minimum wage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₦70,000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Junior security analyst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About ₦150,000 to ₦300,000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People using the internet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109 million (end of 2025)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Real, published figures behind the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9846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5657A"/>
                </a:solidFill>
                <a:latin typeface="Calibri"/>
              </a:rPr>
              <a:t>Sources: World Economic Forum, ISC2, NUC, UN and World Bank data, DataReportal (full list in Excel).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Customer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74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Trust that the course is genuine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Belonging to a learning community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A flexible timetable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Paying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Status of a respected tech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Hope for a future-proof career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43A"/>
                          </a:solidFill>
                          <a:latin typeface="Calibri"/>
                        </a:rPr>
                        <a:t>Inclusion for women and non-IT people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Three functional, economic, emotional and social needs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5040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5657A"/>
                </a:solidFill>
                <a:latin typeface="Calibri"/>
              </a:rPr>
              <a:t>Each need is backed by evidence from the research; see the Customer Needs sheet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The 5 Most Important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655320" y="1965960"/>
          <a:ext cx="10881360" cy="42519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731520"/>
                <a:gridCol w="3108960"/>
                <a:gridCol w="1371600"/>
                <a:gridCol w="914400"/>
                <a:gridCol w="47548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“No labs” and “too much theory” drive low course ratings; TryHackMe is praised for its labs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Rising “free course” searches; 20,000+ apply for about 500 free CyberGirls places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Guides say get Security+ first; ISC2's free exam offer ended in May 2026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Junior analysts earn about ₦150,000 to ₦300,000 a month; people search for salaries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43A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43A"/>
                          </a:solidFill>
                          <a:latin typeface="Calibri"/>
                        </a:rPr>
                        <a:t>Slow support is a complaint about ALX, TryHackMe and AltSchool; 48% of cyber professionals feel exhausted keeping 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Importance = how often it came up × its effect on buying (of 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Importance of Each Need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Score out of 25; the top five highlighted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965960"/>
            <a:ext cx="64008" cy="40233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Top 5: </a:t>
            </a:r>
            <a:r>
              <a:rPr sz="1700" b="0">
                <a:solidFill>
                  <a:srgbClr val="17243A"/>
                </a:solidFill>
                <a:latin typeface="Calibri"/>
              </a:rPr>
              <a:t>two functional, two economic and one emotional need.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Money and skills </a:t>
            </a:r>
            <a:r>
              <a:rPr sz="1700" b="0">
                <a:solidFill>
                  <a:srgbClr val="17243A"/>
                </a:solidFill>
                <a:latin typeface="Calibri"/>
              </a:rPr>
              <a:t>matter most.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Social needs </a:t>
            </a:r>
            <a:r>
              <a:rPr sz="1700" b="0">
                <a:solidFill>
                  <a:srgbClr val="17243A"/>
                </a:solidFill>
                <a:latin typeface="Calibri"/>
              </a:rPr>
              <a:t>score lowest, but still shape the brand.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Segmentation Bases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29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26080"/>
                <a:gridCol w="7863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What it looks at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7243A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7243A"/>
                          </a:solidFill>
                          <a:latin typeface="Calibri"/>
                        </a:rPr>
                        <a:t>Age, education, job and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7243A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7243A"/>
                          </a:solidFill>
                          <a:latin typeface="Calibri"/>
                        </a:rPr>
                        <a:t>Where they live and how they can attend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7243A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7243A"/>
                          </a:solidFill>
                          <a:latin typeface="Calibri"/>
                        </a:rPr>
                        <a:t>Values, goals, attitudes and lifestyle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7243A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7243A"/>
                          </a:solidFill>
                          <a:latin typeface="Calibri"/>
                        </a:rPr>
                        <a:t>How they search, decide, buy and learn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Four ways to group the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0468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5657A"/>
                </a:solidFill>
                <a:latin typeface="Calibri"/>
              </a:rPr>
              <a:t>Together they give four segments of CyberStart's possible customers.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Four Market Segments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23900" y="1965960"/>
          <a:ext cx="10744200" cy="40690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002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Students and new graduates, 18 to 24; little or no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Working adults, 25 to 35, in non-IT jobs; steady but modest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Staff of banks, telecoms and government, 25 to 45; the employer pays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Women 18 to 30, students and graduates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University towns across Nigeria; online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Lagos, Abuja and Port Harcourt; online in the evenings and at weekends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Head offices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Nationwide, online, with hubs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Ambitious and curious; want a head start before graduating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Want a better-paid, future-proof career; careful with money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Career growth and doing things by the book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Want a safe, supportive community and role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Search for “free course”; learn on YouTube and TikTok; very price-driven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Compare courses and read reviews; search for salaries; pay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Buy through HR in groups; want recognised certificates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Apply for free fellowships; follow women's tech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Each segment described on the four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Segment Scores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28803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743200"/>
                <a:gridCol w="1600200"/>
                <a:gridCol w="1600200"/>
                <a:gridCol w="1600200"/>
                <a:gridCol w="1600200"/>
                <a:gridCol w="146304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Market size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Accessibility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Buying potential (30%)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Competition (20%)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Score (of 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7243A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7243A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3.15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7243A"/>
                          </a:solidFill>
                          <a:latin typeface="Calibri"/>
                        </a:rPr>
                        <a:t>2.95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Scored 1 (poor) to 5 (best); weights in brackets; for competition, 5 = little 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5604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5657A"/>
                </a:solidFill>
                <a:latin typeface="Calibri"/>
              </a:rPr>
              <a:t>Score = SUMPRODUCT of the weights and the scores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The Segments Compared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Weighted score of each segment (of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965960"/>
            <a:ext cx="64008" cy="40233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Highest: </a:t>
            </a:r>
            <a:r>
              <a:rPr sz="1700" b="0">
                <a:solidFill>
                  <a:srgbClr val="17243A"/>
                </a:solidFill>
                <a:latin typeface="Calibri"/>
              </a:rPr>
              <a:t>Career Switchers (4.00).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Next: </a:t>
            </a:r>
            <a:r>
              <a:rPr sz="1700" b="0">
                <a:solidFill>
                  <a:srgbClr val="17243A"/>
                </a:solidFill>
                <a:latin typeface="Calibri"/>
              </a:rPr>
              <a:t>Campus Starters (3.25): many people, but little money.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Corporate Upskillers </a:t>
            </a:r>
            <a:r>
              <a:rPr sz="1700" b="0">
                <a:solidFill>
                  <a:srgbClr val="17243A"/>
                </a:solidFill>
                <a:latin typeface="Calibri"/>
              </a:rPr>
              <a:t>pay well, but the market is small and served.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Target Segment: Career Switchers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64008" cy="4069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Who: </a:t>
            </a:r>
            <a:r>
              <a:rPr sz="2000" b="0">
                <a:solidFill>
                  <a:srgbClr val="17243A"/>
                </a:solidFill>
                <a:latin typeface="Calibri"/>
              </a:rPr>
              <a:t>working adults of 25 to 35 in non-IT jobs, in Lagos, Abuja and Port Harcourt.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Can pay: </a:t>
            </a:r>
            <a:r>
              <a:rPr sz="2000" b="0">
                <a:solidFill>
                  <a:srgbClr val="17243A"/>
                </a:solidFill>
                <a:latin typeface="Calibri"/>
              </a:rPr>
              <a:t>steady pay above the ₦70,000 minimum wage; ₦50,000 a month in 3 parts.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Strong reason to buy: </a:t>
            </a:r>
            <a:r>
              <a:rPr sz="2000" b="0">
                <a:solidFill>
                  <a:srgbClr val="17243A"/>
                </a:solidFill>
                <a:latin typeface="Calibri"/>
              </a:rPr>
              <a:t>a junior analyst job pays about ₦150,000 to ₦300,000 a month.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Easy to reach: </a:t>
            </a:r>
            <a:r>
              <a:rPr sz="2000" b="0">
                <a:solidFill>
                  <a:srgbClr val="17243A"/>
                </a:solidFill>
                <a:latin typeface="Calibri"/>
              </a:rPr>
              <a:t>Google, Facebook, LinkedIn and WhatsApp; classes in the evenings and at weekends.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Little competition: </a:t>
            </a:r>
            <a:r>
              <a:rPr sz="2000" b="0">
                <a:solidFill>
                  <a:srgbClr val="17243A"/>
                </a:solidFill>
                <a:latin typeface="Calibri"/>
              </a:rPr>
              <a:t>few practical, mid-price courses fit around a full-time job.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The segment the business should prioritise,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  <p:bldP spid="10" grpId="0" animBg="1"/>
      <p:bldP spid="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Customer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A fictional customer from the target segment, built from the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393192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64008" cy="42062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240280"/>
            <a:ext cx="1097280" cy="1097280"/>
          </a:xfrm>
          <a:prstGeom prst="ellipse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28C28"/>
                </a:solidFill>
                <a:latin typeface="Calibri"/>
              </a:rPr>
              <a:t>TB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86000"/>
            <a:ext cx="2240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>
                <a:solidFill>
                  <a:srgbClr val="17243A"/>
                </a:solidFill>
                <a:latin typeface="Calibri"/>
              </a:rPr>
              <a:t>Tunde Bakare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55657A"/>
                </a:solidFill>
                <a:latin typeface="Calibri"/>
              </a:rPr>
              <a:t>Career Switchers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74720"/>
            <a:ext cx="34747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7243A"/>
                </a:solidFill>
                <a:latin typeface="Calibri"/>
              </a:rPr>
              <a:t>Age: </a:t>
            </a:r>
            <a:r>
              <a:rPr sz="1300" b="0">
                <a:solidFill>
                  <a:srgbClr val="17243A"/>
                </a:solidFill>
                <a:latin typeface="Calibri"/>
              </a:rPr>
              <a:t>27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7243A"/>
                </a:solidFill>
                <a:latin typeface="Calibri"/>
              </a:rPr>
              <a:t>Lives in: </a:t>
            </a:r>
            <a:r>
              <a:rPr sz="1300" b="0">
                <a:solidFill>
                  <a:srgbClr val="17243A"/>
                </a:solidFill>
                <a:latin typeface="Calibri"/>
              </a:rPr>
              <a:t>Ikeja, Lagos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7243A"/>
                </a:solidFill>
                <a:latin typeface="Calibri"/>
              </a:rPr>
              <a:t>Job: </a:t>
            </a:r>
            <a:r>
              <a:rPr sz="1300" b="0">
                <a:solidFill>
                  <a:srgbClr val="17243A"/>
                </a:solidFill>
                <a:latin typeface="Calibri"/>
              </a:rPr>
              <a:t>Customer service officer at a phone retailer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7243A"/>
                </a:solidFill>
                <a:latin typeface="Calibri"/>
              </a:rPr>
              <a:t>Education: </a:t>
            </a:r>
            <a:r>
              <a:rPr sz="1300" b="0">
                <a:solidFill>
                  <a:srgbClr val="17243A"/>
                </a:solidFill>
                <a:latin typeface="Calibri"/>
              </a:rPr>
              <a:t>HND in Business Administration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7243A"/>
                </a:solidFill>
                <a:latin typeface="Calibri"/>
              </a:rPr>
              <a:t>Money: </a:t>
            </a:r>
            <a:r>
              <a:rPr sz="1300" b="0">
                <a:solidFill>
                  <a:srgbClr val="17243A"/>
                </a:solidFill>
                <a:latin typeface="Calibri"/>
              </a:rPr>
              <a:t>Steady pay above the minimum wage; can spare about ₦50,000 a month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7243A"/>
                </a:solidFill>
                <a:latin typeface="Calibri"/>
              </a:rPr>
              <a:t>Devices: </a:t>
            </a:r>
            <a:r>
              <a:rPr sz="1300" b="0">
                <a:solidFill>
                  <a:srgbClr val="17243A"/>
                </a:solidFill>
                <a:latin typeface="Calibri"/>
              </a:rPr>
              <a:t>Smartphone and a budget laptop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035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1E56A0"/>
                </a:solidFill>
                <a:latin typeface="Calibri"/>
              </a:rPr>
              <a:t>“I don't mind paying, if I'm sure it will get me a job.”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92040" y="196596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1965960"/>
            <a:ext cx="64008" cy="19888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E56A0"/>
                </a:solidFill>
                <a:latin typeface="Calibri"/>
              </a:rPr>
              <a:t>Goals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Move into a cybersecurity job within a year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Earn more: junior analysts earn ₦150,000+ a month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Learn a skill that will not go out of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0560" y="196596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90560" y="1965960"/>
            <a:ext cx="64008" cy="19888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916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E56A0"/>
                </a:solidFill>
                <a:latin typeface="Calibri"/>
              </a:rPr>
              <a:t>Frustrations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Does not know where to start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Afraid of paying for a scam course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Works 8 to 5; free programmes are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418338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92040" y="4183380"/>
            <a:ext cx="64008" cy="19888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E56A0"/>
                </a:solidFill>
                <a:latin typeface="Calibri"/>
              </a:rPr>
              <a:t>Needs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Hands-on labs at weekends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A fair price in 3 parts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Help when stuck and a route to a job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90560" y="418338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90560" y="4183380"/>
            <a:ext cx="64008" cy="19888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916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E56A0"/>
                </a:solidFill>
                <a:latin typeface="Calibri"/>
              </a:rPr>
              <a:t>Where to reach them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Google, YouTube and TikTok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Facebook groups and WhatsApp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7243A"/>
                </a:solidFill>
                <a:latin typeface="Calibri"/>
              </a:rPr>
              <a:t>•  LinkedIn for jobs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Customer Journey Map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41148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Doing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Sees breach news and a TikTok video on cyber careers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Compares courses, reads reviews, asks in WhatsApp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Joins the free first class, pays the first part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Attends classes and weekend labs, takes the exam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Applies for jobs, shares the result, refers friends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Touchpoints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TikTok, Facebook adverts, Google search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Website, Google and Trustpilot reviews, WhatsApp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Free class, online payment plan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Learning platform, Lagos lab, mentor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Career help, LinkedIn, alumni group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Thinking and feeling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“Can I do this without IT?” Curious but unsure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“Is this a scam?” Anxious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“I hope it's worth it.” Hopeful, nervous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“Hard, but I'm getting it.”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“I got the job!” Relieved and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Tunde Bakare's journey: what Tunde does, where, and how it feels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Journey Map: Pain Points and Opportunities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3375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6A0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Pain 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No clear starting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Hidden prices, few reviews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Big one-off fees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Slow support, outdated content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No links to employers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243A"/>
                          </a:solidFill>
                          <a:latin typeface="Calibri"/>
                        </a:rPr>
                        <a:t>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Beginner videos on TikTok and Google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Publish prices and reviews; fast WhatsApp replies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Free first class; 3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Weekly labs, 24-hour support, recordings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243A"/>
                          </a:solidFill>
                          <a:latin typeface="Calibri"/>
                        </a:rPr>
                        <a:t>Exam prep, CV help, employer partners, referral reward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What goes wrong at each stage, and what SkillUp Academy can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How the Customer Feels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Feeling at each stage: 1 (very negative) to 5 (very positive)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965960"/>
            <a:ext cx="64008" cy="40233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Lowest point: </a:t>
            </a:r>
            <a:r>
              <a:rPr sz="1700" b="0">
                <a:solidFill>
                  <a:srgbClr val="17243A"/>
                </a:solidFill>
                <a:latin typeface="Calibri"/>
              </a:rPr>
              <a:t>consideration, choosing a course: fear of scams and hidden prices.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Fix: </a:t>
            </a:r>
            <a:r>
              <a:rPr sz="1700" b="0">
                <a:solidFill>
                  <a:srgbClr val="17243A"/>
                </a:solidFill>
                <a:latin typeface="Calibri"/>
              </a:rPr>
              <a:t>clear prices, real reviews and a free first class.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7243A"/>
                </a:solidFill>
                <a:latin typeface="Calibri"/>
              </a:rPr>
              <a:t>Highest point: </a:t>
            </a:r>
            <a:r>
              <a:rPr sz="1700" b="0">
                <a:solidFill>
                  <a:srgbClr val="17243A"/>
                </a:solidFill>
                <a:latin typeface="Calibri"/>
              </a:rPr>
              <a:t>after the course, with a job.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1E56A0"/>
                </a:solidFill>
                <a:latin typeface="Calibri Light"/>
              </a:rPr>
              <a:t>Conclusion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64008" cy="4069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Top needs: </a:t>
            </a:r>
            <a:r>
              <a:rPr sz="2000" b="0">
                <a:solidFill>
                  <a:srgbClr val="17243A"/>
                </a:solidFill>
                <a:latin typeface="Calibri"/>
              </a:rPr>
              <a:t>hands-on skills, an affordable price, certificate preparation, a better-paid job and feeling supported.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Target segment: </a:t>
            </a:r>
            <a:r>
              <a:rPr sz="2000" b="0">
                <a:solidFill>
                  <a:srgbClr val="17243A"/>
                </a:solidFill>
                <a:latin typeface="Calibri"/>
              </a:rPr>
              <a:t>Career Switchers, working adults of 25 to 35 who can pay in parts and want a better job.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Persona: </a:t>
            </a:r>
            <a:r>
              <a:rPr sz="2000" b="0">
                <a:solidFill>
                  <a:srgbClr val="17243A"/>
                </a:solidFill>
                <a:latin typeface="Calibri"/>
              </a:rPr>
              <a:t>Tunde, 27, in Lagos: wants a cyber job within a year, fears scams, learns at weekends.</a:t>
            </a:r>
          </a:p>
          <a:p>
            <a:pPr>
              <a:spcAft>
                <a:spcPts val="1000"/>
              </a:spcAft>
              <a:buClr>
                <a:srgbClr val="F28C28"/>
              </a:buClr>
            </a:pPr>
            <a:r>
              <a:rPr sz="2000" b="1">
                <a:solidFill>
                  <a:srgbClr val="1E56A0"/>
                </a:solidFill>
                <a:latin typeface="Calibri"/>
              </a:rPr>
              <a:t>Journey: </a:t>
            </a:r>
            <a:r>
              <a:rPr sz="2000" b="0">
                <a:solidFill>
                  <a:srgbClr val="17243A"/>
                </a:solidFill>
                <a:latin typeface="Calibri"/>
              </a:rPr>
              <a:t>the low point is choosing a course; clear prices, reviews and a free first class fix it.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731520" y="1161288"/>
            <a:ext cx="100584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28016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What the customer analysis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57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  <p:bldP spid="10" grpId="0" animBg="1"/>
      <p:bldP spid="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60080" y="3017520"/>
            <a:ext cx="2926080" cy="14630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60080" y="3401568"/>
            <a:ext cx="2377440" cy="146304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60080" y="3785616"/>
            <a:ext cx="1828800" cy="146304"/>
          </a:xfrm>
          <a:prstGeom prst="rect">
            <a:avLst/>
          </a:prstGeom>
          <a:solidFill>
            <a:srgbClr val="8FB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057400"/>
            <a:ext cx="5760720" cy="1371600"/>
          </a:xfrm>
        </p:spPr>
        <p:txBody>
          <a:bodyPr anchor="b"/>
          <a:lstStyle/>
          <a:p>
            <a:pPr algn="l"/>
            <a:r>
              <a:rPr sz="4800" b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840480"/>
            <a:ext cx="5760720" cy="1828800"/>
          </a:xfrm>
        </p:spPr>
        <p:txBody>
          <a:bodyPr anchor="t"/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CE7F5"/>
                </a:solidFill>
                <a:latin typeface="Calibri"/>
              </a:rPr>
              <a:t>Any questions?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DCE7F5"/>
                </a:solidFill>
                <a:latin typeface="Calibri"/>
              </a:rPr>
              <a:t>SkillUp Academy  ·  Capstone Project, Part 2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914400" y="3630168"/>
            <a:ext cx="1371600" cy="0"/>
          </a:xfrm>
          <a:prstGeom prst="line">
            <a:avLst/>
          </a:prstGeom>
          <a:ln w="508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cean and Orange">
      <a:dk1>
        <a:sysClr val="windowText" lastClr="000000"/>
      </a:dk1>
      <a:lt1>
        <a:sysClr val="window" lastClr="FFFFFF"/>
      </a:lt1>
      <a:dk2>
        <a:srgbClr val="1E56A0"/>
      </a:dk2>
      <a:lt2>
        <a:srgbClr val="F7F9FC"/>
      </a:lt2>
      <a:accent1>
        <a:srgbClr val="1E56A0"/>
      </a:accent1>
      <a:accent2>
        <a:srgbClr val="F28C28"/>
      </a:accent2>
      <a:accent3>
        <a:srgbClr val="8FB3E0"/>
      </a:accent3>
      <a:accent4>
        <a:srgbClr val="C9D3E0"/>
      </a:accent4>
      <a:accent5>
        <a:srgbClr val="17324F"/>
      </a:accent5>
      <a:accent6>
        <a:srgbClr val="5A6B80"/>
      </a:accent6>
      <a:hlink>
        <a:srgbClr val="1E56A0"/>
      </a:hlink>
      <a:folHlink>
        <a:srgbClr val="5A6B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cean and Orange">
      <a:dk1>
        <a:sysClr val="windowText" lastClr="000000"/>
      </a:dk1>
      <a:lt1>
        <a:sysClr val="window" lastClr="FFFFFF"/>
      </a:lt1>
      <a:dk2>
        <a:srgbClr val="1E56A0"/>
      </a:dk2>
      <a:lt2>
        <a:srgbClr val="F7F9FC"/>
      </a:lt2>
      <a:accent1>
        <a:srgbClr val="1E56A0"/>
      </a:accent1>
      <a:accent2>
        <a:srgbClr val="F28C28"/>
      </a:accent2>
      <a:accent3>
        <a:srgbClr val="8FB3E0"/>
      </a:accent3>
      <a:accent4>
        <a:srgbClr val="C9D3E0"/>
      </a:accent4>
      <a:accent5>
        <a:srgbClr val="17324F"/>
      </a:accent5>
      <a:accent6>
        <a:srgbClr val="5A6B80"/>
      </a:accent6>
      <a:hlink>
        <a:srgbClr val="1E56A0"/>
      </a:hlink>
      <a:folHlink>
        <a:srgbClr val="5A6B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16</Slides>
  <Notes>16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Part 2: Customer Analysis for CyberStart</dc:title>
  <dc:subject>Customer needs, market segments, target segment, persona and journey map</dc:subject>
  <dc:creator/>
  <cp:keywords>customer needs, segmentation, persona, customer journey map</cp:keywords>
  <dc:description/>
  <cp:lastModifiedBy/>
  <cp:revision>1</cp:revision>
  <dcterms:created xsi:type="dcterms:W3CDTF">2026-10-11T18:30:11Z</dcterms:created>
  <dcterms:modified xsi:type="dcterms:W3CDTF">2026-10-11T18:30:11Z</dcterms:modified>
  <cp:category/>
</cp:coreProperties>
</file>