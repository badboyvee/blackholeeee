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8"/>
    <p:sldId id="258" r:id="rId9"/>
    <p:sldId id="259" r:id="rId10"/>
    <p:sldId id="26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/>
            </a:pPr>
            <a:r>
              <a:rPr sz="1600" b="0">
                <a:solidFill>
                  <a:srgbClr val="000000"/>
                </a:solidFill>
                <a:latin typeface="Arial"/>
              </a:rPr>
              <a:t>Share of Total Interest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35"/>
          <c:y val="0.18"/>
          <c:w val="0.53"/>
          <c:h val="0.74"/>
        </c:manualLayout>
      </c:layout>
      <c:pie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Average score</c:v>
                </c:pt>
              </c:strCache>
            </c:strRef>
          </c:tx>
          <c:dPt>
            <c:idx val="0"/>
            <c:spPr>
              <a:solidFill>
                <a:srgbClr val="262626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A6A6A6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595959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9D9D9"/>
              </a:solidFill>
              <a:ln w="1905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7F7F7F"/>
              </a:solidFill>
              <a:ln w="19050">
                <a:solidFill>
                  <a:srgbClr val="FFFFFF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Cybersecurity</c:v>
                </c:pt>
                <c:pt idx="1">
                  <c:v>Digital Marketing</c:v>
                </c:pt>
                <c:pt idx="2">
                  <c:v>Data Analytics</c:v>
                </c:pt>
                <c:pt idx="3">
                  <c:v>Generative AI &amp; Prompt Engineering</c:v>
                </c:pt>
                <c:pt idx="4">
                  <c:v>Web Development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43</c:v>
                </c:pt>
                <c:pt idx="1">
                  <c:v>33</c:v>
                </c:pt>
                <c:pt idx="2">
                  <c:v>18</c:v>
                </c:pt>
                <c:pt idx="3">
                  <c:v>13</c:v>
                </c:pt>
                <c:pt idx="4">
                  <c:v>13</c:v>
                </c:pt>
              </c:numCache>
            </c:numRef>
          </c:val>
        </c:ser>
        <c:dLbls>
          <c:txPr>
            <a:bodyPr wrap="none"/>
            <a:lstStyle/>
            <a:p>
              <a:pPr>
                <a:defRPr sz="1600" b="1">
                  <a:solidFill>
                    <a:srgbClr val="000000"/>
                  </a:solidFill>
                  <a:latin typeface="Arial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600">
          <a:solidFill>
            <a:srgbClr val="000000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My presentation is on the relative interest in five digital skills programmes in Nigeria, using Google Trends.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average scores I got from Google Trends for the past 12 months. Cybersecurity had the highest score, and Generative AI &amp; Prompt Engineering and Web Development had the lowest.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pie chart shows the share of interest for each programme. Cybersecurity has the biggest share at 36%, then Digital Marketing at 28% and Data Analytics at 15%. Generative AI &amp; Prompt Engineering and Web Development have 11%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the chart, Cybersecurity is the most popular programme, followed by Digital Marketing. The organisation should promote these two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for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 anchor="b"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274320" y="274320"/>
            <a:ext cx="11643360" cy="6309360"/>
          </a:xfrm>
          <a:prstGeom prst="rect">
            <a:avLst/>
          </a:prstGeom>
          <a:noFill/>
          <a:ln w="12700">
            <a:solidFill>
              <a:srgbClr val="8F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965960"/>
            <a:ext cx="10728960" cy="1005840"/>
          </a:xfrm>
        </p:spPr>
        <p:txBody>
          <a:bodyPr anchor="b"/>
          <a:lstStyle/>
          <a:p>
            <a:pPr algn="ctr"/>
            <a:r>
              <a:rPr sz="4400" b="1">
                <a:solidFill>
                  <a:srgbClr val="1F3864"/>
                </a:solidFill>
                <a:latin typeface="Arial"/>
              </a:rPr>
              <a:t>Relative Interest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337560"/>
            <a:ext cx="10728960" cy="2194560"/>
          </a:xfrm>
        </p:spPr>
        <p:txBody>
          <a:bodyPr anchor="t"/>
          <a:lstStyle/>
          <a:p>
            <a:pPr algn="ctr">
              <a:spcAft>
                <a:spcPts val="14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Digital Skills Programmes on Google Trends</a:t>
            </a:r>
          </a:p>
          <a:p>
            <a:pPr algn="ctr">
              <a:spcAft>
                <a:spcPts val="14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Market Research Lab, Task 1  ·  Nigeria, past 12 months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2286000" y="3154680"/>
            <a:ext cx="7620000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274320" y="274320"/>
            <a:ext cx="11643360" cy="6309360"/>
          </a:xfrm>
          <a:prstGeom prst="rect">
            <a:avLst/>
          </a:prstGeom>
          <a:noFill/>
          <a:ln w="12700">
            <a:solidFill>
              <a:srgbClr val="8F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  <a:ext cx="10728960" cy="731520"/>
          </a:xfrm>
        </p:spPr>
        <p:txBody>
          <a:bodyPr anchor="ctr"/>
          <a:lstStyle/>
          <a:p>
            <a:pPr algn="ctr"/>
            <a:r>
              <a:rPr sz="3600" b="1">
                <a:solidFill>
                  <a:srgbClr val="1F3864"/>
                </a:solidFill>
                <a:latin typeface="Arial"/>
              </a:rPr>
              <a:t>Relative-Interest Observations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1249680" y="2011680"/>
          <a:ext cx="9692640" cy="329184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5394960"/>
                <a:gridCol w="2377440"/>
                <a:gridCol w="192024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Arial"/>
                        </a:rPr>
                        <a:t>Programme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Arial"/>
                        </a:rPr>
                        <a:t>Average score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Cybersecurity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Digital Marketing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Data Analytics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Generative AI &amp; Prompt Engineering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Web Development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914400" y="1298448"/>
            <a:ext cx="10363200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371600"/>
            <a:ext cx="1072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04040"/>
                </a:solidFill>
                <a:latin typeface="Arial"/>
              </a:rPr>
              <a:t>The average Google Trends score of each programme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577840"/>
            <a:ext cx="1072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04040"/>
                </a:solidFill>
                <a:latin typeface="Arial"/>
              </a:rPr>
              <a:t>Google Trends gives each programme a score from 0 to 100, where 100 means the highest interest.</a:t>
            </a:r>
          </a:p>
        </p:txBody>
      </p:sp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274320" y="274320"/>
            <a:ext cx="11643360" cy="6309360"/>
          </a:xfrm>
          <a:prstGeom prst="rect">
            <a:avLst/>
          </a:prstGeom>
          <a:noFill/>
          <a:ln w="12700">
            <a:solidFill>
              <a:srgbClr val="8F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  <a:ext cx="10728960" cy="731520"/>
          </a:xfrm>
        </p:spPr>
        <p:txBody>
          <a:bodyPr anchor="ctr"/>
          <a:lstStyle/>
          <a:p>
            <a:pPr algn="ctr"/>
            <a:r>
              <a:rPr sz="3600" b="1">
                <a:solidFill>
                  <a:srgbClr val="1F3864"/>
                </a:solidFill>
                <a:latin typeface="Arial"/>
              </a:rPr>
              <a:t>Relative Interest by Programme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914400" y="1874520"/>
          <a:ext cx="60350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914400" y="1298448"/>
            <a:ext cx="10363200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371600"/>
            <a:ext cx="1072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04040"/>
                </a:solidFill>
                <a:latin typeface="Arial"/>
              </a:rPr>
              <a:t>Each programme's share of the total interest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178040" y="2203704"/>
            <a:ext cx="256032" cy="256032"/>
          </a:xfrm>
          <a:prstGeom prst="rect">
            <a:avLst/>
          </a:prstGeom>
          <a:solidFill>
            <a:srgbClr val="262626"/>
          </a:solidFill>
          <a:ln w="9525">
            <a:solidFill>
              <a:srgbClr val="7F7F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2112264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0000"/>
                </a:solidFill>
                <a:latin typeface="Arial"/>
              </a:rPr>
              <a:t>Cybersecurity</a:t>
            </a:r>
          </a:p>
          <a:p>
            <a:r>
              <a:rPr sz="1400" b="0">
                <a:solidFill>
                  <a:srgbClr val="000000"/>
                </a:solidFill>
                <a:latin typeface="Arial"/>
              </a:rPr>
              <a:t>Score 43  ·  36%</a:t>
            </a:r>
          </a:p>
        </p:txBody>
      </p:sp>
      <p:sp>
        <p:nvSpPr>
          <p:cNvPr id="9" name="Rectangle 8"/>
          <p:cNvSpPr/>
          <p:nvPr/>
        </p:nvSpPr>
        <p:spPr>
          <a:xfrm>
            <a:off x="7178040" y="2990088"/>
            <a:ext cx="256032" cy="256032"/>
          </a:xfrm>
          <a:prstGeom prst="rect">
            <a:avLst/>
          </a:prstGeom>
          <a:solidFill>
            <a:srgbClr val="A6A6A6"/>
          </a:solidFill>
          <a:ln w="9525">
            <a:solidFill>
              <a:srgbClr val="7F7F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43800" y="2898648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0000"/>
                </a:solidFill>
                <a:latin typeface="Arial"/>
              </a:rPr>
              <a:t>Digital Marketing</a:t>
            </a:r>
          </a:p>
          <a:p>
            <a:r>
              <a:rPr sz="1400" b="0">
                <a:solidFill>
                  <a:srgbClr val="000000"/>
                </a:solidFill>
                <a:latin typeface="Arial"/>
              </a:rPr>
              <a:t>Score 33  ·  28%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3776472"/>
            <a:ext cx="256032" cy="256032"/>
          </a:xfrm>
          <a:prstGeom prst="rect">
            <a:avLst/>
          </a:prstGeom>
          <a:solidFill>
            <a:srgbClr val="595959"/>
          </a:solidFill>
          <a:ln w="9525">
            <a:solidFill>
              <a:srgbClr val="7F7F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3685032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0000"/>
                </a:solidFill>
                <a:latin typeface="Arial"/>
              </a:rPr>
              <a:t>Data Analytics</a:t>
            </a:r>
          </a:p>
          <a:p>
            <a:r>
              <a:rPr sz="1400" b="0">
                <a:solidFill>
                  <a:srgbClr val="000000"/>
                </a:solidFill>
                <a:latin typeface="Arial"/>
              </a:rPr>
              <a:t>Score 18  ·  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78040" y="4562856"/>
            <a:ext cx="256032" cy="256032"/>
          </a:xfrm>
          <a:prstGeom prst="rect">
            <a:avLst/>
          </a:prstGeom>
          <a:solidFill>
            <a:srgbClr val="D9D9D9"/>
          </a:solidFill>
          <a:ln w="9525">
            <a:solidFill>
              <a:srgbClr val="7F7F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43800" y="4471416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0000"/>
                </a:solidFill>
                <a:latin typeface="Arial"/>
              </a:rPr>
              <a:t>Generative AI &amp; Prompt Engineering</a:t>
            </a:r>
          </a:p>
          <a:p>
            <a:r>
              <a:rPr sz="1400" b="0">
                <a:solidFill>
                  <a:srgbClr val="000000"/>
                </a:solidFill>
                <a:latin typeface="Arial"/>
              </a:rPr>
              <a:t>Score 13  ·  11%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5349240"/>
            <a:ext cx="256032" cy="256032"/>
          </a:xfrm>
          <a:prstGeom prst="rect">
            <a:avLst/>
          </a:prstGeom>
          <a:solidFill>
            <a:srgbClr val="7F7F7F"/>
          </a:solidFill>
          <a:ln w="9525">
            <a:solidFill>
              <a:srgbClr val="7F7F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3800" y="5257800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0000"/>
                </a:solidFill>
                <a:latin typeface="Arial"/>
              </a:rPr>
              <a:t>Web Development</a:t>
            </a:r>
          </a:p>
          <a:p>
            <a:r>
              <a:rPr sz="1400" b="0">
                <a:solidFill>
                  <a:srgbClr val="000000"/>
                </a:solidFill>
                <a:latin typeface="Arial"/>
              </a:rPr>
              <a:t>Score 13  ·  11%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6126480"/>
            <a:ext cx="1036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04040"/>
                </a:solidFill>
                <a:latin typeface="Arial"/>
              </a:rPr>
              <a:t>Source: Google Trends, Nigeria, past 12 months (28 September 2025 to 28 September 2026).</a:t>
            </a:r>
          </a:p>
        </p:txBody>
      </p:sp>
    </p:spTree>
  </p:cSld>
  <p:clrMapOvr>
    <a:masterClrMapping/>
  </p:clrMapOvr>
  <p:transition spd="med">
    <p:wipe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274320" y="274320"/>
            <a:ext cx="11643360" cy="6309360"/>
          </a:xfrm>
          <a:prstGeom prst="rect">
            <a:avLst/>
          </a:prstGeom>
          <a:noFill/>
          <a:ln w="12700">
            <a:solidFill>
              <a:srgbClr val="8F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  <a:ext cx="10728960" cy="731520"/>
          </a:xfrm>
        </p:spPr>
        <p:txBody>
          <a:bodyPr anchor="ctr"/>
          <a:lstStyle/>
          <a:p>
            <a:pPr algn="ctr"/>
            <a:r>
              <a:rPr sz="3600" b="1">
                <a:solidFill>
                  <a:srgbClr val="1F3864"/>
                </a:solidFill>
                <a:latin typeface="Arial"/>
              </a:rPr>
              <a:t>Observations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965960"/>
            <a:ext cx="10363200" cy="406908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34440" y="2194560"/>
            <a:ext cx="9723120" cy="3657600"/>
          </a:xfrm>
        </p:spPr>
        <p:txBody>
          <a:bodyPr/>
          <a:lstStyle/>
          <a:p>
            <a:pPr>
              <a:spcAft>
                <a:spcPts val="1000"/>
              </a:spcAft>
            </a:pPr>
            <a:r>
              <a:rPr sz="2200" b="1">
                <a:solidFill>
                  <a:srgbClr val="000000"/>
                </a:solidFill>
                <a:latin typeface="Arial"/>
              </a:rPr>
              <a:t>Cybersecurity</a:t>
            </a:r>
            <a:r>
              <a:rPr sz="2200" b="0">
                <a:solidFill>
                  <a:srgbClr val="000000"/>
                </a:solidFill>
                <a:latin typeface="Arial"/>
              </a:rPr>
              <a:t> had the highest interest, with 36% of the total.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000000"/>
                </a:solidFill>
                <a:latin typeface="Arial"/>
              </a:rPr>
              <a:t>Digital Marketing</a:t>
            </a:r>
            <a:r>
              <a:rPr sz="2200" b="0">
                <a:solidFill>
                  <a:srgbClr val="000000"/>
                </a:solidFill>
                <a:latin typeface="Arial"/>
              </a:rPr>
              <a:t> came second with 28%.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000000"/>
                </a:solidFill>
                <a:latin typeface="Arial"/>
              </a:rPr>
              <a:t>Data Analytics</a:t>
            </a:r>
            <a:r>
              <a:rPr sz="2200" b="0">
                <a:solidFill>
                  <a:srgbClr val="000000"/>
                </a:solidFill>
                <a:latin typeface="Arial"/>
              </a:rPr>
              <a:t> came third with 15%.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000000"/>
                </a:solidFill>
                <a:latin typeface="Arial"/>
              </a:rPr>
              <a:t>Generative AI &amp; Prompt Engineering</a:t>
            </a:r>
            <a:r>
              <a:rPr sz="2200" b="0">
                <a:solidFill>
                  <a:srgbClr val="000000"/>
                </a:solidFill>
                <a:latin typeface="Arial"/>
              </a:rPr>
              <a:t> and </a:t>
            </a:r>
            <a:r>
              <a:rPr sz="2200" b="1">
                <a:solidFill>
                  <a:srgbClr val="000000"/>
                </a:solidFill>
                <a:latin typeface="Arial"/>
              </a:rPr>
              <a:t>Web Development</a:t>
            </a:r>
            <a:r>
              <a:rPr sz="2200" b="0">
                <a:solidFill>
                  <a:srgbClr val="000000"/>
                </a:solidFill>
                <a:latin typeface="Arial"/>
              </a:rPr>
              <a:t> had the lowest interest, with 11% each.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000000"/>
                </a:solidFill>
                <a:latin typeface="Arial"/>
              </a:rPr>
              <a:t>This means Cybersecurity and Digital Marketing should be promoted first.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914400" y="1298448"/>
            <a:ext cx="10363200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371600"/>
            <a:ext cx="1072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04040"/>
                </a:solidFill>
                <a:latin typeface="Arial"/>
              </a:rPr>
              <a:t>What the pie chart shows</a:t>
            </a:r>
          </a:p>
        </p:txBody>
      </p:sp>
    </p:spTree>
  </p:cSld>
  <p:clrMapOvr>
    <a:masterClrMapping/>
  </p:clrMapOvr>
  <p:transition spd="med">
    <p:split orient="vert" dir="out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274320" y="274320"/>
            <a:ext cx="11643360" cy="6309360"/>
          </a:xfrm>
          <a:prstGeom prst="rect">
            <a:avLst/>
          </a:prstGeom>
          <a:noFill/>
          <a:ln w="12700">
            <a:solidFill>
              <a:srgbClr val="8F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965960"/>
            <a:ext cx="10728960" cy="1005840"/>
          </a:xfrm>
        </p:spPr>
        <p:txBody>
          <a:bodyPr anchor="b"/>
          <a:lstStyle/>
          <a:p>
            <a:pPr algn="ctr"/>
            <a:r>
              <a:rPr sz="4400" b="1">
                <a:solidFill>
                  <a:srgbClr val="1F3864"/>
                </a:solidFill>
                <a:latin typeface="Arial"/>
              </a:rP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337560"/>
            <a:ext cx="10728960" cy="2194560"/>
          </a:xfrm>
        </p:spPr>
        <p:txBody>
          <a:bodyPr anchor="t"/>
          <a:lstStyle/>
          <a:p>
            <a:pPr algn="ctr">
              <a:spcAft>
                <a:spcPts val="14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Any questions?</a:t>
            </a:r>
          </a:p>
          <a:p>
            <a:pPr algn="ctr">
              <a:spcAft>
                <a:spcPts val="14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Market Research Lab, Task 1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2286000" y="3154680"/>
            <a:ext cx="7620000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cover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5</Slides>
  <Notes>5</Notes>
  <HiddenSlides>0</HiddenSlides>
  <MMClips>0</MMClip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Relative Interest in Digital Skills Programmes</dc:title>
  <dc:subject>Pie chart of the Google Trends relative-interest observations</dc:subject>
  <dc:creator/>
  <cp:keywords>Google Trends, relative interest, pie chart</cp:keywords>
  <dc:description/>
  <cp:lastModifiedBy/>
  <cp:revision>1</cp:revision>
  <dcterms:created xsi:type="dcterms:W3CDTF">2026-10-04T22:11:26Z</dcterms:created>
  <dcterms:modified xsi:type="dcterms:W3CDTF">2026-10-04T22:11:26Z</dcterms:modified>
  <cp:category/>
</cp:coreProperties>
</file>