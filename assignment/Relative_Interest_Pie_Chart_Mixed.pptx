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/>
            </a:pPr>
            <a:r>
              <a:rPr sz="1600" b="0">
                <a:solidFill>
                  <a:srgbClr val="000000"/>
                </a:solidFill>
                <a:latin typeface="Arial"/>
              </a:rPr>
              <a:t>Share of Total Interest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35"/>
          <c:y val="0.18"/>
          <c:w val="0.53"/>
          <c:h val="0.74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4B183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55A11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9DC3E6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7F7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Cybersecurity</c:v>
                </c:pt>
                <c:pt idx="1">
                  <c:v>Digital Marketing</c:v>
                </c:pt>
                <c:pt idx="2">
                  <c:v>Data Analytics</c:v>
                </c:pt>
                <c:pt idx="3">
                  <c:v>Generative AI &amp; Prompt Engineering</c:v>
                </c:pt>
                <c:pt idx="4">
                  <c:v>Web Development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18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dLbls>
          <c:txPr>
            <a:bodyPr wrap="none"/>
            <a:lstStyle/>
            <a:p>
              <a:pPr>
                <a:defRPr sz="1600" b="1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presentation is on the relative interest in five digital skills programmes in Nigeria, using Google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average scores I got from Google Trends for the past 12 months. Cybersecurity had the highest score, and Generative AI &amp; Prompt Engineering and Web Development had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chart shows the share of interest for each programme. Cybersecurity has the biggest share at 36%, then Digital Marketing at 28% and Data Analytics at 15%. Generative AI &amp; Prompt Engineering and Web Development have 11%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chart, Cybersecurity is the most popular programme, followed by Digital Marketing. The organisation should promote these two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1828800" y="1554480"/>
            <a:ext cx="8534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645920"/>
            <a:ext cx="8351520" cy="347472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86000"/>
            <a:ext cx="8077200" cy="1005840"/>
          </a:xfrm>
        </p:spPr>
        <p:txBody>
          <a:bodyPr anchor="b"/>
          <a:lstStyle/>
          <a:p>
            <a:pPr algn="ctr"/>
            <a:r>
              <a:rPr sz="5000" b="0">
                <a:solidFill>
                  <a:srgbClr val="1F3864"/>
                </a:solidFill>
                <a:latin typeface="Rockwell Condensed"/>
              </a:rPr>
              <a:t>RELATIVE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120" y="3566160"/>
            <a:ext cx="7985760" cy="1417320"/>
          </a:xfrm>
        </p:spPr>
        <p:txBody>
          <a:bodyPr anchor="t"/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Digital Skills Programmes on Google Trends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Market Research Lab, Task 1  ·  Nigeria, past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1680" y="0"/>
            <a:ext cx="548640" cy="178308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1680" y="4983480"/>
            <a:ext cx="548640" cy="187452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0" y="3429000"/>
            <a:ext cx="633984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1F3864"/>
                </a:solidFill>
                <a:latin typeface="Rockwell Condensed"/>
              </a:rPr>
              <a:t>RELATIVE-INTEREST OBSERVATIONS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249680" y="2011680"/>
          <a:ext cx="969264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394960"/>
                <a:gridCol w="23774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Programme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Average 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Digital Marketing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Generative AI &amp; 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Web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Arial"/>
              </a:rPr>
              <a:t>The average Google Trends score of each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4040"/>
                </a:solidFill>
                <a:latin typeface="Arial"/>
              </a:rPr>
              <a:t>Google Trends gives each programme a score from 0 to 100, where 100 means the highest interest.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1F3864"/>
                </a:solidFill>
                <a:latin typeface="Rockwell Condensed"/>
              </a:rPr>
              <a:t>RELATIVE INTEREST BY PROGRAMME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914400" y="1874520"/>
          <a:ext cx="60350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Arial"/>
              </a:rPr>
              <a:t>Each programme's share of the total interest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2203704"/>
            <a:ext cx="256032" cy="256032"/>
          </a:xfrm>
          <a:prstGeom prst="rect">
            <a:avLst/>
          </a:prstGeom>
          <a:solidFill>
            <a:srgbClr val="1F3864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12264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Cybersecurity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Score 43  ·  36%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2990088"/>
            <a:ext cx="256032" cy="256032"/>
          </a:xfrm>
          <a:prstGeom prst="rect">
            <a:avLst/>
          </a:prstGeom>
          <a:solidFill>
            <a:srgbClr val="F4B183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898648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Digital Marketing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Score 33  ·  28%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3776472"/>
            <a:ext cx="256032" cy="256032"/>
          </a:xfrm>
          <a:prstGeom prst="rect">
            <a:avLst/>
          </a:prstGeom>
          <a:solidFill>
            <a:srgbClr val="C55A11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685032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Data Analytics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Score 18  ·  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4562856"/>
            <a:ext cx="256032" cy="256032"/>
          </a:xfrm>
          <a:prstGeom prst="rect">
            <a:avLst/>
          </a:prstGeom>
          <a:solidFill>
            <a:srgbClr val="9DC3E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471416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Generative AI &amp; Prompt Engineering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Score 13  ·  11%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5349240"/>
            <a:ext cx="256032" cy="256032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525780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Web Development</a:t>
            </a:r>
          </a:p>
          <a:p>
            <a:r>
              <a:rPr sz="1400" b="0">
                <a:solidFill>
                  <a:srgbClr val="000000"/>
                </a:solidFill>
                <a:latin typeface="Arial"/>
              </a:rPr>
              <a:t>Score 13  ·  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6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Arial"/>
              </a:rPr>
              <a:t>Source: Google Trends, Nigeria, past 12 months (28 September 2025 to 28 September 2026).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74320" y="274320"/>
            <a:ext cx="11643360" cy="6309360"/>
          </a:xfrm>
          <a:prstGeom prst="rect">
            <a:avLst/>
          </a:prstGeom>
          <a:noFill/>
          <a:ln w="12700">
            <a:solidFill>
              <a:srgbClr val="F4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1F3864"/>
                </a:solidFill>
                <a:latin typeface="Rockwell Condensed"/>
              </a:rPr>
              <a:t>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94560"/>
            <a:ext cx="9723120" cy="36576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Cybersecurity</a:t>
            </a:r>
            <a:r>
              <a:rPr sz="2200" b="0">
                <a:solidFill>
                  <a:srgbClr val="000000"/>
                </a:solidFill>
                <a:latin typeface="Arial"/>
              </a:rPr>
              <a:t> had the highest interest, with 36% of the total.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Digital Marketing</a:t>
            </a:r>
            <a:r>
              <a:rPr sz="2200" b="0">
                <a:solidFill>
                  <a:srgbClr val="000000"/>
                </a:solidFill>
                <a:latin typeface="Arial"/>
              </a:rPr>
              <a:t> came second with 28%.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Data Analytics</a:t>
            </a:r>
            <a:r>
              <a:rPr sz="2200" b="0">
                <a:solidFill>
                  <a:srgbClr val="000000"/>
                </a:solidFill>
                <a:latin typeface="Arial"/>
              </a:rPr>
              <a:t> came third with 15%.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1F3864"/>
                </a:solidFill>
                <a:latin typeface="Arial"/>
              </a:rPr>
              <a:t>Generative AI &amp; Prompt Engineering</a:t>
            </a:r>
            <a:r>
              <a:rPr sz="2200" b="0">
                <a:solidFill>
                  <a:srgbClr val="000000"/>
                </a:solidFill>
                <a:latin typeface="Arial"/>
              </a:rPr>
              <a:t> and </a:t>
            </a:r>
            <a:r>
              <a:rPr sz="2200" b="1">
                <a:solidFill>
                  <a:srgbClr val="1F3864"/>
                </a:solidFill>
                <a:latin typeface="Arial"/>
              </a:rPr>
              <a:t>Web Development</a:t>
            </a:r>
            <a:r>
              <a:rPr sz="2200" b="0">
                <a:solidFill>
                  <a:srgbClr val="000000"/>
                </a:solidFill>
                <a:latin typeface="Arial"/>
              </a:rPr>
              <a:t> had the lowest interest, with 11% each.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means Cybersecurity and Digital Marketing should be promoted first.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04040"/>
                </a:solidFill>
                <a:latin typeface="Arial"/>
              </a:rPr>
              <a:t>What the pie chart shows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1828800" y="1554480"/>
            <a:ext cx="8534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645920"/>
            <a:ext cx="8351520" cy="347472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86000"/>
            <a:ext cx="8077200" cy="1005840"/>
          </a:xfrm>
        </p:spPr>
        <p:txBody>
          <a:bodyPr anchor="b"/>
          <a:lstStyle/>
          <a:p>
            <a:pPr algn="ctr"/>
            <a:r>
              <a:rPr sz="5000" b="0">
                <a:solidFill>
                  <a:srgbClr val="1F3864"/>
                </a:solidFill>
                <a:latin typeface="Rockwell Condensed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120" y="3566160"/>
            <a:ext cx="7985760" cy="1417320"/>
          </a:xfrm>
        </p:spPr>
        <p:txBody>
          <a:bodyPr anchor="t"/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Any questions?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Market Research Lab, Task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1680" y="0"/>
            <a:ext cx="548640" cy="178308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1680" y="4983480"/>
            <a:ext cx="548640" cy="187452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0" y="3429000"/>
            <a:ext cx="633984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Navy and Wood">
      <a:dk1>
        <a:sysClr val="windowText" lastClr="000000"/>
      </a:dk1>
      <a:lt1>
        <a:sysClr val="window" lastClr="FFFFFF"/>
      </a:lt1>
      <a:dk2>
        <a:srgbClr val="1F3864"/>
      </a:dk2>
      <a:lt2>
        <a:srgbClr val="DEEBF7"/>
      </a:lt2>
      <a:accent1>
        <a:srgbClr val="1F3864"/>
      </a:accent1>
      <a:accent2>
        <a:srgbClr val="C55A11"/>
      </a:accent2>
      <a:accent3>
        <a:srgbClr val="9DC3E6"/>
      </a:accent3>
      <a:accent4>
        <a:srgbClr val="F4B183"/>
      </a:accent4>
      <a:accent5>
        <a:srgbClr val="7F7F7F"/>
      </a:accent5>
      <a:accent6>
        <a:srgbClr val="6B3A1E"/>
      </a:accent6>
      <a:hlink>
        <a:srgbClr val="2E75B6"/>
      </a:hlink>
      <a:folHlink>
        <a:srgbClr val="7F7F7F"/>
      </a:folHlink>
    </a:clrScheme>
    <a:fontScheme name="Office">
      <a:majorFont>
        <a:latin typeface="Rockwell Condense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Navy and Wood">
      <a:dk1>
        <a:sysClr val="windowText" lastClr="000000"/>
      </a:dk1>
      <a:lt1>
        <a:sysClr val="window" lastClr="FFFFFF"/>
      </a:lt1>
      <a:dk2>
        <a:srgbClr val="1F3864"/>
      </a:dk2>
      <a:lt2>
        <a:srgbClr val="DEEBF7"/>
      </a:lt2>
      <a:accent1>
        <a:srgbClr val="1F3864"/>
      </a:accent1>
      <a:accent2>
        <a:srgbClr val="C55A11"/>
      </a:accent2>
      <a:accent3>
        <a:srgbClr val="9DC3E6"/>
      </a:accent3>
      <a:accent4>
        <a:srgbClr val="F4B183"/>
      </a:accent4>
      <a:accent5>
        <a:srgbClr val="7F7F7F"/>
      </a:accent5>
      <a:accent6>
        <a:srgbClr val="6B3A1E"/>
      </a:accent6>
      <a:hlink>
        <a:srgbClr val="2E75B6"/>
      </a:hlink>
      <a:folHlink>
        <a:srgbClr val="7F7F7F"/>
      </a:folHlink>
    </a:clrScheme>
    <a:fontScheme name="Office">
      <a:majorFont>
        <a:latin typeface="Rockwell Condense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Interest in Digital Skills Programmes</dc:title>
  <dc:subject>Pie chart of the Google Trends relative-interest observations</dc:subject>
  <dc:creator/>
  <cp:keywords>Google Trends, relative interest, pie chart</cp:keywords>
  <dc:description/>
  <cp:lastModifiedBy/>
  <cp:revision>1</cp:revision>
  <dcterms:created xsi:type="dcterms:W3CDTF">2026-10-04T22:11:27Z</dcterms:created>
  <dcterms:modified xsi:type="dcterms:W3CDTF">2026-10-04T22:11:27Z</dcterms:modified>
  <cp:category/>
</cp:coreProperties>
</file>