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/>
            </a:pPr>
            <a:r>
              <a:rPr sz="1600" b="0">
                <a:solidFill>
                  <a:srgbClr val="3B2A20"/>
                </a:solidFill>
                <a:latin typeface="Rockwell"/>
              </a:rPr>
              <a:t>Share of Total Interest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235"/>
          <c:y val="0.18"/>
          <c:w val="0.53"/>
          <c:h val="0.74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dPt>
            <c:idx val="0"/>
            <c:spPr>
              <a:solidFill>
                <a:srgbClr val="6B3A1E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4B183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55A11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2C290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A0662F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Cybersecurity</c:v>
                </c:pt>
                <c:pt idx="1">
                  <c:v>Digital Marketing</c:v>
                </c:pt>
                <c:pt idx="2">
                  <c:v>Data Analytics</c:v>
                </c:pt>
                <c:pt idx="3">
                  <c:v>Generative AI &amp; Prompt Engineering</c:v>
                </c:pt>
                <c:pt idx="4">
                  <c:v>Web Development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43</c:v>
                </c:pt>
                <c:pt idx="1">
                  <c:v>33</c:v>
                </c:pt>
                <c:pt idx="2">
                  <c:v>18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dLbls>
          <c:txPr>
            <a:bodyPr wrap="none"/>
            <a:lstStyle/>
            <a:p>
              <a:pPr>
                <a:defRPr sz="1600" b="1">
                  <a:solidFill>
                    <a:srgbClr val="3B2A20"/>
                  </a:solidFill>
                  <a:latin typeface="Rockwel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600">
          <a:solidFill>
            <a:srgbClr val="3B2A20"/>
          </a:solidFill>
          <a:latin typeface="Rockwel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presentation is on the relative interest in five digital skills programmes in Nigeria, using Google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average scores I got from Google Trends for the past 12 months. Cybersecurity had the highest score, and Generative AI &amp; Prompt Engineering and Web Development had the lowest.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pie chart shows the share of interest for each programme. Cybersecurity has the biggest share at 36%, then Digital Marketing at 28% and Data Analytics at 15%. Generative AI &amp; Prompt Engineering and Web Development have 11%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chart, Cybersecurity is the most popular programme, followed by Digital Marketing. The organisation should promote these two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1828800" y="1554480"/>
            <a:ext cx="85344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1645920"/>
            <a:ext cx="8351520" cy="3474720"/>
          </a:xfrm>
          <a:prstGeom prst="rect">
            <a:avLst/>
          </a:prstGeom>
          <a:noFill/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286000"/>
            <a:ext cx="8077200" cy="1005840"/>
          </a:xfrm>
        </p:spPr>
        <p:txBody>
          <a:bodyPr anchor="b"/>
          <a:lstStyle/>
          <a:p>
            <a:pPr algn="ctr"/>
            <a:r>
              <a:rPr sz="5000" b="0">
                <a:solidFill>
                  <a:srgbClr val="3F3F3F"/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Rockwell Condensed"/>
              </a:rPr>
              <a:t>RELATIVE INTEREST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3120" y="3566160"/>
            <a:ext cx="7985760" cy="1417320"/>
          </a:xfrm>
        </p:spPr>
        <p:txBody>
          <a:bodyPr anchor="t"/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3B2A20"/>
                </a:solidFill>
                <a:latin typeface="Rockwell"/>
              </a:rPr>
              <a:t>Digital Skills Programmes on Google Trends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3B2A20"/>
                </a:solidFill>
                <a:latin typeface="Rockwell"/>
              </a:rPr>
              <a:t>Market Research Lab, Task 1  ·  Nigeria, past 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1680" y="0"/>
            <a:ext cx="548640" cy="1783080"/>
          </a:xfrm>
          <a:prstGeom prst="rect">
            <a:avLst/>
          </a:prstGeom>
          <a:solidFill>
            <a:srgbClr val="4E3B30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1680" y="4983480"/>
            <a:ext cx="548640" cy="1874520"/>
          </a:xfrm>
          <a:prstGeom prst="rect">
            <a:avLst/>
          </a:prstGeom>
          <a:solidFill>
            <a:srgbClr val="4E3B30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Straight Connector 7"/>
          <p:cNvCxnSpPr/>
          <p:nvPr/>
        </p:nvCxnSpPr>
        <p:spPr>
          <a:xfrm>
            <a:off x="2926080" y="3429000"/>
            <a:ext cx="633984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11480" y="320040"/>
            <a:ext cx="11369040" cy="6217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1186160" cy="6035040"/>
          </a:xfrm>
          <a:prstGeom prst="rect">
            <a:avLst/>
          </a:prstGeom>
          <a:noFill/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4000" b="0">
                <a:solidFill>
                  <a:srgbClr val="3F3F3F"/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Rockwell Condensed"/>
              </a:rPr>
              <a:t>RELATIVE-INTEREST OBSERVATIONS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249680" y="2011680"/>
          <a:ext cx="9692640" cy="3291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394960"/>
                <a:gridCol w="23774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Rockwell"/>
                        </a:rPr>
                        <a:t>Programme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Rockwell"/>
                        </a:rPr>
                        <a:t>Average score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Rockwell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Cybersecurity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Digital Marketing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Data Analytics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Generative AI &amp; Prompt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Web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B2A20"/>
                          </a:solidFill>
                          <a:latin typeface="Rockwell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E4B3F"/>
                </a:solidFill>
                <a:latin typeface="Rockwell"/>
              </a:rPr>
              <a:t>The average Google Trends score of each programme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E4B3F"/>
                </a:solidFill>
                <a:latin typeface="Rockwell"/>
              </a:rPr>
              <a:t>Google Trends gives each programme a score from 0 to 100, where 100 means the highest interest.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11480" y="320040"/>
            <a:ext cx="11369040" cy="6217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1186160" cy="6035040"/>
          </a:xfrm>
          <a:prstGeom prst="rect">
            <a:avLst/>
          </a:prstGeom>
          <a:noFill/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4000" b="0">
                <a:solidFill>
                  <a:srgbClr val="3F3F3F"/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Rockwell Condensed"/>
              </a:rPr>
              <a:t>RELATIVE INTEREST BY PROGRAMME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914400" y="1874520"/>
          <a:ext cx="603504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E4B3F"/>
                </a:solidFill>
                <a:latin typeface="Rockwell"/>
              </a:rPr>
              <a:t>Each programme's share of the total interest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2203704"/>
            <a:ext cx="256032" cy="256032"/>
          </a:xfrm>
          <a:prstGeom prst="rect">
            <a:avLst/>
          </a:prstGeom>
          <a:solidFill>
            <a:srgbClr val="6B3A1E"/>
          </a:solidFill>
          <a:ln w="9525">
            <a:solidFill>
              <a:srgbClr val="8C6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112264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2A20"/>
                </a:solidFill>
                <a:latin typeface="Rockwell"/>
              </a:rPr>
              <a:t>Cybersecurity</a:t>
            </a:r>
          </a:p>
          <a:p>
            <a:r>
              <a:rPr sz="1400" b="0">
                <a:solidFill>
                  <a:srgbClr val="3B2A20"/>
                </a:solidFill>
                <a:latin typeface="Rockwell"/>
              </a:rPr>
              <a:t>Score 43  ·  36%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990088"/>
            <a:ext cx="256032" cy="256032"/>
          </a:xfrm>
          <a:prstGeom prst="rect">
            <a:avLst/>
          </a:prstGeom>
          <a:solidFill>
            <a:srgbClr val="F4B183"/>
          </a:solidFill>
          <a:ln w="9525">
            <a:solidFill>
              <a:srgbClr val="8C6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898648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2A20"/>
                </a:solidFill>
                <a:latin typeface="Rockwell"/>
              </a:rPr>
              <a:t>Digital Marketing</a:t>
            </a:r>
          </a:p>
          <a:p>
            <a:r>
              <a:rPr sz="1400" b="0">
                <a:solidFill>
                  <a:srgbClr val="3B2A20"/>
                </a:solidFill>
                <a:latin typeface="Rockwell"/>
              </a:rPr>
              <a:t>Score 33  ·  28%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3776472"/>
            <a:ext cx="256032" cy="256032"/>
          </a:xfrm>
          <a:prstGeom prst="rect">
            <a:avLst/>
          </a:prstGeom>
          <a:solidFill>
            <a:srgbClr val="C55A11"/>
          </a:solidFill>
          <a:ln w="9525">
            <a:solidFill>
              <a:srgbClr val="8C6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685032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2A20"/>
                </a:solidFill>
                <a:latin typeface="Rockwell"/>
              </a:rPr>
              <a:t>Data Analytics</a:t>
            </a:r>
          </a:p>
          <a:p>
            <a:r>
              <a:rPr sz="1400" b="0">
                <a:solidFill>
                  <a:srgbClr val="3B2A20"/>
                </a:solidFill>
                <a:latin typeface="Rockwell"/>
              </a:rPr>
              <a:t>Score 18  ·  15%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562856"/>
            <a:ext cx="256032" cy="256032"/>
          </a:xfrm>
          <a:prstGeom prst="rect">
            <a:avLst/>
          </a:prstGeom>
          <a:solidFill>
            <a:srgbClr val="E2C290"/>
          </a:solidFill>
          <a:ln w="9525">
            <a:solidFill>
              <a:srgbClr val="8C6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4471416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2A20"/>
                </a:solidFill>
                <a:latin typeface="Rockwell"/>
              </a:rPr>
              <a:t>Generative AI &amp; Prompt Engineering</a:t>
            </a:r>
          </a:p>
          <a:p>
            <a:r>
              <a:rPr sz="1400" b="0">
                <a:solidFill>
                  <a:srgbClr val="3B2A20"/>
                </a:solidFill>
                <a:latin typeface="Rockwell"/>
              </a:rPr>
              <a:t>Score 13  ·  11%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5349240"/>
            <a:ext cx="256032" cy="256032"/>
          </a:xfrm>
          <a:prstGeom prst="rect">
            <a:avLst/>
          </a:prstGeom>
          <a:solidFill>
            <a:srgbClr val="A0662F"/>
          </a:solidFill>
          <a:ln w="9525">
            <a:solidFill>
              <a:srgbClr val="8C6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525780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2A20"/>
                </a:solidFill>
                <a:latin typeface="Rockwell"/>
              </a:rPr>
              <a:t>Web Development</a:t>
            </a:r>
          </a:p>
          <a:p>
            <a:r>
              <a:rPr sz="1400" b="0">
                <a:solidFill>
                  <a:srgbClr val="3B2A20"/>
                </a:solidFill>
                <a:latin typeface="Rockwell"/>
              </a:rPr>
              <a:t>Score 13  ·  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26480"/>
            <a:ext cx="1036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E4B3F"/>
                </a:solidFill>
                <a:latin typeface="Rockwell"/>
              </a:rPr>
              <a:t>Source: Google Trends, Nigeria, past 12 months (28 September 2025 to 28 September 2026).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11480" y="320040"/>
            <a:ext cx="11369040" cy="6217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1186160" cy="6035040"/>
          </a:xfrm>
          <a:prstGeom prst="rect">
            <a:avLst/>
          </a:prstGeom>
          <a:noFill/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960" cy="731520"/>
          </a:xfrm>
        </p:spPr>
        <p:txBody>
          <a:bodyPr anchor="ctr"/>
          <a:lstStyle/>
          <a:p>
            <a:pPr algn="ctr"/>
            <a:r>
              <a:rPr sz="4000" b="0">
                <a:solidFill>
                  <a:srgbClr val="3F3F3F"/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Rockwell Condensed"/>
              </a:rPr>
              <a:t>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65960"/>
            <a:ext cx="10363200" cy="406908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0" y="2194560"/>
            <a:ext cx="9723120" cy="36576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6B3A1E"/>
                </a:solidFill>
                <a:latin typeface="Rockwell"/>
              </a:rPr>
              <a:t>Cybersecurity</a:t>
            </a:r>
            <a:r>
              <a:rPr sz="2200" b="0">
                <a:solidFill>
                  <a:srgbClr val="3B2A20"/>
                </a:solidFill>
                <a:latin typeface="Rockwell"/>
              </a:rPr>
              <a:t> had the highest interest, with 36% of the total.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6B3A1E"/>
                </a:solidFill>
                <a:latin typeface="Rockwell"/>
              </a:rPr>
              <a:t>Digital Marketing</a:t>
            </a:r>
            <a:r>
              <a:rPr sz="2200" b="0">
                <a:solidFill>
                  <a:srgbClr val="3B2A20"/>
                </a:solidFill>
                <a:latin typeface="Rockwell"/>
              </a:rPr>
              <a:t> came second with 28%.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6B3A1E"/>
                </a:solidFill>
                <a:latin typeface="Rockwell"/>
              </a:rPr>
              <a:t>Data Analytics</a:t>
            </a:r>
            <a:r>
              <a:rPr sz="2200" b="0">
                <a:solidFill>
                  <a:srgbClr val="3B2A20"/>
                </a:solidFill>
                <a:latin typeface="Rockwell"/>
              </a:rPr>
              <a:t> came third with 15%.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6B3A1E"/>
                </a:solidFill>
                <a:latin typeface="Rockwell"/>
              </a:rPr>
              <a:t>Generative AI &amp; Prompt Engineering</a:t>
            </a:r>
            <a:r>
              <a:rPr sz="2200" b="0">
                <a:solidFill>
                  <a:srgbClr val="3B2A20"/>
                </a:solidFill>
                <a:latin typeface="Rockwell"/>
              </a:rPr>
              <a:t> and </a:t>
            </a:r>
            <a:r>
              <a:rPr sz="2200" b="1">
                <a:solidFill>
                  <a:srgbClr val="6B3A1E"/>
                </a:solidFill>
                <a:latin typeface="Rockwell"/>
              </a:rPr>
              <a:t>Web Development</a:t>
            </a:r>
            <a:r>
              <a:rPr sz="2200" b="0">
                <a:solidFill>
                  <a:srgbClr val="3B2A20"/>
                </a:solidFill>
                <a:latin typeface="Rockwell"/>
              </a:rPr>
              <a:t> had the lowest interest, with 11% each.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3B2A20"/>
                </a:solidFill>
                <a:latin typeface="Rockwell"/>
              </a:rPr>
              <a:t>This means Cybersecurity and Digital Marketing should be promoted first.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914400" y="1298448"/>
            <a:ext cx="1036320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37160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E4B3F"/>
                </a:solidFill>
                <a:latin typeface="Rockwell"/>
              </a:rPr>
              <a:t>What the pie chart shows</a:t>
            </a:r>
          </a:p>
        </p:txBody>
      </p:sp>
    </p:spTree>
  </p:cSld>
  <p:clrMapOvr>
    <a:masterClrMapping/>
  </p:clrMapOvr>
  <p:transition spd="med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1828800" y="1554480"/>
            <a:ext cx="85344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1645920"/>
            <a:ext cx="8351520" cy="3474720"/>
          </a:xfrm>
          <a:prstGeom prst="rect">
            <a:avLst/>
          </a:prstGeom>
          <a:noFill/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286000"/>
            <a:ext cx="8077200" cy="1005840"/>
          </a:xfrm>
        </p:spPr>
        <p:txBody>
          <a:bodyPr anchor="b"/>
          <a:lstStyle/>
          <a:p>
            <a:pPr algn="ctr"/>
            <a:r>
              <a:rPr sz="5000" b="0">
                <a:solidFill>
                  <a:srgbClr val="3F3F3F"/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Rockwell Condensed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3120" y="3566160"/>
            <a:ext cx="7985760" cy="1417320"/>
          </a:xfrm>
        </p:spPr>
        <p:txBody>
          <a:bodyPr anchor="t"/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3B2A20"/>
                </a:solidFill>
                <a:latin typeface="Rockwell"/>
              </a:rPr>
              <a:t>Any questions?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3B2A20"/>
                </a:solidFill>
                <a:latin typeface="Rockwell"/>
              </a:rPr>
              <a:t>Market Research Lab, Task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1680" y="0"/>
            <a:ext cx="548640" cy="1783080"/>
          </a:xfrm>
          <a:prstGeom prst="rect">
            <a:avLst/>
          </a:prstGeom>
          <a:solidFill>
            <a:srgbClr val="4E3B30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1680" y="4983480"/>
            <a:ext cx="548640" cy="1874520"/>
          </a:xfrm>
          <a:prstGeom prst="rect">
            <a:avLst/>
          </a:prstGeom>
          <a:solidFill>
            <a:srgbClr val="4E3B30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Straight Connector 7"/>
          <p:cNvCxnSpPr/>
          <p:nvPr/>
        </p:nvCxnSpPr>
        <p:spPr>
          <a:xfrm>
            <a:off x="2926080" y="3429000"/>
            <a:ext cx="6339840" cy="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cover dir="l"/>
  </p:transition>
</p:sld>
</file>

<file path=ppt/theme/theme1.xml><?xml version="1.0" encoding="utf-8"?>
<a:theme xmlns:a="http://schemas.openxmlformats.org/drawingml/2006/main" name="Office Theme">
  <a:themeElements>
    <a:clrScheme name="PZ Wood">
      <a:dk1>
        <a:sysClr val="windowText" lastClr="000000"/>
      </a:dk1>
      <a:lt1>
        <a:sysClr val="window" lastClr="FFFFFF"/>
      </a:lt1>
      <a:dk2>
        <a:srgbClr val="4E3B30"/>
      </a:dk2>
      <a:lt2>
        <a:srgbClr val="F2E6D9"/>
      </a:lt2>
      <a:accent1>
        <a:srgbClr val="C55A11"/>
      </a:accent1>
      <a:accent2>
        <a:srgbClr val="6B3A1E"/>
      </a:accent2>
      <a:accent3>
        <a:srgbClr val="BF8F00"/>
      </a:accent3>
      <a:accent4>
        <a:srgbClr val="A0662F"/>
      </a:accent4>
      <a:accent5>
        <a:srgbClr val="F4B183"/>
      </a:accent5>
      <a:accent6>
        <a:srgbClr val="7F7F7F"/>
      </a:accent6>
      <a:hlink>
        <a:srgbClr val="C55A11"/>
      </a:hlink>
      <a:folHlink>
        <a:srgbClr val="6B3A1E"/>
      </a:folHlink>
    </a:clrScheme>
    <a:fontScheme name="Office">
      <a:majorFont>
        <a:latin typeface="Rockwell Condensed"/>
        <a:ea typeface=""/>
        <a:cs typeface=""/>
      </a:majorFont>
      <a:minorFont>
        <a:latin typeface="Rockw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PZ Wood">
      <a:dk1>
        <a:sysClr val="windowText" lastClr="000000"/>
      </a:dk1>
      <a:lt1>
        <a:sysClr val="window" lastClr="FFFFFF"/>
      </a:lt1>
      <a:dk2>
        <a:srgbClr val="4E3B30"/>
      </a:dk2>
      <a:lt2>
        <a:srgbClr val="F2E6D9"/>
      </a:lt2>
      <a:accent1>
        <a:srgbClr val="C55A11"/>
      </a:accent1>
      <a:accent2>
        <a:srgbClr val="6B3A1E"/>
      </a:accent2>
      <a:accent3>
        <a:srgbClr val="BF8F00"/>
      </a:accent3>
      <a:accent4>
        <a:srgbClr val="A0662F"/>
      </a:accent4>
      <a:accent5>
        <a:srgbClr val="F4B183"/>
      </a:accent5>
      <a:accent6>
        <a:srgbClr val="7F7F7F"/>
      </a:accent6>
      <a:hlink>
        <a:srgbClr val="C55A11"/>
      </a:hlink>
      <a:folHlink>
        <a:srgbClr val="6B3A1E"/>
      </a:folHlink>
    </a:clrScheme>
    <a:fontScheme name="Office">
      <a:majorFont>
        <a:latin typeface="Rockwell Condensed"/>
        <a:ea typeface=""/>
        <a:cs typeface=""/>
      </a:majorFont>
      <a:minorFont>
        <a:latin typeface="Rockwel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 Interest in Digital Skills Programmes</dc:title>
  <dc:subject>Pie chart of the Google Trends relative-interest observations</dc:subject>
  <dc:creator/>
  <cp:keywords>Google Trends, relative interest, pie chart</cp:keywords>
  <dc:description/>
  <cp:lastModifiedBy/>
  <cp:revision>1</cp:revision>
  <dcterms:created xsi:type="dcterms:W3CDTF">2026-10-04T22:11:26Z</dcterms:created>
  <dcterms:modified xsi:type="dcterms:W3CDTF">2026-10-04T22:11:26Z</dcterms:modified>
  <cp:category/>
</cp:coreProperties>
</file>