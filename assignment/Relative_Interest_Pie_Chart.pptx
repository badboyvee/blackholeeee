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Average score</c:v>
                </c:pt>
              </c:strCache>
            </c:strRef>
          </c:tx>
          <c:dPt>
            <c:idx val="0"/>
            <c:spPr>
              <a:solidFill>
                <a:schemeClr val="accent2">
                  <a:lumMod val="75000"/>
                </a:schemeClr>
              </a:solidFill>
              <a:ln w="19050">
                <a:solidFill>
                  <a:schemeClr val="bg1"/>
                </a:solidFill>
              </a:ln>
            </c:spPr>
          </c:dPt>
          <c:dPt>
            <c:idx val="1"/>
            <c:spPr>
              <a:solidFill>
                <a:schemeClr val="accent1">
                  <a:lumMod val="50000"/>
                </a:schemeClr>
              </a:solidFill>
              <a:ln w="19050">
                <a:solidFill>
                  <a:schemeClr val="bg1"/>
                </a:solidFill>
              </a:ln>
            </c:spPr>
          </c:dPt>
          <c:dPt>
            <c:idx val="2"/>
            <c:spPr>
              <a:solidFill>
                <a:schemeClr val="accent1">
                  <a:lumMod val="75000"/>
                </a:schemeClr>
              </a:solidFill>
              <a:ln w="19050">
                <a:solidFill>
                  <a:schemeClr val="bg1"/>
                </a:solidFill>
              </a:ln>
            </c:spPr>
          </c:dPt>
          <c:dPt>
            <c:idx val="3"/>
            <c:spPr>
              <a:solidFill>
                <a:schemeClr val="accent1"/>
              </a:solidFill>
              <a:ln w="19050">
                <a:solidFill>
                  <a:schemeClr val="bg1"/>
                </a:solidFill>
              </a:ln>
            </c:spPr>
          </c:dPt>
          <c:dPt>
            <c:idx val="4"/>
            <c:spPr>
              <a:solidFill>
                <a:schemeClr val="accent1">
                  <a:lumMod val="60000"/>
                  <a:lumOff val="40000"/>
                </a:schemeClr>
              </a:solidFill>
              <a:ln w="19050">
                <a:solidFill>
                  <a:schemeClr val="bg1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Cybersecurity</c:v>
                </c:pt>
                <c:pt idx="1">
                  <c:v>Digital Marketing</c:v>
                </c:pt>
                <c:pt idx="2">
                  <c:v>Data Analytics</c:v>
                </c:pt>
                <c:pt idx="3">
                  <c:v>Generative AI &amp; Prompt Engineering</c:v>
                </c:pt>
                <c:pt idx="4">
                  <c:v>Web Development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43</c:v>
                </c:pt>
                <c:pt idx="1">
                  <c:v>33</c:v>
                </c:pt>
                <c:pt idx="2">
                  <c:v>18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dLbls>
          <c:txPr>
            <a:bodyPr wrap="none"/>
            <a:lstStyle/>
            <a:p>
              <a:pPr>
                <a:defRPr sz="1800" b="1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1"/>
          <c:showBubbleSize val="0"/>
          <c:separator>
</c:separator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solidFill>
            <a:schemeClr val="tx1">
              <a:lumMod val="65000"/>
              <a:lumOff val="35000"/>
            </a:schemeClr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848043"/>
            <a:ext cx="9144000" cy="2387600"/>
          </a:xfrm>
        </p:spPr>
        <p:txBody>
          <a:bodyPr/>
          <a:lstStyle/>
          <a:p>
            <a:r>
              <a:t>Relative-Interest Observations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Google Trends: five digital-skills programmes</a:t>
            </a:r>
          </a:p>
          <a:p>
            <a:r>
              <a:rPr sz="2400"/>
              <a:t>Nigeria, past 12 months</a:t>
            </a:r>
          </a:p>
        </p:txBody>
      </p:sp>
      <p:cxnSp>
        <p:nvCxnSpPr>
          <p:cNvPr id="4" name="Straight Connector 3"/>
          <p:cNvCxnSpPr/>
          <p:nvPr/>
        </p:nvCxnSpPr>
        <p:spPr>
          <a:xfrm>
            <a:off x="4727448" y="3381947"/>
            <a:ext cx="2743200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Relative Interest by Programme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1706880" y="1825625"/>
          <a:ext cx="8778240" cy="39855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8200" y="5811203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chemeClr val="tx1">
                    <a:lumMod val="65000"/>
                    <a:lumOff val="35000"/>
                  </a:schemeClr>
                </a:solidFill>
              </a:rPr>
              <a:t>Source: Google Trends, Nigeria, past 12 months (28 September 2025 to 28 September 2026). Average interest from 0 to 100.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Pie Chart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1">
                <a:solidFill>
                  <a:schemeClr val="accent2">
                    <a:lumMod val="75000"/>
                  </a:schemeClr>
                </a:solidFill>
              </a:rPr>
              <a:t>Cybersecurity</a:t>
            </a:r>
            <a:r>
              <a:rPr sz="2400"/>
              <a:t> had the highest interest: around 43, or 36% of the total.</a:t>
            </a:r>
          </a:p>
          <a:p>
            <a:r>
              <a:rPr sz="2400" b="1">
                <a:solidFill>
                  <a:schemeClr val="accent1">
                    <a:lumMod val="50000"/>
                  </a:schemeClr>
                </a:solidFill>
              </a:rPr>
              <a:t>Digital Marketing</a:t>
            </a:r>
            <a:r>
              <a:rPr sz="2400"/>
              <a:t> came second: around 33 (28%).</a:t>
            </a:r>
          </a:p>
          <a:p>
            <a:r>
              <a:rPr sz="2400" b="1">
                <a:solidFill>
                  <a:schemeClr val="accent1">
                    <a:lumMod val="50000"/>
                  </a:schemeClr>
                </a:solidFill>
              </a:rPr>
              <a:t>Data Analytics</a:t>
            </a:r>
            <a:r>
              <a:rPr sz="2400"/>
              <a:t> came third: around 18 (15%).</a:t>
            </a:r>
          </a:p>
          <a:p>
            <a:r>
              <a:rPr sz="2400" b="1">
                <a:solidFill>
                  <a:schemeClr val="accent1">
                    <a:lumMod val="50000"/>
                  </a:schemeClr>
                </a:solidFill>
              </a:rPr>
              <a:t>Generative AI &amp; Prompt Engineering</a:t>
            </a:r>
            <a:r>
              <a:rPr sz="2400"/>
              <a:t> and </a:t>
            </a:r>
            <a:r>
              <a:rPr sz="2400" b="1">
                <a:solidFill>
                  <a:schemeClr val="accent1">
                    <a:lumMod val="50000"/>
                  </a:schemeClr>
                </a:solidFill>
              </a:rPr>
              <a:t>Web Development</a:t>
            </a:r>
            <a:r>
              <a:rPr sz="2400"/>
              <a:t> had the lowest interest: around 13 each (11% each).</a:t>
            </a:r>
          </a:p>
          <a:p>
            <a:r>
              <a:rPr sz="2400"/>
              <a:t>So Cybersecurity and Digital Marketing should be promoted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Relative-Interest Observations</dc:title>
  <dc:subject>Pie chart of the Google Trends relative-interest observations</dc:subject>
  <dc:creator/>
  <cp:keywords>Google Trends, relative interest, pie chart</cp:keywords>
  <dc:description/>
  <cp:lastModifiedBy/>
  <cp:revision>1</cp:revision>
  <dcterms:created xsi:type="dcterms:W3CDTF">2026-10-04T17:54:44Z</dcterms:created>
  <dcterms:modified xsi:type="dcterms:W3CDTF">2026-10-04T17:54:44Z</dcterms:modified>
  <cp:category/>
</cp:coreProperties>
</file>