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45d3453-e6d0-f36d-53ce-c6375b170e8b}">
          <p14:sldIdLst>
            <p14:sldId id="256"/>
            <p14:sldId id="257"/>
          </p14:sldIdLst>
        </p14:section>
        <p14:section name="Findings" id="{ee351aab-cefd-f1e9-eaea-983970dd7aea}">
          <p14:sldIdLst>
            <p14:sldId id="258"/>
            <p14:sldId id="259"/>
          </p14:sldIdLst>
        </p14:section>
        <p14:section name="Conclusion" id="{d9aa3dde-c92c-96f6-5e98-f41952176348}">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3"/>
          <c:y val="0.03"/>
          <c:w val="0.94"/>
          <c:h val="0.94"/>
        </c:manualLayout>
      </c:layout>
      <c:pieChart>
        <c:varyColors val="1"/>
        <c:ser>
          <c:idx val="0"/>
          <c:order val="0"/>
          <c:tx>
            <c:strRef>
              <c:f>Sheet1!$B$1</c:f>
              <c:strCache>
                <c:ptCount val="1"/>
                <c:pt idx="0">
                  <c:v>Average score</c:v>
                </c:pt>
              </c:strCache>
            </c:strRef>
          </c:tx>
          <c:spPr>
            <a:solidFill>
              <a:schemeClr val="accent1"/>
            </a:solidFill>
            <a:ln w="9525" cap="flat">
              <a:solidFill>
                <a:srgbClr val="F9F9F9"/>
              </a:solidFill>
              <a:prstDash val="solid"/>
              <a:round/>
            </a:ln>
            <a:effectLst/>
          </c:spPr>
          <c:dPt>
            <c:idx val="0"/>
            <c:bubble3D val="0"/>
            <c:spPr>
              <a:solidFill>
                <a:srgbClr val="C55A11"/>
              </a:solidFill>
              <a:ln w="25400" cap="flat">
                <a:solidFill>
                  <a:srgbClr val="FFFFFF"/>
                </a:solidFill>
                <a:prstDash val="solid"/>
                <a:round/>
              </a:ln>
              <a:effectLst/>
            </c:spPr>
          </c:dPt>
          <c:dPt>
            <c:idx val="1"/>
            <c:bubble3D val="0"/>
            <c:spPr>
              <a:solidFill>
                <a:srgbClr val="2A78D6"/>
              </a:solidFill>
              <a:ln w="25400" cap="flat">
                <a:solidFill>
                  <a:srgbClr val="FFFFFF"/>
                </a:solidFill>
                <a:prstDash val="solid"/>
                <a:round/>
              </a:ln>
              <a:effectLst/>
            </c:spPr>
          </c:dPt>
          <c:dPt>
            <c:idx val="2"/>
            <c:bubble3D val="0"/>
            <c:spPr>
              <a:solidFill>
                <a:srgbClr val="0F8A5F"/>
              </a:solidFill>
              <a:ln w="25400" cap="flat">
                <a:solidFill>
                  <a:srgbClr val="FFFFFF"/>
                </a:solidFill>
                <a:prstDash val="solid"/>
                <a:round/>
              </a:ln>
              <a:effectLst/>
            </c:spPr>
          </c:dPt>
          <c:dPt>
            <c:idx val="3"/>
            <c:bubble3D val="0"/>
            <c:spPr>
              <a:solidFill>
                <a:srgbClr val="4A3AA7"/>
              </a:solidFill>
              <a:ln w="25400" cap="flat">
                <a:solidFill>
                  <a:srgbClr val="FFFFFF"/>
                </a:solidFill>
                <a:prstDash val="solid"/>
                <a:round/>
              </a:ln>
              <a:effectLst/>
            </c:spPr>
          </c:dPt>
          <c:dPt>
            <c:idx val="4"/>
            <c:bubble3D val="0"/>
            <c:spPr>
              <a:solidFill>
                <a:srgbClr val="B03A8C"/>
              </a:solidFill>
              <a:ln w="25400" cap="flat">
                <a:solidFill>
                  <a:srgbClr val="FFFFFF"/>
                </a:solidFill>
                <a:prstDash val="solid"/>
                <a:round/>
              </a:ln>
              <a:effectLst/>
            </c:spPr>
          </c:dPt>
          <c:dLbls>
            <c:dLbl>
              <c:idx val="0"/>
              <c:numFmt formatCode="0%" sourceLinked="0"/>
              <c:spPr/>
              <c:txPr>
                <a:bodyPr wrap="none"/>
                <a:lstStyle/>
                <a:p>
                  <a:pPr>
                    <a:defRPr sz="1800" b="1" i="0" u="none" strike="noStrike">
                      <a:solidFill>
                        <a:srgbClr val="FFFFFF"/>
                      </a:solidFill>
                      <a:latin typeface="+mn-lt"/>
                    </a:defRPr>
                  </a:pPr>
                </a:p>
              </c:txPr>
              <c:dLblPos val="inEnd"/>
              <c:showLegendKey val="0"/>
              <c:showVal val="0"/>
              <c:showCatName val="0"/>
              <c:showSerName val="0"/>
              <c:showPercent val="1"/>
              <c:showBubbleSize val="0"/>
            </c:dLbl>
            <c:dLbl>
              <c:idx val="1"/>
              <c:numFmt formatCode="0%" sourceLinked="0"/>
              <c:spPr/>
              <c:txPr>
                <a:bodyPr wrap="none"/>
                <a:lstStyle/>
                <a:p>
                  <a:pPr>
                    <a:defRPr sz="1800" b="1" i="0" u="none" strike="noStrike">
                      <a:solidFill>
                        <a:srgbClr val="FFFFFF"/>
                      </a:solidFill>
                      <a:latin typeface="+mn-lt"/>
                    </a:defRPr>
                  </a:pPr>
                </a:p>
              </c:txPr>
              <c:dLblPos val="inEnd"/>
              <c:showLegendKey val="0"/>
              <c:showVal val="0"/>
              <c:showCatName val="0"/>
              <c:showSerName val="0"/>
              <c:showPercent val="1"/>
              <c:showBubbleSize val="0"/>
            </c:dLbl>
            <c:dLbl>
              <c:idx val="2"/>
              <c:numFmt formatCode="0%" sourceLinked="0"/>
              <c:spPr/>
              <c:txPr>
                <a:bodyPr wrap="none"/>
                <a:lstStyle/>
                <a:p>
                  <a:pPr>
                    <a:defRPr sz="1800" b="1" i="0" u="none" strike="noStrike">
                      <a:solidFill>
                        <a:srgbClr val="FFFFFF"/>
                      </a:solidFill>
                      <a:latin typeface="+mn-lt"/>
                    </a:defRPr>
                  </a:pPr>
                </a:p>
              </c:txPr>
              <c:dLblPos val="inEnd"/>
              <c:showLegendKey val="0"/>
              <c:showVal val="0"/>
              <c:showCatName val="0"/>
              <c:showSerName val="0"/>
              <c:showPercent val="1"/>
              <c:showBubbleSize val="0"/>
            </c:dLbl>
            <c:dLbl>
              <c:idx val="3"/>
              <c:numFmt formatCode="0%" sourceLinked="0"/>
              <c:spPr/>
              <c:txPr>
                <a:bodyPr wrap="none"/>
                <a:lstStyle/>
                <a:p>
                  <a:pPr>
                    <a:defRPr sz="1800" b="1" i="0" u="none" strike="noStrike">
                      <a:solidFill>
                        <a:srgbClr val="FFFFFF"/>
                      </a:solidFill>
                      <a:latin typeface="+mn-lt"/>
                    </a:defRPr>
                  </a:pPr>
                </a:p>
              </c:txPr>
              <c:dLblPos val="inEnd"/>
              <c:showLegendKey val="0"/>
              <c:showVal val="0"/>
              <c:showCatName val="0"/>
              <c:showSerName val="0"/>
              <c:showPercent val="1"/>
              <c:showBubbleSize val="0"/>
            </c:dLbl>
            <c:dLbl>
              <c:idx val="4"/>
              <c:numFmt formatCode="0%" sourceLinked="0"/>
              <c:spPr/>
              <c:txPr>
                <a:bodyPr wrap="none"/>
                <a:lstStyle/>
                <a:p>
                  <a:pPr>
                    <a:defRPr sz="1800" b="1" i="0" u="none" strike="noStrike">
                      <a:solidFill>
                        <a:srgbClr val="FFFFFF"/>
                      </a:solidFill>
                      <a:latin typeface="+mn-lt"/>
                    </a:defRPr>
                  </a:pPr>
                </a:p>
              </c:txPr>
              <c:dLblPos val="inEnd"/>
              <c:showLegendKey val="0"/>
              <c:showVal val="0"/>
              <c:showCatName val="0"/>
              <c:showSerName val="0"/>
              <c:showPercent val="1"/>
              <c:showBubbleSize val="0"/>
            </c:dLbl>
            <c:numFmt formatCode="0%" sourceLinked="0"/>
            <c:txPr>
              <a:bodyPr wrap="none"/>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Sheet1!$A$2:$A$6</c:f>
              <c:strCache>
                <c:ptCount val="5"/>
                <c:pt idx="0">
                  <c:v>Cybersecurity</c:v>
                </c:pt>
                <c:pt idx="1">
                  <c:v>Digital Marketing</c:v>
                </c:pt>
                <c:pt idx="2">
                  <c:v>Data Analytics</c:v>
                </c:pt>
                <c:pt idx="3">
                  <c:v>Generative AI &amp; Prompt Engineering</c:v>
                </c:pt>
                <c:pt idx="4">
                  <c:v>Web Development</c:v>
                </c:pt>
              </c:strCache>
            </c:strRef>
          </c:cat>
          <c:val>
            <c:numRef>
              <c:f>Sheet1!$B$2:$B$6</c:f>
              <c:numCache>
                <c:ptCount val="5"/>
                <c:pt idx="0">
                  <c:v>43</c:v>
                </c:pt>
                <c:pt idx="1">
                  <c:v>33</c:v>
                </c:pt>
                <c:pt idx="2">
                  <c:v>18</c:v>
                </c:pt>
                <c:pt idx="3">
                  <c:v>13</c:v>
                </c:pt>
                <c:pt idx="4">
                  <c:v>13</c:v>
                </c:pt>
              </c:numCache>
            </c:numRef>
          </c:val>
        </c:ser>
        <c:firstSliceAng val="0"/>
      </c:pie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compares how much people in Nigeria searched online for five digital-skills programmes over the past 12 months, using Google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Google Trends to compare the five programmes in Nigeria over the past 12 months, using web searches in all categories. Google Trends scores interest from 0 to 100, where 100 is the highest point. It compares at most five terms, so Generative AI and Prompt Engineering were searched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pie chart shows each programme's share of the total average interest. Cybersecurity has the largest share at 36%, followed by Digital Marketing at 28% and Data Analytics at 15%. Generative AI &amp; Prompt Engineering and Web Development have 11%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Cybersecurity and Digital Marketing together take almost two-thirds of the search interest. Cybersecurity was the highest almost all year and jumped to 100 in April 2026, probably because of news about a cybersecurity breach at the Corporate Affairs Commission. Digital Marketing peaked in late January. Data Analytics stayed steady, and Generative AI &amp; Prompt Engineering and Web Development stayed low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Cybersecurity and Digital Marketing already attract almost two-thirds of the interest, they should lead the promotion. The other three programmes need awareness campaigns that explain what they teach and the jobs they lead to. And since people search for free courses, skills and jobs, the adverts should use those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6002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383280"/>
            <a:ext cx="6949440" cy="914400"/>
          </a:xfrm>
          <a:prstGeom prst="rect">
            <a:avLst/>
          </a:prstGeom>
          <a:noFill/>
          <a:ln/>
        </p:spPr>
        <p:txBody>
          <a:bodyPr wrap="square" rtlCol="0"/>
          <a:lstStyle>
            <a:lvl1pPr algn="l" indent="0" marL="0">
              <a:buNone/>
              <a:defRPr lang="en-US" sz="2000" dirty="0">
                <a:solidFill>
                  <a:srgbClr val="D6DCE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algn="l" indent="0" marL="0">
              <a:buNone/>
              <a:defRPr lang="en-US" sz="1600" dirty="0">
                <a:solidFill>
                  <a:srgbClr val="595959"/>
                </a:solidFill>
              </a:defRPr>
            </a:lvl1pPr>
          </a:lstStyle>
          <a:p>
            <a:pPr algn="l" indent="0" marL="0">
              <a:buNone/>
            </a:pPr>
            <a:endParaRPr lang="en-US" sz="16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6B6B"/>
                </a:solidFill>
              </a:rPr>
              <a:t>Market Research Lab  |  Task 1: Google Trends</a:t>
            </a: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9494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154680"/>
            <a:ext cx="6949440" cy="640080"/>
          </a:xfrm>
          <a:prstGeom prst="rect">
            <a:avLst/>
          </a:prstGeom>
          <a:noFill/>
          <a:ln/>
        </p:spPr>
        <p:txBody>
          <a:bodyPr wrap="square" rtlCol="0"/>
          <a:lstStyle>
            <a:lvl1pPr algn="l" indent="0" marL="0">
              <a:buNone/>
              <a:defRPr lang="en-US" sz="2400" dirty="0">
                <a:solidFill>
                  <a:srgbClr val="D6DCE5"/>
                </a:solidFill>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verline"/>
          <p:cNvSpPr txBox="1"/>
          <p:nvPr/>
        </p:nvSpPr>
        <p:spPr>
          <a:xfrm>
            <a:off x="731520" y="1325880"/>
            <a:ext cx="6949440" cy="365760"/>
          </a:xfrm>
          <a:prstGeom prst="rect">
            <a:avLst/>
          </a:prstGeom>
          <a:noFill/>
          <a:ln/>
        </p:spPr>
        <p:txBody>
          <a:bodyPr wrap="square" lIns="0" tIns="0" rIns="0" bIns="0" rtlCol="0" anchor="t"/>
          <a:lstStyle/>
          <a:p>
            <a:pPr indent="0" marL="0">
              <a:buNone/>
            </a:pPr>
            <a:r>
              <a:rPr lang="en-US" sz="1400" b="1" spc="200" kern="0" dirty="0">
                <a:solidFill>
                  <a:srgbClr val="F4B183"/>
                </a:solidFill>
              </a:rPr>
              <a:t>MARKET RESEARCH LAB  |  TASK 1</a:t>
            </a:r>
            <a:endParaRPr lang="en-US" sz="1400" dirty="0"/>
          </a:p>
        </p:txBody>
      </p:sp>
      <p:sp>
        <p:nvSpPr>
          <p:cNvPr id="3" name="Text 0"/>
          <p:cNvSpPr/>
          <p:nvPr>
            <p:ph idx="100" type="title" hasCustomPrompt="1"/>
          </p:nvPr>
        </p:nvSpPr>
        <p:spPr>
          <a:xfrm>
            <a:off x="731520" y="1828800"/>
            <a:ext cx="6949440" cy="1600200"/>
          </a:xfrm>
          <a:prstGeom prst="rect">
            <a:avLst/>
          </a:prstGeom>
          <a:noFill/>
          <a:ln/>
        </p:spPr>
        <p:txBody>
          <a:bodyPr wrap="square" lIns="0" tIns="0" rIns="0" bIns="0" rtlCol="0" anchor="t"/>
          <a:lstStyle/>
          <a:p>
            <a:pPr algn="l" indent="0" marL="0">
              <a:buNone/>
            </a:pPr>
            <a:r>
              <a:rPr lang="en-US" sz="4000" b="1" dirty="0">
                <a:solidFill>
                  <a:schemeClr val="bg1"/>
                </a:solidFill>
              </a:rPr>
              <a:t>Relative Interest in Digital-Skills Programmes</a:t>
            </a:r>
            <a:endParaRPr lang="en-US" sz="4000" dirty="0"/>
          </a:p>
        </p:txBody>
      </p:sp>
      <p:sp>
        <p:nvSpPr>
          <p:cNvPr id="4" name="Text 0"/>
          <p:cNvSpPr/>
          <p:nvPr>
            <p:ph idx="101" type="body" hasCustomPrompt="1"/>
          </p:nvPr>
        </p:nvSpPr>
        <p:spPr>
          <a:xfrm>
            <a:off x="731520" y="3383280"/>
            <a:ext cx="6949440" cy="914400"/>
          </a:xfrm>
          <a:prstGeom prst="rect">
            <a:avLst/>
          </a:prstGeom>
          <a:noFill/>
          <a:ln/>
        </p:spPr>
        <p:txBody>
          <a:bodyPr wrap="square" lIns="0" tIns="0" rIns="0" bIns="0" rtlCol="0" anchor="t"/>
          <a:lstStyle/>
          <a:p>
            <a:pPr algn="l" indent="0" marL="0">
              <a:buNone/>
            </a:pPr>
            <a:r>
              <a:rPr lang="en-US" sz="2000" dirty="0">
                <a:solidFill>
                  <a:srgbClr val="D6DCE5"/>
                </a:solidFill>
              </a:rPr>
              <a:t>A Google Trends comparison of five programmes in Nigeria over the past 12 months</a:t>
            </a:r>
            <a:endParaRPr lang="en-US" sz="2000" dirty="0"/>
          </a:p>
        </p:txBody>
      </p:sp>
      <p:sp>
        <p:nvSpPr>
          <p:cNvPr id="5" name="Data Note"/>
          <p:cNvSpPr txBox="1"/>
          <p:nvPr/>
        </p:nvSpPr>
        <p:spPr>
          <a:xfrm>
            <a:off x="731520" y="5760720"/>
            <a:ext cx="6949440" cy="365760"/>
          </a:xfrm>
          <a:prstGeom prst="rect">
            <a:avLst/>
          </a:prstGeom>
          <a:noFill/>
          <a:ln/>
        </p:spPr>
        <p:txBody>
          <a:bodyPr wrap="square" lIns="0" tIns="0" rIns="0" bIns="0" rtlCol="0" anchor="t"/>
          <a:lstStyle/>
          <a:p>
            <a:pPr indent="0" marL="0">
              <a:buNone/>
            </a:pPr>
            <a:r>
              <a:rPr lang="en-US" sz="1400" dirty="0">
                <a:solidFill>
                  <a:srgbClr val="C9D6E3"/>
                </a:solidFill>
              </a:rPr>
              <a:t>Data: Google Trends  |  Nigeria  |  28 Sep 2025 to 28 Sep 2026</a:t>
            </a:r>
            <a:endParaRPr lang="en-US" sz="1400" dirty="0"/>
          </a:p>
        </p:txBody>
      </p:sp>
      <p:sp>
        <p:nvSpPr>
          <p:cNvPr id="6" name="Ring"/>
          <p:cNvSpPr/>
          <p:nvPr/>
        </p:nvSpPr>
        <p:spPr>
          <a:xfrm>
            <a:off x="8412480" y="1874520"/>
            <a:ext cx="2834640" cy="2834640"/>
          </a:xfrm>
          <a:prstGeom prst="ellipse">
            <a:avLst/>
          </a:prstGeom>
          <a:noFill/>
          <a:ln w="15875">
            <a:solidFill>
              <a:schemeClr val="bg1">
                <a:alpha val="40000"/>
              </a:schemeClr>
            </a:solidFill>
            <a:prstDash val="solid"/>
          </a:ln>
        </p:spPr>
      </p:sp>
      <p:sp>
        <p:nvSpPr>
          <p:cNvPr id="7" name="Cybersecurity Circle"/>
          <p:cNvSpPr/>
          <p:nvPr/>
        </p:nvSpPr>
        <p:spPr>
          <a:xfrm>
            <a:off x="9304020" y="1348740"/>
            <a:ext cx="1051560" cy="1051560"/>
          </a:xfrm>
          <a:prstGeom prst="ellipse">
            <a:avLst/>
          </a:prstGeom>
          <a:solidFill>
            <a:schemeClr val="bg1"/>
          </a:solidFill>
          <a:ln/>
        </p:spPr>
      </p:sp>
      <p:pic>
        <p:nvPicPr>
          <p:cNvPr id="8" name="Cybersecurity Icon" descr="Cybersecurity icon">    </p:cNvPr>
          <p:cNvPicPr>
            <a:picLocks noChangeAspect="1"/>
          </p:cNvPicPr>
          <p:nvPr/>
        </p:nvPicPr>
        <p:blipFill>
          <a:blip r:embed="rId1"/>
          <a:stretch>
            <a:fillRect/>
          </a:stretch>
        </p:blipFill>
        <p:spPr>
          <a:xfrm>
            <a:off x="9566910" y="1611630"/>
            <a:ext cx="525780" cy="525780"/>
          </a:xfrm>
          <a:prstGeom prst="rect">
            <a:avLst/>
          </a:prstGeom>
        </p:spPr>
      </p:pic>
      <p:sp>
        <p:nvSpPr>
          <p:cNvPr id="9" name="Digital Marketing Circle"/>
          <p:cNvSpPr/>
          <p:nvPr/>
        </p:nvSpPr>
        <p:spPr>
          <a:xfrm>
            <a:off x="10651971" y="2328084"/>
            <a:ext cx="1051560" cy="1051560"/>
          </a:xfrm>
          <a:prstGeom prst="ellipse">
            <a:avLst/>
          </a:prstGeom>
          <a:solidFill>
            <a:schemeClr val="bg1"/>
          </a:solidFill>
          <a:ln/>
        </p:spPr>
      </p:sp>
      <p:pic>
        <p:nvPicPr>
          <p:cNvPr id="10" name="Digital Marketing Icon" descr="Digital Marketing icon">    </p:cNvPr>
          <p:cNvPicPr>
            <a:picLocks noChangeAspect="1"/>
          </p:cNvPicPr>
          <p:nvPr/>
        </p:nvPicPr>
        <p:blipFill>
          <a:blip r:embed="rId2"/>
          <a:stretch>
            <a:fillRect/>
          </a:stretch>
        </p:blipFill>
        <p:spPr>
          <a:xfrm>
            <a:off x="10914861" y="2590974"/>
            <a:ext cx="525780" cy="525780"/>
          </a:xfrm>
          <a:prstGeom prst="rect">
            <a:avLst/>
          </a:prstGeom>
        </p:spPr>
      </p:pic>
      <p:sp>
        <p:nvSpPr>
          <p:cNvPr id="11" name="Data Analytics Circle"/>
          <p:cNvSpPr/>
          <p:nvPr/>
        </p:nvSpPr>
        <p:spPr>
          <a:xfrm>
            <a:off x="10137100" y="3912696"/>
            <a:ext cx="1051560" cy="1051560"/>
          </a:xfrm>
          <a:prstGeom prst="ellipse">
            <a:avLst/>
          </a:prstGeom>
          <a:solidFill>
            <a:schemeClr val="bg1"/>
          </a:solidFill>
          <a:ln/>
        </p:spPr>
      </p:sp>
      <p:pic>
        <p:nvPicPr>
          <p:cNvPr id="12" name="Data Analytics Icon" descr="Data Analytics icon">    </p:cNvPr>
          <p:cNvPicPr>
            <a:picLocks noChangeAspect="1"/>
          </p:cNvPicPr>
          <p:nvPr/>
        </p:nvPicPr>
        <p:blipFill>
          <a:blip r:embed="rId3"/>
          <a:stretch>
            <a:fillRect/>
          </a:stretch>
        </p:blipFill>
        <p:spPr>
          <a:xfrm>
            <a:off x="10399990" y="4175586"/>
            <a:ext cx="525780" cy="525780"/>
          </a:xfrm>
          <a:prstGeom prst="rect">
            <a:avLst/>
          </a:prstGeom>
        </p:spPr>
      </p:pic>
      <p:sp>
        <p:nvSpPr>
          <p:cNvPr id="13" name="Generative AI &amp; Prompt Engineering Circle"/>
          <p:cNvSpPr/>
          <p:nvPr/>
        </p:nvSpPr>
        <p:spPr>
          <a:xfrm>
            <a:off x="8470940" y="3912696"/>
            <a:ext cx="1051560" cy="1051560"/>
          </a:xfrm>
          <a:prstGeom prst="ellipse">
            <a:avLst/>
          </a:prstGeom>
          <a:solidFill>
            <a:schemeClr val="bg1"/>
          </a:solidFill>
          <a:ln/>
        </p:spPr>
      </p:sp>
      <p:pic>
        <p:nvPicPr>
          <p:cNvPr id="14" name="Generative AI &amp; Prompt Engineering Icon" descr="Generative AI &amp; Prompt Engineering icon">    </p:cNvPr>
          <p:cNvPicPr>
            <a:picLocks noChangeAspect="1"/>
          </p:cNvPicPr>
          <p:nvPr/>
        </p:nvPicPr>
        <p:blipFill>
          <a:blip r:embed="rId4"/>
          <a:stretch>
            <a:fillRect/>
          </a:stretch>
        </p:blipFill>
        <p:spPr>
          <a:xfrm>
            <a:off x="8733830" y="4175586"/>
            <a:ext cx="525780" cy="525780"/>
          </a:xfrm>
          <a:prstGeom prst="rect">
            <a:avLst/>
          </a:prstGeom>
        </p:spPr>
      </p:pic>
      <p:sp>
        <p:nvSpPr>
          <p:cNvPr id="15" name="Web Development Circle"/>
          <p:cNvSpPr/>
          <p:nvPr/>
        </p:nvSpPr>
        <p:spPr>
          <a:xfrm>
            <a:off x="7956069" y="2328084"/>
            <a:ext cx="1051560" cy="1051560"/>
          </a:xfrm>
          <a:prstGeom prst="ellipse">
            <a:avLst/>
          </a:prstGeom>
          <a:solidFill>
            <a:schemeClr val="bg1"/>
          </a:solidFill>
          <a:ln/>
        </p:spPr>
      </p:sp>
      <p:pic>
        <p:nvPicPr>
          <p:cNvPr id="16" name="Web Development Icon" descr="Web Development icon">    </p:cNvPr>
          <p:cNvPicPr>
            <a:picLocks noChangeAspect="1"/>
          </p:cNvPicPr>
          <p:nvPr/>
        </p:nvPicPr>
        <p:blipFill>
          <a:blip r:embed="rId5"/>
          <a:stretch>
            <a:fillRect/>
          </a:stretch>
        </p:blipFill>
        <p:spPr>
          <a:xfrm>
            <a:off x="8218959" y="2590974"/>
            <a:ext cx="525780" cy="525780"/>
          </a:xfrm>
          <a:prstGeom prst="rect">
            <a:avLst/>
          </a:prstGeom>
        </p:spPr>
      </p:pic>
      <p:sp>
        <p:nvSpPr>
          <p:cNvPr id="17" name="Ring Caption"/>
          <p:cNvSpPr txBox="1"/>
          <p:nvPr/>
        </p:nvSpPr>
        <p:spPr>
          <a:xfrm>
            <a:off x="8229600" y="5166360"/>
            <a:ext cx="3200400" cy="320040"/>
          </a:xfrm>
          <a:prstGeom prst="rect">
            <a:avLst/>
          </a:prstGeom>
          <a:noFill/>
          <a:ln/>
        </p:spPr>
        <p:txBody>
          <a:bodyPr wrap="square" lIns="0" tIns="0" rIns="0" bIns="0" rtlCol="0" anchor="t"/>
          <a:lstStyle/>
          <a:p>
            <a:pPr algn="ctr" indent="0" marL="0">
              <a:buNone/>
            </a:pPr>
            <a:r>
              <a:rPr lang="en-US" sz="1400" dirty="0">
                <a:solidFill>
                  <a:srgbClr val="C9D6E3"/>
                </a:solidFill>
              </a:rPr>
              <a:t>Five programmes compared</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rPr>
              <a:t>How the Data Was Collected</a:t>
            </a:r>
            <a:endParaRPr lang="en-US" sz="32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algn="l" indent="0" marL="0">
              <a:buNone/>
            </a:pPr>
            <a:r>
              <a:rPr lang="en-US" sz="1600" dirty="0">
                <a:solidFill>
                  <a:srgbClr val="595959"/>
                </a:solidFill>
              </a:rPr>
              <a:t>Google Trends scores search interest from 0 to 100, where 100 is the highest point in the period</a:t>
            </a:r>
            <a:endParaRPr lang="en-US" sz="1600" dirty="0"/>
          </a:p>
        </p:txBody>
      </p:sp>
      <p:sp>
        <p:nvSpPr>
          <p:cNvPr id="4" name="Tool Card"/>
          <p:cNvSpPr/>
          <p:nvPr/>
        </p:nvSpPr>
        <p:spPr>
          <a:xfrm>
            <a:off x="548640" y="1737360"/>
            <a:ext cx="2567864" cy="2103120"/>
          </a:xfrm>
          <a:prstGeom prst="roundRect">
            <a:avLst>
              <a:gd name="adj" fmla="val 3478"/>
            </a:avLst>
          </a:prstGeom>
          <a:solidFill>
            <a:schemeClr val="bg2"/>
          </a:solidFill>
          <a:ln/>
        </p:spPr>
      </p:sp>
      <p:sp>
        <p:nvSpPr>
          <p:cNvPr id="5" name="Tool Circle"/>
          <p:cNvSpPr/>
          <p:nvPr/>
        </p:nvSpPr>
        <p:spPr>
          <a:xfrm>
            <a:off x="822960" y="2011680"/>
            <a:ext cx="685800" cy="685800"/>
          </a:xfrm>
          <a:prstGeom prst="ellipse">
            <a:avLst/>
          </a:prstGeom>
          <a:solidFill>
            <a:schemeClr val="tx2"/>
          </a:solidFill>
          <a:ln/>
        </p:spPr>
      </p:sp>
      <p:pic>
        <p:nvPicPr>
          <p:cNvPr id="6" name="Tool Icon" descr="Tool icon">    </p:cNvPr>
          <p:cNvPicPr>
            <a:picLocks noChangeAspect="1"/>
          </p:cNvPicPr>
          <p:nvPr/>
        </p:nvPicPr>
        <p:blipFill>
          <a:blip r:embed="rId1"/>
          <a:stretch>
            <a:fillRect/>
          </a:stretch>
        </p:blipFill>
        <p:spPr>
          <a:xfrm>
            <a:off x="994410" y="2183130"/>
            <a:ext cx="342900" cy="342900"/>
          </a:xfrm>
          <a:prstGeom prst="rect">
            <a:avLst/>
          </a:prstGeom>
        </p:spPr>
      </p:pic>
      <p:sp>
        <p:nvSpPr>
          <p:cNvPr id="7" name="Tool Heading"/>
          <p:cNvSpPr txBox="1"/>
          <p:nvPr/>
        </p:nvSpPr>
        <p:spPr>
          <a:xfrm>
            <a:off x="822960" y="2834640"/>
            <a:ext cx="2019224" cy="365760"/>
          </a:xfrm>
          <a:prstGeom prst="rect">
            <a:avLst/>
          </a:prstGeom>
          <a:noFill/>
          <a:ln/>
        </p:spPr>
        <p:txBody>
          <a:bodyPr wrap="square" lIns="0" tIns="0" rIns="0" bIns="0" rtlCol="0" anchor="t"/>
          <a:lstStyle/>
          <a:p>
            <a:pPr indent="0" marL="0">
              <a:buNone/>
            </a:pPr>
            <a:r>
              <a:rPr lang="en-US" sz="1800" b="1" dirty="0">
                <a:solidFill>
                  <a:schemeClr val="tx2"/>
                </a:solidFill>
              </a:rPr>
              <a:t>Tool</a:t>
            </a:r>
            <a:endParaRPr lang="en-US" sz="1800" dirty="0"/>
          </a:p>
        </p:txBody>
      </p:sp>
      <p:sp>
        <p:nvSpPr>
          <p:cNvPr id="8" name="Tool Text"/>
          <p:cNvSpPr txBox="1"/>
          <p:nvPr/>
        </p:nvSpPr>
        <p:spPr>
          <a:xfrm>
            <a:off x="822960" y="3200400"/>
            <a:ext cx="2019224" cy="548640"/>
          </a:xfrm>
          <a:prstGeom prst="rect">
            <a:avLst/>
          </a:prstGeom>
          <a:noFill/>
          <a:ln/>
        </p:spPr>
        <p:txBody>
          <a:bodyPr wrap="square" lIns="0" tIns="0" rIns="0" bIns="0" rtlCol="0" anchor="t"/>
          <a:lstStyle/>
          <a:p>
            <a:pPr indent="0" marL="0">
              <a:buNone/>
            </a:pPr>
            <a:r>
              <a:rPr lang="en-US" sz="1400" dirty="0">
                <a:solidFill>
                  <a:schemeClr val="tx1"/>
                </a:solidFill>
              </a:rPr>
              <a:t>Google Trends: web search, all categories</a:t>
            </a:r>
            <a:endParaRPr lang="en-US" sz="1400" dirty="0"/>
          </a:p>
        </p:txBody>
      </p:sp>
      <p:sp>
        <p:nvSpPr>
          <p:cNvPr id="9" name="Location Card"/>
          <p:cNvSpPr/>
          <p:nvPr/>
        </p:nvSpPr>
        <p:spPr>
          <a:xfrm>
            <a:off x="3390824" y="1737360"/>
            <a:ext cx="2567864" cy="2103120"/>
          </a:xfrm>
          <a:prstGeom prst="roundRect">
            <a:avLst>
              <a:gd name="adj" fmla="val 3478"/>
            </a:avLst>
          </a:prstGeom>
          <a:solidFill>
            <a:schemeClr val="bg2"/>
          </a:solidFill>
          <a:ln/>
        </p:spPr>
      </p:sp>
      <p:sp>
        <p:nvSpPr>
          <p:cNvPr id="10" name="Location Circle"/>
          <p:cNvSpPr/>
          <p:nvPr/>
        </p:nvSpPr>
        <p:spPr>
          <a:xfrm>
            <a:off x="3665144" y="2011680"/>
            <a:ext cx="685800" cy="685800"/>
          </a:xfrm>
          <a:prstGeom prst="ellipse">
            <a:avLst/>
          </a:prstGeom>
          <a:solidFill>
            <a:schemeClr val="tx2"/>
          </a:solidFill>
          <a:ln/>
        </p:spPr>
      </p:sp>
      <p:pic>
        <p:nvPicPr>
          <p:cNvPr id="11" name="Location Icon" descr="Location icon">    </p:cNvPr>
          <p:cNvPicPr>
            <a:picLocks noChangeAspect="1"/>
          </p:cNvPicPr>
          <p:nvPr/>
        </p:nvPicPr>
        <p:blipFill>
          <a:blip r:embed="rId2"/>
          <a:stretch>
            <a:fillRect/>
          </a:stretch>
        </p:blipFill>
        <p:spPr>
          <a:xfrm>
            <a:off x="3836594" y="2183130"/>
            <a:ext cx="342900" cy="342900"/>
          </a:xfrm>
          <a:prstGeom prst="rect">
            <a:avLst/>
          </a:prstGeom>
        </p:spPr>
      </p:pic>
      <p:sp>
        <p:nvSpPr>
          <p:cNvPr id="12" name="Location Heading"/>
          <p:cNvSpPr txBox="1"/>
          <p:nvPr/>
        </p:nvSpPr>
        <p:spPr>
          <a:xfrm>
            <a:off x="3665144" y="2834640"/>
            <a:ext cx="2019224" cy="365760"/>
          </a:xfrm>
          <a:prstGeom prst="rect">
            <a:avLst/>
          </a:prstGeom>
          <a:noFill/>
          <a:ln/>
        </p:spPr>
        <p:txBody>
          <a:bodyPr wrap="square" lIns="0" tIns="0" rIns="0" bIns="0" rtlCol="0" anchor="t"/>
          <a:lstStyle/>
          <a:p>
            <a:pPr indent="0" marL="0">
              <a:buNone/>
            </a:pPr>
            <a:r>
              <a:rPr lang="en-US" sz="1800" b="1" dirty="0">
                <a:solidFill>
                  <a:schemeClr val="tx2"/>
                </a:solidFill>
              </a:rPr>
              <a:t>Location</a:t>
            </a:r>
            <a:endParaRPr lang="en-US" sz="1800" dirty="0"/>
          </a:p>
        </p:txBody>
      </p:sp>
      <p:sp>
        <p:nvSpPr>
          <p:cNvPr id="13" name="Location Text"/>
          <p:cNvSpPr txBox="1"/>
          <p:nvPr/>
        </p:nvSpPr>
        <p:spPr>
          <a:xfrm>
            <a:off x="3665144" y="3200400"/>
            <a:ext cx="2019224" cy="548640"/>
          </a:xfrm>
          <a:prstGeom prst="rect">
            <a:avLst/>
          </a:prstGeom>
          <a:noFill/>
          <a:ln/>
        </p:spPr>
        <p:txBody>
          <a:bodyPr wrap="square" lIns="0" tIns="0" rIns="0" bIns="0" rtlCol="0" anchor="t"/>
          <a:lstStyle/>
          <a:p>
            <a:pPr indent="0" marL="0">
              <a:buNone/>
            </a:pPr>
            <a:r>
              <a:rPr lang="en-US" sz="1400" dirty="0">
                <a:solidFill>
                  <a:schemeClr val="tx1"/>
                </a:solidFill>
              </a:rPr>
              <a:t>Nigeria, with results for each state</a:t>
            </a:r>
            <a:endParaRPr lang="en-US" sz="1400" dirty="0"/>
          </a:p>
        </p:txBody>
      </p:sp>
      <p:sp>
        <p:nvSpPr>
          <p:cNvPr id="14" name="Time period Card"/>
          <p:cNvSpPr/>
          <p:nvPr/>
        </p:nvSpPr>
        <p:spPr>
          <a:xfrm>
            <a:off x="6233008" y="1737360"/>
            <a:ext cx="2567864" cy="2103120"/>
          </a:xfrm>
          <a:prstGeom prst="roundRect">
            <a:avLst>
              <a:gd name="adj" fmla="val 3478"/>
            </a:avLst>
          </a:prstGeom>
          <a:solidFill>
            <a:schemeClr val="bg2"/>
          </a:solidFill>
          <a:ln/>
        </p:spPr>
      </p:sp>
      <p:sp>
        <p:nvSpPr>
          <p:cNvPr id="15" name="Time period Circle"/>
          <p:cNvSpPr/>
          <p:nvPr/>
        </p:nvSpPr>
        <p:spPr>
          <a:xfrm>
            <a:off x="6507328" y="2011680"/>
            <a:ext cx="685800" cy="685800"/>
          </a:xfrm>
          <a:prstGeom prst="ellipse">
            <a:avLst/>
          </a:prstGeom>
          <a:solidFill>
            <a:schemeClr val="tx2"/>
          </a:solidFill>
          <a:ln/>
        </p:spPr>
      </p:sp>
      <p:pic>
        <p:nvPicPr>
          <p:cNvPr id="16" name="Time period Icon" descr="Time period icon">    </p:cNvPr>
          <p:cNvPicPr>
            <a:picLocks noChangeAspect="1"/>
          </p:cNvPicPr>
          <p:nvPr/>
        </p:nvPicPr>
        <p:blipFill>
          <a:blip r:embed="rId3"/>
          <a:stretch>
            <a:fillRect/>
          </a:stretch>
        </p:blipFill>
        <p:spPr>
          <a:xfrm>
            <a:off x="6678778" y="2183130"/>
            <a:ext cx="342900" cy="342900"/>
          </a:xfrm>
          <a:prstGeom prst="rect">
            <a:avLst/>
          </a:prstGeom>
        </p:spPr>
      </p:pic>
      <p:sp>
        <p:nvSpPr>
          <p:cNvPr id="17" name="Time period Heading"/>
          <p:cNvSpPr txBox="1"/>
          <p:nvPr/>
        </p:nvSpPr>
        <p:spPr>
          <a:xfrm>
            <a:off x="6507328" y="2834640"/>
            <a:ext cx="2019224" cy="365760"/>
          </a:xfrm>
          <a:prstGeom prst="rect">
            <a:avLst/>
          </a:prstGeom>
          <a:noFill/>
          <a:ln/>
        </p:spPr>
        <p:txBody>
          <a:bodyPr wrap="square" lIns="0" tIns="0" rIns="0" bIns="0" rtlCol="0" anchor="t"/>
          <a:lstStyle/>
          <a:p>
            <a:pPr indent="0" marL="0">
              <a:buNone/>
            </a:pPr>
            <a:r>
              <a:rPr lang="en-US" sz="1800" b="1" dirty="0">
                <a:solidFill>
                  <a:schemeClr val="tx2"/>
                </a:solidFill>
              </a:rPr>
              <a:t>Time period</a:t>
            </a:r>
            <a:endParaRPr lang="en-US" sz="1800" dirty="0"/>
          </a:p>
        </p:txBody>
      </p:sp>
      <p:sp>
        <p:nvSpPr>
          <p:cNvPr id="18" name="Time period Text"/>
          <p:cNvSpPr txBox="1"/>
          <p:nvPr/>
        </p:nvSpPr>
        <p:spPr>
          <a:xfrm>
            <a:off x="6507328" y="3200400"/>
            <a:ext cx="2019224" cy="548640"/>
          </a:xfrm>
          <a:prstGeom prst="rect">
            <a:avLst/>
          </a:prstGeom>
          <a:noFill/>
          <a:ln/>
        </p:spPr>
        <p:txBody>
          <a:bodyPr wrap="square" lIns="0" tIns="0" rIns="0" bIns="0" rtlCol="0" anchor="t"/>
          <a:lstStyle/>
          <a:p>
            <a:pPr indent="0" marL="0">
              <a:buNone/>
            </a:pPr>
            <a:r>
              <a:rPr lang="en-US" sz="1400" dirty="0">
                <a:solidFill>
                  <a:schemeClr val="tx1"/>
                </a:solidFill>
              </a:rPr>
              <a:t>Past 12 months: 28 Sep 2025 to 28 Sep 2026</a:t>
            </a:r>
            <a:endParaRPr lang="en-US" sz="1400" dirty="0"/>
          </a:p>
        </p:txBody>
      </p:sp>
      <p:sp>
        <p:nvSpPr>
          <p:cNvPr id="19" name="Measure Card"/>
          <p:cNvSpPr/>
          <p:nvPr/>
        </p:nvSpPr>
        <p:spPr>
          <a:xfrm>
            <a:off x="9075191" y="1737360"/>
            <a:ext cx="2567864" cy="2103120"/>
          </a:xfrm>
          <a:prstGeom prst="roundRect">
            <a:avLst>
              <a:gd name="adj" fmla="val 3478"/>
            </a:avLst>
          </a:prstGeom>
          <a:solidFill>
            <a:schemeClr val="bg2"/>
          </a:solidFill>
          <a:ln/>
        </p:spPr>
      </p:sp>
      <p:sp>
        <p:nvSpPr>
          <p:cNvPr id="20" name="Measure Circle"/>
          <p:cNvSpPr/>
          <p:nvPr/>
        </p:nvSpPr>
        <p:spPr>
          <a:xfrm>
            <a:off x="9349511" y="2011680"/>
            <a:ext cx="685800" cy="685800"/>
          </a:xfrm>
          <a:prstGeom prst="ellipse">
            <a:avLst/>
          </a:prstGeom>
          <a:solidFill>
            <a:schemeClr val="tx2"/>
          </a:solidFill>
          <a:ln/>
        </p:spPr>
      </p:sp>
      <p:pic>
        <p:nvPicPr>
          <p:cNvPr id="21" name="Measure Icon" descr="Measure icon">    </p:cNvPr>
          <p:cNvPicPr>
            <a:picLocks noChangeAspect="1"/>
          </p:cNvPicPr>
          <p:nvPr/>
        </p:nvPicPr>
        <p:blipFill>
          <a:blip r:embed="rId4"/>
          <a:stretch>
            <a:fillRect/>
          </a:stretch>
        </p:blipFill>
        <p:spPr>
          <a:xfrm>
            <a:off x="9520961" y="2183130"/>
            <a:ext cx="342900" cy="342900"/>
          </a:xfrm>
          <a:prstGeom prst="rect">
            <a:avLst/>
          </a:prstGeom>
        </p:spPr>
      </p:pic>
      <p:sp>
        <p:nvSpPr>
          <p:cNvPr id="22" name="Measure Heading"/>
          <p:cNvSpPr txBox="1"/>
          <p:nvPr/>
        </p:nvSpPr>
        <p:spPr>
          <a:xfrm>
            <a:off x="9349511" y="2834640"/>
            <a:ext cx="2019224" cy="365760"/>
          </a:xfrm>
          <a:prstGeom prst="rect">
            <a:avLst/>
          </a:prstGeom>
          <a:noFill/>
          <a:ln/>
        </p:spPr>
        <p:txBody>
          <a:bodyPr wrap="square" lIns="0" tIns="0" rIns="0" bIns="0" rtlCol="0" anchor="t"/>
          <a:lstStyle/>
          <a:p>
            <a:pPr indent="0" marL="0">
              <a:buNone/>
            </a:pPr>
            <a:r>
              <a:rPr lang="en-US" sz="1800" b="1" dirty="0">
                <a:solidFill>
                  <a:schemeClr val="tx2"/>
                </a:solidFill>
              </a:rPr>
              <a:t>Measure</a:t>
            </a:r>
            <a:endParaRPr lang="en-US" sz="1800" dirty="0"/>
          </a:p>
        </p:txBody>
      </p:sp>
      <p:sp>
        <p:nvSpPr>
          <p:cNvPr id="23" name="Measure Text"/>
          <p:cNvSpPr txBox="1"/>
          <p:nvPr/>
        </p:nvSpPr>
        <p:spPr>
          <a:xfrm>
            <a:off x="9349511" y="3200400"/>
            <a:ext cx="2019224" cy="548640"/>
          </a:xfrm>
          <a:prstGeom prst="rect">
            <a:avLst/>
          </a:prstGeom>
          <a:noFill/>
          <a:ln/>
        </p:spPr>
        <p:txBody>
          <a:bodyPr wrap="square" lIns="0" tIns="0" rIns="0" bIns="0" rtlCol="0" anchor="t"/>
          <a:lstStyle/>
          <a:p>
            <a:pPr indent="0" marL="0">
              <a:buNone/>
            </a:pPr>
            <a:r>
              <a:rPr lang="en-US" sz="1400" dirty="0">
                <a:solidFill>
                  <a:schemeClr val="tx1"/>
                </a:solidFill>
              </a:rPr>
              <a:t>Each programme's average interest, from 0 to 100</a:t>
            </a:r>
            <a:endParaRPr lang="en-US" sz="1400" dirty="0"/>
          </a:p>
        </p:txBody>
      </p:sp>
      <p:sp>
        <p:nvSpPr>
          <p:cNvPr id="24" name="Programmes Heading"/>
          <p:cNvSpPr txBox="1"/>
          <p:nvPr/>
        </p:nvSpPr>
        <p:spPr>
          <a:xfrm>
            <a:off x="548640" y="4114800"/>
            <a:ext cx="11094415" cy="320040"/>
          </a:xfrm>
          <a:prstGeom prst="rect">
            <a:avLst/>
          </a:prstGeom>
          <a:noFill/>
          <a:ln/>
        </p:spPr>
        <p:txBody>
          <a:bodyPr wrap="square" lIns="0" tIns="0" rIns="0" bIns="0" rtlCol="0" anchor="t"/>
          <a:lstStyle/>
          <a:p>
            <a:pPr indent="0" marL="0">
              <a:buNone/>
            </a:pPr>
            <a:r>
              <a:rPr lang="en-US" sz="1600" b="1" dirty="0">
                <a:solidFill>
                  <a:schemeClr val="tx2"/>
                </a:solidFill>
              </a:rPr>
              <a:t>Five programmes compared</a:t>
            </a:r>
            <a:endParaRPr lang="en-US" sz="1600" dirty="0"/>
          </a:p>
        </p:txBody>
      </p:sp>
      <p:sp>
        <p:nvSpPr>
          <p:cNvPr id="25" name="Cybersecurity Circle"/>
          <p:cNvSpPr/>
          <p:nvPr/>
        </p:nvSpPr>
        <p:spPr>
          <a:xfrm>
            <a:off x="1338042" y="4526280"/>
            <a:ext cx="640080" cy="640080"/>
          </a:xfrm>
          <a:prstGeom prst="ellipse">
            <a:avLst/>
          </a:prstGeom>
          <a:solidFill>
            <a:schemeClr val="accent2"/>
          </a:solidFill>
          <a:ln/>
        </p:spPr>
      </p:sp>
      <p:pic>
        <p:nvPicPr>
          <p:cNvPr id="26" name="Cybersecurity Icon" descr="Cybersecurity icon">    </p:cNvPr>
          <p:cNvPicPr>
            <a:picLocks noChangeAspect="1"/>
          </p:cNvPicPr>
          <p:nvPr/>
        </p:nvPicPr>
        <p:blipFill>
          <a:blip r:embed="rId5"/>
          <a:stretch>
            <a:fillRect/>
          </a:stretch>
        </p:blipFill>
        <p:spPr>
          <a:xfrm>
            <a:off x="1498062" y="4686300"/>
            <a:ext cx="320040" cy="320040"/>
          </a:xfrm>
          <a:prstGeom prst="rect">
            <a:avLst/>
          </a:prstGeom>
        </p:spPr>
      </p:pic>
      <p:sp>
        <p:nvSpPr>
          <p:cNvPr id="27" name="Cybersecurity Label"/>
          <p:cNvSpPr txBox="1"/>
          <p:nvPr/>
        </p:nvSpPr>
        <p:spPr>
          <a:xfrm>
            <a:off x="640080" y="5230368"/>
            <a:ext cx="2036003" cy="502920"/>
          </a:xfrm>
          <a:prstGeom prst="rect">
            <a:avLst/>
          </a:prstGeom>
          <a:noFill/>
          <a:ln/>
        </p:spPr>
        <p:txBody>
          <a:bodyPr wrap="square" lIns="0" tIns="0" rIns="0" bIns="0" rtlCol="0" anchor="t"/>
          <a:lstStyle/>
          <a:p>
            <a:pPr algn="ctr" indent="0" marL="0">
              <a:buNone/>
            </a:pPr>
            <a:r>
              <a:rPr lang="en-US" sz="1400" dirty="0">
                <a:solidFill>
                  <a:schemeClr val="tx1"/>
                </a:solidFill>
              </a:rPr>
              <a:t>Cybersecurity</a:t>
            </a:r>
            <a:endParaRPr lang="en-US" sz="1400" dirty="0"/>
          </a:p>
        </p:txBody>
      </p:sp>
      <p:sp>
        <p:nvSpPr>
          <p:cNvPr id="28" name="Digital Marketing Circle"/>
          <p:cNvSpPr/>
          <p:nvPr/>
        </p:nvSpPr>
        <p:spPr>
          <a:xfrm>
            <a:off x="3556925" y="4526280"/>
            <a:ext cx="640080" cy="640080"/>
          </a:xfrm>
          <a:prstGeom prst="ellipse">
            <a:avLst/>
          </a:prstGeom>
          <a:solidFill>
            <a:schemeClr val="accent3"/>
          </a:solidFill>
          <a:ln/>
        </p:spPr>
      </p:sp>
      <p:pic>
        <p:nvPicPr>
          <p:cNvPr id="29" name="Digital Marketing Icon" descr="Digital Marketing icon">    </p:cNvPr>
          <p:cNvPicPr>
            <a:picLocks noChangeAspect="1"/>
          </p:cNvPicPr>
          <p:nvPr/>
        </p:nvPicPr>
        <p:blipFill>
          <a:blip r:embed="rId6"/>
          <a:stretch>
            <a:fillRect/>
          </a:stretch>
        </p:blipFill>
        <p:spPr>
          <a:xfrm>
            <a:off x="3716945" y="4686300"/>
            <a:ext cx="320040" cy="320040"/>
          </a:xfrm>
          <a:prstGeom prst="rect">
            <a:avLst/>
          </a:prstGeom>
        </p:spPr>
      </p:pic>
      <p:sp>
        <p:nvSpPr>
          <p:cNvPr id="30" name="Digital Marketing Label"/>
          <p:cNvSpPr txBox="1"/>
          <p:nvPr/>
        </p:nvSpPr>
        <p:spPr>
          <a:xfrm>
            <a:off x="2858963" y="5230368"/>
            <a:ext cx="2036003" cy="502920"/>
          </a:xfrm>
          <a:prstGeom prst="rect">
            <a:avLst/>
          </a:prstGeom>
          <a:noFill/>
          <a:ln/>
        </p:spPr>
        <p:txBody>
          <a:bodyPr wrap="square" lIns="0" tIns="0" rIns="0" bIns="0" rtlCol="0" anchor="t"/>
          <a:lstStyle/>
          <a:p>
            <a:pPr algn="ctr" indent="0" marL="0">
              <a:buNone/>
            </a:pPr>
            <a:r>
              <a:rPr lang="en-US" sz="1400" dirty="0">
                <a:solidFill>
                  <a:schemeClr val="tx1"/>
                </a:solidFill>
              </a:rPr>
              <a:t>Digital Marketing</a:t>
            </a:r>
            <a:endParaRPr lang="en-US" sz="1400" dirty="0"/>
          </a:p>
        </p:txBody>
      </p:sp>
      <p:sp>
        <p:nvSpPr>
          <p:cNvPr id="31" name="Data Analytics Circle"/>
          <p:cNvSpPr/>
          <p:nvPr/>
        </p:nvSpPr>
        <p:spPr>
          <a:xfrm>
            <a:off x="5775808" y="4526280"/>
            <a:ext cx="640080" cy="640080"/>
          </a:xfrm>
          <a:prstGeom prst="ellipse">
            <a:avLst/>
          </a:prstGeom>
          <a:solidFill>
            <a:schemeClr val="accent4"/>
          </a:solidFill>
          <a:ln/>
        </p:spPr>
      </p:sp>
      <p:pic>
        <p:nvPicPr>
          <p:cNvPr id="32" name="Data Analytics Icon" descr="Data Analytics icon">    </p:cNvPr>
          <p:cNvPicPr>
            <a:picLocks noChangeAspect="1"/>
          </p:cNvPicPr>
          <p:nvPr/>
        </p:nvPicPr>
        <p:blipFill>
          <a:blip r:embed="rId7"/>
          <a:stretch>
            <a:fillRect/>
          </a:stretch>
        </p:blipFill>
        <p:spPr>
          <a:xfrm>
            <a:off x="5935828" y="4686300"/>
            <a:ext cx="320040" cy="320040"/>
          </a:xfrm>
          <a:prstGeom prst="rect">
            <a:avLst/>
          </a:prstGeom>
        </p:spPr>
      </p:pic>
      <p:sp>
        <p:nvSpPr>
          <p:cNvPr id="33" name="Data Analytics Label"/>
          <p:cNvSpPr txBox="1"/>
          <p:nvPr/>
        </p:nvSpPr>
        <p:spPr>
          <a:xfrm>
            <a:off x="5077846" y="5230368"/>
            <a:ext cx="2036003" cy="502920"/>
          </a:xfrm>
          <a:prstGeom prst="rect">
            <a:avLst/>
          </a:prstGeom>
          <a:noFill/>
          <a:ln/>
        </p:spPr>
        <p:txBody>
          <a:bodyPr wrap="square" lIns="0" tIns="0" rIns="0" bIns="0" rtlCol="0" anchor="t"/>
          <a:lstStyle/>
          <a:p>
            <a:pPr algn="ctr" indent="0" marL="0">
              <a:buNone/>
            </a:pPr>
            <a:r>
              <a:rPr lang="en-US" sz="1400" dirty="0">
                <a:solidFill>
                  <a:schemeClr val="tx1"/>
                </a:solidFill>
              </a:rPr>
              <a:t>Data Analytics</a:t>
            </a:r>
            <a:endParaRPr lang="en-US" sz="1400" dirty="0"/>
          </a:p>
        </p:txBody>
      </p:sp>
      <p:sp>
        <p:nvSpPr>
          <p:cNvPr id="34" name="Generative AI &amp; Prompt Engineering Circle"/>
          <p:cNvSpPr/>
          <p:nvPr/>
        </p:nvSpPr>
        <p:spPr>
          <a:xfrm>
            <a:off x="7994691" y="4526280"/>
            <a:ext cx="640080" cy="640080"/>
          </a:xfrm>
          <a:prstGeom prst="ellipse">
            <a:avLst/>
          </a:prstGeom>
          <a:solidFill>
            <a:schemeClr val="accent5"/>
          </a:solidFill>
          <a:ln/>
        </p:spPr>
      </p:sp>
      <p:pic>
        <p:nvPicPr>
          <p:cNvPr id="35" name="Generative AI &amp; Prompt Engineering Icon" descr="Generative AI &amp; Prompt Engineering icon">    </p:cNvPr>
          <p:cNvPicPr>
            <a:picLocks noChangeAspect="1"/>
          </p:cNvPicPr>
          <p:nvPr/>
        </p:nvPicPr>
        <p:blipFill>
          <a:blip r:embed="rId8"/>
          <a:stretch>
            <a:fillRect/>
          </a:stretch>
        </p:blipFill>
        <p:spPr>
          <a:xfrm>
            <a:off x="8154711" y="4686300"/>
            <a:ext cx="320040" cy="320040"/>
          </a:xfrm>
          <a:prstGeom prst="rect">
            <a:avLst/>
          </a:prstGeom>
        </p:spPr>
      </p:pic>
      <p:sp>
        <p:nvSpPr>
          <p:cNvPr id="36" name="Generative AI &amp;amp; Prompt Engineering Label"/>
          <p:cNvSpPr txBox="1"/>
          <p:nvPr/>
        </p:nvSpPr>
        <p:spPr>
          <a:xfrm>
            <a:off x="7296729" y="5230368"/>
            <a:ext cx="2036003" cy="502920"/>
          </a:xfrm>
          <a:prstGeom prst="rect">
            <a:avLst/>
          </a:prstGeom>
          <a:noFill/>
          <a:ln/>
        </p:spPr>
        <p:txBody>
          <a:bodyPr wrap="square" lIns="0" tIns="0" rIns="0" bIns="0" rtlCol="0" anchor="t"/>
          <a:lstStyle/>
          <a:p>
            <a:pPr algn="ctr" indent="0" marL="0">
              <a:buNone/>
            </a:pPr>
            <a:r>
              <a:rPr lang="en-US" sz="1400" dirty="0">
                <a:solidFill>
                  <a:schemeClr val="tx1"/>
                </a:solidFill>
              </a:rPr>
              <a:t>Generative AI &amp; Prompt Engineering*</a:t>
            </a:r>
            <a:endParaRPr lang="en-US" sz="1400" dirty="0"/>
          </a:p>
        </p:txBody>
      </p:sp>
      <p:sp>
        <p:nvSpPr>
          <p:cNvPr id="37" name="Web Development Circle"/>
          <p:cNvSpPr/>
          <p:nvPr/>
        </p:nvSpPr>
        <p:spPr>
          <a:xfrm>
            <a:off x="10213574" y="4526280"/>
            <a:ext cx="640080" cy="640080"/>
          </a:xfrm>
          <a:prstGeom prst="ellipse">
            <a:avLst/>
          </a:prstGeom>
          <a:solidFill>
            <a:schemeClr val="accent6"/>
          </a:solidFill>
          <a:ln/>
        </p:spPr>
      </p:sp>
      <p:pic>
        <p:nvPicPr>
          <p:cNvPr id="38" name="Web Development Icon" descr="Web Development icon">    </p:cNvPr>
          <p:cNvPicPr>
            <a:picLocks noChangeAspect="1"/>
          </p:cNvPicPr>
          <p:nvPr/>
        </p:nvPicPr>
        <p:blipFill>
          <a:blip r:embed="rId9"/>
          <a:stretch>
            <a:fillRect/>
          </a:stretch>
        </p:blipFill>
        <p:spPr>
          <a:xfrm>
            <a:off x="10373594" y="4686300"/>
            <a:ext cx="320040" cy="320040"/>
          </a:xfrm>
          <a:prstGeom prst="rect">
            <a:avLst/>
          </a:prstGeom>
        </p:spPr>
      </p:pic>
      <p:sp>
        <p:nvSpPr>
          <p:cNvPr id="39" name="Web Development Label"/>
          <p:cNvSpPr txBox="1"/>
          <p:nvPr/>
        </p:nvSpPr>
        <p:spPr>
          <a:xfrm>
            <a:off x="9515612" y="5230368"/>
            <a:ext cx="2036003" cy="502920"/>
          </a:xfrm>
          <a:prstGeom prst="rect">
            <a:avLst/>
          </a:prstGeom>
          <a:noFill/>
          <a:ln/>
        </p:spPr>
        <p:txBody>
          <a:bodyPr wrap="square" lIns="0" tIns="0" rIns="0" bIns="0" rtlCol="0" anchor="t"/>
          <a:lstStyle/>
          <a:p>
            <a:pPr algn="ctr" indent="0" marL="0">
              <a:buNone/>
            </a:pPr>
            <a:r>
              <a:rPr lang="en-US" sz="1400" dirty="0">
                <a:solidFill>
                  <a:schemeClr val="tx1"/>
                </a:solidFill>
              </a:rPr>
              <a:t>Web Development</a:t>
            </a:r>
            <a:endParaRPr lang="en-US" sz="1400" dirty="0"/>
          </a:p>
        </p:txBody>
      </p:sp>
      <p:sp>
        <p:nvSpPr>
          <p:cNvPr id="40" name="Footnote"/>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200" dirty="0">
                <a:solidFill>
                  <a:srgbClr val="595959"/>
                </a:solidFill>
              </a:rPr>
              <a:t>* Google Trends compares at most five search terms at once, so Generative AI and Prompt Engineering were searched together as one term.</a:t>
            </a:r>
            <a:endParaRPr lang="en-US" sz="12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rPr>
              <a:t>Cybersecurity Leads Search Interest</a:t>
            </a:r>
            <a:endParaRPr lang="en-US" sz="32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algn="l" indent="0" marL="0">
              <a:buNone/>
            </a:pPr>
            <a:r>
              <a:rPr lang="en-US" sz="1600" dirty="0">
                <a:solidFill>
                  <a:srgbClr val="595959"/>
                </a:solidFill>
              </a:rPr>
              <a:t>Each programme's share of the total average interest in Nigeria over the past 12 months</a:t>
            </a:r>
            <a:endParaRPr lang="en-US" sz="1600" dirty="0"/>
          </a:p>
        </p:txBody>
      </p:sp>
      <p:graphicFrame>
        <p:nvGraphicFramePr>
          <p:cNvPr id="4" name="Pie Chart" descr=""/>
          <p:cNvGraphicFramePr/>
          <p:nvPr/>
        </p:nvGraphicFramePr>
        <p:xfrm>
          <a:off x="548640" y="1645920"/>
          <a:ext cx="5029200" cy="4160520"/>
        </p:xfrm>
        <a:graphic xmlns:a="http://schemas.openxmlformats.org/drawingml/2006/main">
          <a:graphicData uri="http://schemas.openxmlformats.org/drawingml/2006/chart">
            <c:chart xmlns:c="http://schemas.openxmlformats.org/drawingml/2006/chart" r:id="rId1"/>
          </a:graphicData>
        </a:graphic>
      </p:graphicFrame>
      <p:sp>
        <p:nvSpPr>
          <p:cNvPr id="5" name="Key Figure"/>
          <p:cNvSpPr txBox="1"/>
          <p:nvPr/>
        </p:nvSpPr>
        <p:spPr>
          <a:xfrm>
            <a:off x="6080760" y="1691640"/>
            <a:ext cx="1828800" cy="914400"/>
          </a:xfrm>
          <a:prstGeom prst="rect">
            <a:avLst/>
          </a:prstGeom>
          <a:noFill/>
          <a:ln/>
        </p:spPr>
        <p:txBody>
          <a:bodyPr wrap="square" lIns="0" tIns="0" rIns="0" bIns="0" rtlCol="0" anchor="ctr"/>
          <a:lstStyle/>
          <a:p>
            <a:pPr indent="0" marL="0">
              <a:buNone/>
            </a:pPr>
            <a:r>
              <a:rPr lang="en-US" sz="6000" b="1" dirty="0">
                <a:solidFill>
                  <a:schemeClr val="accent2"/>
                </a:solidFill>
              </a:rPr>
              <a:t>36%</a:t>
            </a:r>
            <a:endParaRPr lang="en-US" sz="6000" dirty="0"/>
          </a:p>
        </p:txBody>
      </p:sp>
      <p:sp>
        <p:nvSpPr>
          <p:cNvPr id="6" name="Key Figure Text"/>
          <p:cNvSpPr txBox="1"/>
          <p:nvPr/>
        </p:nvSpPr>
        <p:spPr>
          <a:xfrm>
            <a:off x="8046720" y="1783080"/>
            <a:ext cx="3596335" cy="731520"/>
          </a:xfrm>
          <a:prstGeom prst="rect">
            <a:avLst/>
          </a:prstGeom>
          <a:noFill/>
          <a:ln/>
        </p:spPr>
        <p:txBody>
          <a:bodyPr wrap="square" lIns="0" tIns="0" rIns="0" bIns="0" rtlCol="0" anchor="ctr"/>
          <a:lstStyle/>
          <a:p>
            <a:pPr indent="0" marL="0">
              <a:buNone/>
            </a:pPr>
            <a:r>
              <a:rPr lang="en-US" sz="1600" dirty="0">
                <a:solidFill>
                  <a:schemeClr val="tx1"/>
                </a:solidFill>
              </a:rPr>
              <a:t>of all the search interest went to Cybersecurity, the most of the five programmes</a:t>
            </a:r>
            <a:endParaRPr lang="en-US" sz="1600" dirty="0"/>
          </a:p>
        </p:txBody>
      </p:sp>
      <p:sp>
        <p:nvSpPr>
          <p:cNvPr id="7" name="Key Heading Programme"/>
          <p:cNvSpPr txBox="1"/>
          <p:nvPr/>
        </p:nvSpPr>
        <p:spPr>
          <a:xfrm>
            <a:off x="6492240" y="2926080"/>
            <a:ext cx="2743200" cy="274320"/>
          </a:xfrm>
          <a:prstGeom prst="rect">
            <a:avLst/>
          </a:prstGeom>
          <a:noFill/>
          <a:ln/>
        </p:spPr>
        <p:txBody>
          <a:bodyPr wrap="square" lIns="0" tIns="0" rIns="0" bIns="0" rtlCol="0" anchor="t"/>
          <a:lstStyle/>
          <a:p>
            <a:pPr indent="0" marL="0">
              <a:buNone/>
            </a:pPr>
            <a:r>
              <a:rPr lang="en-US" sz="1100" b="1" spc="100" kern="0" dirty="0">
                <a:solidFill>
                  <a:srgbClr val="595959"/>
                </a:solidFill>
              </a:rPr>
              <a:t>PROGRAMME</a:t>
            </a:r>
            <a:endParaRPr lang="en-US" sz="1100" dirty="0"/>
          </a:p>
        </p:txBody>
      </p:sp>
      <p:sp>
        <p:nvSpPr>
          <p:cNvPr id="8" name="Key Heading Score"/>
          <p:cNvSpPr txBox="1"/>
          <p:nvPr/>
        </p:nvSpPr>
        <p:spPr>
          <a:xfrm>
            <a:off x="9281160" y="2926080"/>
            <a:ext cx="1280160" cy="274320"/>
          </a:xfrm>
          <a:prstGeom prst="rect">
            <a:avLst/>
          </a:prstGeom>
          <a:noFill/>
          <a:ln/>
        </p:spPr>
        <p:txBody>
          <a:bodyPr wrap="square" lIns="0" tIns="0" rIns="0" bIns="0" rtlCol="0" anchor="t"/>
          <a:lstStyle/>
          <a:p>
            <a:pPr algn="r" indent="0" marL="0">
              <a:buNone/>
            </a:pPr>
            <a:r>
              <a:rPr lang="en-US" sz="1100" b="1" spc="100" kern="0" dirty="0">
                <a:solidFill>
                  <a:srgbClr val="595959"/>
                </a:solidFill>
              </a:rPr>
              <a:t>AVG. SCORE</a:t>
            </a:r>
            <a:endParaRPr lang="en-US" sz="1100" dirty="0"/>
          </a:p>
        </p:txBody>
      </p:sp>
      <p:sp>
        <p:nvSpPr>
          <p:cNvPr id="9" name="Key Heading Share"/>
          <p:cNvSpPr txBox="1"/>
          <p:nvPr/>
        </p:nvSpPr>
        <p:spPr>
          <a:xfrm>
            <a:off x="10652760" y="2926080"/>
            <a:ext cx="990295" cy="274320"/>
          </a:xfrm>
          <a:prstGeom prst="rect">
            <a:avLst/>
          </a:prstGeom>
          <a:noFill/>
          <a:ln/>
        </p:spPr>
        <p:txBody>
          <a:bodyPr wrap="square" lIns="0" tIns="0" rIns="0" bIns="0" rtlCol="0" anchor="t"/>
          <a:lstStyle/>
          <a:p>
            <a:pPr algn="r" indent="0" marL="0">
              <a:buNone/>
            </a:pPr>
            <a:r>
              <a:rPr lang="en-US" sz="1100" b="1" spc="100" kern="0" dirty="0">
                <a:solidFill>
                  <a:srgbClr val="595959"/>
                </a:solidFill>
              </a:rPr>
              <a:t>SHARE</a:t>
            </a:r>
            <a:endParaRPr lang="en-US" sz="1100" dirty="0"/>
          </a:p>
        </p:txBody>
      </p:sp>
      <p:sp>
        <p:nvSpPr>
          <p:cNvPr id="10" name="Key Rule 1"/>
          <p:cNvSpPr/>
          <p:nvPr/>
        </p:nvSpPr>
        <p:spPr>
          <a:xfrm>
            <a:off x="6080760" y="3291840"/>
            <a:ext cx="5562295" cy="0"/>
          </a:xfrm>
          <a:prstGeom prst="line">
            <a:avLst/>
          </a:prstGeom>
          <a:noFill/>
          <a:ln w="9525">
            <a:solidFill>
              <a:srgbClr val="D9D9D9"/>
            </a:solidFill>
            <a:prstDash val="solid"/>
          </a:ln>
        </p:spPr>
      </p:sp>
      <p:sp>
        <p:nvSpPr>
          <p:cNvPr id="11" name="Cybersecurity Key"/>
          <p:cNvSpPr/>
          <p:nvPr/>
        </p:nvSpPr>
        <p:spPr>
          <a:xfrm>
            <a:off x="6153912" y="3433572"/>
            <a:ext cx="219456" cy="219456"/>
          </a:xfrm>
          <a:prstGeom prst="ellipse">
            <a:avLst/>
          </a:prstGeom>
          <a:solidFill>
            <a:schemeClr val="accent2"/>
          </a:solidFill>
          <a:ln/>
        </p:spPr>
      </p:sp>
      <p:sp>
        <p:nvSpPr>
          <p:cNvPr id="12" name="Cybersecurity Name"/>
          <p:cNvSpPr txBox="1"/>
          <p:nvPr/>
        </p:nvSpPr>
        <p:spPr>
          <a:xfrm>
            <a:off x="6492240" y="3291840"/>
            <a:ext cx="3154680" cy="502920"/>
          </a:xfrm>
          <a:prstGeom prst="rect">
            <a:avLst/>
          </a:prstGeom>
          <a:noFill/>
          <a:ln/>
        </p:spPr>
        <p:txBody>
          <a:bodyPr wrap="square" lIns="0" tIns="0" rIns="0" bIns="0" rtlCol="0" anchor="ctr"/>
          <a:lstStyle/>
          <a:p>
            <a:pPr indent="0" marL="0">
              <a:buNone/>
            </a:pPr>
            <a:r>
              <a:rPr lang="en-US" sz="1500" b="1" dirty="0">
                <a:solidFill>
                  <a:schemeClr val="tx1"/>
                </a:solidFill>
              </a:rPr>
              <a:t>Cybersecurity</a:t>
            </a:r>
            <a:endParaRPr lang="en-US" sz="1500" dirty="0"/>
          </a:p>
        </p:txBody>
      </p:sp>
      <p:sp>
        <p:nvSpPr>
          <p:cNvPr id="13" name="Cybersecurity Score"/>
          <p:cNvSpPr txBox="1"/>
          <p:nvPr/>
        </p:nvSpPr>
        <p:spPr>
          <a:xfrm>
            <a:off x="9692640" y="3291840"/>
            <a:ext cx="868680" cy="502920"/>
          </a:xfrm>
          <a:prstGeom prst="rect">
            <a:avLst/>
          </a:prstGeom>
          <a:noFill/>
          <a:ln/>
        </p:spPr>
        <p:txBody>
          <a:bodyPr wrap="square" lIns="0" tIns="0" rIns="0" bIns="0" rtlCol="0" anchor="ctr"/>
          <a:lstStyle/>
          <a:p>
            <a:pPr algn="r" indent="0" marL="0">
              <a:buNone/>
            </a:pPr>
            <a:r>
              <a:rPr lang="en-US" sz="1500" b="1" dirty="0">
                <a:solidFill>
                  <a:schemeClr val="tx1"/>
                </a:solidFill>
              </a:rPr>
              <a:t>43</a:t>
            </a:r>
            <a:endParaRPr lang="en-US" sz="1500" dirty="0"/>
          </a:p>
        </p:txBody>
      </p:sp>
      <p:sp>
        <p:nvSpPr>
          <p:cNvPr id="14" name="Cybersecurity Share"/>
          <p:cNvSpPr txBox="1"/>
          <p:nvPr/>
        </p:nvSpPr>
        <p:spPr>
          <a:xfrm>
            <a:off x="10652760" y="3291840"/>
            <a:ext cx="990295" cy="502920"/>
          </a:xfrm>
          <a:prstGeom prst="rect">
            <a:avLst/>
          </a:prstGeom>
          <a:noFill/>
          <a:ln/>
        </p:spPr>
        <p:txBody>
          <a:bodyPr wrap="square" lIns="0" tIns="0" rIns="0" bIns="0" rtlCol="0" anchor="ctr"/>
          <a:lstStyle/>
          <a:p>
            <a:pPr algn="r" indent="0" marL="0">
              <a:buNone/>
            </a:pPr>
            <a:r>
              <a:rPr lang="en-US" sz="1500" b="1" dirty="0">
                <a:solidFill>
                  <a:schemeClr val="tx1"/>
                </a:solidFill>
              </a:rPr>
              <a:t>36%</a:t>
            </a:r>
            <a:endParaRPr lang="en-US" sz="1500" dirty="0"/>
          </a:p>
        </p:txBody>
      </p:sp>
      <p:sp>
        <p:nvSpPr>
          <p:cNvPr id="15" name="Key Rule 2"/>
          <p:cNvSpPr/>
          <p:nvPr/>
        </p:nvSpPr>
        <p:spPr>
          <a:xfrm>
            <a:off x="6080760" y="3794760"/>
            <a:ext cx="5562295" cy="0"/>
          </a:xfrm>
          <a:prstGeom prst="line">
            <a:avLst/>
          </a:prstGeom>
          <a:noFill/>
          <a:ln w="9525">
            <a:solidFill>
              <a:srgbClr val="D9D9D9"/>
            </a:solidFill>
            <a:prstDash val="solid"/>
          </a:ln>
        </p:spPr>
      </p:sp>
      <p:sp>
        <p:nvSpPr>
          <p:cNvPr id="16" name="Digital Marketing Key"/>
          <p:cNvSpPr/>
          <p:nvPr/>
        </p:nvSpPr>
        <p:spPr>
          <a:xfrm>
            <a:off x="6153912" y="3936492"/>
            <a:ext cx="219456" cy="219456"/>
          </a:xfrm>
          <a:prstGeom prst="ellipse">
            <a:avLst/>
          </a:prstGeom>
          <a:solidFill>
            <a:schemeClr val="accent3"/>
          </a:solidFill>
          <a:ln/>
        </p:spPr>
      </p:sp>
      <p:sp>
        <p:nvSpPr>
          <p:cNvPr id="17" name="Digital Marketing Name"/>
          <p:cNvSpPr txBox="1"/>
          <p:nvPr/>
        </p:nvSpPr>
        <p:spPr>
          <a:xfrm>
            <a:off x="6492240" y="3794760"/>
            <a:ext cx="3154680" cy="502920"/>
          </a:xfrm>
          <a:prstGeom prst="rect">
            <a:avLst/>
          </a:prstGeom>
          <a:noFill/>
          <a:ln/>
        </p:spPr>
        <p:txBody>
          <a:bodyPr wrap="square" lIns="0" tIns="0" rIns="0" bIns="0" rtlCol="0" anchor="ctr"/>
          <a:lstStyle/>
          <a:p>
            <a:pPr indent="0" marL="0">
              <a:buNone/>
            </a:pPr>
            <a:r>
              <a:rPr lang="en-US" sz="1500" dirty="0">
                <a:solidFill>
                  <a:schemeClr val="tx1"/>
                </a:solidFill>
              </a:rPr>
              <a:t>Digital Marketing</a:t>
            </a:r>
            <a:endParaRPr lang="en-US" sz="1500" dirty="0"/>
          </a:p>
        </p:txBody>
      </p:sp>
      <p:sp>
        <p:nvSpPr>
          <p:cNvPr id="18" name="Digital Marketing Score"/>
          <p:cNvSpPr txBox="1"/>
          <p:nvPr/>
        </p:nvSpPr>
        <p:spPr>
          <a:xfrm>
            <a:off x="9692640" y="3794760"/>
            <a:ext cx="868680" cy="502920"/>
          </a:xfrm>
          <a:prstGeom prst="rect">
            <a:avLst/>
          </a:prstGeom>
          <a:noFill/>
          <a:ln/>
        </p:spPr>
        <p:txBody>
          <a:bodyPr wrap="square" lIns="0" tIns="0" rIns="0" bIns="0" rtlCol="0" anchor="ctr"/>
          <a:lstStyle/>
          <a:p>
            <a:pPr algn="r" indent="0" marL="0">
              <a:buNone/>
            </a:pPr>
            <a:r>
              <a:rPr lang="en-US" sz="1500" dirty="0">
                <a:solidFill>
                  <a:schemeClr val="tx1"/>
                </a:solidFill>
              </a:rPr>
              <a:t>33</a:t>
            </a:r>
            <a:endParaRPr lang="en-US" sz="1500" dirty="0"/>
          </a:p>
        </p:txBody>
      </p:sp>
      <p:sp>
        <p:nvSpPr>
          <p:cNvPr id="19" name="Digital Marketing Share"/>
          <p:cNvSpPr txBox="1"/>
          <p:nvPr/>
        </p:nvSpPr>
        <p:spPr>
          <a:xfrm>
            <a:off x="10652760" y="3794760"/>
            <a:ext cx="990295" cy="502920"/>
          </a:xfrm>
          <a:prstGeom prst="rect">
            <a:avLst/>
          </a:prstGeom>
          <a:noFill/>
          <a:ln/>
        </p:spPr>
        <p:txBody>
          <a:bodyPr wrap="square" lIns="0" tIns="0" rIns="0" bIns="0" rtlCol="0" anchor="ctr"/>
          <a:lstStyle/>
          <a:p>
            <a:pPr algn="r" indent="0" marL="0">
              <a:buNone/>
            </a:pPr>
            <a:r>
              <a:rPr lang="en-US" sz="1500" b="1" dirty="0">
                <a:solidFill>
                  <a:schemeClr val="tx1"/>
                </a:solidFill>
              </a:rPr>
              <a:t>28%</a:t>
            </a:r>
            <a:endParaRPr lang="en-US" sz="1500" dirty="0"/>
          </a:p>
        </p:txBody>
      </p:sp>
      <p:sp>
        <p:nvSpPr>
          <p:cNvPr id="20" name="Key Rule 3"/>
          <p:cNvSpPr/>
          <p:nvPr/>
        </p:nvSpPr>
        <p:spPr>
          <a:xfrm>
            <a:off x="6080760" y="4297680"/>
            <a:ext cx="5562295" cy="0"/>
          </a:xfrm>
          <a:prstGeom prst="line">
            <a:avLst/>
          </a:prstGeom>
          <a:noFill/>
          <a:ln w="9525">
            <a:solidFill>
              <a:srgbClr val="D9D9D9"/>
            </a:solidFill>
            <a:prstDash val="solid"/>
          </a:ln>
        </p:spPr>
      </p:sp>
      <p:sp>
        <p:nvSpPr>
          <p:cNvPr id="21" name="Data Analytics Key"/>
          <p:cNvSpPr/>
          <p:nvPr/>
        </p:nvSpPr>
        <p:spPr>
          <a:xfrm>
            <a:off x="6153912" y="4439412"/>
            <a:ext cx="219456" cy="219456"/>
          </a:xfrm>
          <a:prstGeom prst="ellipse">
            <a:avLst/>
          </a:prstGeom>
          <a:solidFill>
            <a:schemeClr val="accent4"/>
          </a:solidFill>
          <a:ln/>
        </p:spPr>
      </p:sp>
      <p:sp>
        <p:nvSpPr>
          <p:cNvPr id="22" name="Data Analytics Name"/>
          <p:cNvSpPr txBox="1"/>
          <p:nvPr/>
        </p:nvSpPr>
        <p:spPr>
          <a:xfrm>
            <a:off x="6492240" y="4297680"/>
            <a:ext cx="3154680" cy="502920"/>
          </a:xfrm>
          <a:prstGeom prst="rect">
            <a:avLst/>
          </a:prstGeom>
          <a:noFill/>
          <a:ln/>
        </p:spPr>
        <p:txBody>
          <a:bodyPr wrap="square" lIns="0" tIns="0" rIns="0" bIns="0" rtlCol="0" anchor="ctr"/>
          <a:lstStyle/>
          <a:p>
            <a:pPr indent="0" marL="0">
              <a:buNone/>
            </a:pPr>
            <a:r>
              <a:rPr lang="en-US" sz="1500" dirty="0">
                <a:solidFill>
                  <a:schemeClr val="tx1"/>
                </a:solidFill>
              </a:rPr>
              <a:t>Data Analytics</a:t>
            </a:r>
            <a:endParaRPr lang="en-US" sz="1500" dirty="0"/>
          </a:p>
        </p:txBody>
      </p:sp>
      <p:sp>
        <p:nvSpPr>
          <p:cNvPr id="23" name="Data Analytics Score"/>
          <p:cNvSpPr txBox="1"/>
          <p:nvPr/>
        </p:nvSpPr>
        <p:spPr>
          <a:xfrm>
            <a:off x="9692640" y="4297680"/>
            <a:ext cx="868680" cy="502920"/>
          </a:xfrm>
          <a:prstGeom prst="rect">
            <a:avLst/>
          </a:prstGeom>
          <a:noFill/>
          <a:ln/>
        </p:spPr>
        <p:txBody>
          <a:bodyPr wrap="square" lIns="0" tIns="0" rIns="0" bIns="0" rtlCol="0" anchor="ctr"/>
          <a:lstStyle/>
          <a:p>
            <a:pPr algn="r" indent="0" marL="0">
              <a:buNone/>
            </a:pPr>
            <a:r>
              <a:rPr lang="en-US" sz="1500" dirty="0">
                <a:solidFill>
                  <a:schemeClr val="tx1"/>
                </a:solidFill>
              </a:rPr>
              <a:t>18</a:t>
            </a:r>
            <a:endParaRPr lang="en-US" sz="1500" dirty="0"/>
          </a:p>
        </p:txBody>
      </p:sp>
      <p:sp>
        <p:nvSpPr>
          <p:cNvPr id="24" name="Data Analytics Share"/>
          <p:cNvSpPr txBox="1"/>
          <p:nvPr/>
        </p:nvSpPr>
        <p:spPr>
          <a:xfrm>
            <a:off x="10652760" y="4297680"/>
            <a:ext cx="990295" cy="502920"/>
          </a:xfrm>
          <a:prstGeom prst="rect">
            <a:avLst/>
          </a:prstGeom>
          <a:noFill/>
          <a:ln/>
        </p:spPr>
        <p:txBody>
          <a:bodyPr wrap="square" lIns="0" tIns="0" rIns="0" bIns="0" rtlCol="0" anchor="ctr"/>
          <a:lstStyle/>
          <a:p>
            <a:pPr algn="r" indent="0" marL="0">
              <a:buNone/>
            </a:pPr>
            <a:r>
              <a:rPr lang="en-US" sz="1500" b="1" dirty="0">
                <a:solidFill>
                  <a:schemeClr val="tx1"/>
                </a:solidFill>
              </a:rPr>
              <a:t>15%</a:t>
            </a:r>
            <a:endParaRPr lang="en-US" sz="1500" dirty="0"/>
          </a:p>
        </p:txBody>
      </p:sp>
      <p:sp>
        <p:nvSpPr>
          <p:cNvPr id="25" name="Key Rule 4"/>
          <p:cNvSpPr/>
          <p:nvPr/>
        </p:nvSpPr>
        <p:spPr>
          <a:xfrm>
            <a:off x="6080760" y="4800600"/>
            <a:ext cx="5562295" cy="0"/>
          </a:xfrm>
          <a:prstGeom prst="line">
            <a:avLst/>
          </a:prstGeom>
          <a:noFill/>
          <a:ln w="9525">
            <a:solidFill>
              <a:srgbClr val="D9D9D9"/>
            </a:solidFill>
            <a:prstDash val="solid"/>
          </a:ln>
        </p:spPr>
      </p:sp>
      <p:sp>
        <p:nvSpPr>
          <p:cNvPr id="26" name="Generative AI &amp; Prompt Engineering Key"/>
          <p:cNvSpPr/>
          <p:nvPr/>
        </p:nvSpPr>
        <p:spPr>
          <a:xfrm>
            <a:off x="6153912" y="4942332"/>
            <a:ext cx="219456" cy="219456"/>
          </a:xfrm>
          <a:prstGeom prst="ellipse">
            <a:avLst/>
          </a:prstGeom>
          <a:solidFill>
            <a:schemeClr val="accent5"/>
          </a:solidFill>
          <a:ln/>
        </p:spPr>
      </p:sp>
      <p:sp>
        <p:nvSpPr>
          <p:cNvPr id="27" name="Generative AI &amp;amp; Prompt Engineering Name"/>
          <p:cNvSpPr txBox="1"/>
          <p:nvPr/>
        </p:nvSpPr>
        <p:spPr>
          <a:xfrm>
            <a:off x="6492240" y="4800600"/>
            <a:ext cx="3154680" cy="502920"/>
          </a:xfrm>
          <a:prstGeom prst="rect">
            <a:avLst/>
          </a:prstGeom>
          <a:noFill/>
          <a:ln/>
        </p:spPr>
        <p:txBody>
          <a:bodyPr wrap="square" lIns="0" tIns="0" rIns="0" bIns="0" rtlCol="0" anchor="ctr"/>
          <a:lstStyle/>
          <a:p>
            <a:pPr indent="0" marL="0">
              <a:buNone/>
            </a:pPr>
            <a:r>
              <a:rPr lang="en-US" sz="1500" dirty="0">
                <a:solidFill>
                  <a:schemeClr val="tx1"/>
                </a:solidFill>
              </a:rPr>
              <a:t>Generative AI &amp; Prompt Engineering</a:t>
            </a:r>
            <a:endParaRPr lang="en-US" sz="1500" dirty="0"/>
          </a:p>
        </p:txBody>
      </p:sp>
      <p:sp>
        <p:nvSpPr>
          <p:cNvPr id="28" name="Generative AI &amp;amp; Prompt Engineering Score"/>
          <p:cNvSpPr txBox="1"/>
          <p:nvPr/>
        </p:nvSpPr>
        <p:spPr>
          <a:xfrm>
            <a:off x="9692640" y="4800600"/>
            <a:ext cx="868680" cy="502920"/>
          </a:xfrm>
          <a:prstGeom prst="rect">
            <a:avLst/>
          </a:prstGeom>
          <a:noFill/>
          <a:ln/>
        </p:spPr>
        <p:txBody>
          <a:bodyPr wrap="square" lIns="0" tIns="0" rIns="0" bIns="0" rtlCol="0" anchor="ctr"/>
          <a:lstStyle/>
          <a:p>
            <a:pPr algn="r" indent="0" marL="0">
              <a:buNone/>
            </a:pPr>
            <a:r>
              <a:rPr lang="en-US" sz="1500" dirty="0">
                <a:solidFill>
                  <a:schemeClr val="tx1"/>
                </a:solidFill>
              </a:rPr>
              <a:t>13</a:t>
            </a:r>
            <a:endParaRPr lang="en-US" sz="1500" dirty="0"/>
          </a:p>
        </p:txBody>
      </p:sp>
      <p:sp>
        <p:nvSpPr>
          <p:cNvPr id="29" name="Generative AI &amp;amp; Prompt Engineering Share"/>
          <p:cNvSpPr txBox="1"/>
          <p:nvPr/>
        </p:nvSpPr>
        <p:spPr>
          <a:xfrm>
            <a:off x="10652760" y="4800600"/>
            <a:ext cx="990295" cy="502920"/>
          </a:xfrm>
          <a:prstGeom prst="rect">
            <a:avLst/>
          </a:prstGeom>
          <a:noFill/>
          <a:ln/>
        </p:spPr>
        <p:txBody>
          <a:bodyPr wrap="square" lIns="0" tIns="0" rIns="0" bIns="0" rtlCol="0" anchor="ctr"/>
          <a:lstStyle/>
          <a:p>
            <a:pPr algn="r" indent="0" marL="0">
              <a:buNone/>
            </a:pPr>
            <a:r>
              <a:rPr lang="en-US" sz="1500" b="1" dirty="0">
                <a:solidFill>
                  <a:schemeClr val="tx1"/>
                </a:solidFill>
              </a:rPr>
              <a:t>11%</a:t>
            </a:r>
            <a:endParaRPr lang="en-US" sz="1500" dirty="0"/>
          </a:p>
        </p:txBody>
      </p:sp>
      <p:sp>
        <p:nvSpPr>
          <p:cNvPr id="30" name="Key Rule 5"/>
          <p:cNvSpPr/>
          <p:nvPr/>
        </p:nvSpPr>
        <p:spPr>
          <a:xfrm>
            <a:off x="6080760" y="5303520"/>
            <a:ext cx="5562295" cy="0"/>
          </a:xfrm>
          <a:prstGeom prst="line">
            <a:avLst/>
          </a:prstGeom>
          <a:noFill/>
          <a:ln w="9525">
            <a:solidFill>
              <a:srgbClr val="D9D9D9"/>
            </a:solidFill>
            <a:prstDash val="solid"/>
          </a:ln>
        </p:spPr>
      </p:sp>
      <p:sp>
        <p:nvSpPr>
          <p:cNvPr id="31" name="Web Development Key"/>
          <p:cNvSpPr/>
          <p:nvPr/>
        </p:nvSpPr>
        <p:spPr>
          <a:xfrm>
            <a:off x="6153912" y="5445252"/>
            <a:ext cx="219456" cy="219456"/>
          </a:xfrm>
          <a:prstGeom prst="ellipse">
            <a:avLst/>
          </a:prstGeom>
          <a:solidFill>
            <a:schemeClr val="accent6"/>
          </a:solidFill>
          <a:ln/>
        </p:spPr>
      </p:sp>
      <p:sp>
        <p:nvSpPr>
          <p:cNvPr id="32" name="Web Development Name"/>
          <p:cNvSpPr txBox="1"/>
          <p:nvPr/>
        </p:nvSpPr>
        <p:spPr>
          <a:xfrm>
            <a:off x="6492240" y="5303520"/>
            <a:ext cx="3154680" cy="502920"/>
          </a:xfrm>
          <a:prstGeom prst="rect">
            <a:avLst/>
          </a:prstGeom>
          <a:noFill/>
          <a:ln/>
        </p:spPr>
        <p:txBody>
          <a:bodyPr wrap="square" lIns="0" tIns="0" rIns="0" bIns="0" rtlCol="0" anchor="ctr"/>
          <a:lstStyle/>
          <a:p>
            <a:pPr indent="0" marL="0">
              <a:buNone/>
            </a:pPr>
            <a:r>
              <a:rPr lang="en-US" sz="1500" dirty="0">
                <a:solidFill>
                  <a:schemeClr val="tx1"/>
                </a:solidFill>
              </a:rPr>
              <a:t>Web Development</a:t>
            </a:r>
            <a:endParaRPr lang="en-US" sz="1500" dirty="0"/>
          </a:p>
        </p:txBody>
      </p:sp>
      <p:sp>
        <p:nvSpPr>
          <p:cNvPr id="33" name="Web Development Score"/>
          <p:cNvSpPr txBox="1"/>
          <p:nvPr/>
        </p:nvSpPr>
        <p:spPr>
          <a:xfrm>
            <a:off x="9692640" y="5303520"/>
            <a:ext cx="868680" cy="502920"/>
          </a:xfrm>
          <a:prstGeom prst="rect">
            <a:avLst/>
          </a:prstGeom>
          <a:noFill/>
          <a:ln/>
        </p:spPr>
        <p:txBody>
          <a:bodyPr wrap="square" lIns="0" tIns="0" rIns="0" bIns="0" rtlCol="0" anchor="ctr"/>
          <a:lstStyle/>
          <a:p>
            <a:pPr algn="r" indent="0" marL="0">
              <a:buNone/>
            </a:pPr>
            <a:r>
              <a:rPr lang="en-US" sz="1500" dirty="0">
                <a:solidFill>
                  <a:schemeClr val="tx1"/>
                </a:solidFill>
              </a:rPr>
              <a:t>13</a:t>
            </a:r>
            <a:endParaRPr lang="en-US" sz="1500" dirty="0"/>
          </a:p>
        </p:txBody>
      </p:sp>
      <p:sp>
        <p:nvSpPr>
          <p:cNvPr id="34" name="Web Development Share"/>
          <p:cNvSpPr txBox="1"/>
          <p:nvPr/>
        </p:nvSpPr>
        <p:spPr>
          <a:xfrm>
            <a:off x="10652760" y="5303520"/>
            <a:ext cx="990295" cy="502920"/>
          </a:xfrm>
          <a:prstGeom prst="rect">
            <a:avLst/>
          </a:prstGeom>
          <a:noFill/>
          <a:ln/>
        </p:spPr>
        <p:txBody>
          <a:bodyPr wrap="square" lIns="0" tIns="0" rIns="0" bIns="0" rtlCol="0" anchor="ctr"/>
          <a:lstStyle/>
          <a:p>
            <a:pPr algn="r" indent="0" marL="0">
              <a:buNone/>
            </a:pPr>
            <a:r>
              <a:rPr lang="en-US" sz="1500" b="1" dirty="0">
                <a:solidFill>
                  <a:schemeClr val="tx1"/>
                </a:solidFill>
              </a:rPr>
              <a:t>11%</a:t>
            </a:r>
            <a:endParaRPr lang="en-US" sz="1500" dirty="0"/>
          </a:p>
        </p:txBody>
      </p:sp>
      <p:sp>
        <p:nvSpPr>
          <p:cNvPr id="35" name="Source"/>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100" dirty="0">
                <a:solidFill>
                  <a:srgbClr val="595959"/>
                </a:solidFill>
              </a:rPr>
              <a:t>Source: Google Trends (web search), Nigeria, 28 Sep 2025 to 28 Sep 2026. Share = average score ÷ 120, the total of all five scores.</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rPr>
              <a:t>Two Programmes Draw Almost Two-Thirds of Interest</a:t>
            </a:r>
            <a:endParaRPr lang="en-US" sz="32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algn="l" indent="0" marL="0">
              <a:buNone/>
            </a:pPr>
            <a:r>
              <a:rPr lang="en-US" sz="1600" dirty="0">
                <a:solidFill>
                  <a:srgbClr val="595959"/>
                </a:solidFill>
              </a:rPr>
              <a:t>Cybersecurity and Digital Marketing lead; the other three programmes trail well behind</a:t>
            </a:r>
            <a:endParaRPr lang="en-US" sz="1600" dirty="0"/>
          </a:p>
        </p:txBody>
      </p:sp>
      <p:sp>
        <p:nvSpPr>
          <p:cNvPr id="4" name="Finding 1 Card"/>
          <p:cNvSpPr/>
          <p:nvPr/>
        </p:nvSpPr>
        <p:spPr>
          <a:xfrm>
            <a:off x="548640" y="1783080"/>
            <a:ext cx="5410048" cy="1874520"/>
          </a:xfrm>
          <a:prstGeom prst="roundRect">
            <a:avLst>
              <a:gd name="adj" fmla="val 3902"/>
            </a:avLst>
          </a:prstGeom>
          <a:solidFill>
            <a:schemeClr val="bg1"/>
          </a:solidFill>
          <a:ln w="9525">
            <a:solidFill>
              <a:srgbClr val="E1E6EE"/>
            </a:solidFill>
            <a:prstDash val="solid"/>
          </a:ln>
          <a:effectLst>
            <a:outerShdw sx="100000" sy="100000" kx="0" ky="0" algn="bl" rotWithShape="0" blurRad="101600" dist="25400" dir="5400000">
              <a:srgbClr val="000000">
                <a:alpha val="14000"/>
              </a:srgbClr>
            </a:outerShdw>
          </a:effectLst>
        </p:spPr>
      </p:sp>
      <p:sp>
        <p:nvSpPr>
          <p:cNvPr id="5" name="Finding 1 Cybersecurity Circle"/>
          <p:cNvSpPr/>
          <p:nvPr/>
        </p:nvSpPr>
        <p:spPr>
          <a:xfrm>
            <a:off x="822960" y="2057400"/>
            <a:ext cx="777240" cy="777240"/>
          </a:xfrm>
          <a:prstGeom prst="ellipse">
            <a:avLst/>
          </a:prstGeom>
          <a:solidFill>
            <a:schemeClr val="accent2"/>
          </a:solidFill>
          <a:ln/>
        </p:spPr>
      </p:sp>
      <p:pic>
        <p:nvPicPr>
          <p:cNvPr id="6" name="Finding 1 Cybersecurity Icon" descr="Finding 1 Cybersecurity icon">    </p:cNvPr>
          <p:cNvPicPr>
            <a:picLocks noChangeAspect="1"/>
          </p:cNvPicPr>
          <p:nvPr/>
        </p:nvPicPr>
        <p:blipFill>
          <a:blip r:embed="rId1"/>
          <a:stretch>
            <a:fillRect/>
          </a:stretch>
        </p:blipFill>
        <p:spPr>
          <a:xfrm>
            <a:off x="1017270" y="2251710"/>
            <a:ext cx="388620" cy="388620"/>
          </a:xfrm>
          <a:prstGeom prst="rect">
            <a:avLst/>
          </a:prstGeom>
        </p:spPr>
      </p:pic>
      <p:sp>
        <p:nvSpPr>
          <p:cNvPr id="7" name="Finding 1 Heading"/>
          <p:cNvSpPr txBox="1"/>
          <p:nvPr/>
        </p:nvSpPr>
        <p:spPr>
          <a:xfrm>
            <a:off x="1874520" y="2039112"/>
            <a:ext cx="3809848" cy="411480"/>
          </a:xfrm>
          <a:prstGeom prst="rect">
            <a:avLst/>
          </a:prstGeom>
          <a:noFill/>
          <a:ln/>
        </p:spPr>
        <p:txBody>
          <a:bodyPr wrap="square" lIns="0" tIns="0" rIns="0" bIns="0" rtlCol="0" anchor="t"/>
          <a:lstStyle/>
          <a:p>
            <a:pPr indent="0" marL="0">
              <a:buNone/>
            </a:pPr>
            <a:r>
              <a:rPr lang="en-US" sz="1800" b="1" dirty="0">
                <a:solidFill>
                  <a:schemeClr val="tx2"/>
                </a:solidFill>
              </a:rPr>
              <a:t>Cybersecurity is the clear leader</a:t>
            </a:r>
            <a:endParaRPr lang="en-US" sz="1800" dirty="0"/>
          </a:p>
        </p:txBody>
      </p:sp>
      <p:sp>
        <p:nvSpPr>
          <p:cNvPr id="8" name="Finding 1 Text"/>
          <p:cNvSpPr txBox="1"/>
          <p:nvPr/>
        </p:nvSpPr>
        <p:spPr>
          <a:xfrm>
            <a:off x="1874520" y="2514600"/>
            <a:ext cx="3809848" cy="1005840"/>
          </a:xfrm>
          <a:prstGeom prst="rect">
            <a:avLst/>
          </a:prstGeom>
          <a:noFill/>
          <a:ln/>
        </p:spPr>
        <p:txBody>
          <a:bodyPr wrap="square" lIns="0" tIns="0" rIns="0" bIns="0" rtlCol="0" anchor="t"/>
          <a:lstStyle/>
          <a:p>
            <a:pPr indent="0" marL="0">
              <a:buNone/>
            </a:pPr>
            <a:r>
              <a:rPr lang="en-US" sz="1600" dirty="0">
                <a:solidFill>
                  <a:schemeClr val="tx1"/>
                </a:solidFill>
              </a:rPr>
              <a:t>Around 43 on average (36%). It was the highest almost all year and jumped to 100 in April 2026, probably after news of a breach at the CAC.</a:t>
            </a:r>
            <a:endParaRPr lang="en-US" sz="1600" dirty="0"/>
          </a:p>
        </p:txBody>
      </p:sp>
      <p:sp>
        <p:nvSpPr>
          <p:cNvPr id="9" name="Finding 2 Card"/>
          <p:cNvSpPr/>
          <p:nvPr/>
        </p:nvSpPr>
        <p:spPr>
          <a:xfrm>
            <a:off x="6233008" y="1783080"/>
            <a:ext cx="5410048" cy="1874520"/>
          </a:xfrm>
          <a:prstGeom prst="roundRect">
            <a:avLst>
              <a:gd name="adj" fmla="val 3902"/>
            </a:avLst>
          </a:prstGeom>
          <a:solidFill>
            <a:schemeClr val="bg1"/>
          </a:solidFill>
          <a:ln w="9525">
            <a:solidFill>
              <a:srgbClr val="E1E6EE"/>
            </a:solidFill>
            <a:prstDash val="solid"/>
          </a:ln>
          <a:effectLst>
            <a:outerShdw sx="100000" sy="100000" kx="0" ky="0" algn="bl" rotWithShape="0" blurRad="101600" dist="25400" dir="5400000">
              <a:srgbClr val="000000">
                <a:alpha val="14000"/>
              </a:srgbClr>
            </a:outerShdw>
          </a:effectLst>
        </p:spPr>
      </p:sp>
      <p:sp>
        <p:nvSpPr>
          <p:cNvPr id="10" name="Finding 2 Digital Marketing Circle"/>
          <p:cNvSpPr/>
          <p:nvPr/>
        </p:nvSpPr>
        <p:spPr>
          <a:xfrm>
            <a:off x="6507328" y="2057400"/>
            <a:ext cx="777240" cy="777240"/>
          </a:xfrm>
          <a:prstGeom prst="ellipse">
            <a:avLst/>
          </a:prstGeom>
          <a:solidFill>
            <a:schemeClr val="accent3"/>
          </a:solidFill>
          <a:ln/>
        </p:spPr>
      </p:sp>
      <p:pic>
        <p:nvPicPr>
          <p:cNvPr id="11" name="Finding 2 Digital Marketing Icon" descr="Finding 2 Digital Marketing icon">    </p:cNvPr>
          <p:cNvPicPr>
            <a:picLocks noChangeAspect="1"/>
          </p:cNvPicPr>
          <p:nvPr/>
        </p:nvPicPr>
        <p:blipFill>
          <a:blip r:embed="rId2"/>
          <a:stretch>
            <a:fillRect/>
          </a:stretch>
        </p:blipFill>
        <p:spPr>
          <a:xfrm>
            <a:off x="6701638" y="2251710"/>
            <a:ext cx="388620" cy="388620"/>
          </a:xfrm>
          <a:prstGeom prst="rect">
            <a:avLst/>
          </a:prstGeom>
        </p:spPr>
      </p:pic>
      <p:sp>
        <p:nvSpPr>
          <p:cNvPr id="12" name="Finding 2 Heading"/>
          <p:cNvSpPr txBox="1"/>
          <p:nvPr/>
        </p:nvSpPr>
        <p:spPr>
          <a:xfrm>
            <a:off x="7558888" y="2039112"/>
            <a:ext cx="3809848" cy="411480"/>
          </a:xfrm>
          <a:prstGeom prst="rect">
            <a:avLst/>
          </a:prstGeom>
          <a:noFill/>
          <a:ln/>
        </p:spPr>
        <p:txBody>
          <a:bodyPr wrap="square" lIns="0" tIns="0" rIns="0" bIns="0" rtlCol="0" anchor="t"/>
          <a:lstStyle/>
          <a:p>
            <a:pPr indent="0" marL="0">
              <a:buNone/>
            </a:pPr>
            <a:r>
              <a:rPr lang="en-US" sz="1800" b="1" dirty="0">
                <a:solidFill>
                  <a:schemeClr val="tx2"/>
                </a:solidFill>
              </a:rPr>
              <a:t>Digital Marketing is a strong second</a:t>
            </a:r>
            <a:endParaRPr lang="en-US" sz="1800" dirty="0"/>
          </a:p>
        </p:txBody>
      </p:sp>
      <p:sp>
        <p:nvSpPr>
          <p:cNvPr id="13" name="Finding 2 Text"/>
          <p:cNvSpPr txBox="1"/>
          <p:nvPr/>
        </p:nvSpPr>
        <p:spPr>
          <a:xfrm>
            <a:off x="7558888" y="2514600"/>
            <a:ext cx="3809848" cy="1005840"/>
          </a:xfrm>
          <a:prstGeom prst="rect">
            <a:avLst/>
          </a:prstGeom>
          <a:noFill/>
          <a:ln/>
        </p:spPr>
        <p:txBody>
          <a:bodyPr wrap="square" lIns="0" tIns="0" rIns="0" bIns="0" rtlCol="0" anchor="t"/>
          <a:lstStyle/>
          <a:p>
            <a:pPr indent="0" marL="0">
              <a:buNone/>
            </a:pPr>
            <a:r>
              <a:rPr lang="en-US" sz="1600" dirty="0">
                <a:solidFill>
                  <a:schemeClr val="tx1"/>
                </a:solidFill>
              </a:rPr>
              <a:t>Around 33 on average (28%). It peaked in late January 2026 and was the most searched programme in some southern states.</a:t>
            </a:r>
            <a:endParaRPr lang="en-US" sz="1600" dirty="0"/>
          </a:p>
        </p:txBody>
      </p:sp>
      <p:sp>
        <p:nvSpPr>
          <p:cNvPr id="14" name="Finding 3 Card"/>
          <p:cNvSpPr/>
          <p:nvPr/>
        </p:nvSpPr>
        <p:spPr>
          <a:xfrm>
            <a:off x="548640" y="3931920"/>
            <a:ext cx="5410048" cy="1874520"/>
          </a:xfrm>
          <a:prstGeom prst="roundRect">
            <a:avLst>
              <a:gd name="adj" fmla="val 3902"/>
            </a:avLst>
          </a:prstGeom>
          <a:solidFill>
            <a:schemeClr val="bg1"/>
          </a:solidFill>
          <a:ln w="9525">
            <a:solidFill>
              <a:srgbClr val="E1E6EE"/>
            </a:solidFill>
            <a:prstDash val="solid"/>
          </a:ln>
          <a:effectLst>
            <a:outerShdw sx="100000" sy="100000" kx="0" ky="0" algn="bl" rotWithShape="0" blurRad="101600" dist="25400" dir="5400000">
              <a:srgbClr val="000000">
                <a:alpha val="14000"/>
              </a:srgbClr>
            </a:outerShdw>
          </a:effectLst>
        </p:spPr>
      </p:sp>
      <p:sp>
        <p:nvSpPr>
          <p:cNvPr id="15" name="Finding 3 Data Analytics Circle"/>
          <p:cNvSpPr/>
          <p:nvPr/>
        </p:nvSpPr>
        <p:spPr>
          <a:xfrm>
            <a:off x="822960" y="4206240"/>
            <a:ext cx="777240" cy="777240"/>
          </a:xfrm>
          <a:prstGeom prst="ellipse">
            <a:avLst/>
          </a:prstGeom>
          <a:solidFill>
            <a:schemeClr val="accent4"/>
          </a:solidFill>
          <a:ln/>
        </p:spPr>
      </p:sp>
      <p:pic>
        <p:nvPicPr>
          <p:cNvPr id="16" name="Finding 3 Data Analytics Icon" descr="Finding 3 Data Analytics icon">    </p:cNvPr>
          <p:cNvPicPr>
            <a:picLocks noChangeAspect="1"/>
          </p:cNvPicPr>
          <p:nvPr/>
        </p:nvPicPr>
        <p:blipFill>
          <a:blip r:embed="rId3"/>
          <a:stretch>
            <a:fillRect/>
          </a:stretch>
        </p:blipFill>
        <p:spPr>
          <a:xfrm>
            <a:off x="1017270" y="4400550"/>
            <a:ext cx="388620" cy="388620"/>
          </a:xfrm>
          <a:prstGeom prst="rect">
            <a:avLst/>
          </a:prstGeom>
        </p:spPr>
      </p:pic>
      <p:sp>
        <p:nvSpPr>
          <p:cNvPr id="17" name="Finding 3 Heading"/>
          <p:cNvSpPr txBox="1"/>
          <p:nvPr/>
        </p:nvSpPr>
        <p:spPr>
          <a:xfrm>
            <a:off x="1874520" y="4187952"/>
            <a:ext cx="3809848" cy="411480"/>
          </a:xfrm>
          <a:prstGeom prst="rect">
            <a:avLst/>
          </a:prstGeom>
          <a:noFill/>
          <a:ln/>
        </p:spPr>
        <p:txBody>
          <a:bodyPr wrap="square" lIns="0" tIns="0" rIns="0" bIns="0" rtlCol="0" anchor="t"/>
          <a:lstStyle/>
          <a:p>
            <a:pPr indent="0" marL="0">
              <a:buNone/>
            </a:pPr>
            <a:r>
              <a:rPr lang="en-US" sz="1800" b="1" dirty="0">
                <a:solidFill>
                  <a:schemeClr val="tx2"/>
                </a:solidFill>
              </a:rPr>
              <a:t>Data Analytics sits in the middle</a:t>
            </a:r>
            <a:endParaRPr lang="en-US" sz="1800" dirty="0"/>
          </a:p>
        </p:txBody>
      </p:sp>
      <p:sp>
        <p:nvSpPr>
          <p:cNvPr id="18" name="Finding 3 Text"/>
          <p:cNvSpPr txBox="1"/>
          <p:nvPr/>
        </p:nvSpPr>
        <p:spPr>
          <a:xfrm>
            <a:off x="1874520" y="4663440"/>
            <a:ext cx="3809848" cy="1005840"/>
          </a:xfrm>
          <a:prstGeom prst="rect">
            <a:avLst/>
          </a:prstGeom>
          <a:noFill/>
          <a:ln/>
        </p:spPr>
        <p:txBody>
          <a:bodyPr wrap="square" lIns="0" tIns="0" rIns="0" bIns="0" rtlCol="0" anchor="t"/>
          <a:lstStyle/>
          <a:p>
            <a:pPr indent="0" marL="0">
              <a:buNone/>
            </a:pPr>
            <a:r>
              <a:rPr lang="en-US" sz="1600" dirty="0">
                <a:solidFill>
                  <a:schemeClr val="tx1"/>
                </a:solidFill>
              </a:rPr>
              <a:t>Around 18 on average (15%). It stayed steady all year, at about 15 to 25.</a:t>
            </a:r>
            <a:endParaRPr lang="en-US" sz="1600" dirty="0"/>
          </a:p>
        </p:txBody>
      </p:sp>
      <p:sp>
        <p:nvSpPr>
          <p:cNvPr id="19" name="Finding 4 Card"/>
          <p:cNvSpPr/>
          <p:nvPr/>
        </p:nvSpPr>
        <p:spPr>
          <a:xfrm>
            <a:off x="6233008" y="3931920"/>
            <a:ext cx="5410048" cy="1874520"/>
          </a:xfrm>
          <a:prstGeom prst="roundRect">
            <a:avLst>
              <a:gd name="adj" fmla="val 3902"/>
            </a:avLst>
          </a:prstGeom>
          <a:solidFill>
            <a:schemeClr val="bg1"/>
          </a:solidFill>
          <a:ln w="9525">
            <a:solidFill>
              <a:srgbClr val="E1E6EE"/>
            </a:solidFill>
            <a:prstDash val="solid"/>
          </a:ln>
          <a:effectLst>
            <a:outerShdw sx="100000" sy="100000" kx="0" ky="0" algn="bl" rotWithShape="0" blurRad="101600" dist="25400" dir="5400000">
              <a:srgbClr val="000000">
                <a:alpha val="14000"/>
              </a:srgbClr>
            </a:outerShdw>
          </a:effectLst>
        </p:spPr>
      </p:sp>
      <p:sp>
        <p:nvSpPr>
          <p:cNvPr id="20" name="Finding 4 Generative AI &amp; Prompt Engineering Circle"/>
          <p:cNvSpPr/>
          <p:nvPr/>
        </p:nvSpPr>
        <p:spPr>
          <a:xfrm>
            <a:off x="6507328" y="4206240"/>
            <a:ext cx="621792" cy="621792"/>
          </a:xfrm>
          <a:prstGeom prst="ellipse">
            <a:avLst/>
          </a:prstGeom>
          <a:solidFill>
            <a:schemeClr val="accent5"/>
          </a:solidFill>
          <a:ln/>
        </p:spPr>
      </p:sp>
      <p:pic>
        <p:nvPicPr>
          <p:cNvPr id="21" name="Finding 4 Generative AI &amp; Prompt Engineering Icon" descr="Finding 4 Generative AI &amp; Prompt Engineering icon">    </p:cNvPr>
          <p:cNvPicPr>
            <a:picLocks noChangeAspect="1"/>
          </p:cNvPicPr>
          <p:nvPr/>
        </p:nvPicPr>
        <p:blipFill>
          <a:blip r:embed="rId4"/>
          <a:stretch>
            <a:fillRect/>
          </a:stretch>
        </p:blipFill>
        <p:spPr>
          <a:xfrm>
            <a:off x="6662776" y="4361688"/>
            <a:ext cx="310896" cy="310896"/>
          </a:xfrm>
          <a:prstGeom prst="rect">
            <a:avLst/>
          </a:prstGeom>
        </p:spPr>
      </p:pic>
      <p:sp>
        <p:nvSpPr>
          <p:cNvPr id="22" name="Finding 4 Web Development Circle"/>
          <p:cNvSpPr/>
          <p:nvPr/>
        </p:nvSpPr>
        <p:spPr>
          <a:xfrm>
            <a:off x="6507328" y="4937760"/>
            <a:ext cx="621792" cy="621792"/>
          </a:xfrm>
          <a:prstGeom prst="ellipse">
            <a:avLst/>
          </a:prstGeom>
          <a:solidFill>
            <a:schemeClr val="accent6"/>
          </a:solidFill>
          <a:ln/>
        </p:spPr>
      </p:sp>
      <p:pic>
        <p:nvPicPr>
          <p:cNvPr id="23" name="Finding 4 Web Development Icon" descr="Finding 4 Web Development icon">    </p:cNvPr>
          <p:cNvPicPr>
            <a:picLocks noChangeAspect="1"/>
          </p:cNvPicPr>
          <p:nvPr/>
        </p:nvPicPr>
        <p:blipFill>
          <a:blip r:embed="rId5"/>
          <a:stretch>
            <a:fillRect/>
          </a:stretch>
        </p:blipFill>
        <p:spPr>
          <a:xfrm>
            <a:off x="6662776" y="5093208"/>
            <a:ext cx="310896" cy="310896"/>
          </a:xfrm>
          <a:prstGeom prst="rect">
            <a:avLst/>
          </a:prstGeom>
        </p:spPr>
      </p:pic>
      <p:sp>
        <p:nvSpPr>
          <p:cNvPr id="24" name="Finding 4 Heading"/>
          <p:cNvSpPr txBox="1"/>
          <p:nvPr/>
        </p:nvSpPr>
        <p:spPr>
          <a:xfrm>
            <a:off x="7558888" y="4187952"/>
            <a:ext cx="3809848" cy="411480"/>
          </a:xfrm>
          <a:prstGeom prst="rect">
            <a:avLst/>
          </a:prstGeom>
          <a:noFill/>
          <a:ln/>
        </p:spPr>
        <p:txBody>
          <a:bodyPr wrap="square" lIns="0" tIns="0" rIns="0" bIns="0" rtlCol="0" anchor="t"/>
          <a:lstStyle/>
          <a:p>
            <a:pPr indent="0" marL="0">
              <a:buNone/>
            </a:pPr>
            <a:r>
              <a:rPr lang="en-US" sz="1800" b="1" dirty="0">
                <a:solidFill>
                  <a:schemeClr val="tx2"/>
                </a:solidFill>
              </a:rPr>
              <a:t>Two programmes tie for last</a:t>
            </a:r>
            <a:endParaRPr lang="en-US" sz="1800" dirty="0"/>
          </a:p>
        </p:txBody>
      </p:sp>
      <p:sp>
        <p:nvSpPr>
          <p:cNvPr id="25" name="Finding 4 Text"/>
          <p:cNvSpPr txBox="1"/>
          <p:nvPr/>
        </p:nvSpPr>
        <p:spPr>
          <a:xfrm>
            <a:off x="7558888" y="4663440"/>
            <a:ext cx="3809848" cy="1005840"/>
          </a:xfrm>
          <a:prstGeom prst="rect">
            <a:avLst/>
          </a:prstGeom>
          <a:noFill/>
          <a:ln/>
        </p:spPr>
        <p:txBody>
          <a:bodyPr wrap="square" lIns="0" tIns="0" rIns="0" bIns="0" rtlCol="0" anchor="t"/>
          <a:lstStyle/>
          <a:p>
            <a:pPr indent="0" marL="0">
              <a:buNone/>
            </a:pPr>
            <a:r>
              <a:rPr lang="en-US" sz="1600" dirty="0">
                <a:solidFill>
                  <a:schemeClr val="tx1"/>
                </a:solidFill>
              </a:rPr>
              <a:t>Generative AI &amp; Prompt Engineering and Web Development: around 13 each (11% each). Both stayed low all year, at about 10 to 20.</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rPr>
              <a:t>What This Means for Promotion</a:t>
            </a:r>
            <a:endParaRPr lang="en-US" sz="32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algn="l" indent="0" marL="0">
              <a:buNone/>
            </a:pPr>
            <a:r>
              <a:rPr lang="en-US" sz="1600" dirty="0">
                <a:solidFill>
                  <a:srgbClr val="595959"/>
                </a:solidFill>
              </a:rPr>
              <a:t>Recommendations for promoting the programmes to university students</a:t>
            </a:r>
            <a:endParaRPr lang="en-US" sz="1600" dirty="0"/>
          </a:p>
        </p:txBody>
      </p:sp>
      <p:sp>
        <p:nvSpPr>
          <p:cNvPr id="4" name="Highlights Panel"/>
          <p:cNvSpPr/>
          <p:nvPr/>
        </p:nvSpPr>
        <p:spPr>
          <a:xfrm>
            <a:off x="548640" y="1783080"/>
            <a:ext cx="3566160" cy="3977640"/>
          </a:xfrm>
          <a:prstGeom prst="roundRect">
            <a:avLst>
              <a:gd name="adj" fmla="val 2051"/>
            </a:avLst>
          </a:prstGeom>
          <a:solidFill>
            <a:schemeClr val="tx2"/>
          </a:solidFill>
          <a:ln/>
        </p:spPr>
      </p:sp>
      <p:sp>
        <p:nvSpPr>
          <p:cNvPr id="5" name="Cybersecurity Figure"/>
          <p:cNvSpPr txBox="1"/>
          <p:nvPr/>
        </p:nvSpPr>
        <p:spPr>
          <a:xfrm>
            <a:off x="914400" y="2011680"/>
            <a:ext cx="2834640" cy="777240"/>
          </a:xfrm>
          <a:prstGeom prst="rect">
            <a:avLst/>
          </a:prstGeom>
          <a:noFill/>
          <a:ln/>
        </p:spPr>
        <p:txBody>
          <a:bodyPr wrap="square" lIns="0" tIns="0" rIns="0" bIns="0" rtlCol="0" anchor="ctr"/>
          <a:lstStyle/>
          <a:p>
            <a:pPr indent="0" marL="0">
              <a:buNone/>
            </a:pPr>
            <a:r>
              <a:rPr lang="en-US" sz="5400" b="1" dirty="0">
                <a:solidFill>
                  <a:srgbClr val="F4B183"/>
                </a:solidFill>
              </a:rPr>
              <a:t>36%</a:t>
            </a:r>
            <a:endParaRPr lang="en-US" sz="5400" dirty="0"/>
          </a:p>
        </p:txBody>
      </p:sp>
      <p:sp>
        <p:nvSpPr>
          <p:cNvPr id="6" name="Cybersecurity Figure Label"/>
          <p:cNvSpPr txBox="1"/>
          <p:nvPr/>
        </p:nvSpPr>
        <p:spPr>
          <a:xfrm>
            <a:off x="914400" y="2788920"/>
            <a:ext cx="2834640" cy="365760"/>
          </a:xfrm>
          <a:prstGeom prst="rect">
            <a:avLst/>
          </a:prstGeom>
          <a:noFill/>
          <a:ln/>
        </p:spPr>
        <p:txBody>
          <a:bodyPr wrap="square" lIns="0" tIns="0" rIns="0" bIns="0" rtlCol="0" anchor="t"/>
          <a:lstStyle/>
          <a:p>
            <a:pPr indent="0" marL="0">
              <a:buNone/>
            </a:pPr>
            <a:r>
              <a:rPr lang="en-US" sz="1600" dirty="0">
                <a:solidFill>
                  <a:schemeClr val="bg1"/>
                </a:solidFill>
              </a:rPr>
              <a:t>Cybersecurity</a:t>
            </a:r>
            <a:endParaRPr lang="en-US" sz="1600" dirty="0"/>
          </a:p>
        </p:txBody>
      </p:sp>
      <p:sp>
        <p:nvSpPr>
          <p:cNvPr id="7" name="Digital Marketing Figure"/>
          <p:cNvSpPr txBox="1"/>
          <p:nvPr/>
        </p:nvSpPr>
        <p:spPr>
          <a:xfrm>
            <a:off x="914400" y="3337560"/>
            <a:ext cx="2834640" cy="777240"/>
          </a:xfrm>
          <a:prstGeom prst="rect">
            <a:avLst/>
          </a:prstGeom>
          <a:noFill/>
          <a:ln/>
        </p:spPr>
        <p:txBody>
          <a:bodyPr wrap="square" lIns="0" tIns="0" rIns="0" bIns="0" rtlCol="0" anchor="ctr"/>
          <a:lstStyle/>
          <a:p>
            <a:pPr indent="0" marL="0">
              <a:buNone/>
            </a:pPr>
            <a:r>
              <a:rPr lang="en-US" sz="5400" b="1" dirty="0">
                <a:solidFill>
                  <a:srgbClr val="BDD7EE"/>
                </a:solidFill>
              </a:rPr>
              <a:t>28%</a:t>
            </a:r>
            <a:endParaRPr lang="en-US" sz="5400" dirty="0"/>
          </a:p>
        </p:txBody>
      </p:sp>
      <p:sp>
        <p:nvSpPr>
          <p:cNvPr id="8" name="Digital Marketing Figure Label"/>
          <p:cNvSpPr txBox="1"/>
          <p:nvPr/>
        </p:nvSpPr>
        <p:spPr>
          <a:xfrm>
            <a:off x="914400" y="4114800"/>
            <a:ext cx="2834640" cy="365760"/>
          </a:xfrm>
          <a:prstGeom prst="rect">
            <a:avLst/>
          </a:prstGeom>
          <a:noFill/>
          <a:ln/>
        </p:spPr>
        <p:txBody>
          <a:bodyPr wrap="square" lIns="0" tIns="0" rIns="0" bIns="0" rtlCol="0" anchor="t"/>
          <a:lstStyle/>
          <a:p>
            <a:pPr indent="0" marL="0">
              <a:buNone/>
            </a:pPr>
            <a:r>
              <a:rPr lang="en-US" sz="1600" dirty="0">
                <a:solidFill>
                  <a:schemeClr val="bg1"/>
                </a:solidFill>
              </a:rPr>
              <a:t>Digital Marketing</a:t>
            </a:r>
            <a:endParaRPr lang="en-US" sz="1600" dirty="0"/>
          </a:p>
        </p:txBody>
      </p:sp>
      <p:sp>
        <p:nvSpPr>
          <p:cNvPr id="9" name="Highlights Rule"/>
          <p:cNvSpPr/>
          <p:nvPr/>
        </p:nvSpPr>
        <p:spPr>
          <a:xfrm>
            <a:off x="914400" y="4709160"/>
            <a:ext cx="2834640" cy="0"/>
          </a:xfrm>
          <a:prstGeom prst="line">
            <a:avLst/>
          </a:prstGeom>
          <a:noFill/>
          <a:ln w="9525">
            <a:solidFill>
              <a:schemeClr val="bg1">
                <a:alpha val="50000"/>
              </a:schemeClr>
            </a:solidFill>
            <a:prstDash val="solid"/>
          </a:ln>
        </p:spPr>
      </p:sp>
      <p:sp>
        <p:nvSpPr>
          <p:cNvPr id="10" name="Highlights Text"/>
          <p:cNvSpPr txBox="1"/>
          <p:nvPr/>
        </p:nvSpPr>
        <p:spPr>
          <a:xfrm>
            <a:off x="914400" y="4846320"/>
            <a:ext cx="2834640" cy="685800"/>
          </a:xfrm>
          <a:prstGeom prst="rect">
            <a:avLst/>
          </a:prstGeom>
          <a:noFill/>
          <a:ln/>
        </p:spPr>
        <p:txBody>
          <a:bodyPr wrap="square" lIns="0" tIns="0" rIns="0" bIns="0" rtlCol="0" anchor="t"/>
          <a:lstStyle/>
          <a:p>
            <a:pPr indent="0" marL="0">
              <a:buNone/>
            </a:pPr>
            <a:r>
              <a:rPr lang="en-US" sz="1600" dirty="0">
                <a:solidFill>
                  <a:srgbClr val="D6DCE5"/>
                </a:solidFill>
              </a:rPr>
              <a:t>Together, almost two-thirds of all the search interest</a:t>
            </a:r>
            <a:endParaRPr lang="en-US" sz="1600" dirty="0"/>
          </a:p>
        </p:txBody>
      </p:sp>
      <p:sp>
        <p:nvSpPr>
          <p:cNvPr id="11" name="Recommendation 1 Circle"/>
          <p:cNvSpPr/>
          <p:nvPr/>
        </p:nvSpPr>
        <p:spPr>
          <a:xfrm>
            <a:off x="4572000" y="1828800"/>
            <a:ext cx="640080" cy="640080"/>
          </a:xfrm>
          <a:prstGeom prst="ellipse">
            <a:avLst/>
          </a:prstGeom>
          <a:solidFill>
            <a:schemeClr val="accent2"/>
          </a:solidFill>
          <a:ln/>
        </p:spPr>
      </p:sp>
      <p:sp>
        <p:nvSpPr>
          <p:cNvPr id="12" name="Recommendation 1 Number"/>
          <p:cNvSpPr txBox="1"/>
          <p:nvPr/>
        </p:nvSpPr>
        <p:spPr>
          <a:xfrm>
            <a:off x="4572000" y="18288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3" name="Recommendation 1 Heading"/>
          <p:cNvSpPr txBox="1"/>
          <p:nvPr/>
        </p:nvSpPr>
        <p:spPr>
          <a:xfrm>
            <a:off x="5440680" y="1783080"/>
            <a:ext cx="6202375" cy="411480"/>
          </a:xfrm>
          <a:prstGeom prst="rect">
            <a:avLst/>
          </a:prstGeom>
          <a:noFill/>
          <a:ln/>
        </p:spPr>
        <p:txBody>
          <a:bodyPr wrap="square" lIns="0" tIns="0" rIns="0" bIns="0" rtlCol="0" anchor="t"/>
          <a:lstStyle/>
          <a:p>
            <a:pPr indent="0" marL="0">
              <a:buNone/>
            </a:pPr>
            <a:r>
              <a:rPr lang="en-US" sz="2000" b="1" dirty="0">
                <a:solidFill>
                  <a:schemeClr val="tx2"/>
                </a:solidFill>
              </a:rPr>
              <a:t>Lead with Cybersecurity and Digital Marketing</a:t>
            </a:r>
            <a:endParaRPr lang="en-US" sz="2000" dirty="0"/>
          </a:p>
        </p:txBody>
      </p:sp>
      <p:sp>
        <p:nvSpPr>
          <p:cNvPr id="14" name="Recommendation 1 Text"/>
          <p:cNvSpPr txBox="1"/>
          <p:nvPr/>
        </p:nvSpPr>
        <p:spPr>
          <a:xfrm>
            <a:off x="5440680" y="2240280"/>
            <a:ext cx="6202375" cy="731520"/>
          </a:xfrm>
          <a:prstGeom prst="rect">
            <a:avLst/>
          </a:prstGeom>
          <a:noFill/>
          <a:ln/>
        </p:spPr>
        <p:txBody>
          <a:bodyPr wrap="square" lIns="0" tIns="0" rIns="0" bIns="0" rtlCol="0" anchor="t"/>
          <a:lstStyle/>
          <a:p>
            <a:pPr indent="0" marL="0">
              <a:buNone/>
            </a:pPr>
            <a:r>
              <a:rPr lang="en-US" sz="1600" dirty="0">
                <a:solidFill>
                  <a:schemeClr val="tx1"/>
                </a:solidFill>
              </a:rPr>
              <a:t>Put most of the promotion behind the two programmes students already search for most.</a:t>
            </a:r>
            <a:endParaRPr lang="en-US" sz="1600" dirty="0"/>
          </a:p>
        </p:txBody>
      </p:sp>
      <p:sp>
        <p:nvSpPr>
          <p:cNvPr id="15" name="Recommendation 2 Circle"/>
          <p:cNvSpPr/>
          <p:nvPr/>
        </p:nvSpPr>
        <p:spPr>
          <a:xfrm>
            <a:off x="4572000" y="3200400"/>
            <a:ext cx="640080" cy="640080"/>
          </a:xfrm>
          <a:prstGeom prst="ellipse">
            <a:avLst/>
          </a:prstGeom>
          <a:solidFill>
            <a:schemeClr val="accent2"/>
          </a:solidFill>
          <a:ln/>
        </p:spPr>
      </p:sp>
      <p:sp>
        <p:nvSpPr>
          <p:cNvPr id="16" name="Recommendation 2 Number"/>
          <p:cNvSpPr txBox="1"/>
          <p:nvPr/>
        </p:nvSpPr>
        <p:spPr>
          <a:xfrm>
            <a:off x="4572000" y="32004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7" name="Recommendation 2 Heading"/>
          <p:cNvSpPr txBox="1"/>
          <p:nvPr/>
        </p:nvSpPr>
        <p:spPr>
          <a:xfrm>
            <a:off x="5440680" y="3154680"/>
            <a:ext cx="6202375" cy="411480"/>
          </a:xfrm>
          <a:prstGeom prst="rect">
            <a:avLst/>
          </a:prstGeom>
          <a:noFill/>
          <a:ln/>
        </p:spPr>
        <p:txBody>
          <a:bodyPr wrap="square" lIns="0" tIns="0" rIns="0" bIns="0" rtlCol="0" anchor="t"/>
          <a:lstStyle/>
          <a:p>
            <a:pPr indent="0" marL="0">
              <a:buNone/>
            </a:pPr>
            <a:r>
              <a:rPr lang="en-US" sz="2000" b="1" dirty="0">
                <a:solidFill>
                  <a:schemeClr val="tx2"/>
                </a:solidFill>
              </a:rPr>
              <a:t>Build awareness for the other three</a:t>
            </a:r>
            <a:endParaRPr lang="en-US" sz="2000" dirty="0"/>
          </a:p>
        </p:txBody>
      </p:sp>
      <p:sp>
        <p:nvSpPr>
          <p:cNvPr id="18" name="Recommendation 2 Text"/>
          <p:cNvSpPr txBox="1"/>
          <p:nvPr/>
        </p:nvSpPr>
        <p:spPr>
          <a:xfrm>
            <a:off x="5440680" y="3611880"/>
            <a:ext cx="6202375" cy="731520"/>
          </a:xfrm>
          <a:prstGeom prst="rect">
            <a:avLst/>
          </a:prstGeom>
          <a:noFill/>
          <a:ln/>
        </p:spPr>
        <p:txBody>
          <a:bodyPr wrap="square" lIns="0" tIns="0" rIns="0" bIns="0" rtlCol="0" anchor="t"/>
          <a:lstStyle/>
          <a:p>
            <a:pPr indent="0" marL="0">
              <a:buNone/>
            </a:pPr>
            <a:r>
              <a:rPr lang="en-US" sz="1600" dirty="0">
                <a:solidFill>
                  <a:schemeClr val="tx1"/>
                </a:solidFill>
              </a:rPr>
              <a:t>Explain what Data Analytics, Generative AI and Web Development teach and the jobs they lead to.</a:t>
            </a:r>
            <a:endParaRPr lang="en-US" sz="1600" dirty="0"/>
          </a:p>
        </p:txBody>
      </p:sp>
      <p:sp>
        <p:nvSpPr>
          <p:cNvPr id="19" name="Recommendation 3 Circle"/>
          <p:cNvSpPr/>
          <p:nvPr/>
        </p:nvSpPr>
        <p:spPr>
          <a:xfrm>
            <a:off x="4572000" y="4572000"/>
            <a:ext cx="640080" cy="640080"/>
          </a:xfrm>
          <a:prstGeom prst="ellipse">
            <a:avLst/>
          </a:prstGeom>
          <a:solidFill>
            <a:schemeClr val="accent2"/>
          </a:solidFill>
          <a:ln/>
        </p:spPr>
      </p:sp>
      <p:sp>
        <p:nvSpPr>
          <p:cNvPr id="20" name="Recommendation 3 Number"/>
          <p:cNvSpPr txBox="1"/>
          <p:nvPr/>
        </p:nvSpPr>
        <p:spPr>
          <a:xfrm>
            <a:off x="4572000" y="45720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1" name="Recommendation 3 Heading"/>
          <p:cNvSpPr txBox="1"/>
          <p:nvPr/>
        </p:nvSpPr>
        <p:spPr>
          <a:xfrm>
            <a:off x="5440680" y="4526280"/>
            <a:ext cx="6202375" cy="411480"/>
          </a:xfrm>
          <a:prstGeom prst="rect">
            <a:avLst/>
          </a:prstGeom>
          <a:noFill/>
          <a:ln/>
        </p:spPr>
        <p:txBody>
          <a:bodyPr wrap="square" lIns="0" tIns="0" rIns="0" bIns="0" rtlCol="0" anchor="t"/>
          <a:lstStyle/>
          <a:p>
            <a:pPr indent="0" marL="0">
              <a:buNone/>
            </a:pPr>
            <a:r>
              <a:rPr lang="en-US" sz="2000" b="1" dirty="0">
                <a:solidFill>
                  <a:schemeClr val="tx2"/>
                </a:solidFill>
              </a:rPr>
              <a:t>Use the words people search for</a:t>
            </a:r>
            <a:endParaRPr lang="en-US" sz="2000" dirty="0"/>
          </a:p>
        </p:txBody>
      </p:sp>
      <p:sp>
        <p:nvSpPr>
          <p:cNvPr id="22" name="Recommendation 3 Text"/>
          <p:cNvSpPr txBox="1"/>
          <p:nvPr/>
        </p:nvSpPr>
        <p:spPr>
          <a:xfrm>
            <a:off x="5440680" y="4983480"/>
            <a:ext cx="6202375" cy="731520"/>
          </a:xfrm>
          <a:prstGeom prst="rect">
            <a:avLst/>
          </a:prstGeom>
          <a:noFill/>
          <a:ln/>
        </p:spPr>
        <p:txBody>
          <a:bodyPr wrap="square" lIns="0" tIns="0" rIns="0" bIns="0" rtlCol="0" anchor="t"/>
          <a:lstStyle/>
          <a:p>
            <a:pPr indent="0" marL="0">
              <a:buNone/>
            </a:pPr>
            <a:r>
              <a:rPr lang="en-US" sz="1600" dirty="0">
                <a:solidFill>
                  <a:schemeClr val="tx1"/>
                </a:solidFill>
              </a:rPr>
              <a:t>Related searches show people want free courses, skills and jobs, so adverts should mention them.</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949440" cy="109728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1" type="body" hasCustomPrompt="1"/>
          </p:nvPr>
        </p:nvSpPr>
        <p:spPr>
          <a:xfrm>
            <a:off x="731520" y="3154680"/>
            <a:ext cx="6949440" cy="640080"/>
          </a:xfrm>
          <a:prstGeom prst="rect">
            <a:avLst/>
          </a:prstGeom>
          <a:noFill/>
          <a:ln/>
        </p:spPr>
        <p:txBody>
          <a:bodyPr wrap="square" lIns="0" tIns="0" rIns="0" bIns="0" rtlCol="0" anchor="t"/>
          <a:lstStyle/>
          <a:p>
            <a:pPr algn="l" indent="0" marL="0">
              <a:buNone/>
            </a:pPr>
            <a:r>
              <a:rPr lang="en-US" sz="2400" dirty="0">
                <a:solidFill>
                  <a:srgbClr val="D6DCE5"/>
                </a:solidFill>
              </a:rPr>
              <a:t>Questions and comments are welcome</a:t>
            </a:r>
            <a:endParaRPr lang="en-US" sz="2400" dirty="0"/>
          </a:p>
        </p:txBody>
      </p:sp>
      <p:sp>
        <p:nvSpPr>
          <p:cNvPr id="4" name="Ring"/>
          <p:cNvSpPr/>
          <p:nvPr/>
        </p:nvSpPr>
        <p:spPr>
          <a:xfrm>
            <a:off x="8412480" y="1874520"/>
            <a:ext cx="2834640" cy="2834640"/>
          </a:xfrm>
          <a:prstGeom prst="ellipse">
            <a:avLst/>
          </a:prstGeom>
          <a:noFill/>
          <a:ln w="15875">
            <a:solidFill>
              <a:schemeClr val="bg1">
                <a:alpha val="40000"/>
              </a:schemeClr>
            </a:solidFill>
            <a:prstDash val="solid"/>
          </a:ln>
        </p:spPr>
      </p:sp>
      <p:sp>
        <p:nvSpPr>
          <p:cNvPr id="5" name="Cybersecurity Circle"/>
          <p:cNvSpPr/>
          <p:nvPr/>
        </p:nvSpPr>
        <p:spPr>
          <a:xfrm>
            <a:off x="9304020" y="1348740"/>
            <a:ext cx="1051560" cy="1051560"/>
          </a:xfrm>
          <a:prstGeom prst="ellipse">
            <a:avLst/>
          </a:prstGeom>
          <a:solidFill>
            <a:schemeClr val="bg1"/>
          </a:solidFill>
          <a:ln/>
        </p:spPr>
      </p:sp>
      <p:pic>
        <p:nvPicPr>
          <p:cNvPr id="6" name="Cybersecurity Icon" descr="Cybersecurity icon">    </p:cNvPr>
          <p:cNvPicPr>
            <a:picLocks noChangeAspect="1"/>
          </p:cNvPicPr>
          <p:nvPr/>
        </p:nvPicPr>
        <p:blipFill>
          <a:blip r:embed="rId1"/>
          <a:stretch>
            <a:fillRect/>
          </a:stretch>
        </p:blipFill>
        <p:spPr>
          <a:xfrm>
            <a:off x="9566910" y="1611630"/>
            <a:ext cx="525780" cy="525780"/>
          </a:xfrm>
          <a:prstGeom prst="rect">
            <a:avLst/>
          </a:prstGeom>
        </p:spPr>
      </p:pic>
      <p:sp>
        <p:nvSpPr>
          <p:cNvPr id="7" name="Digital Marketing Circle"/>
          <p:cNvSpPr/>
          <p:nvPr/>
        </p:nvSpPr>
        <p:spPr>
          <a:xfrm>
            <a:off x="10651971" y="2328084"/>
            <a:ext cx="1051560" cy="1051560"/>
          </a:xfrm>
          <a:prstGeom prst="ellipse">
            <a:avLst/>
          </a:prstGeom>
          <a:solidFill>
            <a:schemeClr val="bg1"/>
          </a:solidFill>
          <a:ln/>
        </p:spPr>
      </p:sp>
      <p:pic>
        <p:nvPicPr>
          <p:cNvPr id="8" name="Digital Marketing Icon" descr="Digital Marketing icon">    </p:cNvPr>
          <p:cNvPicPr>
            <a:picLocks noChangeAspect="1"/>
          </p:cNvPicPr>
          <p:nvPr/>
        </p:nvPicPr>
        <p:blipFill>
          <a:blip r:embed="rId2"/>
          <a:stretch>
            <a:fillRect/>
          </a:stretch>
        </p:blipFill>
        <p:spPr>
          <a:xfrm>
            <a:off x="10914861" y="2590974"/>
            <a:ext cx="525780" cy="525780"/>
          </a:xfrm>
          <a:prstGeom prst="rect">
            <a:avLst/>
          </a:prstGeom>
        </p:spPr>
      </p:pic>
      <p:sp>
        <p:nvSpPr>
          <p:cNvPr id="9" name="Data Analytics Circle"/>
          <p:cNvSpPr/>
          <p:nvPr/>
        </p:nvSpPr>
        <p:spPr>
          <a:xfrm>
            <a:off x="10137100" y="3912696"/>
            <a:ext cx="1051560" cy="1051560"/>
          </a:xfrm>
          <a:prstGeom prst="ellipse">
            <a:avLst/>
          </a:prstGeom>
          <a:solidFill>
            <a:schemeClr val="bg1"/>
          </a:solidFill>
          <a:ln/>
        </p:spPr>
      </p:sp>
      <p:pic>
        <p:nvPicPr>
          <p:cNvPr id="10" name="Data Analytics Icon" descr="Data Analytics icon">    </p:cNvPr>
          <p:cNvPicPr>
            <a:picLocks noChangeAspect="1"/>
          </p:cNvPicPr>
          <p:nvPr/>
        </p:nvPicPr>
        <p:blipFill>
          <a:blip r:embed="rId3"/>
          <a:stretch>
            <a:fillRect/>
          </a:stretch>
        </p:blipFill>
        <p:spPr>
          <a:xfrm>
            <a:off x="10399990" y="4175586"/>
            <a:ext cx="525780" cy="525780"/>
          </a:xfrm>
          <a:prstGeom prst="rect">
            <a:avLst/>
          </a:prstGeom>
        </p:spPr>
      </p:pic>
      <p:sp>
        <p:nvSpPr>
          <p:cNvPr id="11" name="Generative AI &amp; Prompt Engineering Circle"/>
          <p:cNvSpPr/>
          <p:nvPr/>
        </p:nvSpPr>
        <p:spPr>
          <a:xfrm>
            <a:off x="8470940" y="3912696"/>
            <a:ext cx="1051560" cy="1051560"/>
          </a:xfrm>
          <a:prstGeom prst="ellipse">
            <a:avLst/>
          </a:prstGeom>
          <a:solidFill>
            <a:schemeClr val="bg1"/>
          </a:solidFill>
          <a:ln/>
        </p:spPr>
      </p:sp>
      <p:pic>
        <p:nvPicPr>
          <p:cNvPr id="12" name="Generative AI &amp; Prompt Engineering Icon" descr="Generative AI &amp; Prompt Engineering icon">    </p:cNvPr>
          <p:cNvPicPr>
            <a:picLocks noChangeAspect="1"/>
          </p:cNvPicPr>
          <p:nvPr/>
        </p:nvPicPr>
        <p:blipFill>
          <a:blip r:embed="rId4"/>
          <a:stretch>
            <a:fillRect/>
          </a:stretch>
        </p:blipFill>
        <p:spPr>
          <a:xfrm>
            <a:off x="8733830" y="4175586"/>
            <a:ext cx="525780" cy="525780"/>
          </a:xfrm>
          <a:prstGeom prst="rect">
            <a:avLst/>
          </a:prstGeom>
        </p:spPr>
      </p:pic>
      <p:sp>
        <p:nvSpPr>
          <p:cNvPr id="13" name="Web Development Circle"/>
          <p:cNvSpPr/>
          <p:nvPr/>
        </p:nvSpPr>
        <p:spPr>
          <a:xfrm>
            <a:off x="7956069" y="2328084"/>
            <a:ext cx="1051560" cy="1051560"/>
          </a:xfrm>
          <a:prstGeom prst="ellipse">
            <a:avLst/>
          </a:prstGeom>
          <a:solidFill>
            <a:schemeClr val="bg1"/>
          </a:solidFill>
          <a:ln/>
        </p:spPr>
      </p:sp>
      <p:pic>
        <p:nvPicPr>
          <p:cNvPr id="14" name="Web Development Icon" descr="Web Development icon">    </p:cNvPr>
          <p:cNvPicPr>
            <a:picLocks noChangeAspect="1"/>
          </p:cNvPicPr>
          <p:nvPr/>
        </p:nvPicPr>
        <p:blipFill>
          <a:blip r:embed="rId5"/>
          <a:stretch>
            <a:fillRect/>
          </a:stretch>
        </p:blipFill>
        <p:spPr>
          <a:xfrm>
            <a:off x="8218959" y="2590974"/>
            <a:ext cx="525780" cy="525780"/>
          </a:xfrm>
          <a:prstGeom prst="rect">
            <a:avLst/>
          </a:prstGeom>
        </p:spPr>
      </p:pic>
      <p:sp>
        <p:nvSpPr>
          <p:cNvPr id="15" name="Data Note"/>
          <p:cNvSpPr txBox="1"/>
          <p:nvPr/>
        </p:nvSpPr>
        <p:spPr>
          <a:xfrm>
            <a:off x="731520" y="5760720"/>
            <a:ext cx="6949440" cy="365760"/>
          </a:xfrm>
          <a:prstGeom prst="rect">
            <a:avLst/>
          </a:prstGeom>
          <a:noFill/>
          <a:ln/>
        </p:spPr>
        <p:txBody>
          <a:bodyPr wrap="square" lIns="0" tIns="0" rIns="0" bIns="0" rtlCol="0" anchor="t"/>
          <a:lstStyle/>
          <a:p>
            <a:pPr indent="0" marL="0">
              <a:buNone/>
            </a:pPr>
            <a:r>
              <a:rPr lang="en-US" sz="1400" dirty="0">
                <a:solidFill>
                  <a:srgbClr val="C9D6E3"/>
                </a:solidFill>
              </a:rPr>
              <a:t>Data: Google Trends  |  Nigeria  |  28 Sep 2025 to 28 Sep 2026</a:t>
            </a:r>
            <a:endParaRPr lang="en-US" sz="1400" dirty="0"/>
          </a:p>
        </p:txBody>
      </p:sp>
    </p:spTree>
  </p:cSld>
  <p:clrMapOvr>
    <a:masterClrMapping/>
  </p:clrMapOvr>
  <p:transition spd="med">
    <p:fade/>
  </p:transition>
</p:sld>
</file>

<file path=ppt/theme/theme1.xml><?xml version="1.0" encoding="utf-8"?>
<a:theme xmlns:a="http://schemas.openxmlformats.org/drawingml/2006/main" name="Programme Interest">
  <a:themeElements>
    <a:clrScheme name="Programme Interest">
      <a:dk1>
        <a:srgbClr val="262626"/>
      </a:dk1>
      <a:lt1>
        <a:srgbClr val="FFFFFF"/>
      </a:lt1>
      <a:dk2>
        <a:srgbClr val="1F4E79"/>
      </a:dk2>
      <a:lt2>
        <a:srgbClr val="EEF2F7"/>
      </a:lt2>
      <a:accent1>
        <a:srgbClr val="1F4E79"/>
      </a:accent1>
      <a:accent2>
        <a:srgbClr val="C55A11"/>
      </a:accent2>
      <a:accent3>
        <a:srgbClr val="2A78D6"/>
      </a:accent3>
      <a:accent4>
        <a:srgbClr val="0F8A5F"/>
      </a:accent4>
      <a:accent5>
        <a:srgbClr val="4A3AA7"/>
      </a:accent5>
      <a:accent6>
        <a:srgbClr val="B03A8C"/>
      </a:accent6>
      <a:hlink>
        <a:srgbClr val="2A78D6"/>
      </a:hlink>
      <a:folHlink>
        <a:srgbClr val="6B6B6B"/>
      </a:folHlink>
    </a:clrScheme>
    <a:fontScheme name="Programme Inter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Relative Interest in Digital-Skills Programmes</dc:title>
  <dc:subject>Pie chart of the Google Trends relative-interest observations</dc:subject>
  <dc:creator/>
  <cp:lastModifiedBy/>
  <cp:revision>1</cp:revision>
  <dcterms:created xsi:type="dcterms:W3CDTF">2026-10-04T18:40:39Z</dcterms:created>
  <dcterms:modified xsi:type="dcterms:W3CDTF">2026-10-04T18:40:39Z</dcterms:modified>
</cp:coreProperties>
</file>