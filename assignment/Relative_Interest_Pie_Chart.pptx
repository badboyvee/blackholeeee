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14"/>
          <c:y val="0.11"/>
          <c:w val="0.333"/>
          <c:h val="0.78"/>
        </c:manualLayout>
      </c:layout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  <a:ln w="19050">
                <a:solidFill>
                  <a:schemeClr val="bg1"/>
                </a:solidFill>
              </a:ln>
            </c:spPr>
          </c:dPt>
          <c:dPt>
            <c:idx val="1"/>
            <c:spPr>
              <a:solidFill>
                <a:srgbClr val="404040"/>
              </a:solidFill>
              <a:ln w="19050">
                <a:solidFill>
                  <a:schemeClr val="bg1"/>
                </a:solidFill>
              </a:ln>
            </c:spPr>
          </c:dPt>
          <c:dPt>
            <c:idx val="2"/>
            <c:spPr>
              <a:solidFill>
                <a:srgbClr val="7F7F7F"/>
              </a:solidFill>
              <a:ln w="19050">
                <a:solidFill>
                  <a:schemeClr val="bg1"/>
                </a:solidFill>
              </a:ln>
            </c:spPr>
          </c:dPt>
          <c:dPt>
            <c:idx val="3"/>
            <c:spPr>
              <a:solidFill>
                <a:srgbClr val="A6A6A6"/>
              </a:solidFill>
              <a:ln w="19050">
                <a:solidFill>
                  <a:schemeClr val="bg1"/>
                </a:solidFill>
              </a:ln>
            </c:spPr>
          </c:dPt>
          <c:dPt>
            <c:idx val="4"/>
            <c:spPr>
              <a:solidFill>
                <a:srgbClr val="D9D9D9"/>
              </a:solidFill>
              <a:ln w="19050">
                <a:solidFill>
                  <a:schemeClr val="bg1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Cybersecurity</c:v>
                </c:pt>
                <c:pt idx="1">
                  <c:v>Digital Marketing</c:v>
                </c:pt>
                <c:pt idx="2">
                  <c:v>Data Analytics</c:v>
                </c:pt>
                <c:pt idx="3">
                  <c:v>Generative AI &amp; Prompt Engineering</c:v>
                </c:pt>
                <c:pt idx="4">
                  <c:v>Web Development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43</c:v>
                </c:pt>
                <c:pt idx="1">
                  <c:v>33</c:v>
                </c:pt>
                <c:pt idx="2">
                  <c:v>18</c:v>
                </c:pt>
                <c:pt idx="3">
                  <c:v>13</c:v>
                </c:pt>
                <c:pt idx="4">
                  <c:v>13</c:v>
                </c:pt>
              </c:numCache>
            </c:numRef>
          </c:val>
        </c:ser>
        <c:dLbls>
          <c:txPr>
            <a:bodyPr wrap="none"/>
            <a:lstStyle/>
            <a:p>
              <a:pPr>
                <a:defRPr sz="1800" b="1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presentation is on the relative interest in five digital skills programmes in Nigeria, using Google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average scores I got from Google Trends for the past 12 months. Cybersecurity had the highest score, and Generative AI &amp; Prompt Engineering and Web Development had the lowest.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pie chart shows the share of interest for each programme. Cybersecurity has the biggest share at 36%, then Digital Marketing at 28% and Data Analytics at 15%. Generative AI &amp; Prompt Engineering and Web Development have 11%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chart, Cybersecurity is the most popular programme, followed by Digital Marketing. The organisation should promote these two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Relative Interest in Digital Skills Programmes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chemeClr val="bg1">
                    <a:lumMod val="85000"/>
                  </a:schemeClr>
                </a:solidFill>
              </a:rPr>
              <a:t>Market Research Lab, Task 1: Google Trends</a:t>
            </a:r>
          </a:p>
          <a:p>
            <a:r>
              <a:rPr>
                <a:solidFill>
                  <a:schemeClr val="bg1">
                    <a:lumMod val="85000"/>
                  </a:schemeClr>
                </a:solidFill>
              </a:rPr>
              <a:t>Nigeria, past 12 months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Relative-Interest Observations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5661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760720"/>
                <a:gridCol w="2377440"/>
                <a:gridCol w="2377440"/>
              </a:tblGrid>
              <a:tr h="59436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chemeClr val="bg1"/>
                          </a:solidFill>
                        </a:rPr>
                        <a:t>Programme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chemeClr val="bg1"/>
                          </a:solidFill>
                        </a:rPr>
                        <a:t>Average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chemeClr val="bg1"/>
                          </a:solidFill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chemeClr val="tx1"/>
                          </a:solidFill>
                        </a:rPr>
                        <a:t>Cybersecurity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chemeClr val="tx1"/>
                          </a:solidFill>
                        </a:rPr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chemeClr val="tx1"/>
                          </a:solidFill>
                        </a:rPr>
                        <a:t>Digital Marketing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chemeClr val="tx1"/>
                          </a:solidFill>
                        </a:rPr>
                        <a:t>Data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chemeClr val="tx1"/>
                          </a:solidFill>
                        </a:rPr>
                        <a:t>Generative AI &amp; Prompt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chemeClr val="tx1"/>
                          </a:solidFill>
                        </a:rPr>
                        <a:t>Web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" y="5711825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</a:rPr>
              <a:t>Google Trends gives each programme a score from 0 to 100, where 100 means the highest interest.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Relative Interest by Programme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1432560" y="1825625"/>
          <a:ext cx="9326880" cy="398557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" y="5902643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</a:rPr>
              <a:t>Source: Google Trends, Nigeria, past 12 months (28 September 2025 to 28 September 2026).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1"/>
              <a:t>Cybersecurity</a:t>
            </a:r>
            <a:r>
              <a:rPr sz="2600"/>
              <a:t> had the highest interest, with 36% of the total.</a:t>
            </a:r>
          </a:p>
          <a:p>
            <a:r>
              <a:rPr sz="2600" b="1"/>
              <a:t>Digital Marketing</a:t>
            </a:r>
            <a:r>
              <a:rPr sz="2600"/>
              <a:t> came second with 28%.</a:t>
            </a:r>
          </a:p>
          <a:p>
            <a:r>
              <a:rPr sz="2600" b="1"/>
              <a:t>Data Analytics</a:t>
            </a:r>
            <a:r>
              <a:rPr sz="2600"/>
              <a:t> came third with 15%.</a:t>
            </a:r>
          </a:p>
          <a:p>
            <a:r>
              <a:rPr sz="2600" b="1"/>
              <a:t>Generative AI &amp; Prompt Engineering</a:t>
            </a:r>
            <a:r>
              <a:rPr sz="2600"/>
              <a:t> and </a:t>
            </a:r>
            <a:r>
              <a:rPr sz="2600" b="1"/>
              <a:t>Web Development</a:t>
            </a:r>
            <a:r>
              <a:rPr sz="2600"/>
              <a:t> had the lowest interest, with 11% each.</a:t>
            </a:r>
          </a:p>
          <a:p>
            <a:r>
              <a:rPr sz="2600"/>
              <a:t>This means Cybersecurity and Digital Marketing should be promoted first.</a:t>
            </a:r>
          </a:p>
        </p:txBody>
      </p:sp>
    </p:spTree>
  </p:cSld>
  <p:clrMapOvr>
    <a:masterClrMapping/>
  </p:clrMapOvr>
  <p:transition spd="med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chemeClr val="bg1">
                    <a:lumMod val="85000"/>
                  </a:schemeClr>
                </a:solidFill>
              </a:rPr>
              <a:t>Any questions?</a:t>
            </a:r>
          </a:p>
        </p:txBody>
      </p:sp>
    </p:spTree>
  </p:cSld>
  <p:clrMapOvr>
    <a:masterClrMapping/>
  </p:clrMapOvr>
  <p:transition spd="med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5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Relative Interest in Digital Skills Programmes</dc:title>
  <dc:subject>Pie chart of the Google Trends relative-interest observations</dc:subject>
  <dc:creator/>
  <cp:keywords>Google Trends, relative interest, pie chart</cp:keywords>
  <dc:description/>
  <cp:lastModifiedBy/>
  <cp:revision>1</cp:revision>
  <dcterms:created xsi:type="dcterms:W3CDTF">2026-10-04T21:53:34Z</dcterms:created>
  <dcterms:modified xsi:type="dcterms:W3CDTF">2026-10-04T21:53:34Z</dcterms:modified>
  <cp:category/>
</cp:coreProperties>
</file>