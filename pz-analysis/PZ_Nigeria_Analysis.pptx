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PESTLE Chart</c:v>
                </c:pt>
              </c:strCache>
            </c:strRef>
          </c:tx>
          <c:spPr>
            <a:solidFill>
              <a:srgbClr val="595959"/>
            </a:solidFill>
            <a:effectLst/>
          </c:spPr>
          <c:invertIfNegative val="0"/>
          <c:dLbls>
            <c:numFmt formatCode="0.0" sourceLinked="0"/>
            <c:txPr>
              <a:bodyPr wrap="none"/>
              <a:lstStyle/>
              <a:p>
                <a:pPr>
                  <a:defRPr b="1" i="0" strike="noStrike" sz="14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Political</c:v>
                  </c:pt>
                  <c:pt idx="1">
                    <c:v>Economic</c:v>
                  </c:pt>
                  <c:pt idx="2">
                    <c:v>Social</c:v>
                  </c:pt>
                  <c:pt idx="3">
                    <c:v>Technological</c:v>
                  </c:pt>
                  <c:pt idx="4">
                    <c:v>Legal</c:v>
                  </c:pt>
                  <c:pt idx="5">
                    <c:v>Environmental</c:v>
                  </c:pt>
                </c:lvl>
              </c:multiLvlStrCache>
            </c:multiLvlStrRef>
          </c:cat>
          <c:val>
            <c:numRef>
              <c:f>Sheet1!$B$2:$B$7</c:f>
              <c:numCache>
                <c:formatCode>General</c:formatCode>
                <c:ptCount val="6"/>
                <c:pt idx="0">
                  <c:v>13.7</c:v>
                </c:pt>
                <c:pt idx="1">
                  <c:v>20.7</c:v>
                </c:pt>
                <c:pt idx="2">
                  <c:v>16</c:v>
                </c:pt>
                <c:pt idx="3">
                  <c:v>14.3</c:v>
                </c:pt>
                <c:pt idx="4">
                  <c:v>11.7</c:v>
                </c:pt>
                <c:pt idx="5">
                  <c:v>9</c:v>
                </c:pt>
              </c:numCache>
            </c:numRef>
          </c:val>
        </c:ser>
        <c:dLbls>
          <c:numFmt formatCode="0.0" sourceLinked="0"/>
          <c:txPr>
            <a:bodyPr wrap="none"/>
            <a:lstStyle/>
            <a:p>
              <a:pPr>
                <a:defRPr b="1" i="0" strike="noStrike" sz="1400" u="none">
                  <a:solidFill>
                    <a:srgbClr val="000000"/>
                  </a:solidFill>
                  <a:latin typeface="Arial"/>
                </a:defRPr>
              </a:pPr>
            </a:p>
          </c:txPr>
          <c:showLegendKey val="0"/>
          <c:showVal val="1"/>
          <c:showCatName val="0"/>
          <c:showSerName val="0"/>
          <c:showPercent val="0"/>
          <c:showBubbleSize val="0"/>
          <c:showLeaderLines val="0"/>
        </c:dLbls>
        <c:gapWidth val="50"/>
        <c:overlap val="0"/>
        <c:axId val="2094734554"/>
        <c:axId val="2094734552"/>
      </c:barChart>
      <c:catAx>
        <c:axId val="2094734554"/>
        <c:scaling>
          <c:orientation val="maxMin"/>
        </c:scaling>
        <c:delete val="0"/>
        <c:axPos val="l"/>
        <c:numFmt formatCode="General" sourceLinked="1"/>
        <c:majorTickMark val="none"/>
        <c:minorTickMark val="none"/>
        <c:tickLblPos val="nextTo"/>
        <c:spPr>
          <a:ln w="12700" cap="flat">
            <a:solidFill>
              <a:srgbClr val="A6A6A6"/>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
          <c:min val="0"/>
        </c:scaling>
        <c:delete val="1"/>
        <c:axPos val="b"/>
        <c:numFmt formatCode="0.0"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SWOT Chart</c:v>
                </c:pt>
              </c:strCache>
            </c:strRef>
          </c:tx>
          <c:spPr>
            <a:solidFill>
              <a:srgbClr val="595959"/>
            </a:solidFill>
            <a:effectLst/>
          </c:spPr>
          <c:invertIfNegative val="0"/>
          <c:dLbls>
            <c:numFmt formatCode="0.00" sourceLinked="0"/>
            <c:txPr>
              <a:bodyPr wrap="none"/>
              <a:lstStyle/>
              <a:p>
                <a:pPr>
                  <a:defRPr b="1" i="0" strike="noStrike" sz="14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Strengths</c:v>
                  </c:pt>
                  <c:pt idx="1">
                    <c:v>Weaknesses</c:v>
                  </c:pt>
                  <c:pt idx="2">
                    <c:v>Opportunities</c:v>
                  </c:pt>
                  <c:pt idx="3">
                    <c:v>Threats</c:v>
                  </c:pt>
                </c:lvl>
              </c:multiLvlStrCache>
            </c:multiLvlStrRef>
          </c:cat>
          <c:val>
            <c:numRef>
              <c:f>Sheet1!$B$2:$B$5</c:f>
              <c:numCache>
                <c:formatCode>General</c:formatCode>
                <c:ptCount val="4"/>
                <c:pt idx="0">
                  <c:v>2.05</c:v>
                </c:pt>
                <c:pt idx="1">
                  <c:v>0.68</c:v>
                </c:pt>
                <c:pt idx="2">
                  <c:v>1.32</c:v>
                </c:pt>
                <c:pt idx="3">
                  <c:v>1.09</c:v>
                </c:pt>
              </c:numCache>
            </c:numRef>
          </c:val>
        </c:ser>
        <c:dLbls>
          <c:numFmt formatCode="0.00" sourceLinked="0"/>
          <c:txPr>
            <a:bodyPr wrap="none"/>
            <a:lstStyle/>
            <a:p>
              <a:pPr>
                <a:defRPr b="1" i="0" strike="noStrike" sz="1400" u="none">
                  <a:solidFill>
                    <a:srgbClr val="000000"/>
                  </a:solidFill>
                  <a:latin typeface="Arial"/>
                </a:defRPr>
              </a:pPr>
            </a:p>
          </c:txPr>
          <c:showLegendKey val="0"/>
          <c:showVal val="1"/>
          <c:showCatName val="0"/>
          <c:showSerName val="0"/>
          <c:showPercent val="0"/>
          <c:showBubbleSize val="0"/>
          <c:showLeaderLines val="0"/>
        </c:dLbls>
        <c:gapWidth val="50"/>
        <c:overlap val="0"/>
        <c:axId val="2094734554"/>
        <c:axId val="2094734552"/>
      </c:barChart>
      <c:catAx>
        <c:axId val="2094734554"/>
        <c:scaling>
          <c:orientation val="minMax"/>
        </c:scaling>
        <c:delete val="0"/>
        <c:axPos val="b"/>
        <c:numFmt formatCode="General" sourceLinked="1"/>
        <c:majorTickMark val="none"/>
        <c:minorTickMark val="none"/>
        <c:tickLblPos val="low"/>
        <c:spPr>
          <a:ln w="12700" cap="flat">
            <a:solidFill>
              <a:srgbClr val="A6A6A6"/>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D9D9D9"/>
              </a:solidFill>
              <a:prstDash val="solid"/>
              <a:round/>
            </a:ln>
          </c:spPr>
        </c:majorGridlines>
        <c:numFmt formatCode="0.00"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Forces Chart</c:v>
                </c:pt>
              </c:strCache>
            </c:strRef>
          </c:tx>
          <c:spPr>
            <a:solidFill>
              <a:srgbClr val="595959"/>
            </a:solidFill>
            <a:effectLst/>
          </c:spPr>
          <c:invertIfNegative val="0"/>
          <c:dLbls>
            <c:numFmt formatCode="0" sourceLinked="0"/>
            <c:txPr>
              <a:bodyPr wrap="none"/>
              <a:lstStyle/>
              <a:p>
                <a:pPr>
                  <a:defRPr b="1" i="0" strike="noStrike" sz="14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Competitive rivalry</c:v>
                  </c:pt>
                  <c:pt idx="1">
                    <c:v>Bargaining power of buyers</c:v>
                  </c:pt>
                  <c:pt idx="2">
                    <c:v>Bargaining power of suppliers</c:v>
                  </c:pt>
                  <c:pt idx="3">
                    <c:v>Threat of substitutes</c:v>
                  </c:pt>
                  <c:pt idx="4">
                    <c:v>Threat of new entrants</c:v>
                  </c:pt>
                </c:lvl>
              </c:multiLvlStrCache>
            </c:multiLvlStrRef>
          </c:cat>
          <c:val>
            <c:numRef>
              <c:f>Sheet1!$B$2:$B$6</c:f>
              <c:numCache>
                <c:formatCode>General</c:formatCode>
                <c:ptCount val="5"/>
                <c:pt idx="0">
                  <c:v>5</c:v>
                </c:pt>
                <c:pt idx="1">
                  <c:v>4</c:v>
                </c:pt>
                <c:pt idx="2">
                  <c:v>4</c:v>
                </c:pt>
                <c:pt idx="3">
                  <c:v>3</c:v>
                </c:pt>
                <c:pt idx="4">
                  <c:v>2</c:v>
                </c:pt>
              </c:numCache>
            </c:numRef>
          </c:val>
        </c:ser>
        <c:dLbls>
          <c:numFmt formatCode="0" sourceLinked="0"/>
          <c:txPr>
            <a:bodyPr wrap="none"/>
            <a:lstStyle/>
            <a:p>
              <a:pPr>
                <a:defRPr b="1" i="0" strike="noStrike" sz="1400" u="none">
                  <a:solidFill>
                    <a:srgbClr val="000000"/>
                  </a:solidFill>
                  <a:latin typeface="Arial"/>
                </a:defRPr>
              </a:pPr>
            </a:p>
          </c:txPr>
          <c:showLegendKey val="0"/>
          <c:showVal val="1"/>
          <c:showCatName val="0"/>
          <c:showSerName val="0"/>
          <c:showPercent val="0"/>
          <c:showBubbleSize val="0"/>
          <c:showLeaderLines val="0"/>
        </c:dLbls>
        <c:gapWidth val="50"/>
        <c:overlap val="0"/>
        <c:axId val="2094734554"/>
        <c:axId val="2094734552"/>
      </c:barChart>
      <c:catAx>
        <c:axId val="2094734554"/>
        <c:scaling>
          <c:orientation val="maxMin"/>
        </c:scaling>
        <c:delete val="0"/>
        <c:axPos val="l"/>
        <c:numFmt formatCode="General" sourceLinked="1"/>
        <c:majorTickMark val="none"/>
        <c:minorTickMark val="none"/>
        <c:tickLblPos val="nextTo"/>
        <c:spPr>
          <a:ln w="12700" cap="flat">
            <a:solidFill>
              <a:srgbClr val="A6A6A6"/>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
          <c:min val="0"/>
        </c:scaling>
        <c:delete val="1"/>
        <c:axPos val="b"/>
        <c:numFmt formatCode="0"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day. This presentation analyses PZ Nigeria Limited, the company behind Imperial Leather, Premier Cool, Joy and Morning Fresh. I will look at its business environment with a PESTLE analysis, at the company itself with a SWOT analysis, and at its industry with Porter's Five Forces. All the scores were calculated in Microsoft Excel, in the workbook PZ_Nigeria_Analysis.xlsx.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PZ Nigeria has two businesses. Family Care makes Imperial Leather, Premier Cool, Joy and Morning Fresh; the Electrical business sells air conditioners, fridges, freezers and washing machines. The company is led by Mr Oghale Ogueni, the Managing Director, and Mr Oladare Oresukan, the Chief Financial Officer, and it is part of the UK-based PZ Cussons group. It uses a product and brand structure: the Managing Director, category managers, then a brand manager in charge of each brand, supported by assistant brand managers and shared departments.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issue is rated for impact and likelihood from 1 to 5; the score is impact times likelihood, so the highest possible score is 25. 16 or more is high priority. Political factors average 13.7 out of 25; the biggest issue is fuel subsidy removal and FX reforms, which scores 20: higher fuel and transport costs; easier access to dollars over time. Economic factors average 20.7 out of 25; the biggest issue is naira devaluation and FX shortages, which scores 25: imported raw materials cost much more; losses on foreign-currency debts. Social factors average 16.0 out of 25; the biggest issue is large, young, growing population, which scores 20: A big and growing market for soaps, detergents and appliances.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issue is rated for impact and likelihood from 1 to 5; the score is impact times likelihood, so the highest possible score is 25. 16 or more is high priority. Technological factors average 14.3 out of 25; the biggest issue is poor power supply, which scores 16: factories spend more on diesel and solar; demand for energy-saving appliances. Legal factors average 11.7 out of 25; the biggest issue is NAFDAC and SON product rules, which scores 15: every product must be registered and meet standards. Environmental factors average 9.0 out of 25; the biggest issue is plastic waste rules, which scores 12: must change packaging and pay for recycling (EPR).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shows each factor's average score, calculated in Excel with AVERAGEIF. Economic factors matter most, with an average of 20.7 out of 25, and the single biggest issue is naira devaluation and FX shortages, which scores the maximum of 25. Environmental factors matter least, at 9.0. Overall 6 of the 18 issues are high priority, and there are 12 threats against 6 opportunities, so the environment is difficult.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PZ's main strengths are its well-known brands, more than a century in Nigeria and a wide distribution network. Its weaknesses are slow decisions, because approvals can wait for the UK owner and there are many management levels, and its dependence on imported raw materials when the naira is weak. The opportunities come from Nigeria's large young population, digital selling, smaller packs and the customers left behind by Unilever and P&amp;G. The threats are the weak naira, high inflation, strong competition, fake products, high energy costs and policy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Excel each SWOT point has a weight for how important it is and a rating from 1 to 4; weight times rating gives the weighted score. The internal total, IFE, is 2.73: above the average of 2.50, because strengths (2.05) outweigh weaknesses (0.68). The external total, EFE, is 2.41: below average, so PZ is not yet making the most of its opportunities or defending well enough against its threats. Together they place PZ in cell V of the internal-external matrix, which means hold and maintain: market penetration and product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PZ competes in fast-moving consumer goods, mainly soaps and dishwashing liquid, and in consumer electricals. Nigeria has over 200 million people, most of them young, so it is one of Africa's largest consumer markets. But prices are rising with inflation, shoppers are moving to smaller packs and cheaper brands, and some multinationals have cut local production. To succeed, a company needs strong brands, low costs, wide distribution, local raw materials and affordable pack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PZ's main competitors. Unilever left home care and soaps in 2023, and Procter and Gamble stopped making products in Nigeria, so both now leave space PZ can fill. Reckitt is strong in hygiene with Dettol and Harpic, Hayat Kimya makes low-priced products locally, and many local brands win on price in open markets. In electricals, PZ faces LG, Samsung, Hisense and Scanfrost, plus many cheaper imports.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Competitive rivalry is high, rated 5 out of 5: many local and foreign brands fight on price, promotions and shelf space. Bargaining power of buyers is high, rated 4 out of 5: shoppers are price-sensitive and switch brands easily; big distributors bargain hard. Bargaining power of suppliers is high, rated 4 out of 5: key raw materials, packaging and parts are imported and priced in dollars. Threat of substitutes is medium, rated 3 out of 5: cheaper unbranded and local soaps; fans instead of air conditioners. Threat of new entrants is low, rated 2 out of 5: factories, brands and distribution cost a lot, but cheap imports still get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average the five forces score 3.6 out of 5, calculated in Excel with AVERAGE. Strong competitive pressure: profits are hard to earn. The strongest force is competitive rivalry; the weakest is the threat of new entrants, because it costs a lot to build factories, brands and distribution. 3 of 5 forces are rated high, so PZ must keep costs low and brands strong to stay profitable.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Based on the analysis, I recommend five actions. 1: buy more raw materials in Nigeria. Cuts dollar costs and the damage from naira devaluation (the biggest PESTLE issue). 2: sell smaller, affordable packs. Keeps price-sensitive shoppers buying Imperial Leather, Premier Cool, Joy and Morning Fresh. 3: grow digital marketing and online sales. Reaches the large young population cheaply through social media and e-commerce. 4: win customers competitors left behind. Use the wide distribution network to fill shelves Unilever and P&amp;G have left. 5: make decisions faster. Give local managers more authority and cut approval levels to fix the main weaknesses.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PZ Nigeria is strong inside, with well-known brands and a wide distribution network (IFE 2.73), but its environment is hard. Economic factors, especially naira devaluation and FX shortages, matter most, and the industry is highly competitive (five forces average 3.6 out of 5). The best strategy is to hold and maintain, through market penetration and product development.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RAMED">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11643055" cy="6309360"/>
          </a:xfrm>
          <a:prstGeom prst="rect">
            <a:avLst/>
          </a:prstGeom>
          <a:solidFill>
            <a:srgbClr val="FFFFFF">
              <a:alpha val="0"/>
            </a:srgbClr>
          </a:solidFill>
          <a:ln w="12700">
            <a:solidFill>
              <a:srgbClr val="8FAADC"/>
            </a:solidFill>
            <a:prstDash val="solid"/>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731520" y="1737360"/>
            <a:ext cx="10728655" cy="868680"/>
          </a:xfrm>
          <a:prstGeom prst="rect">
            <a:avLst/>
          </a:prstGeom>
          <a:noFill/>
          <a:ln/>
        </p:spPr>
        <p:txBody>
          <a:bodyPr wrap="square" lIns="0" tIns="0" rIns="0" bIns="0" rtlCol="0" anchor="ctr"/>
          <a:lstStyle/>
          <a:p>
            <a:pPr algn="ctr" indent="0" marL="0">
              <a:buNone/>
            </a:pPr>
            <a:r>
              <a:rPr lang="en-US" sz="4400" b="1" dirty="0">
                <a:solidFill>
                  <a:srgbClr val="1F3864"/>
                </a:solidFill>
                <a:latin typeface="Arial" pitchFamily="34" charset="0"/>
                <a:ea typeface="Arial" pitchFamily="34" charset="-122"/>
                <a:cs typeface="Arial" pitchFamily="34" charset="-120"/>
              </a:rPr>
              <a:t>PZ NIGERIA LIMITED</a:t>
            </a:r>
            <a:endParaRPr lang="en-US" sz="4400" dirty="0"/>
          </a:p>
        </p:txBody>
      </p:sp>
      <p:sp>
        <p:nvSpPr>
          <p:cNvPr id="3" name="Title Rule"/>
          <p:cNvSpPr/>
          <p:nvPr/>
        </p:nvSpPr>
        <p:spPr>
          <a:xfrm>
            <a:off x="2286000" y="2743200"/>
            <a:ext cx="7619695" cy="0"/>
          </a:xfrm>
          <a:prstGeom prst="line">
            <a:avLst/>
          </a:prstGeom>
          <a:noFill/>
          <a:ln w="19050">
            <a:solidFill>
              <a:srgbClr val="1F3864"/>
            </a:solidFill>
            <a:prstDash val="solid"/>
          </a:ln>
        </p:spPr>
      </p:sp>
      <p:sp>
        <p:nvSpPr>
          <p:cNvPr id="4" name="Subtitle"/>
          <p:cNvSpPr txBox="1"/>
          <p:nvPr/>
        </p:nvSpPr>
        <p:spPr>
          <a:xfrm>
            <a:off x="731520" y="2880360"/>
            <a:ext cx="10728655" cy="640080"/>
          </a:xfrm>
          <a:prstGeom prst="rect">
            <a:avLst/>
          </a:prstGeom>
          <a:noFill/>
          <a:ln/>
        </p:spPr>
        <p:txBody>
          <a:bodyPr wrap="square" lIns="0" tIns="0" rIns="0" bIns="0" rtlCol="0" anchor="ctr"/>
          <a:lstStyle/>
          <a:p>
            <a:pPr algn="ctr" indent="0" marL="0">
              <a:buNone/>
            </a:pPr>
            <a:r>
              <a:rPr lang="en-US" sz="3200" dirty="0">
                <a:solidFill>
                  <a:srgbClr val="000000"/>
                </a:solidFill>
                <a:latin typeface="Arial" pitchFamily="34" charset="0"/>
                <a:ea typeface="Arial" pitchFamily="34" charset="-122"/>
                <a:cs typeface="Arial" pitchFamily="34" charset="-120"/>
              </a:rPr>
              <a:t>PESTLE, SWOT and Industry Analysis</a:t>
            </a:r>
            <a:endParaRPr lang="en-US" sz="3200" dirty="0"/>
          </a:p>
        </p:txBody>
      </p:sp>
      <p:sp>
        <p:nvSpPr>
          <p:cNvPr id="5" name="Department"/>
          <p:cNvSpPr txBox="1"/>
          <p:nvPr/>
        </p:nvSpPr>
        <p:spPr>
          <a:xfrm>
            <a:off x="731520" y="3931920"/>
            <a:ext cx="1072865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Arial" pitchFamily="34" charset="0"/>
                <a:ea typeface="Arial" pitchFamily="34" charset="-122"/>
                <a:cs typeface="Arial" pitchFamily="34" charset="-120"/>
              </a:rPr>
              <a:t>Marketing Department  ·  Ilupeju, Lagos</a:t>
            </a:r>
            <a:endParaRPr lang="en-US" sz="2200" dirty="0"/>
          </a:p>
        </p:txBody>
      </p:sp>
      <p:sp>
        <p:nvSpPr>
          <p:cNvPr id="6" name="Source"/>
          <p:cNvSpPr txBox="1"/>
          <p:nvPr/>
        </p:nvSpPr>
        <p:spPr>
          <a:xfrm>
            <a:off x="731520" y="5760720"/>
            <a:ext cx="10728655" cy="365760"/>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Scores and ratings: PZ_Nigeria_Analysis.xlsx</a:t>
            </a:r>
            <a:endParaRPr lang="en-US" sz="14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right)">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731520" y="457200"/>
            <a:ext cx="10728655" cy="731520"/>
          </a:xfrm>
          <a:prstGeom prst="rect">
            <a:avLst/>
          </a:prstGeom>
          <a:noFill/>
          <a:ln/>
        </p:spPr>
        <p:txBody>
          <a:bodyPr wrap="square" lIns="0" tIns="0" rIns="0" bIns="0" rtlCol="0" anchor="ctr"/>
          <a:lstStyle/>
          <a:p>
            <a:pPr algn="ctr" indent="0" marL="0">
              <a:buNone/>
            </a:pPr>
            <a:r>
              <a:rPr lang="en-US" sz="3600" b="1" dirty="0">
                <a:solidFill>
                  <a:srgbClr val="1F3864"/>
                </a:solidFill>
                <a:latin typeface="Arial" pitchFamily="34" charset="0"/>
                <a:ea typeface="Arial" pitchFamily="34" charset="-122"/>
                <a:cs typeface="Arial" pitchFamily="34" charset="-120"/>
              </a:rPr>
              <a:t>Company Overview</a:t>
            </a:r>
            <a:endParaRPr lang="en-US" sz="3600" dirty="0"/>
          </a:p>
        </p:txBody>
      </p:sp>
      <p:sp>
        <p:nvSpPr>
          <p:cNvPr id="3" name="Title Rule"/>
          <p:cNvSpPr/>
          <p:nvPr/>
        </p:nvSpPr>
        <p:spPr>
          <a:xfrm>
            <a:off x="914400" y="1298448"/>
            <a:ext cx="10362895" cy="0"/>
          </a:xfrm>
          <a:prstGeom prst="line">
            <a:avLst/>
          </a:prstGeom>
          <a:noFill/>
          <a:ln w="19050">
            <a:solidFill>
              <a:srgbClr val="1F3864"/>
            </a:solidFill>
            <a:prstDash val="solid"/>
          </a:ln>
        </p:spPr>
      </p:sp>
      <p:sp>
        <p:nvSpPr>
          <p:cNvPr id="4" name="Subtitle"/>
          <p:cNvSpPr txBox="1"/>
          <p:nvPr/>
        </p:nvSpPr>
        <p:spPr>
          <a:xfrm>
            <a:off x="731520" y="1417320"/>
            <a:ext cx="10728655" cy="384048"/>
          </a:xfrm>
          <a:prstGeom prst="rect">
            <a:avLst/>
          </a:prstGeom>
          <a:noFill/>
          <a:ln/>
        </p:spPr>
        <p:txBody>
          <a:bodyPr wrap="square" lIns="0" tIns="0" rIns="0" bIns="0" rtlCol="0" anchor="ctr"/>
          <a:lstStyle/>
          <a:p>
            <a:pPr algn="ctr" indent="0" marL="0">
              <a:buNone/>
            </a:pPr>
            <a:r>
              <a:rPr lang="en-US" sz="1800" dirty="0">
                <a:solidFill>
                  <a:srgbClr val="000000"/>
                </a:solidFill>
                <a:latin typeface="Arial" pitchFamily="34" charset="0"/>
                <a:ea typeface="Arial" pitchFamily="34" charset="-122"/>
                <a:cs typeface="Arial" pitchFamily="34" charset="-120"/>
              </a:rPr>
              <a:t>Who PZ Nigeria is, what it sells and how it is organised</a:t>
            </a:r>
            <a:endParaRPr lang="en-US" sz="1800" dirty="0"/>
          </a:p>
        </p:txBody>
      </p:sp>
      <p:sp>
        <p:nvSpPr>
          <p:cNvPr id="5" name="Brands Box"/>
          <p:cNvSpPr/>
          <p:nvPr/>
        </p:nvSpPr>
        <p:spPr>
          <a:xfrm>
            <a:off x="822960" y="2011680"/>
            <a:ext cx="3332378" cy="4206240"/>
          </a:xfrm>
          <a:prstGeom prst="rect">
            <a:avLst/>
          </a:prstGeom>
          <a:solidFill>
            <a:srgbClr val="DEEBF7"/>
          </a:solidFill>
          <a:ln w="12700">
            <a:solidFill>
              <a:srgbClr val="DEEBF7"/>
            </a:solidFill>
            <a:prstDash val="solid"/>
          </a:ln>
        </p:spPr>
      </p:sp>
      <p:sp>
        <p:nvSpPr>
          <p:cNvPr id="6" name="Brands Heading"/>
          <p:cNvSpPr txBox="1"/>
          <p:nvPr/>
        </p:nvSpPr>
        <p:spPr>
          <a:xfrm>
            <a:off x="1051560" y="2148840"/>
            <a:ext cx="2875178"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Business and Brands</a:t>
            </a:r>
            <a:endParaRPr lang="en-US" sz="2000" dirty="0"/>
          </a:p>
        </p:txBody>
      </p:sp>
      <p:sp>
        <p:nvSpPr>
          <p:cNvPr id="7" name="Brands Text"/>
          <p:cNvSpPr txBox="1"/>
          <p:nvPr/>
        </p:nvSpPr>
        <p:spPr>
          <a:xfrm>
            <a:off x="1051560" y="2651760"/>
            <a:ext cx="2875178" cy="3429000"/>
          </a:xfrm>
          <a:prstGeom prst="rect">
            <a:avLst/>
          </a:prstGeom>
          <a:noFill/>
          <a:ln/>
        </p:spPr>
        <p:txBody>
          <a:bodyPr wrap="square" lIns="0" tIns="0" rIns="0" bIns="0" rtlCol="0" anchor="t"/>
          <a:lstStyle/>
          <a:p>
            <a:pPr marL="228600" indent="-228600">
              <a:spcAft>
                <a:spcPts val="1600"/>
              </a:spcAft>
              <a:buSzPct val="100000"/>
              <a:buChar char="•"/>
            </a:pPr>
            <a:r>
              <a:rPr lang="en-US" sz="1800" b="1" dirty="0">
                <a:solidFill>
                  <a:srgbClr val="000000"/>
                </a:solidFill>
                <a:latin typeface="Arial" pitchFamily="34" charset="0"/>
                <a:ea typeface="Arial" pitchFamily="34" charset="-122"/>
                <a:cs typeface="Arial" pitchFamily="34" charset="-120"/>
              </a:rPr>
              <a:t>Family Care (consumer)</a:t>
            </a:r>
            <a:br/>
            <a:r>
              <a:rPr lang="en-US" sz="1800" dirty="0">
                <a:solidFill>
                  <a:srgbClr val="000000"/>
                </a:solidFill>
                <a:latin typeface="Arial" pitchFamily="34" charset="0"/>
                <a:ea typeface="Arial" pitchFamily="34" charset="-122"/>
                <a:cs typeface="Arial" pitchFamily="34" charset="-120"/>
              </a:rPr>
              <a:t>Imperial Leather, Premier Cool, Joy, Morning Fresh</a:t>
            </a:r>
            <a:endParaRPr lang="en-US" sz="1800" dirty="0"/>
          </a:p>
          <a:p>
            <a:pPr marL="228600" indent="-228600">
              <a:spcAft>
                <a:spcPts val="1600"/>
              </a:spcAft>
              <a:buSzPct val="100000"/>
              <a:buChar char="•"/>
            </a:pPr>
            <a:r>
              <a:rPr lang="en-US" sz="1800" b="1" dirty="0">
                <a:solidFill>
                  <a:srgbClr val="000000"/>
                </a:solidFill>
                <a:latin typeface="Arial" pitchFamily="34" charset="0"/>
                <a:ea typeface="Arial" pitchFamily="34" charset="-122"/>
                <a:cs typeface="Arial" pitchFamily="34" charset="-120"/>
              </a:rPr>
              <a:t>Electrical</a:t>
            </a:r>
            <a:br/>
            <a:r>
              <a:rPr lang="en-US" sz="1800" dirty="0">
                <a:solidFill>
                  <a:srgbClr val="000000"/>
                </a:solidFill>
                <a:latin typeface="Arial" pitchFamily="34" charset="0"/>
                <a:ea typeface="Arial" pitchFamily="34" charset="-122"/>
                <a:cs typeface="Arial" pitchFamily="34" charset="-120"/>
              </a:rPr>
              <a:t>Air conditioners, fridges and freezers, washing machines</a:t>
            </a:r>
            <a:endParaRPr lang="en-US" sz="1800" dirty="0"/>
          </a:p>
        </p:txBody>
      </p:sp>
      <p:sp>
        <p:nvSpPr>
          <p:cNvPr id="8" name="Leadership Box"/>
          <p:cNvSpPr/>
          <p:nvPr/>
        </p:nvSpPr>
        <p:spPr>
          <a:xfrm>
            <a:off x="4429658" y="2011680"/>
            <a:ext cx="3332378" cy="4206240"/>
          </a:xfrm>
          <a:prstGeom prst="rect">
            <a:avLst/>
          </a:prstGeom>
          <a:solidFill>
            <a:srgbClr val="DEEBF7"/>
          </a:solidFill>
          <a:ln w="12700">
            <a:solidFill>
              <a:srgbClr val="DEEBF7"/>
            </a:solidFill>
            <a:prstDash val="solid"/>
          </a:ln>
        </p:spPr>
      </p:sp>
      <p:sp>
        <p:nvSpPr>
          <p:cNvPr id="9" name="Leadership Heading"/>
          <p:cNvSpPr txBox="1"/>
          <p:nvPr/>
        </p:nvSpPr>
        <p:spPr>
          <a:xfrm>
            <a:off x="4658258" y="2148840"/>
            <a:ext cx="2875178"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Leadership</a:t>
            </a:r>
            <a:endParaRPr lang="en-US" sz="2000" dirty="0"/>
          </a:p>
        </p:txBody>
      </p:sp>
      <p:sp>
        <p:nvSpPr>
          <p:cNvPr id="10" name="Leadership Text"/>
          <p:cNvSpPr txBox="1"/>
          <p:nvPr/>
        </p:nvSpPr>
        <p:spPr>
          <a:xfrm>
            <a:off x="4658258" y="2651760"/>
            <a:ext cx="2875178" cy="3429000"/>
          </a:xfrm>
          <a:prstGeom prst="rect">
            <a:avLst/>
          </a:prstGeom>
          <a:noFill/>
          <a:ln/>
        </p:spPr>
        <p:txBody>
          <a:bodyPr wrap="square" lIns="0" tIns="0" rIns="0" bIns="0" rtlCol="0" anchor="t"/>
          <a:lstStyle/>
          <a:p>
            <a:pPr marL="228600" indent="-228600">
              <a:spcAft>
                <a:spcPts val="1600"/>
              </a:spcAft>
              <a:buSzPct val="100000"/>
              <a:buChar char="•"/>
            </a:pPr>
            <a:r>
              <a:rPr lang="en-US" sz="1800" b="1" dirty="0">
                <a:solidFill>
                  <a:srgbClr val="000000"/>
                </a:solidFill>
                <a:latin typeface="Arial" pitchFamily="34" charset="0"/>
                <a:ea typeface="Arial" pitchFamily="34" charset="-122"/>
                <a:cs typeface="Arial" pitchFamily="34" charset="-120"/>
              </a:rPr>
              <a:t>Mr Oghale Ogueni</a:t>
            </a:r>
            <a:br/>
            <a:r>
              <a:rPr lang="en-US" sz="1800" dirty="0">
                <a:solidFill>
                  <a:srgbClr val="000000"/>
                </a:solidFill>
                <a:latin typeface="Arial" pitchFamily="34" charset="0"/>
                <a:ea typeface="Arial" pitchFamily="34" charset="-122"/>
                <a:cs typeface="Arial" pitchFamily="34" charset="-120"/>
              </a:rPr>
              <a:t>Managing Director</a:t>
            </a:r>
            <a:endParaRPr lang="en-US" sz="1800" dirty="0"/>
          </a:p>
          <a:p>
            <a:pPr marL="228600" indent="-228600">
              <a:spcAft>
                <a:spcPts val="1600"/>
              </a:spcAft>
              <a:buSzPct val="100000"/>
              <a:buChar char="•"/>
            </a:pPr>
            <a:r>
              <a:rPr lang="en-US" sz="1800" b="1" dirty="0">
                <a:solidFill>
                  <a:srgbClr val="000000"/>
                </a:solidFill>
                <a:latin typeface="Arial" pitchFamily="34" charset="0"/>
                <a:ea typeface="Arial" pitchFamily="34" charset="-122"/>
                <a:cs typeface="Arial" pitchFamily="34" charset="-120"/>
              </a:rPr>
              <a:t>Mr Oladare Oresukan</a:t>
            </a:r>
            <a:br/>
            <a:r>
              <a:rPr lang="en-US" sz="1800" dirty="0">
                <a:solidFill>
                  <a:srgbClr val="000000"/>
                </a:solidFill>
                <a:latin typeface="Arial" pitchFamily="34" charset="0"/>
                <a:ea typeface="Arial" pitchFamily="34" charset="-122"/>
                <a:cs typeface="Arial" pitchFamily="34" charset="-120"/>
              </a:rPr>
              <a:t>Chief Financial Officer</a:t>
            </a:r>
            <a:endParaRPr lang="en-US" sz="1800" dirty="0"/>
          </a:p>
          <a:p>
            <a:pPr marL="228600" indent="-228600">
              <a:spcAft>
                <a:spcPts val="1600"/>
              </a:spcAft>
              <a:buSzPct val="100000"/>
              <a:buChar char="•"/>
            </a:pPr>
            <a:r>
              <a:rPr lang="en-US" sz="1800" b="1" dirty="0">
                <a:solidFill>
                  <a:srgbClr val="000000"/>
                </a:solidFill>
                <a:latin typeface="Arial" pitchFamily="34" charset="0"/>
                <a:ea typeface="Arial" pitchFamily="34" charset="-122"/>
                <a:cs typeface="Arial" pitchFamily="34" charset="-120"/>
              </a:rPr>
              <a:t>Owner</a:t>
            </a:r>
            <a:br/>
            <a:r>
              <a:rPr lang="en-US" sz="1800" dirty="0">
                <a:solidFill>
                  <a:srgbClr val="000000"/>
                </a:solidFill>
                <a:latin typeface="Arial" pitchFamily="34" charset="0"/>
                <a:ea typeface="Arial" pitchFamily="34" charset="-122"/>
                <a:cs typeface="Arial" pitchFamily="34" charset="-120"/>
              </a:rPr>
              <a:t>PZ Cussons group (United Kingdom)</a:t>
            </a:r>
            <a:endParaRPr lang="en-US" sz="1800" dirty="0"/>
          </a:p>
        </p:txBody>
      </p:sp>
      <p:sp>
        <p:nvSpPr>
          <p:cNvPr id="11" name="Structure Box"/>
          <p:cNvSpPr/>
          <p:nvPr/>
        </p:nvSpPr>
        <p:spPr>
          <a:xfrm>
            <a:off x="8036357" y="2011680"/>
            <a:ext cx="3332378" cy="4206240"/>
          </a:xfrm>
          <a:prstGeom prst="rect">
            <a:avLst/>
          </a:prstGeom>
          <a:solidFill>
            <a:srgbClr val="DEEBF7"/>
          </a:solidFill>
          <a:ln w="12700">
            <a:solidFill>
              <a:srgbClr val="DEEBF7"/>
            </a:solidFill>
            <a:prstDash val="solid"/>
          </a:ln>
        </p:spPr>
      </p:sp>
      <p:sp>
        <p:nvSpPr>
          <p:cNvPr id="12" name="Structure Heading"/>
          <p:cNvSpPr txBox="1"/>
          <p:nvPr/>
        </p:nvSpPr>
        <p:spPr>
          <a:xfrm>
            <a:off x="8264957" y="2148840"/>
            <a:ext cx="2875178"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Structure</a:t>
            </a:r>
            <a:endParaRPr lang="en-US" sz="2000" dirty="0"/>
          </a:p>
        </p:txBody>
      </p:sp>
      <p:sp>
        <p:nvSpPr>
          <p:cNvPr id="13" name="Structure Text"/>
          <p:cNvSpPr txBox="1"/>
          <p:nvPr/>
        </p:nvSpPr>
        <p:spPr>
          <a:xfrm>
            <a:off x="8264957" y="2651760"/>
            <a:ext cx="2875178" cy="3429000"/>
          </a:xfrm>
          <a:prstGeom prst="rect">
            <a:avLst/>
          </a:prstGeom>
          <a:noFill/>
          <a:ln/>
        </p:spPr>
        <p:txBody>
          <a:bodyPr wrap="square" lIns="0" tIns="0" rIns="0" bIns="0" rtlCol="0" anchor="t"/>
          <a:lstStyle/>
          <a:p>
            <a:pPr marL="228600" indent="-228600">
              <a:spcAft>
                <a:spcPts val="1200"/>
              </a:spcAft>
              <a:buSzPct val="100000"/>
              <a:buChar char="•"/>
            </a:pPr>
            <a:r>
              <a:rPr lang="en-US" sz="1800" b="1" dirty="0">
                <a:solidFill>
                  <a:srgbClr val="000000"/>
                </a:solidFill>
                <a:latin typeface="Arial" pitchFamily="34" charset="0"/>
                <a:ea typeface="Arial" pitchFamily="34" charset="-122"/>
                <a:cs typeface="Arial" pitchFamily="34" charset="-120"/>
              </a:rPr>
              <a:t>Managing Director</a:t>
            </a:r>
            <a:br/>
            <a:r>
              <a:rPr lang="en-US" sz="1800" dirty="0">
                <a:solidFill>
                  <a:srgbClr val="000000"/>
                </a:solidFill>
                <a:latin typeface="Arial" pitchFamily="34" charset="0"/>
                <a:ea typeface="Arial" pitchFamily="34" charset="-122"/>
                <a:cs typeface="Arial" pitchFamily="34" charset="-120"/>
              </a:rPr>
              <a:t>with the CFO and HR Director</a:t>
            </a:r>
            <a:endParaRPr lang="en-US" sz="1800" dirty="0"/>
          </a:p>
          <a:p>
            <a:pPr marL="228600" indent="-228600">
              <a:spcAft>
                <a:spcPts val="1200"/>
              </a:spcAft>
              <a:buSzPct val="100000"/>
              <a:buChar char="•"/>
            </a:pPr>
            <a:r>
              <a:rPr lang="en-US" sz="1800" b="1" dirty="0">
                <a:solidFill>
                  <a:srgbClr val="000000"/>
                </a:solidFill>
                <a:latin typeface="Arial" pitchFamily="34" charset="0"/>
                <a:ea typeface="Arial" pitchFamily="34" charset="-122"/>
                <a:cs typeface="Arial" pitchFamily="34" charset="-120"/>
              </a:rPr>
              <a:t>Category Managers</a:t>
            </a:r>
            <a:endParaRPr lang="en-US" sz="1800" dirty="0"/>
          </a:p>
          <a:p>
            <a:pPr marL="228600" indent="-228600">
              <a:spcAft>
                <a:spcPts val="1200"/>
              </a:spcAft>
              <a:buSzPct val="100000"/>
              <a:buChar char="•"/>
            </a:pPr>
            <a:r>
              <a:rPr lang="en-US" sz="1800" b="1" dirty="0">
                <a:solidFill>
                  <a:srgbClr val="000000"/>
                </a:solidFill>
                <a:latin typeface="Arial" pitchFamily="34" charset="0"/>
                <a:ea typeface="Arial" pitchFamily="34" charset="-122"/>
                <a:cs typeface="Arial" pitchFamily="34" charset="-120"/>
              </a:rPr>
              <a:t>Brand Managers</a:t>
            </a:r>
            <a:br/>
            <a:r>
              <a:rPr lang="en-US" sz="1800" dirty="0">
                <a:solidFill>
                  <a:srgbClr val="000000"/>
                </a:solidFill>
                <a:latin typeface="Arial" pitchFamily="34" charset="0"/>
                <a:ea typeface="Arial" pitchFamily="34" charset="-122"/>
                <a:cs typeface="Arial" pitchFamily="34" charset="-120"/>
              </a:rPr>
              <a:t>one manager for each brand</a:t>
            </a:r>
            <a:endParaRPr lang="en-US" sz="1800" dirty="0"/>
          </a:p>
          <a:p>
            <a:pPr marL="228600" indent="-228600">
              <a:spcAft>
                <a:spcPts val="1200"/>
              </a:spcAft>
              <a:buSzPct val="100000"/>
              <a:buChar char="•"/>
            </a:pPr>
            <a:r>
              <a:rPr lang="en-US" sz="1800" b="1" dirty="0">
                <a:solidFill>
                  <a:srgbClr val="000000"/>
                </a:solidFill>
                <a:latin typeface="Arial" pitchFamily="34" charset="0"/>
                <a:ea typeface="Arial" pitchFamily="34" charset="-122"/>
                <a:cs typeface="Arial" pitchFamily="34" charset="-120"/>
              </a:rPr>
              <a:t>Assistant Brand Managers</a:t>
            </a:r>
            <a:endParaRPr lang="en-US" sz="18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right)">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childTnLst>
                          </p:cTn>
                        </p:par>
                        <p:par>
                          <p:cTn id="25" fill="hold">
                            <p:stCondLst>
                              <p:cond delay="1500"/>
                            </p:stCondLst>
                            <p:childTnLst>
                              <p:par>
                                <p:cTn id="26" presetID="10" presetClass="entr" presetSubtype="0" fill="hold" grpId="0" nodeType="after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500"/>
                                        <p:tgtEl>
                                          <p:spTgt spid="9"/>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childTnLst>
                                </p:cTn>
                              </p:par>
                            </p:childTnLst>
                          </p:cTn>
                        </p:par>
                        <p:par>
                          <p:cTn id="35" fill="hold">
                            <p:stCondLst>
                              <p:cond delay="200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00"/>
                                        <p:tgtEl>
                                          <p:spTgt spid="11"/>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500"/>
                                        <p:tgtEl>
                                          <p:spTgt spid="1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731520" y="457200"/>
            <a:ext cx="10728655" cy="731520"/>
          </a:xfrm>
          <a:prstGeom prst="rect">
            <a:avLst/>
          </a:prstGeom>
          <a:noFill/>
          <a:ln/>
        </p:spPr>
        <p:txBody>
          <a:bodyPr wrap="square" lIns="0" tIns="0" rIns="0" bIns="0" rtlCol="0" anchor="ctr"/>
          <a:lstStyle/>
          <a:p>
            <a:pPr algn="ctr" indent="0" marL="0">
              <a:buNone/>
            </a:pPr>
            <a:r>
              <a:rPr lang="en-US" sz="3600" b="1" dirty="0">
                <a:solidFill>
                  <a:srgbClr val="1F3864"/>
                </a:solidFill>
                <a:latin typeface="Arial" pitchFamily="34" charset="0"/>
                <a:ea typeface="Arial" pitchFamily="34" charset="-122"/>
                <a:cs typeface="Arial" pitchFamily="34" charset="-120"/>
              </a:rPr>
              <a:t>PESTLE Analysis (1 of 2)</a:t>
            </a:r>
            <a:endParaRPr lang="en-US" sz="3600" dirty="0"/>
          </a:p>
        </p:txBody>
      </p:sp>
      <p:sp>
        <p:nvSpPr>
          <p:cNvPr id="3" name="Title Rule"/>
          <p:cNvSpPr/>
          <p:nvPr/>
        </p:nvSpPr>
        <p:spPr>
          <a:xfrm>
            <a:off x="914400" y="1298448"/>
            <a:ext cx="10362895" cy="0"/>
          </a:xfrm>
          <a:prstGeom prst="line">
            <a:avLst/>
          </a:prstGeom>
          <a:noFill/>
          <a:ln w="19050">
            <a:solidFill>
              <a:srgbClr val="1F3864"/>
            </a:solidFill>
            <a:prstDash val="solid"/>
          </a:ln>
        </p:spPr>
      </p:sp>
      <p:sp>
        <p:nvSpPr>
          <p:cNvPr id="4" name="Subtitle"/>
          <p:cNvSpPr txBox="1"/>
          <p:nvPr/>
        </p:nvSpPr>
        <p:spPr>
          <a:xfrm>
            <a:off x="731520" y="1417320"/>
            <a:ext cx="10728655" cy="384048"/>
          </a:xfrm>
          <a:prstGeom prst="rect">
            <a:avLst/>
          </a:prstGeom>
          <a:noFill/>
          <a:ln/>
        </p:spPr>
        <p:txBody>
          <a:bodyPr wrap="square" lIns="0" tIns="0" rIns="0" bIns="0" rtlCol="0" anchor="ctr"/>
          <a:lstStyle/>
          <a:p>
            <a:pPr algn="ctr" indent="0" marL="0">
              <a:buNone/>
            </a:pPr>
            <a:r>
              <a:rPr lang="en-US" sz="1800" dirty="0">
                <a:solidFill>
                  <a:srgbClr val="000000"/>
                </a:solidFill>
                <a:latin typeface="Arial" pitchFamily="34" charset="0"/>
                <a:ea typeface="Arial" pitchFamily="34" charset="-122"/>
                <a:cs typeface="Arial" pitchFamily="34" charset="-120"/>
              </a:rPr>
              <a:t>Political, Economic and Social factors, with each issue's score (Impact × Likelihood, out of 25)</a:t>
            </a:r>
            <a:endParaRPr lang="en-US" sz="1800" dirty="0"/>
          </a:p>
        </p:txBody>
      </p:sp>
      <p:sp>
        <p:nvSpPr>
          <p:cNvPr id="5" name="Political Box"/>
          <p:cNvSpPr/>
          <p:nvPr/>
        </p:nvSpPr>
        <p:spPr>
          <a:xfrm>
            <a:off x="822960" y="2011680"/>
            <a:ext cx="3332378" cy="4297680"/>
          </a:xfrm>
          <a:prstGeom prst="rect">
            <a:avLst/>
          </a:prstGeom>
          <a:solidFill>
            <a:srgbClr val="DEEBF7"/>
          </a:solidFill>
          <a:ln w="12700">
            <a:solidFill>
              <a:srgbClr val="DEEBF7"/>
            </a:solidFill>
            <a:prstDash val="solid"/>
          </a:ln>
        </p:spPr>
      </p:sp>
      <p:sp>
        <p:nvSpPr>
          <p:cNvPr id="6" name="Political Heading"/>
          <p:cNvSpPr txBox="1"/>
          <p:nvPr/>
        </p:nvSpPr>
        <p:spPr>
          <a:xfrm>
            <a:off x="1051560" y="2148840"/>
            <a:ext cx="2875178"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Political</a:t>
            </a:r>
            <a:endParaRPr lang="en-US" sz="2000" dirty="0"/>
          </a:p>
        </p:txBody>
      </p:sp>
      <p:sp>
        <p:nvSpPr>
          <p:cNvPr id="7" name="Political Subheading"/>
          <p:cNvSpPr txBox="1"/>
          <p:nvPr/>
        </p:nvSpPr>
        <p:spPr>
          <a:xfrm>
            <a:off x="1051560" y="2560320"/>
            <a:ext cx="2875178" cy="320040"/>
          </a:xfrm>
          <a:prstGeom prst="rect">
            <a:avLst/>
          </a:prstGeom>
          <a:noFill/>
          <a:ln/>
        </p:spPr>
        <p:txBody>
          <a:bodyPr wrap="square" lIns="0" tIns="0" rIns="0" bIns="0" rtlCol="0" anchor="ctr"/>
          <a:lstStyle/>
          <a:p>
            <a:pPr indent="0" marL="0">
              <a:buNone/>
            </a:pPr>
            <a:r>
              <a:rPr lang="en-US" sz="1500" dirty="0">
                <a:solidFill>
                  <a:srgbClr val="000000"/>
                </a:solidFill>
                <a:latin typeface="Arial" pitchFamily="34" charset="0"/>
                <a:ea typeface="Arial" pitchFamily="34" charset="-122"/>
                <a:cs typeface="Arial" pitchFamily="34" charset="-120"/>
              </a:rPr>
              <a:t>Average score: 13.7 of 25</a:t>
            </a:r>
            <a:endParaRPr lang="en-US" sz="1500" dirty="0"/>
          </a:p>
        </p:txBody>
      </p:sp>
      <p:sp>
        <p:nvSpPr>
          <p:cNvPr id="8" name="Political Text"/>
          <p:cNvSpPr txBox="1"/>
          <p:nvPr/>
        </p:nvSpPr>
        <p:spPr>
          <a:xfrm>
            <a:off x="1051560" y="2971800"/>
            <a:ext cx="2875178" cy="3200400"/>
          </a:xfrm>
          <a:prstGeom prst="rect">
            <a:avLst/>
          </a:prstGeom>
          <a:noFill/>
          <a:ln/>
        </p:spPr>
        <p:txBody>
          <a:bodyPr wrap="square" lIns="0" tIns="0" rIns="0" bIns="0" rtlCol="0" anchor="t"/>
          <a:lstStyle/>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Fuel subsidy removal and FX reforms</a:t>
            </a:r>
            <a:br/>
            <a:r>
              <a:rPr lang="en-US" sz="1400" dirty="0">
                <a:solidFill>
                  <a:srgbClr val="000000"/>
                </a:solidFill>
                <a:latin typeface="Arial" pitchFamily="34" charset="0"/>
                <a:ea typeface="Arial" pitchFamily="34" charset="-122"/>
                <a:cs typeface="Arial" pitchFamily="34" charset="-120"/>
              </a:rPr>
              <a:t>Higher fuel and transport costs; easier access to dollars over time</a:t>
            </a:r>
            <a:br/>
            <a:r>
              <a:rPr lang="en-US" sz="1400" dirty="0">
                <a:solidFill>
                  <a:srgbClr val="000000"/>
                </a:solidFill>
                <a:latin typeface="Arial" pitchFamily="34" charset="0"/>
                <a:ea typeface="Arial" pitchFamily="34" charset="-122"/>
                <a:cs typeface="Arial" pitchFamily="34" charset="-120"/>
              </a:rPr>
              <a:t>Score 20: High (threat)</a:t>
            </a:r>
            <a:endParaRPr lang="en-US" sz="1400" dirty="0"/>
          </a:p>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Import duties and levies</a:t>
            </a:r>
            <a:br/>
            <a:r>
              <a:rPr lang="en-US" sz="1400" dirty="0">
                <a:solidFill>
                  <a:srgbClr val="000000"/>
                </a:solidFill>
                <a:latin typeface="Arial" pitchFamily="34" charset="0"/>
                <a:ea typeface="Arial" pitchFamily="34" charset="-122"/>
                <a:cs typeface="Arial" pitchFamily="34" charset="-120"/>
              </a:rPr>
              <a:t>Imported raw materials and parts cost more</a:t>
            </a:r>
            <a:br/>
            <a:r>
              <a:rPr lang="en-US" sz="1400" dirty="0">
                <a:solidFill>
                  <a:srgbClr val="000000"/>
                </a:solidFill>
                <a:latin typeface="Arial" pitchFamily="34" charset="0"/>
                <a:ea typeface="Arial" pitchFamily="34" charset="-122"/>
                <a:cs typeface="Arial" pitchFamily="34" charset="-120"/>
              </a:rPr>
              <a:t>Score 12: Medium (threat)</a:t>
            </a:r>
            <a:endParaRPr lang="en-US" sz="1400" dirty="0"/>
          </a:p>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2027 elections and policy changes</a:t>
            </a:r>
            <a:br/>
            <a:r>
              <a:rPr lang="en-US" sz="1400" dirty="0">
                <a:solidFill>
                  <a:srgbClr val="000000"/>
                </a:solidFill>
                <a:latin typeface="Arial" pitchFamily="34" charset="0"/>
                <a:ea typeface="Arial" pitchFamily="34" charset="-122"/>
                <a:cs typeface="Arial" pitchFamily="34" charset="-120"/>
              </a:rPr>
              <a:t>Uncertainty can delay investment and change the rules</a:t>
            </a:r>
            <a:br/>
            <a:r>
              <a:rPr lang="en-US" sz="1400" dirty="0">
                <a:solidFill>
                  <a:srgbClr val="000000"/>
                </a:solidFill>
                <a:latin typeface="Arial" pitchFamily="34" charset="0"/>
                <a:ea typeface="Arial" pitchFamily="34" charset="-122"/>
                <a:cs typeface="Arial" pitchFamily="34" charset="-120"/>
              </a:rPr>
              <a:t>Score 9: Medium (threat)</a:t>
            </a:r>
            <a:endParaRPr lang="en-US" sz="1400" dirty="0"/>
          </a:p>
        </p:txBody>
      </p:sp>
      <p:sp>
        <p:nvSpPr>
          <p:cNvPr id="9" name="Economic Box"/>
          <p:cNvSpPr/>
          <p:nvPr/>
        </p:nvSpPr>
        <p:spPr>
          <a:xfrm>
            <a:off x="4429658" y="2011680"/>
            <a:ext cx="3332378" cy="4297680"/>
          </a:xfrm>
          <a:prstGeom prst="rect">
            <a:avLst/>
          </a:prstGeom>
          <a:solidFill>
            <a:srgbClr val="DEEBF7"/>
          </a:solidFill>
          <a:ln w="12700">
            <a:solidFill>
              <a:srgbClr val="DEEBF7"/>
            </a:solidFill>
            <a:prstDash val="solid"/>
          </a:ln>
        </p:spPr>
      </p:sp>
      <p:sp>
        <p:nvSpPr>
          <p:cNvPr id="10" name="Economic Heading"/>
          <p:cNvSpPr txBox="1"/>
          <p:nvPr/>
        </p:nvSpPr>
        <p:spPr>
          <a:xfrm>
            <a:off x="4658258" y="2148840"/>
            <a:ext cx="2875178"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Economic</a:t>
            </a:r>
            <a:endParaRPr lang="en-US" sz="2000" dirty="0"/>
          </a:p>
        </p:txBody>
      </p:sp>
      <p:sp>
        <p:nvSpPr>
          <p:cNvPr id="11" name="Economic Subheading"/>
          <p:cNvSpPr txBox="1"/>
          <p:nvPr/>
        </p:nvSpPr>
        <p:spPr>
          <a:xfrm>
            <a:off x="4658258" y="2560320"/>
            <a:ext cx="2875178" cy="320040"/>
          </a:xfrm>
          <a:prstGeom prst="rect">
            <a:avLst/>
          </a:prstGeom>
          <a:noFill/>
          <a:ln/>
        </p:spPr>
        <p:txBody>
          <a:bodyPr wrap="square" lIns="0" tIns="0" rIns="0" bIns="0" rtlCol="0" anchor="ctr"/>
          <a:lstStyle/>
          <a:p>
            <a:pPr indent="0" marL="0">
              <a:buNone/>
            </a:pPr>
            <a:r>
              <a:rPr lang="en-US" sz="1500" dirty="0">
                <a:solidFill>
                  <a:srgbClr val="000000"/>
                </a:solidFill>
                <a:latin typeface="Arial" pitchFamily="34" charset="0"/>
                <a:ea typeface="Arial" pitchFamily="34" charset="-122"/>
                <a:cs typeface="Arial" pitchFamily="34" charset="-120"/>
              </a:rPr>
              <a:t>Average score: 20.7 of 25</a:t>
            </a:r>
            <a:endParaRPr lang="en-US" sz="1500" dirty="0"/>
          </a:p>
        </p:txBody>
      </p:sp>
      <p:sp>
        <p:nvSpPr>
          <p:cNvPr id="12" name="Economic Text"/>
          <p:cNvSpPr txBox="1"/>
          <p:nvPr/>
        </p:nvSpPr>
        <p:spPr>
          <a:xfrm>
            <a:off x="4658258" y="2971800"/>
            <a:ext cx="2875178" cy="3200400"/>
          </a:xfrm>
          <a:prstGeom prst="rect">
            <a:avLst/>
          </a:prstGeom>
          <a:noFill/>
          <a:ln/>
        </p:spPr>
        <p:txBody>
          <a:bodyPr wrap="square" lIns="0" tIns="0" rIns="0" bIns="0" rtlCol="0" anchor="t"/>
          <a:lstStyle/>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Naira devaluation and FX shortages</a:t>
            </a:r>
            <a:br/>
            <a:r>
              <a:rPr lang="en-US" sz="1400" dirty="0">
                <a:solidFill>
                  <a:srgbClr val="000000"/>
                </a:solidFill>
                <a:latin typeface="Arial" pitchFamily="34" charset="0"/>
                <a:ea typeface="Arial" pitchFamily="34" charset="-122"/>
                <a:cs typeface="Arial" pitchFamily="34" charset="-120"/>
              </a:rPr>
              <a:t>Imported raw materials cost much more; losses on foreign-currency debts</a:t>
            </a:r>
            <a:br/>
            <a:r>
              <a:rPr lang="en-US" sz="1400" dirty="0">
                <a:solidFill>
                  <a:srgbClr val="000000"/>
                </a:solidFill>
                <a:latin typeface="Arial" pitchFamily="34" charset="0"/>
                <a:ea typeface="Arial" pitchFamily="34" charset="-122"/>
                <a:cs typeface="Arial" pitchFamily="34" charset="-120"/>
              </a:rPr>
              <a:t>Score 25: High (threat)</a:t>
            </a:r>
            <a:endParaRPr lang="en-US" sz="1400" dirty="0"/>
          </a:p>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High inflation</a:t>
            </a:r>
            <a:br/>
            <a:r>
              <a:rPr lang="en-US" sz="1400" dirty="0">
                <a:solidFill>
                  <a:srgbClr val="000000"/>
                </a:solidFill>
                <a:latin typeface="Arial" pitchFamily="34" charset="0"/>
                <a:ea typeface="Arial" pitchFamily="34" charset="-122"/>
                <a:cs typeface="Arial" pitchFamily="34" charset="-120"/>
              </a:rPr>
              <a:t>Shoppers buy less or switch to cheaper brands</a:t>
            </a:r>
            <a:br/>
            <a:r>
              <a:rPr lang="en-US" sz="1400" dirty="0">
                <a:solidFill>
                  <a:srgbClr val="000000"/>
                </a:solidFill>
                <a:latin typeface="Arial" pitchFamily="34" charset="0"/>
                <a:ea typeface="Arial" pitchFamily="34" charset="-122"/>
                <a:cs typeface="Arial" pitchFamily="34" charset="-120"/>
              </a:rPr>
              <a:t>Score 25: High (threat)</a:t>
            </a:r>
            <a:endParaRPr lang="en-US" sz="1400" dirty="0"/>
          </a:p>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High interest rates</a:t>
            </a:r>
            <a:br/>
            <a:r>
              <a:rPr lang="en-US" sz="1400" dirty="0">
                <a:solidFill>
                  <a:srgbClr val="000000"/>
                </a:solidFill>
                <a:latin typeface="Arial" pitchFamily="34" charset="0"/>
                <a:ea typeface="Arial" pitchFamily="34" charset="-122"/>
                <a:cs typeface="Arial" pitchFamily="34" charset="-120"/>
              </a:rPr>
              <a:t>Borrowing is expensive; fewer appliances bought on credit</a:t>
            </a:r>
            <a:br/>
            <a:r>
              <a:rPr lang="en-US" sz="1400" dirty="0">
                <a:solidFill>
                  <a:srgbClr val="000000"/>
                </a:solidFill>
                <a:latin typeface="Arial" pitchFamily="34" charset="0"/>
                <a:ea typeface="Arial" pitchFamily="34" charset="-122"/>
                <a:cs typeface="Arial" pitchFamily="34" charset="-120"/>
              </a:rPr>
              <a:t>Score 12: Medium (threat)</a:t>
            </a:r>
            <a:endParaRPr lang="en-US" sz="1400" dirty="0"/>
          </a:p>
        </p:txBody>
      </p:sp>
      <p:sp>
        <p:nvSpPr>
          <p:cNvPr id="13" name="Social Box"/>
          <p:cNvSpPr/>
          <p:nvPr/>
        </p:nvSpPr>
        <p:spPr>
          <a:xfrm>
            <a:off x="8036357" y="2011680"/>
            <a:ext cx="3332378" cy="4297680"/>
          </a:xfrm>
          <a:prstGeom prst="rect">
            <a:avLst/>
          </a:prstGeom>
          <a:solidFill>
            <a:srgbClr val="DEEBF7"/>
          </a:solidFill>
          <a:ln w="12700">
            <a:solidFill>
              <a:srgbClr val="DEEBF7"/>
            </a:solidFill>
            <a:prstDash val="solid"/>
          </a:ln>
        </p:spPr>
      </p:sp>
      <p:sp>
        <p:nvSpPr>
          <p:cNvPr id="14" name="Social Heading"/>
          <p:cNvSpPr txBox="1"/>
          <p:nvPr/>
        </p:nvSpPr>
        <p:spPr>
          <a:xfrm>
            <a:off x="8264957" y="2148840"/>
            <a:ext cx="2875178"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Social</a:t>
            </a:r>
            <a:endParaRPr lang="en-US" sz="2000" dirty="0"/>
          </a:p>
        </p:txBody>
      </p:sp>
      <p:sp>
        <p:nvSpPr>
          <p:cNvPr id="15" name="Social Subheading"/>
          <p:cNvSpPr txBox="1"/>
          <p:nvPr/>
        </p:nvSpPr>
        <p:spPr>
          <a:xfrm>
            <a:off x="8264957" y="2560320"/>
            <a:ext cx="2875178" cy="320040"/>
          </a:xfrm>
          <a:prstGeom prst="rect">
            <a:avLst/>
          </a:prstGeom>
          <a:noFill/>
          <a:ln/>
        </p:spPr>
        <p:txBody>
          <a:bodyPr wrap="square" lIns="0" tIns="0" rIns="0" bIns="0" rtlCol="0" anchor="ctr"/>
          <a:lstStyle/>
          <a:p>
            <a:pPr indent="0" marL="0">
              <a:buNone/>
            </a:pPr>
            <a:r>
              <a:rPr lang="en-US" sz="1500" dirty="0">
                <a:solidFill>
                  <a:srgbClr val="000000"/>
                </a:solidFill>
                <a:latin typeface="Arial" pitchFamily="34" charset="0"/>
                <a:ea typeface="Arial" pitchFamily="34" charset="-122"/>
                <a:cs typeface="Arial" pitchFamily="34" charset="-120"/>
              </a:rPr>
              <a:t>Average score: 16.0 of 25</a:t>
            </a:r>
            <a:endParaRPr lang="en-US" sz="1500" dirty="0"/>
          </a:p>
        </p:txBody>
      </p:sp>
      <p:sp>
        <p:nvSpPr>
          <p:cNvPr id="16" name="Social Text"/>
          <p:cNvSpPr txBox="1"/>
          <p:nvPr/>
        </p:nvSpPr>
        <p:spPr>
          <a:xfrm>
            <a:off x="8264957" y="2971800"/>
            <a:ext cx="2875178" cy="3200400"/>
          </a:xfrm>
          <a:prstGeom prst="rect">
            <a:avLst/>
          </a:prstGeom>
          <a:noFill/>
          <a:ln/>
        </p:spPr>
        <p:txBody>
          <a:bodyPr wrap="square" lIns="0" tIns="0" rIns="0" bIns="0" rtlCol="0" anchor="t"/>
          <a:lstStyle/>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Large, young, growing population</a:t>
            </a:r>
            <a:br/>
            <a:r>
              <a:rPr lang="en-US" sz="1400" dirty="0">
                <a:solidFill>
                  <a:srgbClr val="000000"/>
                </a:solidFill>
                <a:latin typeface="Arial" pitchFamily="34" charset="0"/>
                <a:ea typeface="Arial" pitchFamily="34" charset="-122"/>
                <a:cs typeface="Arial" pitchFamily="34" charset="-120"/>
              </a:rPr>
              <a:t>A big and growing market for soaps, detergents and appliances</a:t>
            </a:r>
            <a:br/>
            <a:r>
              <a:rPr lang="en-US" sz="1400" dirty="0">
                <a:solidFill>
                  <a:srgbClr val="000000"/>
                </a:solidFill>
                <a:latin typeface="Arial" pitchFamily="34" charset="0"/>
                <a:ea typeface="Arial" pitchFamily="34" charset="-122"/>
                <a:cs typeface="Arial" pitchFamily="34" charset="-120"/>
              </a:rPr>
              <a:t>Score 20: High (opportunity)</a:t>
            </a:r>
            <a:endParaRPr lang="en-US" sz="1400" dirty="0"/>
          </a:p>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Price-sensitive shoppers</a:t>
            </a:r>
            <a:br/>
            <a:r>
              <a:rPr lang="en-US" sz="1400" dirty="0">
                <a:solidFill>
                  <a:srgbClr val="000000"/>
                </a:solidFill>
                <a:latin typeface="Arial" pitchFamily="34" charset="0"/>
                <a:ea typeface="Arial" pitchFamily="34" charset="-122"/>
                <a:cs typeface="Arial" pitchFamily="34" charset="-120"/>
              </a:rPr>
              <a:t>Demand for smaller, cheaper packs</a:t>
            </a:r>
            <a:br/>
            <a:r>
              <a:rPr lang="en-US" sz="1400" dirty="0">
                <a:solidFill>
                  <a:srgbClr val="000000"/>
                </a:solidFill>
                <a:latin typeface="Arial" pitchFamily="34" charset="0"/>
                <a:ea typeface="Arial" pitchFamily="34" charset="-122"/>
                <a:cs typeface="Arial" pitchFamily="34" charset="-120"/>
              </a:rPr>
              <a:t>Score 16: High (opportunity)</a:t>
            </a:r>
            <a:endParaRPr lang="en-US" sz="1400" dirty="0"/>
          </a:p>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Growing hygiene awareness</a:t>
            </a:r>
            <a:br/>
            <a:r>
              <a:rPr lang="en-US" sz="1400" dirty="0">
                <a:solidFill>
                  <a:srgbClr val="000000"/>
                </a:solidFill>
                <a:latin typeface="Arial" pitchFamily="34" charset="0"/>
                <a:ea typeface="Arial" pitchFamily="34" charset="-122"/>
                <a:cs typeface="Arial" pitchFamily="34" charset="-120"/>
              </a:rPr>
              <a:t>More demand for soaps and cleaning products</a:t>
            </a:r>
            <a:br/>
            <a:r>
              <a:rPr lang="en-US" sz="1400" dirty="0">
                <a:solidFill>
                  <a:srgbClr val="000000"/>
                </a:solidFill>
                <a:latin typeface="Arial" pitchFamily="34" charset="0"/>
                <a:ea typeface="Arial" pitchFamily="34" charset="-122"/>
                <a:cs typeface="Arial" pitchFamily="34" charset="-120"/>
              </a:rPr>
              <a:t>Score 12: Medium (opportunity)</a:t>
            </a:r>
            <a:endParaRPr lang="en-US" sz="14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right)">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500"/>
                                        <p:tgtEl>
                                          <p:spTgt spid="9"/>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childTnLst>
                          </p:cTn>
                        </p:par>
                        <p:par>
                          <p:cTn id="41" fill="hold">
                            <p:stCondLst>
                              <p:cond delay="2000"/>
                            </p:stCondLst>
                            <p:childTnLst>
                              <p:par>
                                <p:cTn id="42" presetID="10" presetClass="entr" presetSubtype="0" fill="hold" grpId="0" nodeType="after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500"/>
                                        <p:tgtEl>
                                          <p:spTgt spid="15"/>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731520" y="457200"/>
            <a:ext cx="10728655" cy="731520"/>
          </a:xfrm>
          <a:prstGeom prst="rect">
            <a:avLst/>
          </a:prstGeom>
          <a:noFill/>
          <a:ln/>
        </p:spPr>
        <p:txBody>
          <a:bodyPr wrap="square" lIns="0" tIns="0" rIns="0" bIns="0" rtlCol="0" anchor="ctr"/>
          <a:lstStyle/>
          <a:p>
            <a:pPr algn="ctr" indent="0" marL="0">
              <a:buNone/>
            </a:pPr>
            <a:r>
              <a:rPr lang="en-US" sz="3600" b="1" dirty="0">
                <a:solidFill>
                  <a:srgbClr val="1F3864"/>
                </a:solidFill>
                <a:latin typeface="Arial" pitchFamily="34" charset="0"/>
                <a:ea typeface="Arial" pitchFamily="34" charset="-122"/>
                <a:cs typeface="Arial" pitchFamily="34" charset="-120"/>
              </a:rPr>
              <a:t>PESTLE Analysis (2 of 2)</a:t>
            </a:r>
            <a:endParaRPr lang="en-US" sz="3600" dirty="0"/>
          </a:p>
        </p:txBody>
      </p:sp>
      <p:sp>
        <p:nvSpPr>
          <p:cNvPr id="3" name="Title Rule"/>
          <p:cNvSpPr/>
          <p:nvPr/>
        </p:nvSpPr>
        <p:spPr>
          <a:xfrm>
            <a:off x="914400" y="1298448"/>
            <a:ext cx="10362895" cy="0"/>
          </a:xfrm>
          <a:prstGeom prst="line">
            <a:avLst/>
          </a:prstGeom>
          <a:noFill/>
          <a:ln w="19050">
            <a:solidFill>
              <a:srgbClr val="1F3864"/>
            </a:solidFill>
            <a:prstDash val="solid"/>
          </a:ln>
        </p:spPr>
      </p:sp>
      <p:sp>
        <p:nvSpPr>
          <p:cNvPr id="4" name="Subtitle"/>
          <p:cNvSpPr txBox="1"/>
          <p:nvPr/>
        </p:nvSpPr>
        <p:spPr>
          <a:xfrm>
            <a:off x="731520" y="1417320"/>
            <a:ext cx="10728655" cy="384048"/>
          </a:xfrm>
          <a:prstGeom prst="rect">
            <a:avLst/>
          </a:prstGeom>
          <a:noFill/>
          <a:ln/>
        </p:spPr>
        <p:txBody>
          <a:bodyPr wrap="square" lIns="0" tIns="0" rIns="0" bIns="0" rtlCol="0" anchor="ctr"/>
          <a:lstStyle/>
          <a:p>
            <a:pPr algn="ctr" indent="0" marL="0">
              <a:buNone/>
            </a:pPr>
            <a:r>
              <a:rPr lang="en-US" sz="1800" dirty="0">
                <a:solidFill>
                  <a:srgbClr val="000000"/>
                </a:solidFill>
                <a:latin typeface="Arial" pitchFamily="34" charset="0"/>
                <a:ea typeface="Arial" pitchFamily="34" charset="-122"/>
                <a:cs typeface="Arial" pitchFamily="34" charset="-120"/>
              </a:rPr>
              <a:t>Technological, Legal and Environmental factors, with each issue's score (Impact × Likelihood, out of 25)</a:t>
            </a:r>
            <a:endParaRPr lang="en-US" sz="1800" dirty="0"/>
          </a:p>
        </p:txBody>
      </p:sp>
      <p:sp>
        <p:nvSpPr>
          <p:cNvPr id="5" name="Technological Box"/>
          <p:cNvSpPr/>
          <p:nvPr/>
        </p:nvSpPr>
        <p:spPr>
          <a:xfrm>
            <a:off x="822960" y="2011680"/>
            <a:ext cx="3332378" cy="4297680"/>
          </a:xfrm>
          <a:prstGeom prst="rect">
            <a:avLst/>
          </a:prstGeom>
          <a:solidFill>
            <a:srgbClr val="DEEBF7"/>
          </a:solidFill>
          <a:ln w="12700">
            <a:solidFill>
              <a:srgbClr val="DEEBF7"/>
            </a:solidFill>
            <a:prstDash val="solid"/>
          </a:ln>
        </p:spPr>
      </p:sp>
      <p:sp>
        <p:nvSpPr>
          <p:cNvPr id="6" name="Technological Heading"/>
          <p:cNvSpPr txBox="1"/>
          <p:nvPr/>
        </p:nvSpPr>
        <p:spPr>
          <a:xfrm>
            <a:off x="1051560" y="2148840"/>
            <a:ext cx="2875178"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Technological</a:t>
            </a:r>
            <a:endParaRPr lang="en-US" sz="2000" dirty="0"/>
          </a:p>
        </p:txBody>
      </p:sp>
      <p:sp>
        <p:nvSpPr>
          <p:cNvPr id="7" name="Technological Subheading"/>
          <p:cNvSpPr txBox="1"/>
          <p:nvPr/>
        </p:nvSpPr>
        <p:spPr>
          <a:xfrm>
            <a:off x="1051560" y="2560320"/>
            <a:ext cx="2875178" cy="320040"/>
          </a:xfrm>
          <a:prstGeom prst="rect">
            <a:avLst/>
          </a:prstGeom>
          <a:noFill/>
          <a:ln/>
        </p:spPr>
        <p:txBody>
          <a:bodyPr wrap="square" lIns="0" tIns="0" rIns="0" bIns="0" rtlCol="0" anchor="ctr"/>
          <a:lstStyle/>
          <a:p>
            <a:pPr indent="0" marL="0">
              <a:buNone/>
            </a:pPr>
            <a:r>
              <a:rPr lang="en-US" sz="1500" dirty="0">
                <a:solidFill>
                  <a:srgbClr val="000000"/>
                </a:solidFill>
                <a:latin typeface="Arial" pitchFamily="34" charset="0"/>
                <a:ea typeface="Arial" pitchFamily="34" charset="-122"/>
                <a:cs typeface="Arial" pitchFamily="34" charset="-120"/>
              </a:rPr>
              <a:t>Average score: 14.3 of 25</a:t>
            </a:r>
            <a:endParaRPr lang="en-US" sz="1500" dirty="0"/>
          </a:p>
        </p:txBody>
      </p:sp>
      <p:sp>
        <p:nvSpPr>
          <p:cNvPr id="8" name="Technological Text"/>
          <p:cNvSpPr txBox="1"/>
          <p:nvPr/>
        </p:nvSpPr>
        <p:spPr>
          <a:xfrm>
            <a:off x="1051560" y="2971800"/>
            <a:ext cx="2875178" cy="3200400"/>
          </a:xfrm>
          <a:prstGeom prst="rect">
            <a:avLst/>
          </a:prstGeom>
          <a:noFill/>
          <a:ln/>
        </p:spPr>
        <p:txBody>
          <a:bodyPr wrap="square" lIns="0" tIns="0" rIns="0" bIns="0" rtlCol="0" anchor="t"/>
          <a:lstStyle/>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Social media and digital marketing</a:t>
            </a:r>
            <a:br/>
            <a:r>
              <a:rPr lang="en-US" sz="1400" dirty="0">
                <a:solidFill>
                  <a:srgbClr val="000000"/>
                </a:solidFill>
                <a:latin typeface="Arial" pitchFamily="34" charset="0"/>
                <a:ea typeface="Arial" pitchFamily="34" charset="-122"/>
                <a:cs typeface="Arial" pitchFamily="34" charset="-120"/>
              </a:rPr>
              <a:t>Cheaper, targeted adverts that reach young buyers</a:t>
            </a:r>
            <a:br/>
            <a:r>
              <a:rPr lang="en-US" sz="1400" dirty="0">
                <a:solidFill>
                  <a:srgbClr val="000000"/>
                </a:solidFill>
                <a:latin typeface="Arial" pitchFamily="34" charset="0"/>
                <a:ea typeface="Arial" pitchFamily="34" charset="-122"/>
                <a:cs typeface="Arial" pitchFamily="34" charset="-120"/>
              </a:rPr>
              <a:t>Score 15: Medium (opportunity)</a:t>
            </a:r>
            <a:endParaRPr lang="en-US" sz="1400" dirty="0"/>
          </a:p>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E-commerce and modern retail</a:t>
            </a:r>
            <a:br/>
            <a:r>
              <a:rPr lang="en-US" sz="1400" dirty="0">
                <a:solidFill>
                  <a:srgbClr val="000000"/>
                </a:solidFill>
                <a:latin typeface="Arial" pitchFamily="34" charset="0"/>
                <a:ea typeface="Arial" pitchFamily="34" charset="-122"/>
                <a:cs typeface="Arial" pitchFamily="34" charset="-120"/>
              </a:rPr>
              <a:t>New ways to sell: online stores and supermarkets</a:t>
            </a:r>
            <a:br/>
            <a:r>
              <a:rPr lang="en-US" sz="1400" dirty="0">
                <a:solidFill>
                  <a:srgbClr val="000000"/>
                </a:solidFill>
                <a:latin typeface="Arial" pitchFamily="34" charset="0"/>
                <a:ea typeface="Arial" pitchFamily="34" charset="-122"/>
                <a:cs typeface="Arial" pitchFamily="34" charset="-120"/>
              </a:rPr>
              <a:t>Score 12: Medium (opportunity)</a:t>
            </a:r>
            <a:endParaRPr lang="en-US" sz="1400" dirty="0"/>
          </a:p>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Poor power supply</a:t>
            </a:r>
            <a:br/>
            <a:r>
              <a:rPr lang="en-US" sz="1400" dirty="0">
                <a:solidFill>
                  <a:srgbClr val="000000"/>
                </a:solidFill>
                <a:latin typeface="Arial" pitchFamily="34" charset="0"/>
                <a:ea typeface="Arial" pitchFamily="34" charset="-122"/>
                <a:cs typeface="Arial" pitchFamily="34" charset="-120"/>
              </a:rPr>
              <a:t>Factories spend more on diesel and solar; demand for energy-saving appliances</a:t>
            </a:r>
            <a:br/>
            <a:r>
              <a:rPr lang="en-US" sz="1400" dirty="0">
                <a:solidFill>
                  <a:srgbClr val="000000"/>
                </a:solidFill>
                <a:latin typeface="Arial" pitchFamily="34" charset="0"/>
                <a:ea typeface="Arial" pitchFamily="34" charset="-122"/>
                <a:cs typeface="Arial" pitchFamily="34" charset="-120"/>
              </a:rPr>
              <a:t>Score 16: High (threat)</a:t>
            </a:r>
            <a:endParaRPr lang="en-US" sz="1400" dirty="0"/>
          </a:p>
        </p:txBody>
      </p:sp>
      <p:sp>
        <p:nvSpPr>
          <p:cNvPr id="9" name="Legal Box"/>
          <p:cNvSpPr/>
          <p:nvPr/>
        </p:nvSpPr>
        <p:spPr>
          <a:xfrm>
            <a:off x="4429658" y="2011680"/>
            <a:ext cx="3332378" cy="4297680"/>
          </a:xfrm>
          <a:prstGeom prst="rect">
            <a:avLst/>
          </a:prstGeom>
          <a:solidFill>
            <a:srgbClr val="DEEBF7"/>
          </a:solidFill>
          <a:ln w="12700">
            <a:solidFill>
              <a:srgbClr val="DEEBF7"/>
            </a:solidFill>
            <a:prstDash val="solid"/>
          </a:ln>
        </p:spPr>
      </p:sp>
      <p:sp>
        <p:nvSpPr>
          <p:cNvPr id="10" name="Legal Heading"/>
          <p:cNvSpPr txBox="1"/>
          <p:nvPr/>
        </p:nvSpPr>
        <p:spPr>
          <a:xfrm>
            <a:off x="4658258" y="2148840"/>
            <a:ext cx="2875178"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Legal</a:t>
            </a:r>
            <a:endParaRPr lang="en-US" sz="2000" dirty="0"/>
          </a:p>
        </p:txBody>
      </p:sp>
      <p:sp>
        <p:nvSpPr>
          <p:cNvPr id="11" name="Legal Subheading"/>
          <p:cNvSpPr txBox="1"/>
          <p:nvPr/>
        </p:nvSpPr>
        <p:spPr>
          <a:xfrm>
            <a:off x="4658258" y="2560320"/>
            <a:ext cx="2875178" cy="320040"/>
          </a:xfrm>
          <a:prstGeom prst="rect">
            <a:avLst/>
          </a:prstGeom>
          <a:noFill/>
          <a:ln/>
        </p:spPr>
        <p:txBody>
          <a:bodyPr wrap="square" lIns="0" tIns="0" rIns="0" bIns="0" rtlCol="0" anchor="ctr"/>
          <a:lstStyle/>
          <a:p>
            <a:pPr indent="0" marL="0">
              <a:buNone/>
            </a:pPr>
            <a:r>
              <a:rPr lang="en-US" sz="1500" dirty="0">
                <a:solidFill>
                  <a:srgbClr val="000000"/>
                </a:solidFill>
                <a:latin typeface="Arial" pitchFamily="34" charset="0"/>
                <a:ea typeface="Arial" pitchFamily="34" charset="-122"/>
                <a:cs typeface="Arial" pitchFamily="34" charset="-120"/>
              </a:rPr>
              <a:t>Average score: 11.7 of 25</a:t>
            </a:r>
            <a:endParaRPr lang="en-US" sz="1500" dirty="0"/>
          </a:p>
        </p:txBody>
      </p:sp>
      <p:sp>
        <p:nvSpPr>
          <p:cNvPr id="12" name="Legal Text"/>
          <p:cNvSpPr txBox="1"/>
          <p:nvPr/>
        </p:nvSpPr>
        <p:spPr>
          <a:xfrm>
            <a:off x="4658258" y="2971800"/>
            <a:ext cx="2875178" cy="3200400"/>
          </a:xfrm>
          <a:prstGeom prst="rect">
            <a:avLst/>
          </a:prstGeom>
          <a:noFill/>
          <a:ln/>
        </p:spPr>
        <p:txBody>
          <a:bodyPr wrap="square" lIns="0" tIns="0" rIns="0" bIns="0" rtlCol="0" anchor="t"/>
          <a:lstStyle/>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NAFDAC and SON product rules</a:t>
            </a:r>
            <a:br/>
            <a:r>
              <a:rPr lang="en-US" sz="1400" dirty="0">
                <a:solidFill>
                  <a:srgbClr val="000000"/>
                </a:solidFill>
                <a:latin typeface="Arial" pitchFamily="34" charset="0"/>
                <a:ea typeface="Arial" pitchFamily="34" charset="-122"/>
                <a:cs typeface="Arial" pitchFamily="34" charset="-120"/>
              </a:rPr>
              <a:t>Every product must be registered and meet standards</a:t>
            </a:r>
            <a:br/>
            <a:r>
              <a:rPr lang="en-US" sz="1400" dirty="0">
                <a:solidFill>
                  <a:srgbClr val="000000"/>
                </a:solidFill>
                <a:latin typeface="Arial" pitchFamily="34" charset="0"/>
                <a:ea typeface="Arial" pitchFamily="34" charset="-122"/>
                <a:cs typeface="Arial" pitchFamily="34" charset="-120"/>
              </a:rPr>
              <a:t>Score 15: Medium (threat)</a:t>
            </a:r>
            <a:endParaRPr lang="en-US" sz="1400" dirty="0"/>
          </a:p>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FCCPC and ARCON rules</a:t>
            </a:r>
            <a:br/>
            <a:r>
              <a:rPr lang="en-US" sz="1400" dirty="0">
                <a:solidFill>
                  <a:srgbClr val="000000"/>
                </a:solidFill>
                <a:latin typeface="Arial" pitchFamily="34" charset="0"/>
                <a:ea typeface="Arial" pitchFamily="34" charset="-122"/>
                <a:cs typeface="Arial" pitchFamily="34" charset="-120"/>
              </a:rPr>
              <a:t>Adverts need approval; fair prices and clear labels</a:t>
            </a:r>
            <a:br/>
            <a:r>
              <a:rPr lang="en-US" sz="1400" dirty="0">
                <a:solidFill>
                  <a:srgbClr val="000000"/>
                </a:solidFill>
                <a:latin typeface="Arial" pitchFamily="34" charset="0"/>
                <a:ea typeface="Arial" pitchFamily="34" charset="-122"/>
                <a:cs typeface="Arial" pitchFamily="34" charset="-120"/>
              </a:rPr>
              <a:t>Score 8: Low (threat)</a:t>
            </a:r>
            <a:endParaRPr lang="en-US" sz="1400" dirty="0"/>
          </a:p>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Tax reforms and ₦70,000 minimum wage</a:t>
            </a:r>
            <a:br/>
            <a:r>
              <a:rPr lang="en-US" sz="1400" dirty="0">
                <a:solidFill>
                  <a:srgbClr val="000000"/>
                </a:solidFill>
                <a:latin typeface="Arial" pitchFamily="34" charset="0"/>
                <a:ea typeface="Arial" pitchFamily="34" charset="-122"/>
                <a:cs typeface="Arial" pitchFamily="34" charset="-120"/>
              </a:rPr>
              <a:t>Higher staff costs and new tax rules to follow</a:t>
            </a:r>
            <a:br/>
            <a:r>
              <a:rPr lang="en-US" sz="1400" dirty="0">
                <a:solidFill>
                  <a:srgbClr val="000000"/>
                </a:solidFill>
                <a:latin typeface="Arial" pitchFamily="34" charset="0"/>
                <a:ea typeface="Arial" pitchFamily="34" charset="-122"/>
                <a:cs typeface="Arial" pitchFamily="34" charset="-120"/>
              </a:rPr>
              <a:t>Score 12: Medium (threat)</a:t>
            </a:r>
            <a:endParaRPr lang="en-US" sz="1400" dirty="0"/>
          </a:p>
        </p:txBody>
      </p:sp>
      <p:sp>
        <p:nvSpPr>
          <p:cNvPr id="13" name="Environmental Box"/>
          <p:cNvSpPr/>
          <p:nvPr/>
        </p:nvSpPr>
        <p:spPr>
          <a:xfrm>
            <a:off x="8036357" y="2011680"/>
            <a:ext cx="3332378" cy="4297680"/>
          </a:xfrm>
          <a:prstGeom prst="rect">
            <a:avLst/>
          </a:prstGeom>
          <a:solidFill>
            <a:srgbClr val="DEEBF7"/>
          </a:solidFill>
          <a:ln w="12700">
            <a:solidFill>
              <a:srgbClr val="DEEBF7"/>
            </a:solidFill>
            <a:prstDash val="solid"/>
          </a:ln>
        </p:spPr>
      </p:sp>
      <p:sp>
        <p:nvSpPr>
          <p:cNvPr id="14" name="Environmental Heading"/>
          <p:cNvSpPr txBox="1"/>
          <p:nvPr/>
        </p:nvSpPr>
        <p:spPr>
          <a:xfrm>
            <a:off x="8264957" y="2148840"/>
            <a:ext cx="2875178"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Environmental</a:t>
            </a:r>
            <a:endParaRPr lang="en-US" sz="2000" dirty="0"/>
          </a:p>
        </p:txBody>
      </p:sp>
      <p:sp>
        <p:nvSpPr>
          <p:cNvPr id="15" name="Environmental Subheading"/>
          <p:cNvSpPr txBox="1"/>
          <p:nvPr/>
        </p:nvSpPr>
        <p:spPr>
          <a:xfrm>
            <a:off x="8264957" y="2560320"/>
            <a:ext cx="2875178" cy="320040"/>
          </a:xfrm>
          <a:prstGeom prst="rect">
            <a:avLst/>
          </a:prstGeom>
          <a:noFill/>
          <a:ln/>
        </p:spPr>
        <p:txBody>
          <a:bodyPr wrap="square" lIns="0" tIns="0" rIns="0" bIns="0" rtlCol="0" anchor="ctr"/>
          <a:lstStyle/>
          <a:p>
            <a:pPr indent="0" marL="0">
              <a:buNone/>
            </a:pPr>
            <a:r>
              <a:rPr lang="en-US" sz="1500" dirty="0">
                <a:solidFill>
                  <a:srgbClr val="000000"/>
                </a:solidFill>
                <a:latin typeface="Arial" pitchFamily="34" charset="0"/>
                <a:ea typeface="Arial" pitchFamily="34" charset="-122"/>
                <a:cs typeface="Arial" pitchFamily="34" charset="-120"/>
              </a:rPr>
              <a:t>Average score: 9.0 of 25</a:t>
            </a:r>
            <a:endParaRPr lang="en-US" sz="1500" dirty="0"/>
          </a:p>
        </p:txBody>
      </p:sp>
      <p:sp>
        <p:nvSpPr>
          <p:cNvPr id="16" name="Environmental Text"/>
          <p:cNvSpPr txBox="1"/>
          <p:nvPr/>
        </p:nvSpPr>
        <p:spPr>
          <a:xfrm>
            <a:off x="8264957" y="2971800"/>
            <a:ext cx="2875178" cy="3200400"/>
          </a:xfrm>
          <a:prstGeom prst="rect">
            <a:avLst/>
          </a:prstGeom>
          <a:noFill/>
          <a:ln/>
        </p:spPr>
        <p:txBody>
          <a:bodyPr wrap="square" lIns="0" tIns="0" rIns="0" bIns="0" rtlCol="0" anchor="t"/>
          <a:lstStyle/>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Plastic waste rules</a:t>
            </a:r>
            <a:br/>
            <a:r>
              <a:rPr lang="en-US" sz="1400" dirty="0">
                <a:solidFill>
                  <a:srgbClr val="000000"/>
                </a:solidFill>
                <a:latin typeface="Arial" pitchFamily="34" charset="0"/>
                <a:ea typeface="Arial" pitchFamily="34" charset="-122"/>
                <a:cs typeface="Arial" pitchFamily="34" charset="-120"/>
              </a:rPr>
              <a:t>Must change packaging and pay for recycling (EPR)</a:t>
            </a:r>
            <a:br/>
            <a:r>
              <a:rPr lang="en-US" sz="1400" dirty="0">
                <a:solidFill>
                  <a:srgbClr val="000000"/>
                </a:solidFill>
                <a:latin typeface="Arial" pitchFamily="34" charset="0"/>
                <a:ea typeface="Arial" pitchFamily="34" charset="-122"/>
                <a:cs typeface="Arial" pitchFamily="34" charset="-120"/>
              </a:rPr>
              <a:t>Score 12: Medium (threat)</a:t>
            </a:r>
            <a:endParaRPr lang="en-US" sz="1400" dirty="0"/>
          </a:p>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Flooding and climate change</a:t>
            </a:r>
            <a:br/>
            <a:r>
              <a:rPr lang="en-US" sz="1400" dirty="0">
                <a:solidFill>
                  <a:srgbClr val="000000"/>
                </a:solidFill>
                <a:latin typeface="Arial" pitchFamily="34" charset="0"/>
                <a:ea typeface="Arial" pitchFamily="34" charset="-122"/>
                <a:cs typeface="Arial" pitchFamily="34" charset="-120"/>
              </a:rPr>
              <a:t>Floods disrupt deliveries and damage stock</a:t>
            </a:r>
            <a:br/>
            <a:r>
              <a:rPr lang="en-US" sz="1400" dirty="0">
                <a:solidFill>
                  <a:srgbClr val="000000"/>
                </a:solidFill>
                <a:latin typeface="Arial" pitchFamily="34" charset="0"/>
                <a:ea typeface="Arial" pitchFamily="34" charset="-122"/>
                <a:cs typeface="Arial" pitchFamily="34" charset="-120"/>
              </a:rPr>
              <a:t>Score 9: Medium (threat)</a:t>
            </a:r>
            <a:endParaRPr lang="en-US" sz="1400" dirty="0"/>
          </a:p>
          <a:p>
            <a:pPr marL="228600" indent="-228600">
              <a:spcAft>
                <a:spcPts val="1000"/>
              </a:spcAft>
              <a:buSzPct val="100000"/>
              <a:buChar char="•"/>
            </a:pPr>
            <a:r>
              <a:rPr lang="en-US" sz="1400" b="1" dirty="0">
                <a:solidFill>
                  <a:srgbClr val="000000"/>
                </a:solidFill>
                <a:latin typeface="Arial" pitchFamily="34" charset="0"/>
                <a:ea typeface="Arial" pitchFamily="34" charset="-122"/>
                <a:cs typeface="Arial" pitchFamily="34" charset="-120"/>
              </a:rPr>
              <a:t>Demand for eco-friendly products</a:t>
            </a:r>
            <a:br/>
            <a:r>
              <a:rPr lang="en-US" sz="1400" dirty="0">
                <a:solidFill>
                  <a:srgbClr val="000000"/>
                </a:solidFill>
                <a:latin typeface="Arial" pitchFamily="34" charset="0"/>
                <a:ea typeface="Arial" pitchFamily="34" charset="-122"/>
                <a:cs typeface="Arial" pitchFamily="34" charset="-120"/>
              </a:rPr>
              <a:t>A chance to launch greener packs and appliances</a:t>
            </a:r>
            <a:br/>
            <a:r>
              <a:rPr lang="en-US" sz="1400" dirty="0">
                <a:solidFill>
                  <a:srgbClr val="000000"/>
                </a:solidFill>
                <a:latin typeface="Arial" pitchFamily="34" charset="0"/>
                <a:ea typeface="Arial" pitchFamily="34" charset="-122"/>
                <a:cs typeface="Arial" pitchFamily="34" charset="-120"/>
              </a:rPr>
              <a:t>Score 6: Low (opportunity)</a:t>
            </a:r>
            <a:endParaRPr lang="en-US" sz="14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right)">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500"/>
                                        <p:tgtEl>
                                          <p:spTgt spid="9"/>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childTnLst>
                          </p:cTn>
                        </p:par>
                        <p:par>
                          <p:cTn id="41" fill="hold">
                            <p:stCondLst>
                              <p:cond delay="2000"/>
                            </p:stCondLst>
                            <p:childTnLst>
                              <p:par>
                                <p:cTn id="42" presetID="10" presetClass="entr" presetSubtype="0" fill="hold" grpId="0" nodeType="after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500"/>
                                        <p:tgtEl>
                                          <p:spTgt spid="15"/>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731520" y="457200"/>
            <a:ext cx="10728655" cy="731520"/>
          </a:xfrm>
          <a:prstGeom prst="rect">
            <a:avLst/>
          </a:prstGeom>
          <a:noFill/>
          <a:ln/>
        </p:spPr>
        <p:txBody>
          <a:bodyPr wrap="square" lIns="0" tIns="0" rIns="0" bIns="0" rtlCol="0" anchor="ctr"/>
          <a:lstStyle/>
          <a:p>
            <a:pPr algn="ctr" indent="0" marL="0">
              <a:buNone/>
            </a:pPr>
            <a:r>
              <a:rPr lang="en-US" sz="3600" b="1" dirty="0">
                <a:solidFill>
                  <a:srgbClr val="1F3864"/>
                </a:solidFill>
                <a:latin typeface="Arial" pitchFamily="34" charset="0"/>
                <a:ea typeface="Arial" pitchFamily="34" charset="-122"/>
                <a:cs typeface="Arial" pitchFamily="34" charset="-120"/>
              </a:rPr>
              <a:t>PESTLE Scores</a:t>
            </a:r>
            <a:endParaRPr lang="en-US" sz="3600" dirty="0"/>
          </a:p>
        </p:txBody>
      </p:sp>
      <p:sp>
        <p:nvSpPr>
          <p:cNvPr id="3" name="Title Rule"/>
          <p:cNvSpPr/>
          <p:nvPr/>
        </p:nvSpPr>
        <p:spPr>
          <a:xfrm>
            <a:off x="914400" y="1298448"/>
            <a:ext cx="10362895" cy="0"/>
          </a:xfrm>
          <a:prstGeom prst="line">
            <a:avLst/>
          </a:prstGeom>
          <a:noFill/>
          <a:ln w="19050">
            <a:solidFill>
              <a:srgbClr val="1F3864"/>
            </a:solidFill>
            <a:prstDash val="solid"/>
          </a:ln>
        </p:spPr>
      </p:sp>
      <p:sp>
        <p:nvSpPr>
          <p:cNvPr id="4" name="Subtitle"/>
          <p:cNvSpPr txBox="1"/>
          <p:nvPr/>
        </p:nvSpPr>
        <p:spPr>
          <a:xfrm>
            <a:off x="731520" y="1417320"/>
            <a:ext cx="10728655" cy="384048"/>
          </a:xfrm>
          <a:prstGeom prst="rect">
            <a:avLst/>
          </a:prstGeom>
          <a:noFill/>
          <a:ln/>
        </p:spPr>
        <p:txBody>
          <a:bodyPr wrap="square" lIns="0" tIns="0" rIns="0" bIns="0" rtlCol="0" anchor="ctr"/>
          <a:lstStyle/>
          <a:p>
            <a:pPr algn="ctr" indent="0" marL="0">
              <a:buNone/>
            </a:pPr>
            <a:r>
              <a:rPr lang="en-US" sz="1800" dirty="0">
                <a:solidFill>
                  <a:srgbClr val="000000"/>
                </a:solidFill>
                <a:latin typeface="Arial" pitchFamily="34" charset="0"/>
                <a:ea typeface="Arial" pitchFamily="34" charset="-122"/>
                <a:cs typeface="Arial" pitchFamily="34" charset="-120"/>
              </a:rPr>
              <a:t>Average score of each factor (Impact × Likelihood, out of 25), from the Excel workbook</a:t>
            </a:r>
            <a:endParaRPr lang="en-US" sz="1800" dirty="0"/>
          </a:p>
        </p:txBody>
      </p:sp>
      <p:graphicFrame>
        <p:nvGraphicFramePr>
          <p:cNvPr id="5" name="PESTLE Chart" descr=""/>
          <p:cNvGraphicFramePr/>
          <p:nvPr/>
        </p:nvGraphicFramePr>
        <p:xfrm>
          <a:off x="731520" y="1965960"/>
          <a:ext cx="6583680" cy="4389120"/>
        </p:xfrm>
        <a:graphic xmlns:a="http://schemas.openxmlformats.org/drawingml/2006/main">
          <a:graphicData uri="http://schemas.openxmlformats.org/drawingml/2006/chart">
            <c:chart xmlns:c="http://schemas.openxmlformats.org/drawingml/2006/chart" r:id="rId1"/>
          </a:graphicData>
        </a:graphic>
      </p:graphicFrame>
      <p:sp>
        <p:nvSpPr>
          <p:cNvPr id="6" name="Findings Box"/>
          <p:cNvSpPr/>
          <p:nvPr/>
        </p:nvSpPr>
        <p:spPr>
          <a:xfrm>
            <a:off x="7635240" y="2011680"/>
            <a:ext cx="3840480" cy="4297680"/>
          </a:xfrm>
          <a:prstGeom prst="rect">
            <a:avLst/>
          </a:prstGeom>
          <a:solidFill>
            <a:srgbClr val="DEEBF7"/>
          </a:solidFill>
          <a:ln w="12700">
            <a:solidFill>
              <a:srgbClr val="DEEBF7"/>
            </a:solidFill>
            <a:prstDash val="solid"/>
          </a:ln>
        </p:spPr>
      </p:sp>
      <p:sp>
        <p:nvSpPr>
          <p:cNvPr id="7" name="Findings Heading"/>
          <p:cNvSpPr txBox="1"/>
          <p:nvPr/>
        </p:nvSpPr>
        <p:spPr>
          <a:xfrm>
            <a:off x="7863840" y="2148840"/>
            <a:ext cx="338328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Key Findings</a:t>
            </a:r>
            <a:endParaRPr lang="en-US" sz="2000" dirty="0"/>
          </a:p>
        </p:txBody>
      </p:sp>
      <p:sp>
        <p:nvSpPr>
          <p:cNvPr id="8" name="Findings Text"/>
          <p:cNvSpPr txBox="1"/>
          <p:nvPr/>
        </p:nvSpPr>
        <p:spPr>
          <a:xfrm>
            <a:off x="7863840" y="2651760"/>
            <a:ext cx="3383280" cy="3520440"/>
          </a:xfrm>
          <a:prstGeom prst="rect">
            <a:avLst/>
          </a:prstGeom>
          <a:noFill/>
          <a:ln/>
        </p:spPr>
        <p:txBody>
          <a:bodyPr wrap="square" lIns="0" tIns="0" rIns="0" bIns="0" rtlCol="0" anchor="t"/>
          <a:lstStyle/>
          <a:p>
            <a:pPr marL="228600" indent="-228600">
              <a:spcAft>
                <a:spcPts val="1600"/>
              </a:spcAft>
              <a:buSzPct val="100000"/>
              <a:buChar char="•"/>
            </a:pPr>
            <a:r>
              <a:rPr lang="en-US" sz="1800" dirty="0">
                <a:solidFill>
                  <a:srgbClr val="000000"/>
                </a:solidFill>
                <a:latin typeface="Arial" pitchFamily="34" charset="0"/>
                <a:ea typeface="Arial" pitchFamily="34" charset="-122"/>
                <a:cs typeface="Arial" pitchFamily="34" charset="-120"/>
              </a:rPr>
              <a:t>Most important: </a:t>
            </a:r>
            <a:r>
              <a:rPr lang="en-US" sz="1800" b="1" dirty="0">
                <a:solidFill>
                  <a:srgbClr val="000000"/>
                </a:solidFill>
                <a:latin typeface="Arial" pitchFamily="34" charset="0"/>
                <a:ea typeface="Arial" pitchFamily="34" charset="-122"/>
                <a:cs typeface="Arial" pitchFamily="34" charset="-120"/>
              </a:rPr>
              <a:t>Economic (20.7)</a:t>
            </a:r>
            <a:endParaRPr lang="en-US" sz="1800" dirty="0"/>
          </a:p>
          <a:p>
            <a:pPr marL="228600" indent="-228600">
              <a:spcAft>
                <a:spcPts val="1600"/>
              </a:spcAft>
              <a:buSzPct val="100000"/>
              <a:buChar char="•"/>
            </a:pPr>
            <a:r>
              <a:rPr lang="en-US" sz="1800" dirty="0">
                <a:solidFill>
                  <a:srgbClr val="000000"/>
                </a:solidFill>
                <a:latin typeface="Arial" pitchFamily="34" charset="0"/>
                <a:ea typeface="Arial" pitchFamily="34" charset="-122"/>
                <a:cs typeface="Arial" pitchFamily="34" charset="-120"/>
              </a:rPr>
              <a:t>Biggest issue: </a:t>
            </a:r>
            <a:r>
              <a:rPr lang="en-US" sz="1800" b="1" dirty="0">
                <a:solidFill>
                  <a:srgbClr val="000000"/>
                </a:solidFill>
                <a:latin typeface="Arial" pitchFamily="34" charset="0"/>
                <a:ea typeface="Arial" pitchFamily="34" charset="-122"/>
                <a:cs typeface="Arial" pitchFamily="34" charset="-120"/>
              </a:rPr>
              <a:t>Naira devaluation and FX shortages (25 of 25)</a:t>
            </a:r>
            <a:endParaRPr lang="en-US" sz="1800" dirty="0"/>
          </a:p>
          <a:p>
            <a:pPr marL="228600" indent="-228600">
              <a:spcAft>
                <a:spcPts val="1600"/>
              </a:spcAft>
              <a:buSzPct val="100000"/>
              <a:buChar char="•"/>
            </a:pPr>
            <a:r>
              <a:rPr lang="en-US" sz="1800" dirty="0">
                <a:solidFill>
                  <a:srgbClr val="000000"/>
                </a:solidFill>
                <a:latin typeface="Arial" pitchFamily="34" charset="0"/>
                <a:ea typeface="Arial" pitchFamily="34" charset="-122"/>
                <a:cs typeface="Arial" pitchFamily="34" charset="-120"/>
              </a:rPr>
              <a:t>High priority: </a:t>
            </a:r>
            <a:r>
              <a:rPr lang="en-US" sz="1800" b="1" dirty="0">
                <a:solidFill>
                  <a:srgbClr val="000000"/>
                </a:solidFill>
                <a:latin typeface="Arial" pitchFamily="34" charset="0"/>
                <a:ea typeface="Arial" pitchFamily="34" charset="-122"/>
                <a:cs typeface="Arial" pitchFamily="34" charset="-120"/>
              </a:rPr>
              <a:t>6 of 18 issues</a:t>
            </a:r>
            <a:endParaRPr lang="en-US" sz="1800" dirty="0"/>
          </a:p>
          <a:p>
            <a:pPr marL="228600" indent="-228600">
              <a:spcAft>
                <a:spcPts val="1600"/>
              </a:spcAft>
              <a:buSzPct val="100000"/>
              <a:buChar char="•"/>
            </a:pPr>
            <a:r>
              <a:rPr lang="en-US" sz="1800" b="1" dirty="0">
                <a:solidFill>
                  <a:srgbClr val="000000"/>
                </a:solidFill>
                <a:latin typeface="Arial" pitchFamily="34" charset="0"/>
                <a:ea typeface="Arial" pitchFamily="34" charset="-122"/>
                <a:cs typeface="Arial" pitchFamily="34" charset="-120"/>
              </a:rPr>
              <a:t>12 threats and 6 opportunities</a:t>
            </a:r>
            <a:endParaRPr lang="en-US" sz="18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right)">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wipe(right)">
                                      <p:cBhvr>
                                        <p:cTn id="18" dur="500"/>
                                        <p:tgtEl>
                                          <p:spTgt spid="5"/>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Graphic spid="5" grpId="0">
        <p:bldAsOne/>
      </p:bldGraphic>
      <p:bldP spid="6" grpId="0" animBg="1"/>
      <p:bldP spid="7" grpId="0" animBg="1"/>
      <p:bldP spid="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731520" y="457200"/>
            <a:ext cx="10728655" cy="731520"/>
          </a:xfrm>
          <a:prstGeom prst="rect">
            <a:avLst/>
          </a:prstGeom>
          <a:noFill/>
          <a:ln/>
        </p:spPr>
        <p:txBody>
          <a:bodyPr wrap="square" lIns="0" tIns="0" rIns="0" bIns="0" rtlCol="0" anchor="ctr"/>
          <a:lstStyle/>
          <a:p>
            <a:pPr algn="ctr" indent="0" marL="0">
              <a:buNone/>
            </a:pPr>
            <a:r>
              <a:rPr lang="en-US" sz="3600" b="1" dirty="0">
                <a:solidFill>
                  <a:srgbClr val="1F3864"/>
                </a:solidFill>
                <a:latin typeface="Arial" pitchFamily="34" charset="0"/>
                <a:ea typeface="Arial" pitchFamily="34" charset="-122"/>
                <a:cs typeface="Arial" pitchFamily="34" charset="-120"/>
              </a:rPr>
              <a:t>SWOT Analysis</a:t>
            </a:r>
            <a:endParaRPr lang="en-US" sz="3600" dirty="0"/>
          </a:p>
        </p:txBody>
      </p:sp>
      <p:sp>
        <p:nvSpPr>
          <p:cNvPr id="3" name="Title Rule"/>
          <p:cNvSpPr/>
          <p:nvPr/>
        </p:nvSpPr>
        <p:spPr>
          <a:xfrm>
            <a:off x="914400" y="1298448"/>
            <a:ext cx="10362895" cy="0"/>
          </a:xfrm>
          <a:prstGeom prst="line">
            <a:avLst/>
          </a:prstGeom>
          <a:noFill/>
          <a:ln w="19050">
            <a:solidFill>
              <a:srgbClr val="1F3864"/>
            </a:solidFill>
            <a:prstDash val="solid"/>
          </a:ln>
        </p:spPr>
      </p:sp>
      <p:sp>
        <p:nvSpPr>
          <p:cNvPr id="4" name="Strengths Box"/>
          <p:cNvSpPr/>
          <p:nvPr/>
        </p:nvSpPr>
        <p:spPr>
          <a:xfrm>
            <a:off x="822960" y="1572768"/>
            <a:ext cx="5158588" cy="2286000"/>
          </a:xfrm>
          <a:prstGeom prst="rect">
            <a:avLst/>
          </a:prstGeom>
          <a:solidFill>
            <a:srgbClr val="DEEBF7"/>
          </a:solidFill>
          <a:ln w="12700">
            <a:solidFill>
              <a:srgbClr val="DEEBF7"/>
            </a:solidFill>
            <a:prstDash val="solid"/>
          </a:ln>
        </p:spPr>
      </p:sp>
      <p:sp>
        <p:nvSpPr>
          <p:cNvPr id="5" name="Strengths Heading"/>
          <p:cNvSpPr txBox="1"/>
          <p:nvPr/>
        </p:nvSpPr>
        <p:spPr>
          <a:xfrm>
            <a:off x="1051560" y="1664208"/>
            <a:ext cx="4701388"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Strengths (internal)</a:t>
            </a:r>
            <a:endParaRPr lang="en-US" sz="1800" dirty="0"/>
          </a:p>
        </p:txBody>
      </p:sp>
      <p:sp>
        <p:nvSpPr>
          <p:cNvPr id="6" name="Strengths Points"/>
          <p:cNvSpPr txBox="1"/>
          <p:nvPr/>
        </p:nvSpPr>
        <p:spPr>
          <a:xfrm>
            <a:off x="1051560" y="2075688"/>
            <a:ext cx="4747108" cy="1719072"/>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Well-known brands such as Imperial Leather and Joy</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More than 100 years in Nigeria; trusted by buyers</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Wide distribution network across Nigeria</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Each business focuses on its own customers</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One manager per brand; shared teams save money</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Support from the UK owner (PZ Cussons)</a:t>
            </a:r>
            <a:endParaRPr lang="en-US" sz="1400" dirty="0"/>
          </a:p>
        </p:txBody>
      </p:sp>
      <p:sp>
        <p:nvSpPr>
          <p:cNvPr id="7" name="Weaknesses Box"/>
          <p:cNvSpPr/>
          <p:nvPr/>
        </p:nvSpPr>
        <p:spPr>
          <a:xfrm>
            <a:off x="6210148" y="1572768"/>
            <a:ext cx="5158588" cy="2286000"/>
          </a:xfrm>
          <a:prstGeom prst="rect">
            <a:avLst/>
          </a:prstGeom>
          <a:solidFill>
            <a:srgbClr val="DEEBF7"/>
          </a:solidFill>
          <a:ln w="12700">
            <a:solidFill>
              <a:srgbClr val="DEEBF7"/>
            </a:solidFill>
            <a:prstDash val="solid"/>
          </a:ln>
        </p:spPr>
      </p:sp>
      <p:sp>
        <p:nvSpPr>
          <p:cNvPr id="8" name="Weaknesses Heading"/>
          <p:cNvSpPr txBox="1"/>
          <p:nvPr/>
        </p:nvSpPr>
        <p:spPr>
          <a:xfrm>
            <a:off x="6438748" y="1664208"/>
            <a:ext cx="4701388"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Weaknesses (internal)</a:t>
            </a:r>
            <a:endParaRPr lang="en-US" sz="1800" dirty="0"/>
          </a:p>
        </p:txBody>
      </p:sp>
      <p:sp>
        <p:nvSpPr>
          <p:cNvPr id="9" name="Weaknesses Points"/>
          <p:cNvSpPr txBox="1"/>
          <p:nvPr/>
        </p:nvSpPr>
        <p:spPr>
          <a:xfrm>
            <a:off x="6438748" y="2075688"/>
            <a:ext cx="4747108" cy="1719072"/>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Waiting for the UK owner's approval can slow work</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Too many management levels can cause delays</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Brands may fight over the same marketing money</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Naira problems force hard decisions on imports</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Prices often higher than local low-cost brands</a:t>
            </a:r>
            <a:endParaRPr lang="en-US" sz="1400" dirty="0"/>
          </a:p>
        </p:txBody>
      </p:sp>
      <p:sp>
        <p:nvSpPr>
          <p:cNvPr id="10" name="Opportunities Box"/>
          <p:cNvSpPr/>
          <p:nvPr/>
        </p:nvSpPr>
        <p:spPr>
          <a:xfrm>
            <a:off x="822960" y="4041648"/>
            <a:ext cx="5158588" cy="2286000"/>
          </a:xfrm>
          <a:prstGeom prst="rect">
            <a:avLst/>
          </a:prstGeom>
          <a:solidFill>
            <a:srgbClr val="DEEBF7"/>
          </a:solidFill>
          <a:ln w="12700">
            <a:solidFill>
              <a:srgbClr val="DEEBF7"/>
            </a:solidFill>
            <a:prstDash val="solid"/>
          </a:ln>
        </p:spPr>
      </p:sp>
      <p:sp>
        <p:nvSpPr>
          <p:cNvPr id="11" name="Opportunities Heading"/>
          <p:cNvSpPr txBox="1"/>
          <p:nvPr/>
        </p:nvSpPr>
        <p:spPr>
          <a:xfrm>
            <a:off x="1051560" y="4133088"/>
            <a:ext cx="4701388"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Opportunities (external)</a:t>
            </a:r>
            <a:endParaRPr lang="en-US" sz="1800" dirty="0"/>
          </a:p>
        </p:txBody>
      </p:sp>
      <p:sp>
        <p:nvSpPr>
          <p:cNvPr id="12" name="Opportunities Points"/>
          <p:cNvSpPr txBox="1"/>
          <p:nvPr/>
        </p:nvSpPr>
        <p:spPr>
          <a:xfrm>
            <a:off x="1051560" y="4544568"/>
            <a:ext cx="4747108" cy="1719072"/>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Large, young and growing population</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Social media, e-commerce and modern retail</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Smaller, affordable packs for shoppers on a budget</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Customers left by Unilever and P&amp;G since 2023</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Exports to other African countries under AfCFTA</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Buying raw materials locally to cut dollar costs</a:t>
            </a:r>
            <a:endParaRPr lang="en-US" sz="1400" dirty="0"/>
          </a:p>
        </p:txBody>
      </p:sp>
      <p:sp>
        <p:nvSpPr>
          <p:cNvPr id="13" name="Threats Box"/>
          <p:cNvSpPr/>
          <p:nvPr/>
        </p:nvSpPr>
        <p:spPr>
          <a:xfrm>
            <a:off x="6210148" y="4041648"/>
            <a:ext cx="5158588" cy="2286000"/>
          </a:xfrm>
          <a:prstGeom prst="rect">
            <a:avLst/>
          </a:prstGeom>
          <a:solidFill>
            <a:srgbClr val="DEEBF7"/>
          </a:solidFill>
          <a:ln w="12700">
            <a:solidFill>
              <a:srgbClr val="DEEBF7"/>
            </a:solidFill>
            <a:prstDash val="solid"/>
          </a:ln>
        </p:spPr>
      </p:sp>
      <p:sp>
        <p:nvSpPr>
          <p:cNvPr id="14" name="Threats Heading"/>
          <p:cNvSpPr txBox="1"/>
          <p:nvPr/>
        </p:nvSpPr>
        <p:spPr>
          <a:xfrm>
            <a:off x="6438748" y="4133088"/>
            <a:ext cx="4701388"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Threats (external)</a:t>
            </a:r>
            <a:endParaRPr lang="en-US" sz="1800" dirty="0"/>
          </a:p>
        </p:txBody>
      </p:sp>
      <p:sp>
        <p:nvSpPr>
          <p:cNvPr id="15" name="Threats Points"/>
          <p:cNvSpPr txBox="1"/>
          <p:nvPr/>
        </p:nvSpPr>
        <p:spPr>
          <a:xfrm>
            <a:off x="6438748" y="4544568"/>
            <a:ext cx="4747108" cy="1719072"/>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Naira devaluation and foreign-exchange shortages</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High inflation reduces what consumers can spend</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Strong competition and cheap imports</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Fake (counterfeit) products</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High energy and transport costs</a:t>
            </a:r>
            <a:endParaRPr lang="en-US" sz="1400" dirty="0"/>
          </a:p>
          <a:p>
            <a:pPr marL="203200" indent="-203200">
              <a:spcAft>
                <a:spcPts val="400"/>
              </a:spcAft>
              <a:buSzPct val="100000"/>
              <a:buChar char="•"/>
            </a:pPr>
            <a:r>
              <a:rPr lang="en-US" sz="1400" dirty="0">
                <a:solidFill>
                  <a:srgbClr val="000000"/>
                </a:solidFill>
                <a:latin typeface="Arial" pitchFamily="34" charset="0"/>
                <a:ea typeface="Arial" pitchFamily="34" charset="-122"/>
                <a:cs typeface="Arial" pitchFamily="34" charset="-120"/>
              </a:rPr>
              <a:t>Policy changes and insecurity</a:t>
            </a:r>
            <a:endParaRPr lang="en-US" sz="14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right)">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500"/>
                                        <p:tgtEl>
                                          <p:spTgt spid="6"/>
                                        </p:tgtEl>
                                      </p:cBhvr>
                                    </p:animEffect>
                                  </p:childTnLst>
                                </p:cTn>
                              </p:par>
                            </p:childTnLst>
                          </p:cTn>
                        </p:par>
                        <p:par>
                          <p:cTn id="21" fill="hold">
                            <p:stCondLst>
                              <p:cond delay="1000"/>
                            </p:stCondLst>
                            <p:childTnLst>
                              <p:par>
                                <p:cTn id="22" presetID="10" presetClass="entr" presetSubtype="0"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childTnLst>
                                </p:cTn>
                              </p:par>
                            </p:childTnLst>
                          </p:cTn>
                        </p:par>
                        <p:par>
                          <p:cTn id="31" fill="hold">
                            <p:stCondLst>
                              <p:cond delay="150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childTnLst>
                          </p:cTn>
                        </p:par>
                        <p:par>
                          <p:cTn id="41" fill="hold">
                            <p:stCondLst>
                              <p:cond delay="2000"/>
                            </p:stCondLst>
                            <p:childTnLst>
                              <p:par>
                                <p:cTn id="42" presetID="10" presetClass="entr" presetSubtype="0" fill="hold" grpId="0" nodeType="after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731520" y="457200"/>
            <a:ext cx="10728655" cy="731520"/>
          </a:xfrm>
          <a:prstGeom prst="rect">
            <a:avLst/>
          </a:prstGeom>
          <a:noFill/>
          <a:ln/>
        </p:spPr>
        <p:txBody>
          <a:bodyPr wrap="square" lIns="0" tIns="0" rIns="0" bIns="0" rtlCol="0" anchor="ctr"/>
          <a:lstStyle/>
          <a:p>
            <a:pPr algn="ctr" indent="0" marL="0">
              <a:buNone/>
            </a:pPr>
            <a:r>
              <a:rPr lang="en-US" sz="3600" b="1" dirty="0">
                <a:solidFill>
                  <a:srgbClr val="1F3864"/>
                </a:solidFill>
                <a:latin typeface="Arial" pitchFamily="34" charset="0"/>
                <a:ea typeface="Arial" pitchFamily="34" charset="-122"/>
                <a:cs typeface="Arial" pitchFamily="34" charset="-120"/>
              </a:rPr>
              <a:t>SWOT Scoring (IFE and EFE)</a:t>
            </a:r>
            <a:endParaRPr lang="en-US" sz="3600" dirty="0"/>
          </a:p>
        </p:txBody>
      </p:sp>
      <p:sp>
        <p:nvSpPr>
          <p:cNvPr id="3" name="Title Rule"/>
          <p:cNvSpPr/>
          <p:nvPr/>
        </p:nvSpPr>
        <p:spPr>
          <a:xfrm>
            <a:off x="914400" y="1298448"/>
            <a:ext cx="10362895" cy="0"/>
          </a:xfrm>
          <a:prstGeom prst="line">
            <a:avLst/>
          </a:prstGeom>
          <a:noFill/>
          <a:ln w="19050">
            <a:solidFill>
              <a:srgbClr val="1F3864"/>
            </a:solidFill>
            <a:prstDash val="solid"/>
          </a:ln>
        </p:spPr>
      </p:sp>
      <p:sp>
        <p:nvSpPr>
          <p:cNvPr id="4" name="Subtitle"/>
          <p:cNvSpPr txBox="1"/>
          <p:nvPr/>
        </p:nvSpPr>
        <p:spPr>
          <a:xfrm>
            <a:off x="731520" y="1417320"/>
            <a:ext cx="10728655" cy="384048"/>
          </a:xfrm>
          <a:prstGeom prst="rect">
            <a:avLst/>
          </a:prstGeom>
          <a:noFill/>
          <a:ln/>
        </p:spPr>
        <p:txBody>
          <a:bodyPr wrap="square" lIns="0" tIns="0" rIns="0" bIns="0" rtlCol="0" anchor="ctr"/>
          <a:lstStyle/>
          <a:p>
            <a:pPr algn="ctr" indent="0" marL="0">
              <a:buNone/>
            </a:pPr>
            <a:r>
              <a:rPr lang="en-US" sz="1800" dirty="0">
                <a:solidFill>
                  <a:srgbClr val="000000"/>
                </a:solidFill>
                <a:latin typeface="Arial" pitchFamily="34" charset="0"/>
                <a:ea typeface="Arial" pitchFamily="34" charset="-122"/>
                <a:cs typeface="Arial" pitchFamily="34" charset="-120"/>
              </a:rPr>
              <a:t>Each SWOT point weighted by importance and rated 1 to 4 in Excel; 2.50 is average</a:t>
            </a:r>
            <a:endParaRPr lang="en-US" sz="1800" dirty="0"/>
          </a:p>
        </p:txBody>
      </p:sp>
      <p:graphicFrame>
        <p:nvGraphicFramePr>
          <p:cNvPr id="5" name="SWOT Chart" descr=""/>
          <p:cNvGraphicFramePr/>
          <p:nvPr/>
        </p:nvGraphicFramePr>
        <p:xfrm>
          <a:off x="731520" y="1965960"/>
          <a:ext cx="5852160" cy="4389120"/>
        </p:xfrm>
        <a:graphic xmlns:a="http://schemas.openxmlformats.org/drawingml/2006/main">
          <a:graphicData uri="http://schemas.openxmlformats.org/drawingml/2006/chart">
            <c:chart xmlns:c="http://schemas.openxmlformats.org/drawingml/2006/chart" r:id="rId1"/>
          </a:graphicData>
        </a:graphic>
      </p:graphicFrame>
      <p:sp>
        <p:nvSpPr>
          <p:cNvPr id="6" name="IFE Box"/>
          <p:cNvSpPr/>
          <p:nvPr/>
        </p:nvSpPr>
        <p:spPr>
          <a:xfrm>
            <a:off x="6903720" y="2011680"/>
            <a:ext cx="4572000" cy="1325880"/>
          </a:xfrm>
          <a:prstGeom prst="rect">
            <a:avLst/>
          </a:prstGeom>
          <a:solidFill>
            <a:srgbClr val="DEEBF7"/>
          </a:solidFill>
          <a:ln w="12700">
            <a:solidFill>
              <a:srgbClr val="DEEBF7"/>
            </a:solidFill>
            <a:prstDash val="solid"/>
          </a:ln>
        </p:spPr>
      </p:sp>
      <p:sp>
        <p:nvSpPr>
          <p:cNvPr id="7" name="IFE Value"/>
          <p:cNvSpPr txBox="1"/>
          <p:nvPr/>
        </p:nvSpPr>
        <p:spPr>
          <a:xfrm>
            <a:off x="7040880" y="2121408"/>
            <a:ext cx="1463040" cy="1097280"/>
          </a:xfrm>
          <a:prstGeom prst="rect">
            <a:avLst/>
          </a:prstGeom>
          <a:noFill/>
          <a:ln/>
        </p:spPr>
        <p:txBody>
          <a:bodyPr wrap="square" lIns="0" tIns="0" rIns="0" bIns="0" rtlCol="0" anchor="ctr"/>
          <a:lstStyle/>
          <a:p>
            <a:pPr algn="ctr" indent="0" marL="0">
              <a:buNone/>
            </a:pPr>
            <a:r>
              <a:rPr lang="en-US" sz="4000" b="1" dirty="0">
                <a:solidFill>
                  <a:srgbClr val="000000"/>
                </a:solidFill>
                <a:latin typeface="Arial" pitchFamily="34" charset="0"/>
                <a:ea typeface="Arial" pitchFamily="34" charset="-122"/>
                <a:cs typeface="Arial" pitchFamily="34" charset="-120"/>
              </a:rPr>
              <a:t>2.73</a:t>
            </a:r>
            <a:endParaRPr lang="en-US" sz="4000" dirty="0"/>
          </a:p>
        </p:txBody>
      </p:sp>
      <p:sp>
        <p:nvSpPr>
          <p:cNvPr id="8" name="IFE Label"/>
          <p:cNvSpPr txBox="1"/>
          <p:nvPr/>
        </p:nvSpPr>
        <p:spPr>
          <a:xfrm>
            <a:off x="8641080" y="2121408"/>
            <a:ext cx="2697480" cy="109728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IFE: internal factors</a:t>
            </a:r>
            <a:endParaRPr lang="en-US" sz="1500" dirty="0"/>
          </a:p>
          <a:p>
            <a:pPr indent="0" marL="0">
              <a:buNone/>
            </a:pPr>
            <a:r>
              <a:rPr lang="en-US" sz="1500" dirty="0">
                <a:solidFill>
                  <a:srgbClr val="000000"/>
                </a:solidFill>
                <a:latin typeface="Arial" pitchFamily="34" charset="0"/>
                <a:ea typeface="Arial" pitchFamily="34" charset="-122"/>
                <a:cs typeface="Arial" pitchFamily="34" charset="-120"/>
              </a:rPr>
              <a:t>Above average: strengths outweigh weaknesses</a:t>
            </a:r>
            <a:endParaRPr lang="en-US" sz="1500" dirty="0"/>
          </a:p>
        </p:txBody>
      </p:sp>
      <p:sp>
        <p:nvSpPr>
          <p:cNvPr id="9" name="EFE Box"/>
          <p:cNvSpPr/>
          <p:nvPr/>
        </p:nvSpPr>
        <p:spPr>
          <a:xfrm>
            <a:off x="6903720" y="3520440"/>
            <a:ext cx="4572000" cy="1325880"/>
          </a:xfrm>
          <a:prstGeom prst="rect">
            <a:avLst/>
          </a:prstGeom>
          <a:solidFill>
            <a:srgbClr val="DEEBF7"/>
          </a:solidFill>
          <a:ln w="12700">
            <a:solidFill>
              <a:srgbClr val="DEEBF7"/>
            </a:solidFill>
            <a:prstDash val="solid"/>
          </a:ln>
        </p:spPr>
      </p:sp>
      <p:sp>
        <p:nvSpPr>
          <p:cNvPr id="10" name="EFE Value"/>
          <p:cNvSpPr txBox="1"/>
          <p:nvPr/>
        </p:nvSpPr>
        <p:spPr>
          <a:xfrm>
            <a:off x="7040880" y="3630168"/>
            <a:ext cx="1463040" cy="1097280"/>
          </a:xfrm>
          <a:prstGeom prst="rect">
            <a:avLst/>
          </a:prstGeom>
          <a:noFill/>
          <a:ln/>
        </p:spPr>
        <p:txBody>
          <a:bodyPr wrap="square" lIns="0" tIns="0" rIns="0" bIns="0" rtlCol="0" anchor="ctr"/>
          <a:lstStyle/>
          <a:p>
            <a:pPr algn="ctr" indent="0" marL="0">
              <a:buNone/>
            </a:pPr>
            <a:r>
              <a:rPr lang="en-US" sz="4000" b="1" dirty="0">
                <a:solidFill>
                  <a:srgbClr val="000000"/>
                </a:solidFill>
                <a:latin typeface="Arial" pitchFamily="34" charset="0"/>
                <a:ea typeface="Arial" pitchFamily="34" charset="-122"/>
                <a:cs typeface="Arial" pitchFamily="34" charset="-120"/>
              </a:rPr>
              <a:t>2.41</a:t>
            </a:r>
            <a:endParaRPr lang="en-US" sz="4000" dirty="0"/>
          </a:p>
        </p:txBody>
      </p:sp>
      <p:sp>
        <p:nvSpPr>
          <p:cNvPr id="11" name="EFE Label"/>
          <p:cNvSpPr txBox="1"/>
          <p:nvPr/>
        </p:nvSpPr>
        <p:spPr>
          <a:xfrm>
            <a:off x="8641080" y="3630168"/>
            <a:ext cx="2697480" cy="109728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EFE: external factors</a:t>
            </a:r>
            <a:endParaRPr lang="en-US" sz="1500" dirty="0"/>
          </a:p>
          <a:p>
            <a:pPr indent="0" marL="0">
              <a:buNone/>
            </a:pPr>
            <a:r>
              <a:rPr lang="en-US" sz="1500" dirty="0">
                <a:solidFill>
                  <a:srgbClr val="000000"/>
                </a:solidFill>
                <a:latin typeface="Arial" pitchFamily="34" charset="0"/>
                <a:ea typeface="Arial" pitchFamily="34" charset="-122"/>
                <a:cs typeface="Arial" pitchFamily="34" charset="-120"/>
              </a:rPr>
              <a:t>Below average: PZ must respond better to opportunities and threats</a:t>
            </a:r>
            <a:endParaRPr lang="en-US" sz="1500" dirty="0"/>
          </a:p>
        </p:txBody>
      </p:sp>
      <p:sp>
        <p:nvSpPr>
          <p:cNvPr id="12" name="Strategy Box"/>
          <p:cNvSpPr/>
          <p:nvPr/>
        </p:nvSpPr>
        <p:spPr>
          <a:xfrm>
            <a:off x="6903720" y="5029200"/>
            <a:ext cx="4572000" cy="1280160"/>
          </a:xfrm>
          <a:prstGeom prst="rect">
            <a:avLst/>
          </a:prstGeom>
          <a:solidFill>
            <a:srgbClr val="DEEBF7"/>
          </a:solidFill>
          <a:ln w="12700">
            <a:solidFill>
              <a:srgbClr val="DEEBF7"/>
            </a:solidFill>
            <a:prstDash val="solid"/>
          </a:ln>
        </p:spPr>
      </p:sp>
      <p:sp>
        <p:nvSpPr>
          <p:cNvPr id="13" name="Strategy"/>
          <p:cNvSpPr txBox="1"/>
          <p:nvPr/>
        </p:nvSpPr>
        <p:spPr>
          <a:xfrm>
            <a:off x="7132320" y="5120640"/>
            <a:ext cx="4114800" cy="109728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IE matrix: cell V</a:t>
            </a:r>
            <a:endParaRPr lang="en-US" sz="1500" dirty="0"/>
          </a:p>
          <a:p>
            <a:pPr indent="0" marL="0">
              <a:buNone/>
            </a:pPr>
            <a:r>
              <a:rPr lang="en-US" sz="1500" b="1" dirty="0">
                <a:solidFill>
                  <a:srgbClr val="000000"/>
                </a:solidFill>
                <a:latin typeface="Arial" pitchFamily="34" charset="0"/>
                <a:ea typeface="Arial" pitchFamily="34" charset="-122"/>
                <a:cs typeface="Arial" pitchFamily="34" charset="-120"/>
              </a:rPr>
              <a:t>Hold and maintain: </a:t>
            </a:r>
            <a:r>
              <a:rPr lang="en-US" sz="1500" dirty="0">
                <a:solidFill>
                  <a:srgbClr val="000000"/>
                </a:solidFill>
                <a:latin typeface="Arial" pitchFamily="34" charset="0"/>
                <a:ea typeface="Arial" pitchFamily="34" charset="-122"/>
                <a:cs typeface="Arial" pitchFamily="34" charset="-120"/>
              </a:rPr>
              <a:t>market penetration and product development</a:t>
            </a:r>
            <a:endParaRPr lang="en-US" sz="15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right)">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22" presetClass="entr" presetSubtype="4"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wipe(up)">
                                      <p:cBhvr>
                                        <p:cTn id="18" dur="500"/>
                                        <p:tgtEl>
                                          <p:spTgt spid="5"/>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childTnLst>
                                </p:cTn>
                              </p:par>
                            </p:childTnLst>
                          </p:cTn>
                        </p:par>
                        <p:par>
                          <p:cTn id="29" fill="hold">
                            <p:stCondLst>
                              <p:cond delay="2000"/>
                            </p:stCondLst>
                            <p:childTnLst>
                              <p:par>
                                <p:cTn id="30" presetID="10" presetClass="entr" presetSubtype="0" fill="hold" grpId="0" nodeType="after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500"/>
                                        <p:tgtEl>
                                          <p:spTgt spid="10"/>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00"/>
                                        <p:tgtEl>
                                          <p:spTgt spid="11"/>
                                        </p:tgtEl>
                                      </p:cBhvr>
                                    </p:animEffect>
                                  </p:childTnLst>
                                </p:cTn>
                              </p:par>
                            </p:childTnLst>
                          </p:cTn>
                        </p:par>
                        <p:par>
                          <p:cTn id="39" fill="hold">
                            <p:stCondLst>
                              <p:cond delay="250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Graphic spid="5" grpId="0">
        <p:bldAsOne/>
      </p:bldGraphic>
      <p:bldP spid="6" grpId="0" animBg="1"/>
      <p:bldP spid="7" grpId="0" animBg="1"/>
      <p:bldP spid="8" grpId="0" animBg="1"/>
      <p:bldP spid="9" grpId="0" animBg="1"/>
      <p:bldP spid="10" grpId="0" animBg="1"/>
      <p:bldP spid="11" grpId="0" animBg="1"/>
      <p:bldP spid="12" grpId="0" animBg="1"/>
      <p:bldP spid="1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731520" y="457200"/>
            <a:ext cx="10728655" cy="731520"/>
          </a:xfrm>
          <a:prstGeom prst="rect">
            <a:avLst/>
          </a:prstGeom>
          <a:noFill/>
          <a:ln/>
        </p:spPr>
        <p:txBody>
          <a:bodyPr wrap="square" lIns="0" tIns="0" rIns="0" bIns="0" rtlCol="0" anchor="ctr"/>
          <a:lstStyle/>
          <a:p>
            <a:pPr algn="ctr" indent="0" marL="0">
              <a:buNone/>
            </a:pPr>
            <a:r>
              <a:rPr lang="en-US" sz="3600" b="1" dirty="0">
                <a:solidFill>
                  <a:srgbClr val="1F3864"/>
                </a:solidFill>
                <a:latin typeface="Arial" pitchFamily="34" charset="0"/>
                <a:ea typeface="Arial" pitchFamily="34" charset="-122"/>
                <a:cs typeface="Arial" pitchFamily="34" charset="-120"/>
              </a:rPr>
              <a:t>Industry Overview</a:t>
            </a:r>
            <a:endParaRPr lang="en-US" sz="3600" dirty="0"/>
          </a:p>
        </p:txBody>
      </p:sp>
      <p:sp>
        <p:nvSpPr>
          <p:cNvPr id="3" name="Title Rule"/>
          <p:cNvSpPr/>
          <p:nvPr/>
        </p:nvSpPr>
        <p:spPr>
          <a:xfrm>
            <a:off x="914400" y="1298448"/>
            <a:ext cx="10362895" cy="0"/>
          </a:xfrm>
          <a:prstGeom prst="line">
            <a:avLst/>
          </a:prstGeom>
          <a:noFill/>
          <a:ln w="19050">
            <a:solidFill>
              <a:srgbClr val="1F3864"/>
            </a:solidFill>
            <a:prstDash val="solid"/>
          </a:ln>
        </p:spPr>
      </p:sp>
      <p:sp>
        <p:nvSpPr>
          <p:cNvPr id="4" name="Subtitle"/>
          <p:cNvSpPr txBox="1"/>
          <p:nvPr/>
        </p:nvSpPr>
        <p:spPr>
          <a:xfrm>
            <a:off x="731520" y="1417320"/>
            <a:ext cx="10728655" cy="384048"/>
          </a:xfrm>
          <a:prstGeom prst="rect">
            <a:avLst/>
          </a:prstGeom>
          <a:noFill/>
          <a:ln/>
        </p:spPr>
        <p:txBody>
          <a:bodyPr wrap="square" lIns="0" tIns="0" rIns="0" bIns="0" rtlCol="0" anchor="ctr"/>
          <a:lstStyle/>
          <a:p>
            <a:pPr algn="ctr" indent="0" marL="0">
              <a:buNone/>
            </a:pPr>
            <a:r>
              <a:rPr lang="en-US" sz="1800" dirty="0">
                <a:solidFill>
                  <a:srgbClr val="000000"/>
                </a:solidFill>
                <a:latin typeface="Arial" pitchFamily="34" charset="0"/>
                <a:ea typeface="Arial" pitchFamily="34" charset="-122"/>
                <a:cs typeface="Arial" pitchFamily="34" charset="-120"/>
              </a:rPr>
              <a:t>Nigerian fast-moving consumer goods (FMCG) and consumer electricals</a:t>
            </a:r>
            <a:endParaRPr lang="en-US" sz="1800" dirty="0"/>
          </a:p>
        </p:txBody>
      </p:sp>
      <p:sp>
        <p:nvSpPr>
          <p:cNvPr id="5" name="Industry Box"/>
          <p:cNvSpPr/>
          <p:nvPr/>
        </p:nvSpPr>
        <p:spPr>
          <a:xfrm>
            <a:off x="822960" y="2011680"/>
            <a:ext cx="5135728" cy="4297680"/>
          </a:xfrm>
          <a:prstGeom prst="rect">
            <a:avLst/>
          </a:prstGeom>
          <a:solidFill>
            <a:srgbClr val="DEEBF7"/>
          </a:solidFill>
          <a:ln w="12700">
            <a:solidFill>
              <a:srgbClr val="DEEBF7"/>
            </a:solidFill>
            <a:prstDash val="solid"/>
          </a:ln>
        </p:spPr>
      </p:sp>
      <p:sp>
        <p:nvSpPr>
          <p:cNvPr id="6" name="Industry Heading"/>
          <p:cNvSpPr txBox="1"/>
          <p:nvPr/>
        </p:nvSpPr>
        <p:spPr>
          <a:xfrm>
            <a:off x="1051560" y="2148840"/>
            <a:ext cx="4678528"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The Industry</a:t>
            </a:r>
            <a:endParaRPr lang="en-US" sz="2000" dirty="0"/>
          </a:p>
        </p:txBody>
      </p:sp>
      <p:sp>
        <p:nvSpPr>
          <p:cNvPr id="7" name="Industry Text"/>
          <p:cNvSpPr txBox="1"/>
          <p:nvPr/>
        </p:nvSpPr>
        <p:spPr>
          <a:xfrm>
            <a:off x="1051560" y="2651760"/>
            <a:ext cx="4678528" cy="3520440"/>
          </a:xfrm>
          <a:prstGeom prst="rect">
            <a:avLst/>
          </a:prstGeom>
          <a:noFill/>
          <a:ln/>
        </p:spPr>
        <p:txBody>
          <a:bodyPr wrap="square" lIns="0" tIns="0" rIns="0" bIns="0" rtlCol="0" anchor="t"/>
          <a:lstStyle/>
          <a:p>
            <a:pPr marL="228600" indent="-228600">
              <a:spcAft>
                <a:spcPts val="1600"/>
              </a:spcAft>
              <a:buSzPct val="100000"/>
              <a:buChar char="•"/>
            </a:pPr>
            <a:r>
              <a:rPr lang="en-US" sz="1800" b="1" dirty="0">
                <a:solidFill>
                  <a:srgbClr val="000000"/>
                </a:solidFill>
                <a:latin typeface="Arial" pitchFamily="34" charset="0"/>
                <a:ea typeface="Arial" pitchFamily="34" charset="-122"/>
                <a:cs typeface="Arial" pitchFamily="34" charset="-120"/>
              </a:rPr>
              <a:t>Industry: </a:t>
            </a:r>
            <a:r>
              <a:rPr lang="en-US" sz="1800" dirty="0">
                <a:solidFill>
                  <a:srgbClr val="000000"/>
                </a:solidFill>
                <a:latin typeface="Arial" pitchFamily="34" charset="0"/>
                <a:ea typeface="Arial" pitchFamily="34" charset="-122"/>
                <a:cs typeface="Arial" pitchFamily="34" charset="-120"/>
              </a:rPr>
              <a:t>Fast-moving consumer goods (FMCG): personal care (soaps, bathing) and home care (dishwashing), plus consumer electricals</a:t>
            </a:r>
            <a:endParaRPr lang="en-US" sz="1800" dirty="0"/>
          </a:p>
          <a:p>
            <a:pPr marL="228600" indent="-228600">
              <a:spcAft>
                <a:spcPts val="1600"/>
              </a:spcAft>
              <a:buSzPct val="100000"/>
              <a:buChar char="•"/>
            </a:pPr>
            <a:r>
              <a:rPr lang="en-US" sz="1800" b="1" dirty="0">
                <a:solidFill>
                  <a:srgbClr val="000000"/>
                </a:solidFill>
                <a:latin typeface="Arial" pitchFamily="34" charset="0"/>
                <a:ea typeface="Arial" pitchFamily="34" charset="-122"/>
                <a:cs typeface="Arial" pitchFamily="34" charset="-120"/>
              </a:rPr>
              <a:t>Market: </a:t>
            </a:r>
            <a:r>
              <a:rPr lang="en-US" sz="1800" dirty="0">
                <a:solidFill>
                  <a:srgbClr val="000000"/>
                </a:solidFill>
                <a:latin typeface="Arial" pitchFamily="34" charset="0"/>
                <a:ea typeface="Arial" pitchFamily="34" charset="-122"/>
                <a:cs typeface="Arial" pitchFamily="34" charset="-120"/>
              </a:rPr>
              <a:t>Over 200 million people, most of them young: one of Africa's largest consumer markets</a:t>
            </a:r>
            <a:endParaRPr lang="en-US" sz="1800" dirty="0"/>
          </a:p>
          <a:p>
            <a:pPr marL="228600" indent="-228600">
              <a:spcAft>
                <a:spcPts val="1600"/>
              </a:spcAft>
              <a:buSzPct val="100000"/>
              <a:buChar char="•"/>
            </a:pPr>
            <a:r>
              <a:rPr lang="en-US" sz="1800" b="1" dirty="0">
                <a:solidFill>
                  <a:srgbClr val="000000"/>
                </a:solidFill>
                <a:latin typeface="Arial" pitchFamily="34" charset="0"/>
                <a:ea typeface="Arial" pitchFamily="34" charset="-122"/>
                <a:cs typeface="Arial" pitchFamily="34" charset="-120"/>
              </a:rPr>
              <a:t>Customers: </a:t>
            </a:r>
            <a:r>
              <a:rPr lang="en-US" sz="1800" dirty="0">
                <a:solidFill>
                  <a:srgbClr val="000000"/>
                </a:solidFill>
                <a:latin typeface="Arial" pitchFamily="34" charset="0"/>
                <a:ea typeface="Arial" pitchFamily="34" charset="-122"/>
                <a:cs typeface="Arial" pitchFamily="34" charset="-120"/>
              </a:rPr>
              <a:t>Households, reached through distributors, wholesalers, open markets, supermarkets and online stores</a:t>
            </a:r>
            <a:endParaRPr lang="en-US" sz="1800" dirty="0"/>
          </a:p>
        </p:txBody>
      </p:sp>
      <p:sp>
        <p:nvSpPr>
          <p:cNvPr id="8" name="Trends Box"/>
          <p:cNvSpPr/>
          <p:nvPr/>
        </p:nvSpPr>
        <p:spPr>
          <a:xfrm>
            <a:off x="6233008" y="2011680"/>
            <a:ext cx="5135728" cy="4297680"/>
          </a:xfrm>
          <a:prstGeom prst="rect">
            <a:avLst/>
          </a:prstGeom>
          <a:solidFill>
            <a:srgbClr val="DEEBF7"/>
          </a:solidFill>
          <a:ln w="12700">
            <a:solidFill>
              <a:srgbClr val="DEEBF7"/>
            </a:solidFill>
            <a:prstDash val="solid"/>
          </a:ln>
        </p:spPr>
      </p:sp>
      <p:sp>
        <p:nvSpPr>
          <p:cNvPr id="9" name="Trends Heading"/>
          <p:cNvSpPr txBox="1"/>
          <p:nvPr/>
        </p:nvSpPr>
        <p:spPr>
          <a:xfrm>
            <a:off x="6461608" y="2148840"/>
            <a:ext cx="4678528"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Trends and Success Factors</a:t>
            </a:r>
            <a:endParaRPr lang="en-US" sz="2000" dirty="0"/>
          </a:p>
        </p:txBody>
      </p:sp>
      <p:sp>
        <p:nvSpPr>
          <p:cNvPr id="10" name="Trends Text"/>
          <p:cNvSpPr txBox="1"/>
          <p:nvPr/>
        </p:nvSpPr>
        <p:spPr>
          <a:xfrm>
            <a:off x="6461608" y="2651760"/>
            <a:ext cx="4678528" cy="3520440"/>
          </a:xfrm>
          <a:prstGeom prst="rect">
            <a:avLst/>
          </a:prstGeom>
          <a:noFill/>
          <a:ln/>
        </p:spPr>
        <p:txBody>
          <a:bodyPr wrap="square" lIns="0" tIns="0" rIns="0" bIns="0" rtlCol="0" anchor="t"/>
          <a:lstStyle/>
          <a:p>
            <a:pPr marL="228600" indent="-228600">
              <a:spcAft>
                <a:spcPts val="1600"/>
              </a:spcAft>
              <a:buSzPct val="100000"/>
              <a:buChar char="•"/>
            </a:pPr>
            <a:r>
              <a:rPr lang="en-US" sz="1800" b="1" dirty="0">
                <a:solidFill>
                  <a:srgbClr val="000000"/>
                </a:solidFill>
                <a:latin typeface="Arial" pitchFamily="34" charset="0"/>
                <a:ea typeface="Arial" pitchFamily="34" charset="-122"/>
                <a:cs typeface="Arial" pitchFamily="34" charset="-120"/>
              </a:rPr>
              <a:t>Key trends: </a:t>
            </a:r>
            <a:r>
              <a:rPr lang="en-US" sz="1800" dirty="0">
                <a:solidFill>
                  <a:srgbClr val="000000"/>
                </a:solidFill>
                <a:latin typeface="Arial" pitchFamily="34" charset="0"/>
                <a:ea typeface="Arial" pitchFamily="34" charset="-122"/>
                <a:cs typeface="Arial" pitchFamily="34" charset="-120"/>
              </a:rPr>
              <a:t>Prices rising with inflation; shoppers moving to smaller packs and cheaper brands; multinationals cutting local production; more selling online and on social media</a:t>
            </a:r>
            <a:endParaRPr lang="en-US" sz="1800" dirty="0"/>
          </a:p>
          <a:p>
            <a:pPr marL="228600" indent="-228600">
              <a:spcAft>
                <a:spcPts val="1600"/>
              </a:spcAft>
              <a:buSzPct val="100000"/>
              <a:buChar char="•"/>
            </a:pPr>
            <a:r>
              <a:rPr lang="en-US" sz="1800" b="1" dirty="0">
                <a:solidFill>
                  <a:srgbClr val="000000"/>
                </a:solidFill>
                <a:latin typeface="Arial" pitchFamily="34" charset="0"/>
                <a:ea typeface="Arial" pitchFamily="34" charset="-122"/>
                <a:cs typeface="Arial" pitchFamily="34" charset="-120"/>
              </a:rPr>
              <a:t>Key success factors: </a:t>
            </a:r>
            <a:r>
              <a:rPr lang="en-US" sz="1800" dirty="0">
                <a:solidFill>
                  <a:srgbClr val="000000"/>
                </a:solidFill>
                <a:latin typeface="Arial" pitchFamily="34" charset="0"/>
                <a:ea typeface="Arial" pitchFamily="34" charset="-122"/>
                <a:cs typeface="Arial" pitchFamily="34" charset="-120"/>
              </a:rPr>
              <a:t>Strong brands, low costs, wide distribution, local raw materials and affordable pack sizes</a:t>
            </a:r>
            <a:endParaRPr lang="en-US" sz="18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right)">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childTnLst>
                          </p:cTn>
                        </p:par>
                        <p:par>
                          <p:cTn id="25" fill="hold">
                            <p:stCondLst>
                              <p:cond delay="1500"/>
                            </p:stCondLst>
                            <p:childTnLst>
                              <p:par>
                                <p:cTn id="26" presetID="10" presetClass="entr" presetSubtype="0" fill="hold" grpId="0" nodeType="after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500"/>
                                        <p:tgtEl>
                                          <p:spTgt spid="9"/>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731520" y="457200"/>
            <a:ext cx="10728655" cy="731520"/>
          </a:xfrm>
          <a:prstGeom prst="rect">
            <a:avLst/>
          </a:prstGeom>
          <a:noFill/>
          <a:ln/>
        </p:spPr>
        <p:txBody>
          <a:bodyPr wrap="square" lIns="0" tIns="0" rIns="0" bIns="0" rtlCol="0" anchor="ctr"/>
          <a:lstStyle/>
          <a:p>
            <a:pPr algn="ctr" indent="0" marL="0">
              <a:buNone/>
            </a:pPr>
            <a:r>
              <a:rPr lang="en-US" sz="3600" b="1" dirty="0">
                <a:solidFill>
                  <a:srgbClr val="1F3864"/>
                </a:solidFill>
                <a:latin typeface="Arial" pitchFamily="34" charset="0"/>
                <a:ea typeface="Arial" pitchFamily="34" charset="-122"/>
                <a:cs typeface="Arial" pitchFamily="34" charset="-120"/>
              </a:rPr>
              <a:t>Main Competitors</a:t>
            </a:r>
            <a:endParaRPr lang="en-US" sz="3600" dirty="0"/>
          </a:p>
        </p:txBody>
      </p:sp>
      <p:sp>
        <p:nvSpPr>
          <p:cNvPr id="3" name="Title Rule"/>
          <p:cNvSpPr/>
          <p:nvPr/>
        </p:nvSpPr>
        <p:spPr>
          <a:xfrm>
            <a:off x="914400" y="1298448"/>
            <a:ext cx="10362895" cy="0"/>
          </a:xfrm>
          <a:prstGeom prst="line">
            <a:avLst/>
          </a:prstGeom>
          <a:noFill/>
          <a:ln w="19050">
            <a:solidFill>
              <a:srgbClr val="1F3864"/>
            </a:solidFill>
            <a:prstDash val="solid"/>
          </a:ln>
        </p:spPr>
      </p:sp>
      <p:sp>
        <p:nvSpPr>
          <p:cNvPr id="4" name="Subtitle"/>
          <p:cNvSpPr txBox="1"/>
          <p:nvPr/>
        </p:nvSpPr>
        <p:spPr>
          <a:xfrm>
            <a:off x="731520" y="1417320"/>
            <a:ext cx="10728655" cy="384048"/>
          </a:xfrm>
          <a:prstGeom prst="rect">
            <a:avLst/>
          </a:prstGeom>
          <a:noFill/>
          <a:ln/>
        </p:spPr>
        <p:txBody>
          <a:bodyPr wrap="square" lIns="0" tIns="0" rIns="0" bIns="0" rtlCol="0" anchor="ctr"/>
          <a:lstStyle/>
          <a:p>
            <a:pPr algn="ctr" indent="0" marL="0">
              <a:buNone/>
            </a:pPr>
            <a:r>
              <a:rPr lang="en-US" sz="1800" dirty="0">
                <a:solidFill>
                  <a:srgbClr val="000000"/>
                </a:solidFill>
                <a:latin typeface="Arial" pitchFamily="34" charset="0"/>
                <a:ea typeface="Arial" pitchFamily="34" charset="-122"/>
                <a:cs typeface="Arial" pitchFamily="34" charset="-120"/>
              </a:rPr>
              <a:t>Who PZ competes with, and where they stand</a:t>
            </a:r>
            <a:endParaRPr lang="en-US" sz="1800" dirty="0"/>
          </a:p>
        </p:txBody>
      </p:sp>
      <p:graphicFrame>
        <p:nvGraphicFramePr>
          <p:cNvPr id="10" name="Competitors Table"/>
          <p:cNvGraphicFramePr>
            <a:graphicFrameLocks noGrp="1"/>
          </p:cNvGraphicFramePr>
          <p:nvPr>
            <p:extLst>
              <p:ext uri="{D42A27DB-BD31-4B8C-83A1-F6EECF244321}">
                <p14:modId xmlns:p14="http://schemas.microsoft.com/office/powerpoint/2010/main" val="1579011935"/>
              </p:ext>
            </p:extLst>
          </p:nvPr>
        </p:nvGraphicFramePr>
        <p:xfrm>
          <a:off x="822960" y="2011680"/>
          <a:ext cx="10545775" cy="914400"/>
        </p:xfrm>
        <a:graphic>
          <a:graphicData uri="http://schemas.openxmlformats.org/drawingml/2006/table">
            <a:tbl>
              <a:tblPr/>
              <a:tblGrid>
                <a:gridCol w="2377440"/>
                <a:gridCol w="2743200"/>
                <a:gridCol w="2103120"/>
                <a:gridCol w="3322015"/>
              </a:tblGrid>
              <a:tr h="411480">
                <a:tc>
                  <a:txBody>
                    <a:bodyPr/>
                    <a:lstStyle/>
                    <a:p>
                      <a:pPr indent="0" marL="0">
                        <a:buNone/>
                      </a:pPr>
                      <a:r>
                        <a:rPr lang="en-US" sz="1500" b="1" dirty="0">
                          <a:solidFill>
                            <a:srgbClr val="000000"/>
                          </a:solidFill>
                          <a:latin typeface="Arial" pitchFamily="34" charset="0"/>
                          <a:ea typeface="Arial" pitchFamily="34" charset="-122"/>
                          <a:cs typeface="Arial" pitchFamily="34" charset="-120"/>
                        </a:rPr>
                        <a:t>Competitor</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EEBF7"/>
                    </a:solidFill>
                  </a:tcPr>
                </a:tc>
                <a:tc>
                  <a:txBody>
                    <a:bodyPr/>
                    <a:lstStyle/>
                    <a:p>
                      <a:pPr indent="0" marL="0">
                        <a:buNone/>
                      </a:pPr>
                      <a:r>
                        <a:rPr lang="en-US" sz="1500" b="1" dirty="0">
                          <a:solidFill>
                            <a:srgbClr val="000000"/>
                          </a:solidFill>
                          <a:latin typeface="Arial" pitchFamily="34" charset="0"/>
                          <a:ea typeface="Arial" pitchFamily="34" charset="-122"/>
                          <a:cs typeface="Arial" pitchFamily="34" charset="-120"/>
                        </a:rPr>
                        <a:t>Key brands</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EEBF7"/>
                    </a:solidFill>
                  </a:tcPr>
                </a:tc>
                <a:tc>
                  <a:txBody>
                    <a:bodyPr/>
                    <a:lstStyle/>
                    <a:p>
                      <a:pPr indent="0" marL="0">
                        <a:buNone/>
                      </a:pPr>
                      <a:r>
                        <a:rPr lang="en-US" sz="1500" b="1" dirty="0">
                          <a:solidFill>
                            <a:srgbClr val="000000"/>
                          </a:solidFill>
                          <a:latin typeface="Arial" pitchFamily="34" charset="0"/>
                          <a:ea typeface="Arial" pitchFamily="34" charset="-122"/>
                          <a:cs typeface="Arial" pitchFamily="34" charset="-120"/>
                        </a:rPr>
                        <a:t>Competes with PZ in</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EEBF7"/>
                    </a:solidFill>
                  </a:tcPr>
                </a:tc>
                <a:tc>
                  <a:txBody>
                    <a:bodyPr/>
                    <a:lstStyle/>
                    <a:p>
                      <a:pPr indent="0" marL="0">
                        <a:buNone/>
                      </a:pPr>
                      <a:r>
                        <a:rPr lang="en-US" sz="1500" b="1" dirty="0">
                          <a:solidFill>
                            <a:srgbClr val="000000"/>
                          </a:solidFill>
                          <a:latin typeface="Arial" pitchFamily="34" charset="0"/>
                          <a:ea typeface="Arial" pitchFamily="34" charset="-122"/>
                          <a:cs typeface="Arial" pitchFamily="34" charset="-120"/>
                        </a:rPr>
                        <a:t>Position</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EEBF7"/>
                    </a:solidFill>
                  </a:tcPr>
                </a:tc>
              </a:tr>
              <a:tr h="640080">
                <a:tc>
                  <a:txBody>
                    <a:bodyPr/>
                    <a:lstStyle/>
                    <a:p>
                      <a:pPr indent="0" marL="0">
                        <a:buNone/>
                      </a:pPr>
                      <a:r>
                        <a:rPr lang="en-US" sz="1500" b="1" dirty="0">
                          <a:solidFill>
                            <a:srgbClr val="000000"/>
                          </a:solidFill>
                          <a:latin typeface="Arial" pitchFamily="34" charset="0"/>
                          <a:ea typeface="Arial" pitchFamily="34" charset="-122"/>
                          <a:cs typeface="Arial" pitchFamily="34" charset="-120"/>
                        </a:rPr>
                        <a:t>Unilever Nigeria</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Vaseline, Close-Up, Pepsodent</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Personal care</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Left home care and skin cleansing (soaps) in 2023</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500" b="1" dirty="0">
                          <a:solidFill>
                            <a:srgbClr val="000000"/>
                          </a:solidFill>
                          <a:latin typeface="Arial" pitchFamily="34" charset="0"/>
                          <a:ea typeface="Arial" pitchFamily="34" charset="-122"/>
                          <a:cs typeface="Arial" pitchFamily="34" charset="-120"/>
                        </a:rPr>
                        <a:t>Procter &amp; Gamble</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Ariel, Pampers, Always</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Home care</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Stopped making products in Nigeria; imports only (announced 2023)</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500" b="1" dirty="0">
                          <a:solidFill>
                            <a:srgbClr val="000000"/>
                          </a:solidFill>
                          <a:latin typeface="Arial" pitchFamily="34" charset="0"/>
                          <a:ea typeface="Arial" pitchFamily="34" charset="-122"/>
                          <a:cs typeface="Arial" pitchFamily="34" charset="-120"/>
                        </a:rPr>
                        <a:t>Reckitt Nigeria</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Dettol, Harpic, Jik</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Antiseptic soap, home care</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Strong in hygiene and health products</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500" b="1" dirty="0">
                          <a:solidFill>
                            <a:srgbClr val="000000"/>
                          </a:solidFill>
                          <a:latin typeface="Arial" pitchFamily="34" charset="0"/>
                          <a:ea typeface="Arial" pitchFamily="34" charset="-122"/>
                          <a:cs typeface="Arial" pitchFamily="34" charset="-120"/>
                        </a:rPr>
                        <a:t>Hayat Kimya</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Molfix, Bingo, Familia</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Home care</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Makes products locally; low prices; growing fast</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500" b="1" dirty="0">
                          <a:solidFill>
                            <a:srgbClr val="000000"/>
                          </a:solidFill>
                          <a:latin typeface="Arial" pitchFamily="34" charset="0"/>
                          <a:ea typeface="Arial" pitchFamily="34" charset="-122"/>
                          <a:cs typeface="Arial" pitchFamily="34" charset="-120"/>
                        </a:rPr>
                        <a:t>Local low-cost brands</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Many local soaps, detergents and dishwashing liquids</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All Family Care brands</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Win on price, especially in open markets</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500" b="1" dirty="0">
                          <a:solidFill>
                            <a:srgbClr val="000000"/>
                          </a:solidFill>
                          <a:latin typeface="Arial" pitchFamily="34" charset="0"/>
                          <a:ea typeface="Arial" pitchFamily="34" charset="-122"/>
                          <a:cs typeface="Arial" pitchFamily="34" charset="-120"/>
                        </a:rPr>
                        <a:t>LG, Samsung, Hisense, Scanfrost</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Air conditioners, fridges, washing machines</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Electrical</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Strong brands, plus many cheaper imports</a:t>
                      </a:r>
                      <a:endParaRPr lang="en-US" sz="1500" dirty="0">
                        <a:latin typeface="Arial" charset="0"/>
                        <a:ea typeface="Arial" charset="0"/>
                        <a:cs typeface="Arial" charset="0"/>
                      </a:endParaRPr>
                    </a:p>
                  </a:txBody>
                  <a:tcPr marL="101600" marR="101600" marT="50800" marB="5080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right)">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22" presetClass="entr" presetSubtype="4" fill="hold" nodeType="after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wipe(up)">
                                      <p:cBhvr>
                                        <p:cTn id="18"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731520" y="457200"/>
            <a:ext cx="10728655" cy="731520"/>
          </a:xfrm>
          <a:prstGeom prst="rect">
            <a:avLst/>
          </a:prstGeom>
          <a:noFill/>
          <a:ln/>
        </p:spPr>
        <p:txBody>
          <a:bodyPr wrap="square" lIns="0" tIns="0" rIns="0" bIns="0" rtlCol="0" anchor="ctr"/>
          <a:lstStyle/>
          <a:p>
            <a:pPr algn="ctr" indent="0" marL="0">
              <a:buNone/>
            </a:pPr>
            <a:r>
              <a:rPr lang="en-US" sz="3600" b="1" dirty="0">
                <a:solidFill>
                  <a:srgbClr val="1F3864"/>
                </a:solidFill>
                <a:latin typeface="Arial" pitchFamily="34" charset="0"/>
                <a:ea typeface="Arial" pitchFamily="34" charset="-122"/>
                <a:cs typeface="Arial" pitchFamily="34" charset="-120"/>
              </a:rPr>
              <a:t>Porter's Five Forces</a:t>
            </a:r>
            <a:endParaRPr lang="en-US" sz="3600" dirty="0"/>
          </a:p>
        </p:txBody>
      </p:sp>
      <p:sp>
        <p:nvSpPr>
          <p:cNvPr id="3" name="Title Rule"/>
          <p:cNvSpPr/>
          <p:nvPr/>
        </p:nvSpPr>
        <p:spPr>
          <a:xfrm>
            <a:off x="914400" y="1298448"/>
            <a:ext cx="10362895" cy="0"/>
          </a:xfrm>
          <a:prstGeom prst="line">
            <a:avLst/>
          </a:prstGeom>
          <a:noFill/>
          <a:ln w="19050">
            <a:solidFill>
              <a:srgbClr val="1F3864"/>
            </a:solidFill>
            <a:prstDash val="solid"/>
          </a:ln>
        </p:spPr>
      </p:sp>
      <p:sp>
        <p:nvSpPr>
          <p:cNvPr id="4" name="Competitive rivalry Box"/>
          <p:cNvSpPr/>
          <p:nvPr/>
        </p:nvSpPr>
        <p:spPr>
          <a:xfrm>
            <a:off x="4315968" y="3246120"/>
            <a:ext cx="3566160" cy="1463040"/>
          </a:xfrm>
          <a:prstGeom prst="rect">
            <a:avLst/>
          </a:prstGeom>
          <a:solidFill>
            <a:srgbClr val="FFFFFF"/>
          </a:solidFill>
          <a:ln w="25400">
            <a:solidFill>
              <a:srgbClr val="1F3864"/>
            </a:solidFill>
            <a:prstDash val="solid"/>
          </a:ln>
        </p:spPr>
      </p:sp>
      <p:sp>
        <p:nvSpPr>
          <p:cNvPr id="5" name="Competitive rivalry Text"/>
          <p:cNvSpPr txBox="1"/>
          <p:nvPr/>
        </p:nvSpPr>
        <p:spPr>
          <a:xfrm>
            <a:off x="4453128" y="3319272"/>
            <a:ext cx="3291840" cy="1316736"/>
          </a:xfrm>
          <a:prstGeom prst="rect">
            <a:avLst/>
          </a:prstGeom>
          <a:noFill/>
          <a:ln/>
        </p:spPr>
        <p:txBody>
          <a:bodyPr wrap="square" lIns="0" tIns="0" rIns="0" bIns="0" rtlCol="0" anchor="ctr"/>
          <a:lstStyle/>
          <a:p>
            <a:pPr algn="ctr" indent="0" marL="0">
              <a:spcAft>
                <a:spcPts val="300"/>
              </a:spcAft>
              <a:buNone/>
            </a:pPr>
            <a:r>
              <a:rPr lang="en-US" sz="1800" b="1" dirty="0">
                <a:solidFill>
                  <a:srgbClr val="000000"/>
                </a:solidFill>
                <a:latin typeface="Arial" pitchFamily="34" charset="0"/>
                <a:ea typeface="Arial" pitchFamily="34" charset="-122"/>
                <a:cs typeface="Arial" pitchFamily="34" charset="-120"/>
              </a:rPr>
              <a:t>Competitive rivalry</a:t>
            </a:r>
            <a:endParaRPr lang="en-US" sz="1800" dirty="0"/>
          </a:p>
          <a:p>
            <a:pPr algn="ctr" indent="0" marL="0">
              <a:spcAft>
                <a:spcPts val="300"/>
              </a:spcAft>
              <a:buNone/>
            </a:pPr>
            <a:r>
              <a:rPr lang="en-US" sz="1500" b="1" dirty="0">
                <a:solidFill>
                  <a:srgbClr val="000000"/>
                </a:solidFill>
                <a:latin typeface="Arial" pitchFamily="34" charset="0"/>
                <a:ea typeface="Arial" pitchFamily="34" charset="-122"/>
                <a:cs typeface="Arial" pitchFamily="34" charset="-120"/>
              </a:rPr>
              <a:t>High: 5 of 5</a:t>
            </a:r>
            <a:endParaRPr lang="en-US" sz="1800" dirty="0"/>
          </a:p>
          <a:p>
            <a:pPr algn="ctr" indent="0" marL="0">
              <a:spcAft>
                <a:spcPts val="300"/>
              </a:spcAft>
              <a:buNone/>
            </a:pPr>
            <a:r>
              <a:rPr lang="en-US" sz="1400" dirty="0">
                <a:solidFill>
                  <a:srgbClr val="000000"/>
                </a:solidFill>
                <a:latin typeface="Arial" pitchFamily="34" charset="0"/>
                <a:ea typeface="Arial" pitchFamily="34" charset="-122"/>
                <a:cs typeface="Arial" pitchFamily="34" charset="-120"/>
              </a:rPr>
              <a:t>Many local and foreign brands fight on price, promotions and shelf space</a:t>
            </a:r>
            <a:endParaRPr lang="en-US" sz="1800" dirty="0"/>
          </a:p>
        </p:txBody>
      </p:sp>
      <p:sp>
        <p:nvSpPr>
          <p:cNvPr id="6" name="Threat of new entrants Box"/>
          <p:cNvSpPr/>
          <p:nvPr/>
        </p:nvSpPr>
        <p:spPr>
          <a:xfrm>
            <a:off x="4315968" y="1536192"/>
            <a:ext cx="3566160" cy="1344168"/>
          </a:xfrm>
          <a:prstGeom prst="rect">
            <a:avLst/>
          </a:prstGeom>
          <a:solidFill>
            <a:srgbClr val="DEEBF7"/>
          </a:solidFill>
          <a:ln w="12700">
            <a:solidFill>
              <a:srgbClr val="DEEBF7"/>
            </a:solidFill>
            <a:prstDash val="solid"/>
          </a:ln>
        </p:spPr>
      </p:sp>
      <p:sp>
        <p:nvSpPr>
          <p:cNvPr id="7" name="Threat of new entrants Text"/>
          <p:cNvSpPr txBox="1"/>
          <p:nvPr/>
        </p:nvSpPr>
        <p:spPr>
          <a:xfrm>
            <a:off x="4453128" y="1609344"/>
            <a:ext cx="3291840" cy="1197864"/>
          </a:xfrm>
          <a:prstGeom prst="rect">
            <a:avLst/>
          </a:prstGeom>
          <a:noFill/>
          <a:ln/>
        </p:spPr>
        <p:txBody>
          <a:bodyPr wrap="square" lIns="0" tIns="0" rIns="0" bIns="0" rtlCol="0" anchor="ctr"/>
          <a:lstStyle/>
          <a:p>
            <a:pPr algn="ctr" indent="0" marL="0">
              <a:spcAft>
                <a:spcPts val="300"/>
              </a:spcAft>
              <a:buNone/>
            </a:pPr>
            <a:r>
              <a:rPr lang="en-US" sz="1800" b="1" dirty="0">
                <a:solidFill>
                  <a:srgbClr val="000000"/>
                </a:solidFill>
                <a:latin typeface="Arial" pitchFamily="34" charset="0"/>
                <a:ea typeface="Arial" pitchFamily="34" charset="-122"/>
                <a:cs typeface="Arial" pitchFamily="34" charset="-120"/>
              </a:rPr>
              <a:t>Threat of new entrants</a:t>
            </a:r>
            <a:endParaRPr lang="en-US" sz="1800" dirty="0"/>
          </a:p>
          <a:p>
            <a:pPr algn="ctr" indent="0" marL="0">
              <a:spcAft>
                <a:spcPts val="300"/>
              </a:spcAft>
              <a:buNone/>
            </a:pPr>
            <a:r>
              <a:rPr lang="en-US" sz="1500" b="1" dirty="0">
                <a:solidFill>
                  <a:srgbClr val="000000"/>
                </a:solidFill>
                <a:latin typeface="Arial" pitchFamily="34" charset="0"/>
                <a:ea typeface="Arial" pitchFamily="34" charset="-122"/>
                <a:cs typeface="Arial" pitchFamily="34" charset="-120"/>
              </a:rPr>
              <a:t>Low: 2 of 5</a:t>
            </a:r>
            <a:endParaRPr lang="en-US" sz="1800" dirty="0"/>
          </a:p>
          <a:p>
            <a:pPr algn="ctr" indent="0" marL="0">
              <a:spcAft>
                <a:spcPts val="300"/>
              </a:spcAft>
              <a:buNone/>
            </a:pPr>
            <a:r>
              <a:rPr lang="en-US" sz="1400" dirty="0">
                <a:solidFill>
                  <a:srgbClr val="000000"/>
                </a:solidFill>
                <a:latin typeface="Arial" pitchFamily="34" charset="0"/>
                <a:ea typeface="Arial" pitchFamily="34" charset="-122"/>
                <a:cs typeface="Arial" pitchFamily="34" charset="-120"/>
              </a:rPr>
              <a:t>Factories, brands and distribution cost a lot, but cheap imports still get in</a:t>
            </a:r>
            <a:endParaRPr lang="en-US" sz="1800" dirty="0"/>
          </a:p>
        </p:txBody>
      </p:sp>
      <p:sp>
        <p:nvSpPr>
          <p:cNvPr id="8" name="Arrow Entrants"/>
          <p:cNvSpPr/>
          <p:nvPr/>
        </p:nvSpPr>
        <p:spPr>
          <a:xfrm>
            <a:off x="6099048" y="2880360"/>
            <a:ext cx="0" cy="365760"/>
          </a:xfrm>
          <a:prstGeom prst="line">
            <a:avLst/>
          </a:prstGeom>
          <a:noFill/>
          <a:ln w="19050">
            <a:solidFill>
              <a:srgbClr val="000000"/>
            </a:solidFill>
            <a:prstDash val="solid"/>
            <a:tailEnd type="triangle"/>
          </a:ln>
        </p:spPr>
      </p:sp>
      <p:sp>
        <p:nvSpPr>
          <p:cNvPr id="9" name="Bargaining power of suppliers Box"/>
          <p:cNvSpPr/>
          <p:nvPr/>
        </p:nvSpPr>
        <p:spPr>
          <a:xfrm>
            <a:off x="731520" y="3017520"/>
            <a:ext cx="3200400" cy="1920240"/>
          </a:xfrm>
          <a:prstGeom prst="rect">
            <a:avLst/>
          </a:prstGeom>
          <a:solidFill>
            <a:srgbClr val="DEEBF7"/>
          </a:solidFill>
          <a:ln w="12700">
            <a:solidFill>
              <a:srgbClr val="DEEBF7"/>
            </a:solidFill>
            <a:prstDash val="solid"/>
          </a:ln>
        </p:spPr>
      </p:sp>
      <p:sp>
        <p:nvSpPr>
          <p:cNvPr id="10" name="Bargaining power of suppliers Text"/>
          <p:cNvSpPr txBox="1"/>
          <p:nvPr/>
        </p:nvSpPr>
        <p:spPr>
          <a:xfrm>
            <a:off x="868680" y="3090672"/>
            <a:ext cx="2926080" cy="1773936"/>
          </a:xfrm>
          <a:prstGeom prst="rect">
            <a:avLst/>
          </a:prstGeom>
          <a:noFill/>
          <a:ln/>
        </p:spPr>
        <p:txBody>
          <a:bodyPr wrap="square" lIns="0" tIns="0" rIns="0" bIns="0" rtlCol="0" anchor="ctr"/>
          <a:lstStyle/>
          <a:p>
            <a:pPr algn="ctr" indent="0" marL="0">
              <a:spcAft>
                <a:spcPts val="300"/>
              </a:spcAft>
              <a:buNone/>
            </a:pPr>
            <a:r>
              <a:rPr lang="en-US" sz="1800" b="1" dirty="0">
                <a:solidFill>
                  <a:srgbClr val="000000"/>
                </a:solidFill>
                <a:latin typeface="Arial" pitchFamily="34" charset="0"/>
                <a:ea typeface="Arial" pitchFamily="34" charset="-122"/>
                <a:cs typeface="Arial" pitchFamily="34" charset="-120"/>
              </a:rPr>
              <a:t>Bargaining power of suppliers</a:t>
            </a:r>
            <a:endParaRPr lang="en-US" sz="1800" dirty="0"/>
          </a:p>
          <a:p>
            <a:pPr algn="ctr" indent="0" marL="0">
              <a:spcAft>
                <a:spcPts val="300"/>
              </a:spcAft>
              <a:buNone/>
            </a:pPr>
            <a:r>
              <a:rPr lang="en-US" sz="1500" b="1" dirty="0">
                <a:solidFill>
                  <a:srgbClr val="000000"/>
                </a:solidFill>
                <a:latin typeface="Arial" pitchFamily="34" charset="0"/>
                <a:ea typeface="Arial" pitchFamily="34" charset="-122"/>
                <a:cs typeface="Arial" pitchFamily="34" charset="-120"/>
              </a:rPr>
              <a:t>High: 4 of 5</a:t>
            </a:r>
            <a:endParaRPr lang="en-US" sz="1800" dirty="0"/>
          </a:p>
          <a:p>
            <a:pPr algn="ctr" indent="0" marL="0">
              <a:spcAft>
                <a:spcPts val="300"/>
              </a:spcAft>
              <a:buNone/>
            </a:pPr>
            <a:r>
              <a:rPr lang="en-US" sz="1400" dirty="0">
                <a:solidFill>
                  <a:srgbClr val="000000"/>
                </a:solidFill>
                <a:latin typeface="Arial" pitchFamily="34" charset="0"/>
                <a:ea typeface="Arial" pitchFamily="34" charset="-122"/>
                <a:cs typeface="Arial" pitchFamily="34" charset="-120"/>
              </a:rPr>
              <a:t>Key raw materials, packaging and parts are imported and priced in dollars</a:t>
            </a:r>
            <a:endParaRPr lang="en-US" sz="1800" dirty="0"/>
          </a:p>
        </p:txBody>
      </p:sp>
      <p:sp>
        <p:nvSpPr>
          <p:cNvPr id="11" name="Arrow Suppliers"/>
          <p:cNvSpPr/>
          <p:nvPr/>
        </p:nvSpPr>
        <p:spPr>
          <a:xfrm>
            <a:off x="3931920" y="3977640"/>
            <a:ext cx="384048" cy="0"/>
          </a:xfrm>
          <a:prstGeom prst="line">
            <a:avLst/>
          </a:prstGeom>
          <a:noFill/>
          <a:ln w="19050">
            <a:solidFill>
              <a:srgbClr val="000000"/>
            </a:solidFill>
            <a:prstDash val="solid"/>
            <a:tailEnd type="triangle"/>
          </a:ln>
        </p:spPr>
      </p:sp>
      <p:sp>
        <p:nvSpPr>
          <p:cNvPr id="12" name="Bargaining power of buyers Box"/>
          <p:cNvSpPr/>
          <p:nvPr/>
        </p:nvSpPr>
        <p:spPr>
          <a:xfrm>
            <a:off x="8259775" y="3017520"/>
            <a:ext cx="3200400" cy="1920240"/>
          </a:xfrm>
          <a:prstGeom prst="rect">
            <a:avLst/>
          </a:prstGeom>
          <a:solidFill>
            <a:srgbClr val="DEEBF7"/>
          </a:solidFill>
          <a:ln w="12700">
            <a:solidFill>
              <a:srgbClr val="DEEBF7"/>
            </a:solidFill>
            <a:prstDash val="solid"/>
          </a:ln>
        </p:spPr>
      </p:sp>
      <p:sp>
        <p:nvSpPr>
          <p:cNvPr id="13" name="Bargaining power of buyers Text"/>
          <p:cNvSpPr txBox="1"/>
          <p:nvPr/>
        </p:nvSpPr>
        <p:spPr>
          <a:xfrm>
            <a:off x="8396935" y="3090672"/>
            <a:ext cx="2926080" cy="1773936"/>
          </a:xfrm>
          <a:prstGeom prst="rect">
            <a:avLst/>
          </a:prstGeom>
          <a:noFill/>
          <a:ln/>
        </p:spPr>
        <p:txBody>
          <a:bodyPr wrap="square" lIns="0" tIns="0" rIns="0" bIns="0" rtlCol="0" anchor="ctr"/>
          <a:lstStyle/>
          <a:p>
            <a:pPr algn="ctr" indent="0" marL="0">
              <a:spcAft>
                <a:spcPts val="300"/>
              </a:spcAft>
              <a:buNone/>
            </a:pPr>
            <a:r>
              <a:rPr lang="en-US" sz="1800" b="1" dirty="0">
                <a:solidFill>
                  <a:srgbClr val="000000"/>
                </a:solidFill>
                <a:latin typeface="Arial" pitchFamily="34" charset="0"/>
                <a:ea typeface="Arial" pitchFamily="34" charset="-122"/>
                <a:cs typeface="Arial" pitchFamily="34" charset="-120"/>
              </a:rPr>
              <a:t>Bargaining power of buyers</a:t>
            </a:r>
            <a:endParaRPr lang="en-US" sz="1800" dirty="0"/>
          </a:p>
          <a:p>
            <a:pPr algn="ctr" indent="0" marL="0">
              <a:spcAft>
                <a:spcPts val="300"/>
              </a:spcAft>
              <a:buNone/>
            </a:pPr>
            <a:r>
              <a:rPr lang="en-US" sz="1500" b="1" dirty="0">
                <a:solidFill>
                  <a:srgbClr val="000000"/>
                </a:solidFill>
                <a:latin typeface="Arial" pitchFamily="34" charset="0"/>
                <a:ea typeface="Arial" pitchFamily="34" charset="-122"/>
                <a:cs typeface="Arial" pitchFamily="34" charset="-120"/>
              </a:rPr>
              <a:t>High: 4 of 5</a:t>
            </a:r>
            <a:endParaRPr lang="en-US" sz="1800" dirty="0"/>
          </a:p>
          <a:p>
            <a:pPr algn="ctr" indent="0" marL="0">
              <a:spcAft>
                <a:spcPts val="300"/>
              </a:spcAft>
              <a:buNone/>
            </a:pPr>
            <a:r>
              <a:rPr lang="en-US" sz="1400" dirty="0">
                <a:solidFill>
                  <a:srgbClr val="000000"/>
                </a:solidFill>
                <a:latin typeface="Arial" pitchFamily="34" charset="0"/>
                <a:ea typeface="Arial" pitchFamily="34" charset="-122"/>
                <a:cs typeface="Arial" pitchFamily="34" charset="-120"/>
              </a:rPr>
              <a:t>Shoppers are price-sensitive and switch brands easily; big distributors bargain hard</a:t>
            </a:r>
            <a:endParaRPr lang="en-US" sz="1800" dirty="0"/>
          </a:p>
        </p:txBody>
      </p:sp>
      <p:sp>
        <p:nvSpPr>
          <p:cNvPr id="14" name="Arrow Buyers"/>
          <p:cNvSpPr/>
          <p:nvPr/>
        </p:nvSpPr>
        <p:spPr>
          <a:xfrm>
            <a:off x="7882128" y="3977640"/>
            <a:ext cx="377647" cy="0"/>
          </a:xfrm>
          <a:prstGeom prst="line">
            <a:avLst/>
          </a:prstGeom>
          <a:noFill/>
          <a:ln w="19050">
            <a:solidFill>
              <a:srgbClr val="000000"/>
            </a:solidFill>
            <a:prstDash val="solid"/>
            <a:headEnd type="triangle"/>
          </a:ln>
        </p:spPr>
      </p:sp>
      <p:sp>
        <p:nvSpPr>
          <p:cNvPr id="15" name="Threat of substitutes Box"/>
          <p:cNvSpPr/>
          <p:nvPr/>
        </p:nvSpPr>
        <p:spPr>
          <a:xfrm>
            <a:off x="4315968" y="5029200"/>
            <a:ext cx="3566160" cy="1344168"/>
          </a:xfrm>
          <a:prstGeom prst="rect">
            <a:avLst/>
          </a:prstGeom>
          <a:solidFill>
            <a:srgbClr val="DEEBF7"/>
          </a:solidFill>
          <a:ln w="12700">
            <a:solidFill>
              <a:srgbClr val="DEEBF7"/>
            </a:solidFill>
            <a:prstDash val="solid"/>
          </a:ln>
        </p:spPr>
      </p:sp>
      <p:sp>
        <p:nvSpPr>
          <p:cNvPr id="16" name="Threat of substitutes Text"/>
          <p:cNvSpPr txBox="1"/>
          <p:nvPr/>
        </p:nvSpPr>
        <p:spPr>
          <a:xfrm>
            <a:off x="4453128" y="5102352"/>
            <a:ext cx="3291840" cy="1197864"/>
          </a:xfrm>
          <a:prstGeom prst="rect">
            <a:avLst/>
          </a:prstGeom>
          <a:noFill/>
          <a:ln/>
        </p:spPr>
        <p:txBody>
          <a:bodyPr wrap="square" lIns="0" tIns="0" rIns="0" bIns="0" rtlCol="0" anchor="ctr"/>
          <a:lstStyle/>
          <a:p>
            <a:pPr algn="ctr" indent="0" marL="0">
              <a:spcAft>
                <a:spcPts val="300"/>
              </a:spcAft>
              <a:buNone/>
            </a:pPr>
            <a:r>
              <a:rPr lang="en-US" sz="1800" b="1" dirty="0">
                <a:solidFill>
                  <a:srgbClr val="000000"/>
                </a:solidFill>
                <a:latin typeface="Arial" pitchFamily="34" charset="0"/>
                <a:ea typeface="Arial" pitchFamily="34" charset="-122"/>
                <a:cs typeface="Arial" pitchFamily="34" charset="-120"/>
              </a:rPr>
              <a:t>Threat of substitutes</a:t>
            </a:r>
            <a:endParaRPr lang="en-US" sz="1800" dirty="0"/>
          </a:p>
          <a:p>
            <a:pPr algn="ctr" indent="0" marL="0">
              <a:spcAft>
                <a:spcPts val="300"/>
              </a:spcAft>
              <a:buNone/>
            </a:pPr>
            <a:r>
              <a:rPr lang="en-US" sz="1500" b="1" dirty="0">
                <a:solidFill>
                  <a:srgbClr val="000000"/>
                </a:solidFill>
                <a:latin typeface="Arial" pitchFamily="34" charset="0"/>
                <a:ea typeface="Arial" pitchFamily="34" charset="-122"/>
                <a:cs typeface="Arial" pitchFamily="34" charset="-120"/>
              </a:rPr>
              <a:t>Medium: 3 of 5</a:t>
            </a:r>
            <a:endParaRPr lang="en-US" sz="1800" dirty="0"/>
          </a:p>
          <a:p>
            <a:pPr algn="ctr" indent="0" marL="0">
              <a:spcAft>
                <a:spcPts val="300"/>
              </a:spcAft>
              <a:buNone/>
            </a:pPr>
            <a:r>
              <a:rPr lang="en-US" sz="1400" dirty="0">
                <a:solidFill>
                  <a:srgbClr val="000000"/>
                </a:solidFill>
                <a:latin typeface="Arial" pitchFamily="34" charset="0"/>
                <a:ea typeface="Arial" pitchFamily="34" charset="-122"/>
                <a:cs typeface="Arial" pitchFamily="34" charset="-120"/>
              </a:rPr>
              <a:t>Cheaper unbranded and local soaps; fans instead of air conditioners</a:t>
            </a:r>
            <a:endParaRPr lang="en-US" sz="1800" dirty="0"/>
          </a:p>
        </p:txBody>
      </p:sp>
      <p:sp>
        <p:nvSpPr>
          <p:cNvPr id="17" name="Arrow Substitutes"/>
          <p:cNvSpPr/>
          <p:nvPr/>
        </p:nvSpPr>
        <p:spPr>
          <a:xfrm>
            <a:off x="6099048" y="4709160"/>
            <a:ext cx="0" cy="320040"/>
          </a:xfrm>
          <a:prstGeom prst="line">
            <a:avLst/>
          </a:prstGeom>
          <a:noFill/>
          <a:ln w="19050">
            <a:solidFill>
              <a:srgbClr val="000000"/>
            </a:solidFill>
            <a:prstDash val="solid"/>
            <a:headEnd type="triangle"/>
          </a:ln>
        </p:spPr>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right)">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500"/>
                                        <p:tgtEl>
                                          <p:spTgt spid="9"/>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childTnLst>
                                </p:cTn>
                              </p:par>
                            </p:childTnLst>
                          </p:cTn>
                        </p:par>
                        <p:par>
                          <p:cTn id="38" fill="hold">
                            <p:stCondLst>
                              <p:cond delay="2000"/>
                            </p:stCondLst>
                            <p:childTnLst>
                              <p:par>
                                <p:cTn id="39" presetID="10" presetClass="entr" presetSubtype="0" fill="hold" grpId="0" nodeType="after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500"/>
                                        <p:tgtEl>
                                          <p:spTgt spid="1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childTnLst>
                                </p:cTn>
                              </p:par>
                            </p:childTnLst>
                          </p:cTn>
                        </p:par>
                        <p:par>
                          <p:cTn id="48" fill="hold">
                            <p:stCondLst>
                              <p:cond delay="2500"/>
                            </p:stCondLst>
                            <p:childTnLst>
                              <p:par>
                                <p:cTn id="49" presetID="10" presetClass="entr" presetSubtype="0" fill="hold" grpId="0" nodeType="after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500"/>
                                        <p:tgtEl>
                                          <p:spTgt spid="15"/>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500"/>
                                        <p:tgtEl>
                                          <p:spTgt spid="16"/>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731520" y="457200"/>
            <a:ext cx="10728655" cy="731520"/>
          </a:xfrm>
          <a:prstGeom prst="rect">
            <a:avLst/>
          </a:prstGeom>
          <a:noFill/>
          <a:ln/>
        </p:spPr>
        <p:txBody>
          <a:bodyPr wrap="square" lIns="0" tIns="0" rIns="0" bIns="0" rtlCol="0" anchor="ctr"/>
          <a:lstStyle/>
          <a:p>
            <a:pPr algn="ctr" indent="0" marL="0">
              <a:buNone/>
            </a:pPr>
            <a:r>
              <a:rPr lang="en-US" sz="3600" b="1" dirty="0">
                <a:solidFill>
                  <a:srgbClr val="1F3864"/>
                </a:solidFill>
                <a:latin typeface="Arial" pitchFamily="34" charset="0"/>
                <a:ea typeface="Arial" pitchFamily="34" charset="-122"/>
                <a:cs typeface="Arial" pitchFamily="34" charset="-120"/>
              </a:rPr>
              <a:t>Five Forces Ratings</a:t>
            </a:r>
            <a:endParaRPr lang="en-US" sz="3600" dirty="0"/>
          </a:p>
        </p:txBody>
      </p:sp>
      <p:sp>
        <p:nvSpPr>
          <p:cNvPr id="3" name="Title Rule"/>
          <p:cNvSpPr/>
          <p:nvPr/>
        </p:nvSpPr>
        <p:spPr>
          <a:xfrm>
            <a:off x="914400" y="1298448"/>
            <a:ext cx="10362895" cy="0"/>
          </a:xfrm>
          <a:prstGeom prst="line">
            <a:avLst/>
          </a:prstGeom>
          <a:noFill/>
          <a:ln w="19050">
            <a:solidFill>
              <a:srgbClr val="1F3864"/>
            </a:solidFill>
            <a:prstDash val="solid"/>
          </a:ln>
        </p:spPr>
      </p:sp>
      <p:sp>
        <p:nvSpPr>
          <p:cNvPr id="4" name="Subtitle"/>
          <p:cNvSpPr txBox="1"/>
          <p:nvPr/>
        </p:nvSpPr>
        <p:spPr>
          <a:xfrm>
            <a:off x="731520" y="1417320"/>
            <a:ext cx="10728655" cy="384048"/>
          </a:xfrm>
          <a:prstGeom prst="rect">
            <a:avLst/>
          </a:prstGeom>
          <a:noFill/>
          <a:ln/>
        </p:spPr>
        <p:txBody>
          <a:bodyPr wrap="square" lIns="0" tIns="0" rIns="0" bIns="0" rtlCol="0" anchor="ctr"/>
          <a:lstStyle/>
          <a:p>
            <a:pPr algn="ctr" indent="0" marL="0">
              <a:buNone/>
            </a:pPr>
            <a:r>
              <a:rPr lang="en-US" sz="1800" dirty="0">
                <a:solidFill>
                  <a:srgbClr val="000000"/>
                </a:solidFill>
                <a:latin typeface="Arial" pitchFamily="34" charset="0"/>
                <a:ea typeface="Arial" pitchFamily="34" charset="-122"/>
                <a:cs typeface="Arial" pitchFamily="34" charset="-120"/>
              </a:rPr>
              <a:t>Strength of each force (1 = weak, 5 = strong), from the Excel workbook</a:t>
            </a:r>
            <a:endParaRPr lang="en-US" sz="1800" dirty="0"/>
          </a:p>
        </p:txBody>
      </p:sp>
      <p:graphicFrame>
        <p:nvGraphicFramePr>
          <p:cNvPr id="5" name="Forces Chart" descr=""/>
          <p:cNvGraphicFramePr/>
          <p:nvPr/>
        </p:nvGraphicFramePr>
        <p:xfrm>
          <a:off x="731520" y="1965960"/>
          <a:ext cx="6766560" cy="4389120"/>
        </p:xfrm>
        <a:graphic xmlns:a="http://schemas.openxmlformats.org/drawingml/2006/main">
          <a:graphicData uri="http://schemas.openxmlformats.org/drawingml/2006/chart">
            <c:chart xmlns:c="http://schemas.openxmlformats.org/drawingml/2006/chart" r:id="rId1"/>
          </a:graphicData>
        </a:graphic>
      </p:graphicFrame>
      <p:sp>
        <p:nvSpPr>
          <p:cNvPr id="6" name="Average Box"/>
          <p:cNvSpPr/>
          <p:nvPr/>
        </p:nvSpPr>
        <p:spPr>
          <a:xfrm>
            <a:off x="7818120" y="2011680"/>
            <a:ext cx="3657600" cy="1737360"/>
          </a:xfrm>
          <a:prstGeom prst="rect">
            <a:avLst/>
          </a:prstGeom>
          <a:solidFill>
            <a:srgbClr val="DEEBF7"/>
          </a:solidFill>
          <a:ln w="12700">
            <a:solidFill>
              <a:srgbClr val="DEEBF7"/>
            </a:solidFill>
            <a:prstDash val="solid"/>
          </a:ln>
        </p:spPr>
      </p:sp>
      <p:sp>
        <p:nvSpPr>
          <p:cNvPr id="7" name="Average Value"/>
          <p:cNvSpPr txBox="1"/>
          <p:nvPr/>
        </p:nvSpPr>
        <p:spPr>
          <a:xfrm>
            <a:off x="7818120" y="2103120"/>
            <a:ext cx="3657600" cy="777240"/>
          </a:xfrm>
          <a:prstGeom prst="rect">
            <a:avLst/>
          </a:prstGeom>
          <a:noFill/>
          <a:ln/>
        </p:spPr>
        <p:txBody>
          <a:bodyPr wrap="square" lIns="0" tIns="0" rIns="0" bIns="0" rtlCol="0" anchor="ctr"/>
          <a:lstStyle/>
          <a:p>
            <a:pPr algn="ctr" indent="0" marL="0">
              <a:buNone/>
            </a:pPr>
            <a:r>
              <a:rPr lang="en-US" sz="4400" b="1" dirty="0">
                <a:solidFill>
                  <a:srgbClr val="000000"/>
                </a:solidFill>
                <a:latin typeface="Arial" pitchFamily="34" charset="0"/>
                <a:ea typeface="Arial" pitchFamily="34" charset="-122"/>
                <a:cs typeface="Arial" pitchFamily="34" charset="-120"/>
              </a:rPr>
              <a:t>3.6</a:t>
            </a:r>
            <a:endParaRPr lang="en-US" sz="4400" dirty="0"/>
          </a:p>
        </p:txBody>
      </p:sp>
      <p:sp>
        <p:nvSpPr>
          <p:cNvPr id="8" name="Average Label"/>
          <p:cNvSpPr txBox="1"/>
          <p:nvPr/>
        </p:nvSpPr>
        <p:spPr>
          <a:xfrm>
            <a:off x="8001000" y="2880360"/>
            <a:ext cx="3291840" cy="731520"/>
          </a:xfrm>
          <a:prstGeom prst="rect">
            <a:avLst/>
          </a:prstGeom>
          <a:noFill/>
          <a:ln/>
        </p:spPr>
        <p:txBody>
          <a:bodyPr wrap="square" lIns="0" tIns="0" rIns="0" bIns="0" rtlCol="0" anchor="ctr"/>
          <a:lstStyle/>
          <a:p>
            <a:pPr algn="ctr" indent="0" marL="0">
              <a:buNone/>
            </a:pPr>
            <a:r>
              <a:rPr lang="en-US" sz="1500" dirty="0">
                <a:solidFill>
                  <a:srgbClr val="000000"/>
                </a:solidFill>
                <a:latin typeface="Arial" pitchFamily="34" charset="0"/>
                <a:ea typeface="Arial" pitchFamily="34" charset="-122"/>
                <a:cs typeface="Arial" pitchFamily="34" charset="-120"/>
              </a:rPr>
              <a:t>Average strength of the five forces (AVERAGE)</a:t>
            </a:r>
            <a:endParaRPr lang="en-US" sz="1500" dirty="0"/>
          </a:p>
        </p:txBody>
      </p:sp>
      <p:sp>
        <p:nvSpPr>
          <p:cNvPr id="9" name="Verdict Box"/>
          <p:cNvSpPr/>
          <p:nvPr/>
        </p:nvSpPr>
        <p:spPr>
          <a:xfrm>
            <a:off x="7818120" y="3931920"/>
            <a:ext cx="3657600" cy="2377440"/>
          </a:xfrm>
          <a:prstGeom prst="rect">
            <a:avLst/>
          </a:prstGeom>
          <a:solidFill>
            <a:srgbClr val="DEEBF7"/>
          </a:solidFill>
          <a:ln w="12700">
            <a:solidFill>
              <a:srgbClr val="DEEBF7"/>
            </a:solidFill>
            <a:prstDash val="solid"/>
          </a:ln>
        </p:spPr>
      </p:sp>
      <p:sp>
        <p:nvSpPr>
          <p:cNvPr id="10" name="Verdict Heading"/>
          <p:cNvSpPr txBox="1"/>
          <p:nvPr/>
        </p:nvSpPr>
        <p:spPr>
          <a:xfrm>
            <a:off x="8046720" y="4069080"/>
            <a:ext cx="320040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High Pressure</a:t>
            </a:r>
            <a:endParaRPr lang="en-US" sz="2000" dirty="0"/>
          </a:p>
        </p:txBody>
      </p:sp>
      <p:sp>
        <p:nvSpPr>
          <p:cNvPr id="11" name="Verdict Text"/>
          <p:cNvSpPr txBox="1"/>
          <p:nvPr/>
        </p:nvSpPr>
        <p:spPr>
          <a:xfrm>
            <a:off x="8046720" y="4572000"/>
            <a:ext cx="3200400" cy="1600200"/>
          </a:xfrm>
          <a:prstGeom prst="rect">
            <a:avLst/>
          </a:prstGeom>
          <a:noFill/>
          <a:ln/>
        </p:spPr>
        <p:txBody>
          <a:bodyPr wrap="square" lIns="0" tIns="0" rIns="0" bIns="0" rtlCol="0" anchor="t"/>
          <a:lstStyle/>
          <a:p>
            <a:pPr marL="228600" indent="-228600">
              <a:spcAft>
                <a:spcPts val="1000"/>
              </a:spcAft>
              <a:buSzPct val="100000"/>
              <a:buChar char="•"/>
            </a:pPr>
            <a:r>
              <a:rPr lang="en-US" sz="1700" dirty="0">
                <a:solidFill>
                  <a:srgbClr val="000000"/>
                </a:solidFill>
                <a:latin typeface="Arial" pitchFamily="34" charset="0"/>
                <a:ea typeface="Arial" pitchFamily="34" charset="-122"/>
                <a:cs typeface="Arial" pitchFamily="34" charset="-120"/>
              </a:rPr>
              <a:t>Strongest: </a:t>
            </a:r>
            <a:r>
              <a:rPr lang="en-US" sz="1700" b="1" dirty="0">
                <a:solidFill>
                  <a:srgbClr val="000000"/>
                </a:solidFill>
                <a:latin typeface="Arial" pitchFamily="34" charset="0"/>
                <a:ea typeface="Arial" pitchFamily="34" charset="-122"/>
                <a:cs typeface="Arial" pitchFamily="34" charset="-120"/>
              </a:rPr>
              <a:t>Competitive rivalry</a:t>
            </a:r>
            <a:endParaRPr lang="en-US" sz="1700" dirty="0"/>
          </a:p>
          <a:p>
            <a:pPr marL="228600" indent="-228600">
              <a:spcAft>
                <a:spcPts val="1000"/>
              </a:spcAft>
              <a:buSzPct val="100000"/>
              <a:buChar char="•"/>
            </a:pPr>
            <a:r>
              <a:rPr lang="en-US" sz="1700" dirty="0">
                <a:solidFill>
                  <a:srgbClr val="000000"/>
                </a:solidFill>
                <a:latin typeface="Arial" pitchFamily="34" charset="0"/>
                <a:ea typeface="Arial" pitchFamily="34" charset="-122"/>
                <a:cs typeface="Arial" pitchFamily="34" charset="-120"/>
              </a:rPr>
              <a:t>Weakest: </a:t>
            </a:r>
            <a:r>
              <a:rPr lang="en-US" sz="1700" b="1" dirty="0">
                <a:solidFill>
                  <a:srgbClr val="000000"/>
                </a:solidFill>
                <a:latin typeface="Arial" pitchFamily="34" charset="0"/>
                <a:ea typeface="Arial" pitchFamily="34" charset="-122"/>
                <a:cs typeface="Arial" pitchFamily="34" charset="-120"/>
              </a:rPr>
              <a:t>Threat of new entrants</a:t>
            </a:r>
            <a:endParaRPr lang="en-US" sz="1700" dirty="0"/>
          </a:p>
          <a:p>
            <a:pPr marL="228600" indent="-228600">
              <a:spcAft>
                <a:spcPts val="1000"/>
              </a:spcAft>
              <a:buSzPct val="100000"/>
              <a:buChar char="•"/>
            </a:pPr>
            <a:r>
              <a:rPr lang="en-US" sz="1700" dirty="0">
                <a:solidFill>
                  <a:srgbClr val="000000"/>
                </a:solidFill>
                <a:latin typeface="Arial" pitchFamily="34" charset="0"/>
                <a:ea typeface="Arial" pitchFamily="34" charset="-122"/>
                <a:cs typeface="Arial" pitchFamily="34" charset="-120"/>
              </a:rPr>
              <a:t>Rated high: </a:t>
            </a:r>
            <a:r>
              <a:rPr lang="en-US" sz="1700" b="1" dirty="0">
                <a:solidFill>
                  <a:srgbClr val="000000"/>
                </a:solidFill>
                <a:latin typeface="Arial" pitchFamily="34" charset="0"/>
                <a:ea typeface="Arial" pitchFamily="34" charset="-122"/>
                <a:cs typeface="Arial" pitchFamily="34" charset="-120"/>
              </a:rPr>
              <a:t>3 of 5 forces</a:t>
            </a:r>
            <a:endParaRPr lang="en-US" sz="17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right)">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wipe(right)">
                                      <p:cBhvr>
                                        <p:cTn id="18" dur="500"/>
                                        <p:tgtEl>
                                          <p:spTgt spid="5"/>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childTnLst>
                                </p:cTn>
                              </p:par>
                            </p:childTnLst>
                          </p:cTn>
                        </p:par>
                        <p:par>
                          <p:cTn id="29" fill="hold">
                            <p:stCondLst>
                              <p:cond delay="2000"/>
                            </p:stCondLst>
                            <p:childTnLst>
                              <p:par>
                                <p:cTn id="30" presetID="10" presetClass="entr" presetSubtype="0" fill="hold" grpId="0" nodeType="after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500"/>
                                        <p:tgtEl>
                                          <p:spTgt spid="10"/>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Graphic spid="5" grpId="0">
        <p:bldAsOne/>
      </p:bldGraphic>
      <p:bldP spid="6" grpId="0" animBg="1"/>
      <p:bldP spid="7" grpId="0" animBg="1"/>
      <p:bldP spid="8" grpId="0" animBg="1"/>
      <p:bldP spid="9" grpId="0" animBg="1"/>
      <p:bldP spid="10" grpId="0" animBg="1"/>
      <p:bldP spid="1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731520" y="457200"/>
            <a:ext cx="10728655" cy="731520"/>
          </a:xfrm>
          <a:prstGeom prst="rect">
            <a:avLst/>
          </a:prstGeom>
          <a:noFill/>
          <a:ln/>
        </p:spPr>
        <p:txBody>
          <a:bodyPr wrap="square" lIns="0" tIns="0" rIns="0" bIns="0" rtlCol="0" anchor="ctr"/>
          <a:lstStyle/>
          <a:p>
            <a:pPr algn="ctr" indent="0" marL="0">
              <a:buNone/>
            </a:pPr>
            <a:r>
              <a:rPr lang="en-US" sz="3600" b="1" dirty="0">
                <a:solidFill>
                  <a:srgbClr val="1F3864"/>
                </a:solidFill>
                <a:latin typeface="Arial" pitchFamily="34" charset="0"/>
                <a:ea typeface="Arial" pitchFamily="34" charset="-122"/>
                <a:cs typeface="Arial" pitchFamily="34" charset="-120"/>
              </a:rPr>
              <a:t>Recommendations</a:t>
            </a:r>
            <a:endParaRPr lang="en-US" sz="3600" dirty="0"/>
          </a:p>
        </p:txBody>
      </p:sp>
      <p:sp>
        <p:nvSpPr>
          <p:cNvPr id="3" name="Title Rule"/>
          <p:cNvSpPr/>
          <p:nvPr/>
        </p:nvSpPr>
        <p:spPr>
          <a:xfrm>
            <a:off x="914400" y="1298448"/>
            <a:ext cx="10362895" cy="0"/>
          </a:xfrm>
          <a:prstGeom prst="line">
            <a:avLst/>
          </a:prstGeom>
          <a:noFill/>
          <a:ln w="19050">
            <a:solidFill>
              <a:srgbClr val="1F3864"/>
            </a:solidFill>
            <a:prstDash val="solid"/>
          </a:ln>
        </p:spPr>
      </p:sp>
      <p:sp>
        <p:nvSpPr>
          <p:cNvPr id="4" name="Recommendation 1 Box"/>
          <p:cNvSpPr/>
          <p:nvPr/>
        </p:nvSpPr>
        <p:spPr>
          <a:xfrm>
            <a:off x="822960" y="1572768"/>
            <a:ext cx="10545775" cy="822960"/>
          </a:xfrm>
          <a:prstGeom prst="rect">
            <a:avLst/>
          </a:prstGeom>
          <a:solidFill>
            <a:srgbClr val="DEEBF7"/>
          </a:solidFill>
          <a:ln w="12700">
            <a:solidFill>
              <a:srgbClr val="DEEBF7"/>
            </a:solidFill>
            <a:prstDash val="solid"/>
          </a:ln>
        </p:spPr>
      </p:sp>
      <p:sp>
        <p:nvSpPr>
          <p:cNvPr id="5" name="Recommendation 1 Number"/>
          <p:cNvSpPr txBox="1"/>
          <p:nvPr/>
        </p:nvSpPr>
        <p:spPr>
          <a:xfrm>
            <a:off x="960120" y="1572768"/>
            <a:ext cx="548640" cy="822960"/>
          </a:xfrm>
          <a:prstGeom prst="rect">
            <a:avLst/>
          </a:prstGeom>
          <a:noFill/>
          <a:ln/>
        </p:spPr>
        <p:txBody>
          <a:bodyPr wrap="square" lIns="0" tIns="0" rIns="0" bIns="0" rtlCol="0" anchor="ctr"/>
          <a:lstStyle/>
          <a:p>
            <a:pPr algn="ctr" indent="0" marL="0">
              <a:buNone/>
            </a:pPr>
            <a:r>
              <a:rPr lang="en-US" sz="3000" b="1" dirty="0">
                <a:solidFill>
                  <a:srgbClr val="1F3864"/>
                </a:solidFill>
                <a:latin typeface="Arial" pitchFamily="34" charset="0"/>
                <a:ea typeface="Arial" pitchFamily="34" charset="-122"/>
                <a:cs typeface="Arial" pitchFamily="34" charset="-120"/>
              </a:rPr>
              <a:t>1</a:t>
            </a:r>
            <a:endParaRPr lang="en-US" sz="3000" dirty="0"/>
          </a:p>
        </p:txBody>
      </p:sp>
      <p:sp>
        <p:nvSpPr>
          <p:cNvPr id="6" name="Recommendation 1 Text"/>
          <p:cNvSpPr txBox="1"/>
          <p:nvPr/>
        </p:nvSpPr>
        <p:spPr>
          <a:xfrm>
            <a:off x="1691640" y="1618488"/>
            <a:ext cx="9448495" cy="73152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Buy more raw materials in Nigeria</a:t>
            </a:r>
            <a:endParaRPr lang="en-US" sz="1800" dirty="0"/>
          </a:p>
          <a:p>
            <a:pPr indent="0" marL="0">
              <a:buNone/>
            </a:pPr>
            <a:r>
              <a:rPr lang="en-US" sz="1600" dirty="0">
                <a:solidFill>
                  <a:srgbClr val="000000"/>
                </a:solidFill>
                <a:latin typeface="Arial" pitchFamily="34" charset="0"/>
                <a:ea typeface="Arial" pitchFamily="34" charset="-122"/>
                <a:cs typeface="Arial" pitchFamily="34" charset="-120"/>
              </a:rPr>
              <a:t>Cuts dollar costs and the damage from naira devaluation (the biggest PESTLE issue)</a:t>
            </a:r>
            <a:endParaRPr lang="en-US" sz="1800" dirty="0"/>
          </a:p>
        </p:txBody>
      </p:sp>
      <p:sp>
        <p:nvSpPr>
          <p:cNvPr id="7" name="Recommendation 2 Box"/>
          <p:cNvSpPr/>
          <p:nvPr/>
        </p:nvSpPr>
        <p:spPr>
          <a:xfrm>
            <a:off x="822960" y="2523744"/>
            <a:ext cx="10545775" cy="822960"/>
          </a:xfrm>
          <a:prstGeom prst="rect">
            <a:avLst/>
          </a:prstGeom>
          <a:solidFill>
            <a:srgbClr val="DEEBF7"/>
          </a:solidFill>
          <a:ln w="12700">
            <a:solidFill>
              <a:srgbClr val="DEEBF7"/>
            </a:solidFill>
            <a:prstDash val="solid"/>
          </a:ln>
        </p:spPr>
      </p:sp>
      <p:sp>
        <p:nvSpPr>
          <p:cNvPr id="8" name="Recommendation 2 Number"/>
          <p:cNvSpPr txBox="1"/>
          <p:nvPr/>
        </p:nvSpPr>
        <p:spPr>
          <a:xfrm>
            <a:off x="960120" y="2523744"/>
            <a:ext cx="548640" cy="822960"/>
          </a:xfrm>
          <a:prstGeom prst="rect">
            <a:avLst/>
          </a:prstGeom>
          <a:noFill/>
          <a:ln/>
        </p:spPr>
        <p:txBody>
          <a:bodyPr wrap="square" lIns="0" tIns="0" rIns="0" bIns="0" rtlCol="0" anchor="ctr"/>
          <a:lstStyle/>
          <a:p>
            <a:pPr algn="ctr" indent="0" marL="0">
              <a:buNone/>
            </a:pPr>
            <a:r>
              <a:rPr lang="en-US" sz="3000" b="1" dirty="0">
                <a:solidFill>
                  <a:srgbClr val="1F3864"/>
                </a:solidFill>
                <a:latin typeface="Arial" pitchFamily="34" charset="0"/>
                <a:ea typeface="Arial" pitchFamily="34" charset="-122"/>
                <a:cs typeface="Arial" pitchFamily="34" charset="-120"/>
              </a:rPr>
              <a:t>2</a:t>
            </a:r>
            <a:endParaRPr lang="en-US" sz="3000" dirty="0"/>
          </a:p>
        </p:txBody>
      </p:sp>
      <p:sp>
        <p:nvSpPr>
          <p:cNvPr id="9" name="Recommendation 2 Text"/>
          <p:cNvSpPr txBox="1"/>
          <p:nvPr/>
        </p:nvSpPr>
        <p:spPr>
          <a:xfrm>
            <a:off x="1691640" y="2569464"/>
            <a:ext cx="9448495" cy="73152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Sell smaller, affordable packs</a:t>
            </a:r>
            <a:endParaRPr lang="en-US" sz="1800" dirty="0"/>
          </a:p>
          <a:p>
            <a:pPr indent="0" marL="0">
              <a:buNone/>
            </a:pPr>
            <a:r>
              <a:rPr lang="en-US" sz="1600" dirty="0">
                <a:solidFill>
                  <a:srgbClr val="000000"/>
                </a:solidFill>
                <a:latin typeface="Arial" pitchFamily="34" charset="0"/>
                <a:ea typeface="Arial" pitchFamily="34" charset="-122"/>
                <a:cs typeface="Arial" pitchFamily="34" charset="-120"/>
              </a:rPr>
              <a:t>Keeps price-sensitive shoppers buying Imperial Leather, Premier Cool, Joy and Morning Fresh</a:t>
            </a:r>
            <a:endParaRPr lang="en-US" sz="1800" dirty="0"/>
          </a:p>
        </p:txBody>
      </p:sp>
      <p:sp>
        <p:nvSpPr>
          <p:cNvPr id="10" name="Recommendation 3 Box"/>
          <p:cNvSpPr/>
          <p:nvPr/>
        </p:nvSpPr>
        <p:spPr>
          <a:xfrm>
            <a:off x="822960" y="3474720"/>
            <a:ext cx="10545775" cy="822960"/>
          </a:xfrm>
          <a:prstGeom prst="rect">
            <a:avLst/>
          </a:prstGeom>
          <a:solidFill>
            <a:srgbClr val="DEEBF7"/>
          </a:solidFill>
          <a:ln w="12700">
            <a:solidFill>
              <a:srgbClr val="DEEBF7"/>
            </a:solidFill>
            <a:prstDash val="solid"/>
          </a:ln>
        </p:spPr>
      </p:sp>
      <p:sp>
        <p:nvSpPr>
          <p:cNvPr id="11" name="Recommendation 3 Number"/>
          <p:cNvSpPr txBox="1"/>
          <p:nvPr/>
        </p:nvSpPr>
        <p:spPr>
          <a:xfrm>
            <a:off x="960120" y="3474720"/>
            <a:ext cx="548640" cy="822960"/>
          </a:xfrm>
          <a:prstGeom prst="rect">
            <a:avLst/>
          </a:prstGeom>
          <a:noFill/>
          <a:ln/>
        </p:spPr>
        <p:txBody>
          <a:bodyPr wrap="square" lIns="0" tIns="0" rIns="0" bIns="0" rtlCol="0" anchor="ctr"/>
          <a:lstStyle/>
          <a:p>
            <a:pPr algn="ctr" indent="0" marL="0">
              <a:buNone/>
            </a:pPr>
            <a:r>
              <a:rPr lang="en-US" sz="3000" b="1" dirty="0">
                <a:solidFill>
                  <a:srgbClr val="1F3864"/>
                </a:solidFill>
                <a:latin typeface="Arial" pitchFamily="34" charset="0"/>
                <a:ea typeface="Arial" pitchFamily="34" charset="-122"/>
                <a:cs typeface="Arial" pitchFamily="34" charset="-120"/>
              </a:rPr>
              <a:t>3</a:t>
            </a:r>
            <a:endParaRPr lang="en-US" sz="3000" dirty="0"/>
          </a:p>
        </p:txBody>
      </p:sp>
      <p:sp>
        <p:nvSpPr>
          <p:cNvPr id="12" name="Recommendation 3 Text"/>
          <p:cNvSpPr txBox="1"/>
          <p:nvPr/>
        </p:nvSpPr>
        <p:spPr>
          <a:xfrm>
            <a:off x="1691640" y="3520440"/>
            <a:ext cx="9448495" cy="73152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Grow digital marketing and online sales</a:t>
            </a:r>
            <a:endParaRPr lang="en-US" sz="1800" dirty="0"/>
          </a:p>
          <a:p>
            <a:pPr indent="0" marL="0">
              <a:buNone/>
            </a:pPr>
            <a:r>
              <a:rPr lang="en-US" sz="1600" dirty="0">
                <a:solidFill>
                  <a:srgbClr val="000000"/>
                </a:solidFill>
                <a:latin typeface="Arial" pitchFamily="34" charset="0"/>
                <a:ea typeface="Arial" pitchFamily="34" charset="-122"/>
                <a:cs typeface="Arial" pitchFamily="34" charset="-120"/>
              </a:rPr>
              <a:t>Reaches the large young population cheaply through social media and e-commerce</a:t>
            </a:r>
            <a:endParaRPr lang="en-US" sz="1800" dirty="0"/>
          </a:p>
        </p:txBody>
      </p:sp>
      <p:sp>
        <p:nvSpPr>
          <p:cNvPr id="13" name="Recommendation 4 Box"/>
          <p:cNvSpPr/>
          <p:nvPr/>
        </p:nvSpPr>
        <p:spPr>
          <a:xfrm>
            <a:off x="822960" y="4425696"/>
            <a:ext cx="10545775" cy="822960"/>
          </a:xfrm>
          <a:prstGeom prst="rect">
            <a:avLst/>
          </a:prstGeom>
          <a:solidFill>
            <a:srgbClr val="DEEBF7"/>
          </a:solidFill>
          <a:ln w="12700">
            <a:solidFill>
              <a:srgbClr val="DEEBF7"/>
            </a:solidFill>
            <a:prstDash val="solid"/>
          </a:ln>
        </p:spPr>
      </p:sp>
      <p:sp>
        <p:nvSpPr>
          <p:cNvPr id="14" name="Recommendation 4 Number"/>
          <p:cNvSpPr txBox="1"/>
          <p:nvPr/>
        </p:nvSpPr>
        <p:spPr>
          <a:xfrm>
            <a:off x="960120" y="4425696"/>
            <a:ext cx="548640" cy="822960"/>
          </a:xfrm>
          <a:prstGeom prst="rect">
            <a:avLst/>
          </a:prstGeom>
          <a:noFill/>
          <a:ln/>
        </p:spPr>
        <p:txBody>
          <a:bodyPr wrap="square" lIns="0" tIns="0" rIns="0" bIns="0" rtlCol="0" anchor="ctr"/>
          <a:lstStyle/>
          <a:p>
            <a:pPr algn="ctr" indent="0" marL="0">
              <a:buNone/>
            </a:pPr>
            <a:r>
              <a:rPr lang="en-US" sz="3000" b="1" dirty="0">
                <a:solidFill>
                  <a:srgbClr val="1F3864"/>
                </a:solidFill>
                <a:latin typeface="Arial" pitchFamily="34" charset="0"/>
                <a:ea typeface="Arial" pitchFamily="34" charset="-122"/>
                <a:cs typeface="Arial" pitchFamily="34" charset="-120"/>
              </a:rPr>
              <a:t>4</a:t>
            </a:r>
            <a:endParaRPr lang="en-US" sz="3000" dirty="0"/>
          </a:p>
        </p:txBody>
      </p:sp>
      <p:sp>
        <p:nvSpPr>
          <p:cNvPr id="15" name="Recommendation 4 Text"/>
          <p:cNvSpPr txBox="1"/>
          <p:nvPr/>
        </p:nvSpPr>
        <p:spPr>
          <a:xfrm>
            <a:off x="1691640" y="4471416"/>
            <a:ext cx="9448495" cy="73152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Win customers competitors left behind</a:t>
            </a:r>
            <a:endParaRPr lang="en-US" sz="1800" dirty="0"/>
          </a:p>
          <a:p>
            <a:pPr indent="0" marL="0">
              <a:buNone/>
            </a:pPr>
            <a:r>
              <a:rPr lang="en-US" sz="1600" dirty="0">
                <a:solidFill>
                  <a:srgbClr val="000000"/>
                </a:solidFill>
                <a:latin typeface="Arial" pitchFamily="34" charset="0"/>
                <a:ea typeface="Arial" pitchFamily="34" charset="-122"/>
                <a:cs typeface="Arial" pitchFamily="34" charset="-120"/>
              </a:rPr>
              <a:t>Use the wide distribution network to fill shelves Unilever and P&amp;G have left</a:t>
            </a:r>
            <a:endParaRPr lang="en-US" sz="1800" dirty="0"/>
          </a:p>
        </p:txBody>
      </p:sp>
      <p:sp>
        <p:nvSpPr>
          <p:cNvPr id="16" name="Recommendation 5 Box"/>
          <p:cNvSpPr/>
          <p:nvPr/>
        </p:nvSpPr>
        <p:spPr>
          <a:xfrm>
            <a:off x="822960" y="5376672"/>
            <a:ext cx="10545775" cy="822960"/>
          </a:xfrm>
          <a:prstGeom prst="rect">
            <a:avLst/>
          </a:prstGeom>
          <a:solidFill>
            <a:srgbClr val="DEEBF7"/>
          </a:solidFill>
          <a:ln w="12700">
            <a:solidFill>
              <a:srgbClr val="DEEBF7"/>
            </a:solidFill>
            <a:prstDash val="solid"/>
          </a:ln>
        </p:spPr>
      </p:sp>
      <p:sp>
        <p:nvSpPr>
          <p:cNvPr id="17" name="Recommendation 5 Number"/>
          <p:cNvSpPr txBox="1"/>
          <p:nvPr/>
        </p:nvSpPr>
        <p:spPr>
          <a:xfrm>
            <a:off x="960120" y="5376672"/>
            <a:ext cx="548640" cy="822960"/>
          </a:xfrm>
          <a:prstGeom prst="rect">
            <a:avLst/>
          </a:prstGeom>
          <a:noFill/>
          <a:ln/>
        </p:spPr>
        <p:txBody>
          <a:bodyPr wrap="square" lIns="0" tIns="0" rIns="0" bIns="0" rtlCol="0" anchor="ctr"/>
          <a:lstStyle/>
          <a:p>
            <a:pPr algn="ctr" indent="0" marL="0">
              <a:buNone/>
            </a:pPr>
            <a:r>
              <a:rPr lang="en-US" sz="3000" b="1" dirty="0">
                <a:solidFill>
                  <a:srgbClr val="1F3864"/>
                </a:solidFill>
                <a:latin typeface="Arial" pitchFamily="34" charset="0"/>
                <a:ea typeface="Arial" pitchFamily="34" charset="-122"/>
                <a:cs typeface="Arial" pitchFamily="34" charset="-120"/>
              </a:rPr>
              <a:t>5</a:t>
            </a:r>
            <a:endParaRPr lang="en-US" sz="3000" dirty="0"/>
          </a:p>
        </p:txBody>
      </p:sp>
      <p:sp>
        <p:nvSpPr>
          <p:cNvPr id="18" name="Recommendation 5 Text"/>
          <p:cNvSpPr txBox="1"/>
          <p:nvPr/>
        </p:nvSpPr>
        <p:spPr>
          <a:xfrm>
            <a:off x="1691640" y="5422392"/>
            <a:ext cx="9448495" cy="73152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Make decisions faster</a:t>
            </a:r>
            <a:endParaRPr lang="en-US" sz="1800" dirty="0"/>
          </a:p>
          <a:p>
            <a:pPr indent="0" marL="0">
              <a:buNone/>
            </a:pPr>
            <a:r>
              <a:rPr lang="en-US" sz="1600" dirty="0">
                <a:solidFill>
                  <a:srgbClr val="000000"/>
                </a:solidFill>
                <a:latin typeface="Arial" pitchFamily="34" charset="0"/>
                <a:ea typeface="Arial" pitchFamily="34" charset="-122"/>
                <a:cs typeface="Arial" pitchFamily="34" charset="-120"/>
              </a:rPr>
              <a:t>Give local managers more authority and cut approval levels to fix the main weaknesses</a:t>
            </a:r>
            <a:endParaRPr lang="en-US" sz="18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right)">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500"/>
                                        <p:tgtEl>
                                          <p:spTgt spid="6"/>
                                        </p:tgtEl>
                                      </p:cBhvr>
                                    </p:animEffect>
                                  </p:childTnLst>
                                </p:cTn>
                              </p:par>
                            </p:childTnLst>
                          </p:cTn>
                        </p:par>
                        <p:par>
                          <p:cTn id="21" fill="hold">
                            <p:stCondLst>
                              <p:cond delay="1000"/>
                            </p:stCondLst>
                            <p:childTnLst>
                              <p:par>
                                <p:cTn id="22" presetID="10" presetClass="entr" presetSubtype="0"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childTnLst>
                                </p:cTn>
                              </p:par>
                            </p:childTnLst>
                          </p:cTn>
                        </p:par>
                        <p:par>
                          <p:cTn id="31" fill="hold">
                            <p:stCondLst>
                              <p:cond delay="150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childTnLst>
                          </p:cTn>
                        </p:par>
                        <p:par>
                          <p:cTn id="41" fill="hold">
                            <p:stCondLst>
                              <p:cond delay="2000"/>
                            </p:stCondLst>
                            <p:childTnLst>
                              <p:par>
                                <p:cTn id="42" presetID="10" presetClass="entr" presetSubtype="0" fill="hold" grpId="0" nodeType="after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500"/>
                                        <p:tgtEl>
                                          <p:spTgt spid="15"/>
                                        </p:tgtEl>
                                      </p:cBhvr>
                                    </p:animEffect>
                                  </p:childTnLst>
                                </p:cTn>
                              </p:par>
                            </p:childTnLst>
                          </p:cTn>
                        </p:par>
                        <p:par>
                          <p:cTn id="51" fill="hold">
                            <p:stCondLst>
                              <p:cond delay="2500"/>
                            </p:stCondLst>
                            <p:childTnLst>
                              <p:par>
                                <p:cTn id="52" presetID="10" presetClass="entr" presetSubtype="0" fill="hold" grpId="0" nodeType="after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500"/>
                                        <p:tgtEl>
                                          <p:spTgt spid="16"/>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500"/>
                                        <p:tgtEl>
                                          <p:spTgt spid="17"/>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731520" y="457200"/>
            <a:ext cx="10728655" cy="731520"/>
          </a:xfrm>
          <a:prstGeom prst="rect">
            <a:avLst/>
          </a:prstGeom>
          <a:noFill/>
          <a:ln/>
        </p:spPr>
        <p:txBody>
          <a:bodyPr wrap="square" lIns="0" tIns="0" rIns="0" bIns="0" rtlCol="0" anchor="ctr"/>
          <a:lstStyle/>
          <a:p>
            <a:pPr algn="ctr" indent="0" marL="0">
              <a:buNone/>
            </a:pPr>
            <a:r>
              <a:rPr lang="en-US" sz="3600" b="1" dirty="0">
                <a:solidFill>
                  <a:srgbClr val="1F3864"/>
                </a:solidFill>
                <a:latin typeface="Arial" pitchFamily="34" charset="0"/>
                <a:ea typeface="Arial" pitchFamily="34" charset="-122"/>
                <a:cs typeface="Arial" pitchFamily="34" charset="-120"/>
              </a:rPr>
              <a:t>Conclusion</a:t>
            </a:r>
            <a:endParaRPr lang="en-US" sz="3600" dirty="0"/>
          </a:p>
        </p:txBody>
      </p:sp>
      <p:sp>
        <p:nvSpPr>
          <p:cNvPr id="3" name="Title Rule"/>
          <p:cNvSpPr/>
          <p:nvPr/>
        </p:nvSpPr>
        <p:spPr>
          <a:xfrm>
            <a:off x="914400" y="1298448"/>
            <a:ext cx="10362895" cy="0"/>
          </a:xfrm>
          <a:prstGeom prst="line">
            <a:avLst/>
          </a:prstGeom>
          <a:noFill/>
          <a:ln w="19050">
            <a:solidFill>
              <a:srgbClr val="1F3864"/>
            </a:solidFill>
            <a:prstDash val="solid"/>
          </a:ln>
        </p:spPr>
      </p:sp>
      <p:sp>
        <p:nvSpPr>
          <p:cNvPr id="4" name="PESTLE Card Box"/>
          <p:cNvSpPr/>
          <p:nvPr/>
        </p:nvSpPr>
        <p:spPr>
          <a:xfrm>
            <a:off x="822960" y="1645920"/>
            <a:ext cx="3332378" cy="2834640"/>
          </a:xfrm>
          <a:prstGeom prst="rect">
            <a:avLst/>
          </a:prstGeom>
          <a:solidFill>
            <a:srgbClr val="DEEBF7"/>
          </a:solidFill>
          <a:ln w="12700">
            <a:solidFill>
              <a:srgbClr val="DEEBF7"/>
            </a:solidFill>
            <a:prstDash val="solid"/>
          </a:ln>
        </p:spPr>
      </p:sp>
      <p:sp>
        <p:nvSpPr>
          <p:cNvPr id="5" name="PESTLE Card Heading"/>
          <p:cNvSpPr txBox="1"/>
          <p:nvPr/>
        </p:nvSpPr>
        <p:spPr>
          <a:xfrm>
            <a:off x="1005840" y="1755648"/>
            <a:ext cx="2966618" cy="411480"/>
          </a:xfrm>
          <a:prstGeom prst="rect">
            <a:avLst/>
          </a:prstGeom>
          <a:noFill/>
          <a:ln/>
        </p:spPr>
        <p:txBody>
          <a:bodyPr wrap="square" lIns="0" tIns="0" rIns="0" bIns="0" rtlCol="0" anchor="ctr"/>
          <a:lstStyle/>
          <a:p>
            <a:pPr algn="ctr" indent="0" marL="0">
              <a:buNone/>
            </a:pPr>
            <a:r>
              <a:rPr lang="en-US" sz="2000" b="1" dirty="0">
                <a:solidFill>
                  <a:srgbClr val="000000"/>
                </a:solidFill>
                <a:latin typeface="Arial" pitchFamily="34" charset="0"/>
                <a:ea typeface="Arial" pitchFamily="34" charset="-122"/>
                <a:cs typeface="Arial" pitchFamily="34" charset="-120"/>
              </a:rPr>
              <a:t>PESTLE</a:t>
            </a:r>
            <a:endParaRPr lang="en-US" sz="2000" dirty="0"/>
          </a:p>
        </p:txBody>
      </p:sp>
      <p:sp>
        <p:nvSpPr>
          <p:cNvPr id="6" name="PESTLE Card Value"/>
          <p:cNvSpPr txBox="1"/>
          <p:nvPr/>
        </p:nvSpPr>
        <p:spPr>
          <a:xfrm>
            <a:off x="1005840" y="2212848"/>
            <a:ext cx="2966618" cy="685800"/>
          </a:xfrm>
          <a:prstGeom prst="rect">
            <a:avLst/>
          </a:prstGeom>
          <a:noFill/>
          <a:ln/>
        </p:spPr>
        <p:txBody>
          <a:bodyPr wrap="square" lIns="0" tIns="0" rIns="0" bIns="0" rtlCol="0" anchor="ctr"/>
          <a:lstStyle/>
          <a:p>
            <a:pPr algn="ctr" indent="0" marL="0">
              <a:buNone/>
            </a:pPr>
            <a:r>
              <a:rPr lang="en-US" sz="3200" b="1" dirty="0">
                <a:solidFill>
                  <a:srgbClr val="000000"/>
                </a:solidFill>
                <a:latin typeface="Arial" pitchFamily="34" charset="0"/>
                <a:ea typeface="Arial" pitchFamily="34" charset="-122"/>
                <a:cs typeface="Arial" pitchFamily="34" charset="-120"/>
              </a:rPr>
              <a:t>Economic</a:t>
            </a:r>
            <a:endParaRPr lang="en-US" sz="3200" dirty="0"/>
          </a:p>
        </p:txBody>
      </p:sp>
      <p:sp>
        <p:nvSpPr>
          <p:cNvPr id="7" name="PESTLE Card Text"/>
          <p:cNvSpPr txBox="1"/>
          <p:nvPr/>
        </p:nvSpPr>
        <p:spPr>
          <a:xfrm>
            <a:off x="1051560" y="2971800"/>
            <a:ext cx="2875178" cy="1417320"/>
          </a:xfrm>
          <a:prstGeom prst="rect">
            <a:avLst/>
          </a:prstGeom>
          <a:noFill/>
          <a:ln/>
        </p:spPr>
        <p:txBody>
          <a:bodyPr wrap="square" lIns="0" tIns="0" rIns="0" bIns="0" rtlCol="0" anchor="t"/>
          <a:lstStyle/>
          <a:p>
            <a:pPr algn="ctr" indent="0" marL="0">
              <a:buNone/>
            </a:pPr>
            <a:r>
              <a:rPr lang="en-US" sz="1700" dirty="0">
                <a:solidFill>
                  <a:srgbClr val="000000"/>
                </a:solidFill>
                <a:latin typeface="Arial" pitchFamily="34" charset="0"/>
                <a:ea typeface="Arial" pitchFamily="34" charset="-122"/>
                <a:cs typeface="Arial" pitchFamily="34" charset="-120"/>
              </a:rPr>
              <a:t>The most important factor (average 20.7 of 25). Biggest issue: naira devaluation and FX shortages.</a:t>
            </a:r>
            <a:endParaRPr lang="en-US" sz="1700" dirty="0"/>
          </a:p>
        </p:txBody>
      </p:sp>
      <p:sp>
        <p:nvSpPr>
          <p:cNvPr id="8" name="SWOT Card Box"/>
          <p:cNvSpPr/>
          <p:nvPr/>
        </p:nvSpPr>
        <p:spPr>
          <a:xfrm>
            <a:off x="4429658" y="1645920"/>
            <a:ext cx="3332378" cy="2834640"/>
          </a:xfrm>
          <a:prstGeom prst="rect">
            <a:avLst/>
          </a:prstGeom>
          <a:solidFill>
            <a:srgbClr val="DEEBF7"/>
          </a:solidFill>
          <a:ln w="12700">
            <a:solidFill>
              <a:srgbClr val="DEEBF7"/>
            </a:solidFill>
            <a:prstDash val="solid"/>
          </a:ln>
        </p:spPr>
      </p:sp>
      <p:sp>
        <p:nvSpPr>
          <p:cNvPr id="9" name="SWOT Card Heading"/>
          <p:cNvSpPr txBox="1"/>
          <p:nvPr/>
        </p:nvSpPr>
        <p:spPr>
          <a:xfrm>
            <a:off x="4612538" y="1755648"/>
            <a:ext cx="2966618" cy="411480"/>
          </a:xfrm>
          <a:prstGeom prst="rect">
            <a:avLst/>
          </a:prstGeom>
          <a:noFill/>
          <a:ln/>
        </p:spPr>
        <p:txBody>
          <a:bodyPr wrap="square" lIns="0" tIns="0" rIns="0" bIns="0" rtlCol="0" anchor="ctr"/>
          <a:lstStyle/>
          <a:p>
            <a:pPr algn="ctr" indent="0" marL="0">
              <a:buNone/>
            </a:pPr>
            <a:r>
              <a:rPr lang="en-US" sz="2000" b="1" dirty="0">
                <a:solidFill>
                  <a:srgbClr val="000000"/>
                </a:solidFill>
                <a:latin typeface="Arial" pitchFamily="34" charset="0"/>
                <a:ea typeface="Arial" pitchFamily="34" charset="-122"/>
                <a:cs typeface="Arial" pitchFamily="34" charset="-120"/>
              </a:rPr>
              <a:t>SWOT</a:t>
            </a:r>
            <a:endParaRPr lang="en-US" sz="2000" dirty="0"/>
          </a:p>
        </p:txBody>
      </p:sp>
      <p:sp>
        <p:nvSpPr>
          <p:cNvPr id="10" name="SWOT Card Value"/>
          <p:cNvSpPr txBox="1"/>
          <p:nvPr/>
        </p:nvSpPr>
        <p:spPr>
          <a:xfrm>
            <a:off x="4612538" y="2212848"/>
            <a:ext cx="2966618" cy="685800"/>
          </a:xfrm>
          <a:prstGeom prst="rect">
            <a:avLst/>
          </a:prstGeom>
          <a:noFill/>
          <a:ln/>
        </p:spPr>
        <p:txBody>
          <a:bodyPr wrap="square" lIns="0" tIns="0" rIns="0" bIns="0" rtlCol="0" anchor="ctr"/>
          <a:lstStyle/>
          <a:p>
            <a:pPr algn="ctr" indent="0" marL="0">
              <a:buNone/>
            </a:pPr>
            <a:r>
              <a:rPr lang="en-US" sz="3200" b="1" dirty="0">
                <a:solidFill>
                  <a:srgbClr val="000000"/>
                </a:solidFill>
                <a:latin typeface="Arial" pitchFamily="34" charset="0"/>
                <a:ea typeface="Arial" pitchFamily="34" charset="-122"/>
                <a:cs typeface="Arial" pitchFamily="34" charset="-120"/>
              </a:rPr>
              <a:t>2.73 / 2.41</a:t>
            </a:r>
            <a:endParaRPr lang="en-US" sz="3200" dirty="0"/>
          </a:p>
        </p:txBody>
      </p:sp>
      <p:sp>
        <p:nvSpPr>
          <p:cNvPr id="11" name="SWOT Card Text"/>
          <p:cNvSpPr txBox="1"/>
          <p:nvPr/>
        </p:nvSpPr>
        <p:spPr>
          <a:xfrm>
            <a:off x="4658258" y="2971800"/>
            <a:ext cx="2875178" cy="1417320"/>
          </a:xfrm>
          <a:prstGeom prst="rect">
            <a:avLst/>
          </a:prstGeom>
          <a:noFill/>
          <a:ln/>
        </p:spPr>
        <p:txBody>
          <a:bodyPr wrap="square" lIns="0" tIns="0" rIns="0" bIns="0" rtlCol="0" anchor="t"/>
          <a:lstStyle/>
          <a:p>
            <a:pPr algn="ctr" indent="0" marL="0">
              <a:buNone/>
            </a:pPr>
            <a:r>
              <a:rPr lang="en-US" sz="1700" dirty="0">
                <a:solidFill>
                  <a:srgbClr val="000000"/>
                </a:solidFill>
                <a:latin typeface="Arial" pitchFamily="34" charset="0"/>
                <a:ea typeface="Arial" pitchFamily="34" charset="-122"/>
                <a:cs typeface="Arial" pitchFamily="34" charset="-120"/>
              </a:rPr>
              <a:t>Strong inside (IFE), but a weaker response to the outside (EFE). Strategy: hold and maintain.</a:t>
            </a:r>
            <a:endParaRPr lang="en-US" sz="1700" dirty="0"/>
          </a:p>
        </p:txBody>
      </p:sp>
      <p:sp>
        <p:nvSpPr>
          <p:cNvPr id="12" name="Industry Card Box"/>
          <p:cNvSpPr/>
          <p:nvPr/>
        </p:nvSpPr>
        <p:spPr>
          <a:xfrm>
            <a:off x="8036357" y="1645920"/>
            <a:ext cx="3332378" cy="2834640"/>
          </a:xfrm>
          <a:prstGeom prst="rect">
            <a:avLst/>
          </a:prstGeom>
          <a:solidFill>
            <a:srgbClr val="DEEBF7"/>
          </a:solidFill>
          <a:ln w="12700">
            <a:solidFill>
              <a:srgbClr val="DEEBF7"/>
            </a:solidFill>
            <a:prstDash val="solid"/>
          </a:ln>
        </p:spPr>
      </p:sp>
      <p:sp>
        <p:nvSpPr>
          <p:cNvPr id="13" name="Industry Card Heading"/>
          <p:cNvSpPr txBox="1"/>
          <p:nvPr/>
        </p:nvSpPr>
        <p:spPr>
          <a:xfrm>
            <a:off x="8219237" y="1755648"/>
            <a:ext cx="2966618" cy="411480"/>
          </a:xfrm>
          <a:prstGeom prst="rect">
            <a:avLst/>
          </a:prstGeom>
          <a:noFill/>
          <a:ln/>
        </p:spPr>
        <p:txBody>
          <a:bodyPr wrap="square" lIns="0" tIns="0" rIns="0" bIns="0" rtlCol="0" anchor="ctr"/>
          <a:lstStyle/>
          <a:p>
            <a:pPr algn="ctr" indent="0" marL="0">
              <a:buNone/>
            </a:pPr>
            <a:r>
              <a:rPr lang="en-US" sz="2000" b="1" dirty="0">
                <a:solidFill>
                  <a:srgbClr val="000000"/>
                </a:solidFill>
                <a:latin typeface="Arial" pitchFamily="34" charset="0"/>
                <a:ea typeface="Arial" pitchFamily="34" charset="-122"/>
                <a:cs typeface="Arial" pitchFamily="34" charset="-120"/>
              </a:rPr>
              <a:t>Industry</a:t>
            </a:r>
            <a:endParaRPr lang="en-US" sz="2000" dirty="0"/>
          </a:p>
        </p:txBody>
      </p:sp>
      <p:sp>
        <p:nvSpPr>
          <p:cNvPr id="14" name="Industry Card Value"/>
          <p:cNvSpPr txBox="1"/>
          <p:nvPr/>
        </p:nvSpPr>
        <p:spPr>
          <a:xfrm>
            <a:off x="8219237" y="2212848"/>
            <a:ext cx="2966618" cy="685800"/>
          </a:xfrm>
          <a:prstGeom prst="rect">
            <a:avLst/>
          </a:prstGeom>
          <a:noFill/>
          <a:ln/>
        </p:spPr>
        <p:txBody>
          <a:bodyPr wrap="square" lIns="0" tIns="0" rIns="0" bIns="0" rtlCol="0" anchor="ctr"/>
          <a:lstStyle/>
          <a:p>
            <a:pPr algn="ctr" indent="0" marL="0">
              <a:buNone/>
            </a:pPr>
            <a:r>
              <a:rPr lang="en-US" sz="3200" b="1" dirty="0">
                <a:solidFill>
                  <a:srgbClr val="000000"/>
                </a:solidFill>
                <a:latin typeface="Arial" pitchFamily="34" charset="0"/>
                <a:ea typeface="Arial" pitchFamily="34" charset="-122"/>
                <a:cs typeface="Arial" pitchFamily="34" charset="-120"/>
              </a:rPr>
              <a:t>3.6 of 5</a:t>
            </a:r>
            <a:endParaRPr lang="en-US" sz="3200" dirty="0"/>
          </a:p>
        </p:txBody>
      </p:sp>
      <p:sp>
        <p:nvSpPr>
          <p:cNvPr id="15" name="Industry Card Text"/>
          <p:cNvSpPr txBox="1"/>
          <p:nvPr/>
        </p:nvSpPr>
        <p:spPr>
          <a:xfrm>
            <a:off x="8264957" y="2971800"/>
            <a:ext cx="2875178" cy="1417320"/>
          </a:xfrm>
          <a:prstGeom prst="rect">
            <a:avLst/>
          </a:prstGeom>
          <a:noFill/>
          <a:ln/>
        </p:spPr>
        <p:txBody>
          <a:bodyPr wrap="square" lIns="0" tIns="0" rIns="0" bIns="0" rtlCol="0" anchor="t"/>
          <a:lstStyle/>
          <a:p>
            <a:pPr algn="ctr" indent="0" marL="0">
              <a:buNone/>
            </a:pPr>
            <a:r>
              <a:rPr lang="en-US" sz="1700" dirty="0">
                <a:solidFill>
                  <a:srgbClr val="000000"/>
                </a:solidFill>
                <a:latin typeface="Arial" pitchFamily="34" charset="0"/>
                <a:ea typeface="Arial" pitchFamily="34" charset="-122"/>
                <a:cs typeface="Arial" pitchFamily="34" charset="-120"/>
              </a:rPr>
              <a:t>High competitive pressure; competitive rivalry is the strongest force.</a:t>
            </a:r>
            <a:endParaRPr lang="en-US" sz="1700" dirty="0"/>
          </a:p>
        </p:txBody>
      </p:sp>
      <p:sp>
        <p:nvSpPr>
          <p:cNvPr id="16" name="Closing Rule"/>
          <p:cNvSpPr/>
          <p:nvPr/>
        </p:nvSpPr>
        <p:spPr>
          <a:xfrm>
            <a:off x="2926080" y="4937760"/>
            <a:ext cx="6339535" cy="0"/>
          </a:xfrm>
          <a:prstGeom prst="line">
            <a:avLst/>
          </a:prstGeom>
          <a:noFill/>
          <a:ln w="19050">
            <a:solidFill>
              <a:srgbClr val="1F3864"/>
            </a:solidFill>
            <a:prstDash val="solid"/>
          </a:ln>
        </p:spPr>
      </p:sp>
      <p:sp>
        <p:nvSpPr>
          <p:cNvPr id="17" name="Thank You"/>
          <p:cNvSpPr txBox="1"/>
          <p:nvPr/>
        </p:nvSpPr>
        <p:spPr>
          <a:xfrm>
            <a:off x="731520" y="5120640"/>
            <a:ext cx="10728655" cy="640080"/>
          </a:xfrm>
          <a:prstGeom prst="rect">
            <a:avLst/>
          </a:prstGeom>
          <a:noFill/>
          <a:ln/>
        </p:spPr>
        <p:txBody>
          <a:bodyPr wrap="square" lIns="0" tIns="0" rIns="0" bIns="0" rtlCol="0" anchor="ctr"/>
          <a:lstStyle/>
          <a:p>
            <a:pPr algn="ctr" indent="0" marL="0">
              <a:buNone/>
            </a:pPr>
            <a:r>
              <a:rPr lang="en-US" sz="3200" b="1" dirty="0">
                <a:solidFill>
                  <a:srgbClr val="1F3864"/>
                </a:solidFill>
                <a:latin typeface="Arial" pitchFamily="34" charset="0"/>
                <a:ea typeface="Arial" pitchFamily="34" charset="-122"/>
                <a:cs typeface="Arial" pitchFamily="34" charset="-120"/>
              </a:rPr>
              <a:t>Thank You. Questions?</a:t>
            </a:r>
            <a:endParaRPr lang="en-US" sz="32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right)">
                                      <p:cBhvr>
                                        <p:cTn id="10" dur="500"/>
                                        <p:tgtEl>
                                          <p:spTgt spid="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500"/>
                                        <p:tgtEl>
                                          <p:spTgt spid="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childTnLst>
                                </p:cTn>
                              </p:par>
                            </p:childTnLst>
                          </p:cTn>
                        </p:par>
                        <p:par>
                          <p:cTn id="24" fill="hold">
                            <p:stCondLst>
                              <p:cond delay="1000"/>
                            </p:stCondLst>
                            <p:childTnLst>
                              <p:par>
                                <p:cTn id="25" presetID="10" presetClass="entr" presetSubtype="0" fill="hold" grpId="0" nodeType="after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500"/>
                                        <p:tgtEl>
                                          <p:spTgt spid="1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500"/>
                                        <p:tgtEl>
                                          <p:spTgt spid="11"/>
                                        </p:tgtEl>
                                      </p:cBhvr>
                                    </p:animEffect>
                                  </p:childTnLst>
                                </p:cTn>
                              </p:par>
                            </p:childTnLst>
                          </p:cTn>
                        </p:par>
                        <p:par>
                          <p:cTn id="37" fill="hold">
                            <p:stCondLst>
                              <p:cond delay="1500"/>
                            </p:stCondLst>
                            <p:childTnLst>
                              <p:par>
                                <p:cTn id="38" presetID="10" presetClass="entr" presetSubtype="0" fill="hold" grpId="0" nodeType="after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500"/>
                                        <p:tgtEl>
                                          <p:spTgt spid="1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500"/>
                                        <p:tgtEl>
                                          <p:spTgt spid="15"/>
                                        </p:tgtEl>
                                      </p:cBhvr>
                                    </p:animEffect>
                                  </p:childTnLst>
                                </p:cTn>
                              </p:par>
                            </p:childTnLst>
                          </p:cTn>
                        </p:par>
                        <p:par>
                          <p:cTn id="50" fill="hold">
                            <p:stCondLst>
                              <p:cond delay="2000"/>
                            </p:stCondLst>
                            <p:childTnLst>
                              <p:par>
                                <p:cTn id="51" presetID="22" presetClass="entr" presetSubtype="8" fill="hold" grpId="0" nodeType="after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right)">
                                      <p:cBhvr>
                                        <p:cTn id="53" dur="500"/>
                                        <p:tgtEl>
                                          <p:spTgt spid="16"/>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PZ Nigeria Limited: PESTLE, SWOT and Industry Analysis</dc:title>
  <dc:subject>PESTLE, SWOT and industry analysis of PZ Nigeria Limited</dc:subject>
  <dc:creator>PptxGenJS</dc:creator>
  <cp:lastModifiedBy>PptxGenJS</cp:lastModifiedBy>
  <cp:revision>1</cp:revision>
  <dcterms:created xsi:type="dcterms:W3CDTF">2026-09-27T11:06:48Z</dcterms:created>
  <dcterms:modified xsi:type="dcterms:W3CDTF">2026-09-27T11:06:48Z</dcterms:modified>
</cp:coreProperties>
</file>