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Score</c:v>
                </c:pt>
              </c:strCache>
            </c:strRef>
          </c:tx>
          <c:spPr>
            <a:solidFill>
              <a:schemeClr val="tx1">
                <a:lumMod val="65000"/>
                <a:lumOff val="35000"/>
              </a:schemeClr>
            </a:solidFill>
            <a:ln>
              <a:noFill/>
            </a:ln>
          </c:spPr>
          <c:cat>
            <c:strRef>
              <c:f>Sheet1!$A$2:$A$7</c:f>
              <c:strCache>
                <c:ptCount val="6"/>
                <c:pt idx="0">
                  <c:v>Political</c:v>
                </c:pt>
                <c:pt idx="1">
                  <c:v>Economic</c:v>
                </c:pt>
                <c:pt idx="2">
                  <c:v>Social</c:v>
                </c:pt>
                <c:pt idx="3">
                  <c:v>Technological</c:v>
                </c:pt>
                <c:pt idx="4">
                  <c:v>Legal</c:v>
                </c:pt>
                <c:pt idx="5">
                  <c:v>Environmental</c:v>
                </c:pt>
              </c:strCache>
            </c:strRef>
          </c:cat>
          <c:val>
            <c:numRef>
              <c:f>Sheet1!$B$2:$B$7</c:f>
              <c:numCache>
                <c:formatCode>0.0</c:formatCode>
                <c:ptCount val="6"/>
                <c:pt idx="0">
                  <c:v>13.7</c:v>
                </c:pt>
                <c:pt idx="1">
                  <c:v>20.7</c:v>
                </c:pt>
                <c:pt idx="2">
                  <c:v>16</c:v>
                </c:pt>
                <c:pt idx="3">
                  <c:v>14.3</c:v>
                </c:pt>
                <c:pt idx="4">
                  <c:v>11.7</c:v>
                </c:pt>
                <c:pt idx="5">
                  <c:v>9</c:v>
                </c:pt>
              </c:numCache>
            </c:numRef>
          </c:val>
        </c:ser>
        <c:dLbls>
          <c:numFmt formatCode="0.0" sourceLinked="0"/>
          <c:txPr>
            <a:bodyPr wrap="none"/>
            <a:lstStyle/>
            <a:p>
              <a:pPr>
                <a:defRPr sz="1400" b="1">
                  <a:solidFill>
                    <a:schemeClr val="tx1">
                      <a:lumMod val="75000"/>
                      <a:lumOff val="25000"/>
                    </a:schemeClr>
                  </a:solidFill>
                </a:defRPr>
              </a:pPr>
            </a:p>
          </c:txPr>
          <c:dLblPos val="outEnd"/>
          <c:showLegendKey val="0"/>
          <c:showVal val="1"/>
          <c:showCatName val="0"/>
          <c:showSerName val="0"/>
          <c:showPercent val="0"/>
          <c:showBubbleSize val="0"/>
          <c:showLeaderLines val="1"/>
        </c:dLbls>
        <c:gapWidth val="80"/>
        <c:axId val="79456312"/>
        <c:axId val="33489208"/>
      </c:barChart>
      <c:catAx>
        <c:axId val="79456312"/>
        <c:scaling>
          <c:orientation val="maxMin"/>
        </c:scaling>
        <c:delete val="0"/>
        <c:axPos val="l"/>
        <c:majorTickMark val="none"/>
        <c:minorTickMark val="none"/>
        <c:tickLblPos val="nextTo"/>
        <c:spPr>
          <a:ln>
            <a:solidFill>
              <a:schemeClr val="tx1">
                <a:lumMod val="15000"/>
                <a:lumOff val="85000"/>
              </a:schemeClr>
            </a:solidFill>
          </a:ln>
        </c:spPr>
        <c:crossAx val="33489208"/>
        <c:crosses val="autoZero"/>
        <c:auto val="1"/>
        <c:lblAlgn val="ctr"/>
        <c:lblOffset val="100"/>
        <c:noMultiLvlLbl val="0"/>
      </c:catAx>
      <c:valAx>
        <c:axId val="33489208"/>
        <c:scaling>
          <c:max val="25.0"/>
          <c:min val="0.0"/>
        </c:scaling>
        <c:delete/>
        <c:axPos val="b"/>
        <c:numFmt formatCode="0.0" sourceLinked="0"/>
        <c:majorTickMark val="none"/>
        <c:minorTickMark val="none"/>
        <c:tickLblPos val="nextTo"/>
        <c:spPr>
          <a:ln>
            <a:noFill/>
          </a:ln>
        </c:spPr>
        <c:crossAx val="79456312"/>
        <c:crosses val="autoZero"/>
        <c:majorUnit val="5.0"/>
      </c:valAx>
    </c:plotArea>
    <c:dispBlanksAs val="gap"/>
  </c:chart>
  <c:txPr>
    <a:bodyPr/>
    <a:lstStyle/>
    <a:p>
      <a:pPr>
        <a:defRPr sz="1400">
          <a:solidFill>
            <a:schemeClr val="tx1">
              <a:lumMod val="65000"/>
              <a:lumOff val="35000"/>
            </a:schemeClr>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varyColors val="0"/>
        <c:ser>
          <c:idx val="0"/>
          <c:order val="0"/>
          <c:tx>
            <c:strRef>
              <c:f>Sheet1!$B$1</c:f>
              <c:strCache>
                <c:ptCount val="1"/>
                <c:pt idx="0">
                  <c:v>Score</c:v>
                </c:pt>
              </c:strCache>
            </c:strRef>
          </c:tx>
          <c:spPr>
            <a:solidFill>
              <a:schemeClr val="tx1">
                <a:lumMod val="65000"/>
                <a:lumOff val="35000"/>
              </a:schemeClr>
            </a:solidFill>
            <a:ln>
              <a:noFill/>
            </a:ln>
          </c:spPr>
          <c:cat>
            <c:strRef>
              <c:f>Sheet1!$A$2:$A$5</c:f>
              <c:strCache>
                <c:ptCount val="4"/>
                <c:pt idx="0">
                  <c:v>Strengths</c:v>
                </c:pt>
                <c:pt idx="1">
                  <c:v>Weaknesses</c:v>
                </c:pt>
                <c:pt idx="2">
                  <c:v>Opportunities</c:v>
                </c:pt>
                <c:pt idx="3">
                  <c:v>Threats</c:v>
                </c:pt>
              </c:strCache>
            </c:strRef>
          </c:cat>
          <c:val>
            <c:numRef>
              <c:f>Sheet1!$B$2:$B$5</c:f>
              <c:numCache>
                <c:formatCode>0.00</c:formatCode>
                <c:ptCount val="4"/>
                <c:pt idx="0">
                  <c:v>2.05</c:v>
                </c:pt>
                <c:pt idx="1">
                  <c:v>0.68</c:v>
                </c:pt>
                <c:pt idx="2">
                  <c:v>1.32</c:v>
                </c:pt>
                <c:pt idx="3">
                  <c:v>1.09</c:v>
                </c:pt>
              </c:numCache>
            </c:numRef>
          </c:val>
        </c:ser>
        <c:dLbls>
          <c:numFmt formatCode="0.00" sourceLinked="0"/>
          <c:txPr>
            <a:bodyPr wrap="none"/>
            <a:lstStyle/>
            <a:p>
              <a:pPr>
                <a:defRPr sz="1400" b="1">
                  <a:solidFill>
                    <a:schemeClr val="tx1">
                      <a:lumMod val="75000"/>
                      <a:lumOff val="25000"/>
                    </a:schemeClr>
                  </a:solidFill>
                </a:defRPr>
              </a:pPr>
            </a:p>
          </c:txPr>
          <c:dLblPos val="outEnd"/>
          <c:showLegendKey val="0"/>
          <c:showVal val="1"/>
          <c:showCatName val="0"/>
          <c:showSerName val="0"/>
          <c:showPercent val="0"/>
          <c:showBubbleSize val="0"/>
          <c:showLeaderLines val="1"/>
        </c:dLbls>
        <c:gapWidth val="80"/>
        <c:axId val="79456312"/>
        <c:axId val="33489208"/>
      </c:barChart>
      <c:catAx>
        <c:axId val="79456312"/>
        <c:scaling>
          <c:orientation val="minMax"/>
        </c:scaling>
        <c:delete val="0"/>
        <c:axPos val="b"/>
        <c:majorTickMark val="none"/>
        <c:minorTickMark val="none"/>
        <c:tickLblPos val="nextTo"/>
        <c:spPr>
          <a:ln>
            <a:solidFill>
              <a:schemeClr val="tx1">
                <a:lumMod val="15000"/>
                <a:lumOff val="85000"/>
              </a:schemeClr>
            </a:solidFill>
          </a:ln>
        </c:spPr>
        <c:crossAx val="33489208"/>
        <c:crosses val="autoZero"/>
        <c:auto val="1"/>
        <c:lblAlgn val="ctr"/>
        <c:lblOffset val="100"/>
        <c:noMultiLvlLbl val="0"/>
      </c:catAx>
      <c:valAx>
        <c:axId val="33489208"/>
        <c:scaling>
          <c:max val="2.5"/>
          <c:min val="0.0"/>
        </c:scaling>
        <c:delete val="0"/>
        <c:axPos val="l"/>
        <c:majorGridlines>
          <c:spPr>
            <a:ln w="9525">
              <a:solidFill>
                <a:schemeClr val="tx1">
                  <a:lumMod val="15000"/>
                  <a:lumOff val="85000"/>
                </a:schemeClr>
              </a:solidFill>
            </a:ln>
          </c:spPr>
        </c:majorGridlines>
        <c:numFmt formatCode="0.00" sourceLinked="0"/>
        <c:majorTickMark val="none"/>
        <c:minorTickMark val="none"/>
        <c:tickLblPos val="nextTo"/>
        <c:spPr>
          <a:ln>
            <a:noFill/>
          </a:ln>
        </c:spPr>
        <c:crossAx val="79456312"/>
        <c:crosses val="autoZero"/>
        <c:majorUnit val="0.5"/>
      </c:valAx>
    </c:plotArea>
    <c:dispBlanksAs val="gap"/>
  </c:chart>
  <c:txPr>
    <a:bodyPr/>
    <a:lstStyle/>
    <a:p>
      <a:pPr>
        <a:defRPr sz="1400">
          <a:solidFill>
            <a:schemeClr val="tx1">
              <a:lumMod val="65000"/>
              <a:lumOff val="35000"/>
            </a:schemeClr>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Score</c:v>
                </c:pt>
              </c:strCache>
            </c:strRef>
          </c:tx>
          <c:spPr>
            <a:solidFill>
              <a:schemeClr val="tx1">
                <a:lumMod val="65000"/>
                <a:lumOff val="35000"/>
              </a:schemeClr>
            </a:solidFill>
            <a:ln>
              <a:noFill/>
            </a:ln>
          </c:spPr>
          <c:cat>
            <c:strRef>
              <c:f>Sheet1!$A$2:$A$6</c:f>
              <c:strCache>
                <c:ptCount val="5"/>
                <c:pt idx="0">
                  <c:v>Competitive rivalry</c:v>
                </c:pt>
                <c:pt idx="1">
                  <c:v>Bargaining power of buyers</c:v>
                </c:pt>
                <c:pt idx="2">
                  <c:v>Bargaining power of suppliers</c:v>
                </c:pt>
                <c:pt idx="3">
                  <c:v>Threat of substitutes</c:v>
                </c:pt>
                <c:pt idx="4">
                  <c:v>Threat of new entrants</c:v>
                </c:pt>
              </c:strCache>
            </c:strRef>
          </c:cat>
          <c:val>
            <c:numRef>
              <c:f>Sheet1!$B$2:$B$6</c:f>
              <c:numCache>
                <c:formatCode>0</c:formatCode>
                <c:ptCount val="5"/>
                <c:pt idx="0">
                  <c:v>5</c:v>
                </c:pt>
                <c:pt idx="1">
                  <c:v>4</c:v>
                </c:pt>
                <c:pt idx="2">
                  <c:v>4</c:v>
                </c:pt>
                <c:pt idx="3">
                  <c:v>3</c:v>
                </c:pt>
                <c:pt idx="4">
                  <c:v>2</c:v>
                </c:pt>
              </c:numCache>
            </c:numRef>
          </c:val>
        </c:ser>
        <c:dLbls>
          <c:numFmt formatCode="0" sourceLinked="0"/>
          <c:txPr>
            <a:bodyPr wrap="none"/>
            <a:lstStyle/>
            <a:p>
              <a:pPr>
                <a:defRPr sz="1400" b="1">
                  <a:solidFill>
                    <a:schemeClr val="tx1">
                      <a:lumMod val="75000"/>
                      <a:lumOff val="25000"/>
                    </a:schemeClr>
                  </a:solidFill>
                </a:defRPr>
              </a:pPr>
            </a:p>
          </c:txPr>
          <c:dLblPos val="outEnd"/>
          <c:showLegendKey val="0"/>
          <c:showVal val="1"/>
          <c:showCatName val="0"/>
          <c:showSerName val="0"/>
          <c:showPercent val="0"/>
          <c:showBubbleSize val="0"/>
          <c:showLeaderLines val="1"/>
        </c:dLbls>
        <c:gapWidth val="80"/>
        <c:axId val="79456312"/>
        <c:axId val="33489208"/>
      </c:barChart>
      <c:catAx>
        <c:axId val="79456312"/>
        <c:scaling>
          <c:orientation val="maxMin"/>
        </c:scaling>
        <c:delete val="0"/>
        <c:axPos val="l"/>
        <c:majorTickMark val="none"/>
        <c:minorTickMark val="none"/>
        <c:tickLblPos val="nextTo"/>
        <c:spPr>
          <a:ln>
            <a:solidFill>
              <a:schemeClr val="tx1">
                <a:lumMod val="15000"/>
                <a:lumOff val="85000"/>
              </a:schemeClr>
            </a:solidFill>
          </a:ln>
        </c:spPr>
        <c:crossAx val="33489208"/>
        <c:crosses val="autoZero"/>
        <c:auto val="1"/>
        <c:lblAlgn val="ctr"/>
        <c:lblOffset val="100"/>
        <c:noMultiLvlLbl val="0"/>
      </c:catAx>
      <c:valAx>
        <c:axId val="33489208"/>
        <c:scaling>
          <c:max val="5.0"/>
          <c:min val="0.0"/>
        </c:scaling>
        <c:delete/>
        <c:axPos val="b"/>
        <c:numFmt formatCode="0" sourceLinked="0"/>
        <c:majorTickMark val="none"/>
        <c:minorTickMark val="none"/>
        <c:tickLblPos val="nextTo"/>
        <c:spPr>
          <a:ln>
            <a:noFill/>
          </a:ln>
        </c:spPr>
        <c:crossAx val="79456312"/>
        <c:crosses val="autoZero"/>
        <c:majorUnit val="1.0"/>
      </c:valAx>
    </c:plotArea>
    <c:dispBlanksAs val="gap"/>
  </c:chart>
  <c:txPr>
    <a:bodyPr/>
    <a:lstStyle/>
    <a:p>
      <a:pPr>
        <a:defRPr sz="1400">
          <a:solidFill>
            <a:schemeClr val="tx1">
              <a:lumMod val="65000"/>
              <a:lumOff val="35000"/>
            </a:schemeClr>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day. This presentation analyses PZ Nigeria Limited, the company behind Imperial Leather, Premier Cool, Joy and Morning Fresh. I will look at its business environment with a PESTLE analysis, at the company itself with a SWOT analysis, and at its industry with Porter's Five Forces. All the scores were calculated in Microsoft Excel, in the workbook PZ_Nigeria_Analysis.xlsx.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PZ Nigeria has two businesses. Family Care makes Imperial Leather, Premier Cool, Joy and Morning Fresh; the Electrical business sells air conditioners, fridges, freezers and washing machines. The company is led by Mr Oghale Ogueni, the Managing Director, and Mr Oladare Oresukan, the Chief Financial Officer, and it is part of the UK-based PZ Cussons group. It uses a product and brand structure: the Managing Director, category managers, then a brand manager in charge of each brand, supported by assistant brand managers and shared departments.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issue is rated for impact and likelihood from 1 to 5; the score is impact times likelihood, so the highest possible score is 25, and 16 or more is high priority. Political factors average 13.7 out of 25; the biggest issue is fuel subsidy removal and FX reforms, which scores 20: higher fuel and transport costs; easier access to dollars over time. Economic factors average 20.7 out of 25; the biggest issue is naira devaluation and FX shortages, which scores 25: imported raw materials cost much more; losses on foreign-currency debts.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issue is rated for impact and likelihood from 1 to 5; the score is impact times likelihood, so the highest possible score is 25, and 16 or more is high priority. Social factors average 16.0 out of 25; the biggest issue is large, young, growing population, which scores 20: A big and growing market for soaps, detergents and appliances. Technological factors average 14.3 out of 25; the biggest issue is poor power supply, which scores 16: factories spend more on diesel and solar; demand for energy-saving appliances.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issue is rated for impact and likelihood from 1 to 5; the score is impact times likelihood, so the highest possible score is 25, and 16 or more is high priority. Legal factors average 11.7 out of 25; the biggest issue is NAFDAC and SON product rules, which scores 15: every product must be registered and meet standards. Environmental factors average 9.0 out of 25; the biggest issue is plastic waste rules, which scores 12: must change packaging and pay for recycling (EPR).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chart shows each factor's average score, calculated in Excel with AVERAGEIF. Economic factors matter most, with an average of 20.7 out of 25, and the single biggest issue is naira devaluation and FX shortages, which scores the maximum of 25. Environmental factors matter least, at 9.0. Overall 6 of the 18 issues are high priority, and there are 12 threats against 6 opportunities, so the environment is difficult.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PZ's main strengths are its well-known brands, more than a century in Nigeria and a wide distribution network. Its weaknesses are slow decisions, because approvals can wait for the UK owner and there are many management levels, and its dependence on imported raw materials when the naira is weak. The opportunities come from Nigeria's large young population, digital selling, smaller packs and the customers left behind by Unilever and P&amp;G. The threats are the weak naira, high inflation, strong competition, fake products, high energy costs and policy changes.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Excel each SWOT point has a weight for how important it is and a rating from 1 to 4; weight times rating gives the weighted score. The internal total, IFE, is 2.73: above the average of 2.50, because strengths (2.05) outweigh weaknesses (0.68). The external total, EFE, is 2.41: below average, so PZ is not yet making the most of its opportunities or defending well enough against its threats. Together they place PZ in cell V of the internal-external matrix, which means hold and maintain: market penetration and product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PZ competes in fast-moving consumer goods, mainly soaps and dishwashing liquid, and in consumer electricals. Nigeria has over 200 million people, most of them young, so it is one of Africa's largest consumer markets. But prices are rising with inflation, shoppers are moving to smaller packs and cheaper brands, and some multinationals have cut local production. To succeed, a company needs strong brands, low costs, wide distribution, local raw materials and affordable pack sizes.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PZ's main competitors. Unilever left home care and soaps in 2023, and Procter and Gamble stopped making products in Nigeria, so both now leave space PZ can fill. Reckitt is strong in hygiene with Dettol and Harpic, Hayat Kimya makes low-priced products locally, and many local brands win on price in open markets. In electricals, PZ faces LG, Samsung, Hisense and Scanfrost, plus many cheaper imports.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Competitive rivalry is high, rated 5 out of 5: many local and foreign brands fight on price, promotions and shelf space. Bargaining power of buyers is high, rated 4 out of 5: shoppers are price-sensitive and switch brands easily; big distributors bargain hard. Bargaining power of suppliers is high, rated 4 out of 5: key raw materials, packaging and parts are imported and priced in dollars. Threat of substitutes is medium, rated 3 out of 5: cheaper unbranded and local soaps; fans instead of air conditioners. Threat of new entrants is low, rated 2 out of 5: factories, brands and distribution cost a lot, but cheap imports still get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average the five forces score 3.6 out of 5, calculated in Excel with AVERAGE. Strong competitive pressure: profits are hard to earn. The strongest force is competitive rivalry; the weakest is the threat of new entrants, because it costs a lot to build factories, brands and distribution. 3 of 5 forces are rated high, so PZ must keep costs low and brands strong to stay profitable.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the analysis, I recommend five actions. 1: buy more raw materials in Nigeria. Cuts dollar costs and the damage from naira devaluation (the biggest PESTLE issue). 2: sell smaller, affordable packs. Keeps price-sensitive shoppers buying Imperial Leather, Premier Cool, Joy and Morning Fresh. 3: grow digital marketing and online sales. Reaches the large young population cheaply through social media and e-commerce. 4: win customers competitors left behind. Use the wide distribution network to fill shelves Unilever and P&amp;G have left. 5: make decisions faster. Give local managers more authority and cut approval levels to fix the main weaknesses.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PZ Nigeria is strong inside, with well-known brands and a wide distribution network (IFE 2.73), but its environment is hard. Economic factors, especially naira devaluation and FX shortages, matter most, and the industry is highly competitive (five forces average 3.6 out of 5). The best strategy is to hold and maintain, through market penetration and product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nchor="b"/>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PZ Nigeria Limited</a:t>
            </a:r>
          </a:p>
        </p:txBody>
      </p:sp>
      <p:sp>
        <p:nvSpPr>
          <p:cNvPr id="3" name="Subtitle 2"/>
          <p:cNvSpPr>
            <a:spLocks noGrp="1"/>
          </p:cNvSpPr>
          <p:nvPr>
            <p:ph type="subTitle" idx="1"/>
          </p:nvPr>
        </p:nvSpPr>
        <p:spPr/>
        <p:txBody>
          <a:bodyPr/>
          <a:lstStyle/>
          <a:p>
            <a:pPr/>
            <a:r>
              <a:rPr sz="2400"/>
              <a:t>PESTLE, SWOT and Industry Analysis</a:t>
            </a:r>
          </a:p>
          <a:p>
            <a:pPr/>
            <a:r>
              <a:rPr sz="2400"/>
              <a:t>Marketing Department, Ilupeju, Lagos</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Company Overview</a:t>
            </a:r>
          </a:p>
        </p:txBody>
      </p:sp>
      <p:sp>
        <p:nvSpPr>
          <p:cNvPr id="3" name="Content Placeholder 2"/>
          <p:cNvSpPr>
            <a:spLocks noGrp="1"/>
          </p:cNvSpPr>
          <p:nvPr>
            <p:ph idx="1" sz="half"/>
          </p:nvPr>
        </p:nvSpPr>
        <p:spPr/>
        <p:txBody>
          <a:bodyPr/>
          <a:lstStyle/>
          <a:p>
            <a:pPr/>
            <a:r>
              <a:rPr sz="2400" b="1"/>
              <a:t>Family Care (consumer)</a:t>
            </a:r>
          </a:p>
          <a:p>
            <a:pPr lvl="1"/>
            <a:r>
              <a:rPr sz="2000"/>
              <a:t>Imperial Leather, Premier Cool, Joy, Morning Fresh</a:t>
            </a:r>
          </a:p>
          <a:p>
            <a:pPr/>
            <a:r>
              <a:rPr sz="2400" b="1"/>
              <a:t>Electrical</a:t>
            </a:r>
          </a:p>
          <a:p>
            <a:pPr lvl="1"/>
            <a:r>
              <a:rPr sz="2000"/>
              <a:t>Air conditioners, fridges and freezers, washing machines</a:t>
            </a:r>
          </a:p>
          <a:p>
            <a:pPr/>
            <a:r>
              <a:rPr sz="2400" b="1"/>
              <a:t>Owner</a:t>
            </a:r>
          </a:p>
          <a:p>
            <a:pPr lvl="1"/>
            <a:r>
              <a:rPr sz="2000"/>
              <a:t>PZ Cussons group (United Kingdom)</a:t>
            </a:r>
          </a:p>
        </p:txBody>
      </p:sp>
      <p:sp>
        <p:nvSpPr>
          <p:cNvPr id="4" name="Content Placeholder 3"/>
          <p:cNvSpPr>
            <a:spLocks noGrp="1"/>
          </p:cNvSpPr>
          <p:nvPr>
            <p:ph idx="2" sz="half"/>
          </p:nvPr>
        </p:nvSpPr>
        <p:spPr/>
        <p:txBody>
          <a:bodyPr/>
          <a:lstStyle/>
          <a:p>
            <a:pPr/>
            <a:r>
              <a:rPr sz="2400" b="1"/>
              <a:t>Mr Oghale Ogueni</a:t>
            </a:r>
            <a:r>
              <a:rPr sz="2400"/>
              <a:t>: Managing Director</a:t>
            </a:r>
          </a:p>
          <a:p>
            <a:pPr/>
            <a:r>
              <a:rPr sz="2400" b="1"/>
              <a:t>Mr Oladare Oresukan</a:t>
            </a:r>
            <a:r>
              <a:rPr sz="2400"/>
              <a:t>: Chief Financial Officer</a:t>
            </a:r>
          </a:p>
          <a:p>
            <a:pPr/>
            <a:r>
              <a:rPr sz="2400" b="1"/>
              <a:t>Structure</a:t>
            </a:r>
          </a:p>
          <a:p>
            <a:pPr lvl="1"/>
            <a:r>
              <a:rPr sz="2000"/>
              <a:t>Managing Director (with the CFO and HR Director)</a:t>
            </a:r>
          </a:p>
          <a:p>
            <a:pPr lvl="1"/>
            <a:r>
              <a:rPr sz="2000"/>
              <a:t>Category Managers</a:t>
            </a:r>
          </a:p>
          <a:p>
            <a:pPr lvl="1"/>
            <a:r>
              <a:rPr sz="2000"/>
              <a:t>Brand Managers: one for each brand</a:t>
            </a:r>
          </a:p>
          <a:p>
            <a:pPr lvl="1"/>
            <a:r>
              <a:rPr sz="2000"/>
              <a:t>Assistant Brand Managers</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PESTLE: Political and Economic</a:t>
            </a:r>
          </a:p>
        </p:txBody>
      </p:sp>
      <p:graphicFrame>
        <p:nvGraphicFramePr>
          <p:cNvPr id="3" name="Content Placeholder 2"/>
          <p:cNvGraphicFramePr>
            <a:graphicFrameLocks noGrp="1"/>
          </p:cNvGraphicFramePr>
          <p:nvPr>
            <p:ph idx="1"/>
          </p:nvPr>
        </p:nvGraphicFramePr>
        <p:xfrm>
          <a:off x="838200" y="1825625"/>
          <a:ext cx="10515600" cy="4187952"/>
        </p:xfrm>
        <a:graphic>
          <a:graphicData uri="http://schemas.openxmlformats.org/drawingml/2006/table">
            <a:tbl>
              <a:tblPr firstRow="1">
                <a:tableStyleId>{5940675A-B579-460E-94D1-54222C63F5DA}</a:tableStyleId>
              </a:tblPr>
              <a:tblGrid>
                <a:gridCol w="1600200"/>
                <a:gridCol w="2697480"/>
                <a:gridCol w="4023360"/>
                <a:gridCol w="1097280"/>
                <a:gridCol w="1097280"/>
              </a:tblGrid>
              <a:tr h="457200">
                <a:tc>
                  <a:txBody>
                    <a:bodyPr/>
                    <a:lstStyle/>
                    <a:p>
                      <a:r>
                        <a:rPr sz="1600" b="1">
                          <a:solidFill>
                            <a:schemeClr val="tx1"/>
                          </a:solidFill>
                        </a:rPr>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600" b="1">
                          <a:solidFill>
                            <a:schemeClr val="tx1"/>
                          </a:solidFill>
                        </a:rPr>
                        <a:t>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600" b="1">
                          <a:solidFill>
                            <a:schemeClr val="tx1"/>
                          </a:solidFill>
                        </a:rPr>
                        <a:t>Effect on PZ Nigeria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sz="1600" b="1">
                          <a:solidFill>
                            <a:schemeClr val="tx1"/>
                          </a:solidFill>
                        </a:rPr>
                        <a:t>Score (of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sz="1600" b="1">
                          <a:solidFill>
                            <a:schemeClr val="tx1"/>
                          </a:solidFill>
                        </a:rPr>
                        <a:t>Priority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21792">
                <a:tc rowSpan="3">
                  <a:txBody>
                    <a:bodyPr/>
                    <a:lstStyle/>
                    <a:p>
                      <a:r>
                        <a:rPr sz="1600" b="1">
                          <a:solidFill>
                            <a:schemeClr val="tx1"/>
                          </a:solidFill>
                        </a:rPr>
                        <a:t>Political</a:t>
                      </a:r>
                    </a:p>
                    <a:p>
                      <a:r>
                        <a:rPr sz="1400" b="0">
                          <a:solidFill>
                            <a:schemeClr val="tx1"/>
                          </a:solidFill>
                        </a:rPr>
                        <a:t>Average 13.7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Fuel subsidy removal and FX reforms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Higher fuel and transport costs; easier access to dollars over time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Import duties and levies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Imported raw materials and parts cost more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2027 elections and policy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Uncertainty can delay investment and change the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rowSpan="3">
                  <a:txBody>
                    <a:bodyPr/>
                    <a:lstStyle/>
                    <a:p>
                      <a:r>
                        <a:rPr sz="1600" b="1">
                          <a:solidFill>
                            <a:schemeClr val="tx1"/>
                          </a:solidFill>
                        </a:rPr>
                        <a:t>Economic</a:t>
                      </a:r>
                    </a:p>
                    <a:p>
                      <a:r>
                        <a:rPr sz="1400" b="0">
                          <a:solidFill>
                            <a:schemeClr val="tx1"/>
                          </a:solidFill>
                        </a:rPr>
                        <a:t>Average 20.7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Naira devaluation and FX shortages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Imported raw materials cost much more; losses on foreign-currency debts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High inflation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Shoppers buy less or switch to cheaper brands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High interest rates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Borrowing is expensive; fewer appliances bought on credit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PESTLE: Social and Technological</a:t>
            </a:r>
          </a:p>
        </p:txBody>
      </p:sp>
      <p:graphicFrame>
        <p:nvGraphicFramePr>
          <p:cNvPr id="3" name="Content Placeholder 2"/>
          <p:cNvGraphicFramePr>
            <a:graphicFrameLocks noGrp="1"/>
          </p:cNvGraphicFramePr>
          <p:nvPr>
            <p:ph idx="1"/>
          </p:nvPr>
        </p:nvGraphicFramePr>
        <p:xfrm>
          <a:off x="838200" y="1825625"/>
          <a:ext cx="10515600" cy="4187952"/>
        </p:xfrm>
        <a:graphic>
          <a:graphicData uri="http://schemas.openxmlformats.org/drawingml/2006/table">
            <a:tbl>
              <a:tblPr firstRow="1">
                <a:tableStyleId>{5940675A-B579-460E-94D1-54222C63F5DA}</a:tableStyleId>
              </a:tblPr>
              <a:tblGrid>
                <a:gridCol w="1600200"/>
                <a:gridCol w="2697480"/>
                <a:gridCol w="4023360"/>
                <a:gridCol w="1097280"/>
                <a:gridCol w="1097280"/>
              </a:tblGrid>
              <a:tr h="457200">
                <a:tc>
                  <a:txBody>
                    <a:bodyPr/>
                    <a:lstStyle/>
                    <a:p>
                      <a:r>
                        <a:rPr sz="1600" b="1">
                          <a:solidFill>
                            <a:schemeClr val="tx1"/>
                          </a:solidFill>
                        </a:rPr>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600" b="1">
                          <a:solidFill>
                            <a:schemeClr val="tx1"/>
                          </a:solidFill>
                        </a:rPr>
                        <a:t>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600" b="1">
                          <a:solidFill>
                            <a:schemeClr val="tx1"/>
                          </a:solidFill>
                        </a:rPr>
                        <a:t>Effect on PZ Nigeria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sz="1600" b="1">
                          <a:solidFill>
                            <a:schemeClr val="tx1"/>
                          </a:solidFill>
                        </a:rPr>
                        <a:t>Score (of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sz="1600" b="1">
                          <a:solidFill>
                            <a:schemeClr val="tx1"/>
                          </a:solidFill>
                        </a:rPr>
                        <a:t>Priority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21792">
                <a:tc rowSpan="3">
                  <a:txBody>
                    <a:bodyPr/>
                    <a:lstStyle/>
                    <a:p>
                      <a:r>
                        <a:rPr sz="1600" b="1">
                          <a:solidFill>
                            <a:schemeClr val="tx1"/>
                          </a:solidFill>
                        </a:rPr>
                        <a:t>Social</a:t>
                      </a:r>
                    </a:p>
                    <a:p>
                      <a:r>
                        <a:rPr sz="1400" b="0">
                          <a:solidFill>
                            <a:schemeClr val="tx1"/>
                          </a:solidFill>
                        </a:rPr>
                        <a:t>Average 16.0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Large, young, growing population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A big and growing market for soaps, detergents and appliances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Price-sensitive shoppers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Demand for smaller, cheaper packs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Growing hygiene awareness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More demand for soaps and cleaning products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rowSpan="3">
                  <a:txBody>
                    <a:bodyPr/>
                    <a:lstStyle/>
                    <a:p>
                      <a:r>
                        <a:rPr sz="1600" b="1">
                          <a:solidFill>
                            <a:schemeClr val="tx1"/>
                          </a:solidFill>
                        </a:rPr>
                        <a:t>Technological</a:t>
                      </a:r>
                    </a:p>
                    <a:p>
                      <a:r>
                        <a:rPr sz="1400" b="0">
                          <a:solidFill>
                            <a:schemeClr val="tx1"/>
                          </a:solidFill>
                        </a:rPr>
                        <a:t>Average 14.3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Social media and digital marketing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Cheaper, targeted adverts that reach young buyers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E-commerce and modern retail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New ways to sell: online stores and supermarkets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Poor power supply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Factories spend more on diesel and solar; demand for energy-saving appliances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PESTLE: Legal and Environmental</a:t>
            </a:r>
          </a:p>
        </p:txBody>
      </p:sp>
      <p:graphicFrame>
        <p:nvGraphicFramePr>
          <p:cNvPr id="3" name="Content Placeholder 2"/>
          <p:cNvGraphicFramePr>
            <a:graphicFrameLocks noGrp="1"/>
          </p:cNvGraphicFramePr>
          <p:nvPr>
            <p:ph idx="1"/>
          </p:nvPr>
        </p:nvGraphicFramePr>
        <p:xfrm>
          <a:off x="838200" y="1825625"/>
          <a:ext cx="10515600" cy="4187952"/>
        </p:xfrm>
        <a:graphic>
          <a:graphicData uri="http://schemas.openxmlformats.org/drawingml/2006/table">
            <a:tbl>
              <a:tblPr firstRow="1">
                <a:tableStyleId>{5940675A-B579-460E-94D1-54222C63F5DA}</a:tableStyleId>
              </a:tblPr>
              <a:tblGrid>
                <a:gridCol w="1600200"/>
                <a:gridCol w="2697480"/>
                <a:gridCol w="4023360"/>
                <a:gridCol w="1097280"/>
                <a:gridCol w="1097280"/>
              </a:tblGrid>
              <a:tr h="457200">
                <a:tc>
                  <a:txBody>
                    <a:bodyPr/>
                    <a:lstStyle/>
                    <a:p>
                      <a:r>
                        <a:rPr sz="1600" b="1">
                          <a:solidFill>
                            <a:schemeClr val="tx1"/>
                          </a:solidFill>
                        </a:rPr>
                        <a:t>Factor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600" b="1">
                          <a:solidFill>
                            <a:schemeClr val="tx1"/>
                          </a:solidFill>
                        </a:rPr>
                        <a:t>Issue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600" b="1">
                          <a:solidFill>
                            <a:schemeClr val="tx1"/>
                          </a:solidFill>
                        </a:rPr>
                        <a:t>Effect on PZ Nigeria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sz="1600" b="1">
                          <a:solidFill>
                            <a:schemeClr val="tx1"/>
                          </a:solidFill>
                        </a:rPr>
                        <a:t>Score (of 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sz="1600" b="1">
                          <a:solidFill>
                            <a:schemeClr val="tx1"/>
                          </a:solidFill>
                        </a:rPr>
                        <a:t>Priority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21792">
                <a:tc rowSpan="3">
                  <a:txBody>
                    <a:bodyPr/>
                    <a:lstStyle/>
                    <a:p>
                      <a:r>
                        <a:rPr sz="1600" b="1">
                          <a:solidFill>
                            <a:schemeClr val="tx1"/>
                          </a:solidFill>
                        </a:rPr>
                        <a:t>Legal</a:t>
                      </a:r>
                    </a:p>
                    <a:p>
                      <a:r>
                        <a:rPr sz="1400" b="0">
                          <a:solidFill>
                            <a:schemeClr val="tx1"/>
                          </a:solidFill>
                        </a:rPr>
                        <a:t>Average 11.7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NAFDAC and SON product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Every product must be registered and meet standards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FCCPC and ARCON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Adverts need approval; fair prices and clear labels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Tax reforms and ₦70,000 minimum wage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Higher staff costs and new tax rules to follow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rowSpan="3">
                  <a:txBody>
                    <a:bodyPr/>
                    <a:lstStyle/>
                    <a:p>
                      <a:r>
                        <a:rPr sz="1600" b="1">
                          <a:solidFill>
                            <a:schemeClr val="tx1"/>
                          </a:solidFill>
                        </a:rPr>
                        <a:t>Environmental</a:t>
                      </a:r>
                    </a:p>
                    <a:p>
                      <a:r>
                        <a:rPr sz="1400" b="0">
                          <a:solidFill>
                            <a:schemeClr val="tx1"/>
                          </a:solidFill>
                        </a:rPr>
                        <a:t>Average 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Plastic waste rules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Must change packaging and pay for recycling (EPR)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Flooding and climate change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Floods disrupt deliveries and damage stock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21792">
                <a:tc vMerge="1">
                  <a:txBody>
                    <a:bodyPr/>
                    <a:lstStyl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Demand for eco-friendly products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600" b="0">
                          <a:solidFill>
                            <a:schemeClr val="tx1"/>
                          </a:solidFill>
                        </a:rPr>
                        <a:t>A chance to launch greener packs and appliances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sz="1600" b="0">
                          <a:solidFill>
                            <a:schemeClr val="tx1"/>
                          </a:solidFill>
                        </a:rPr>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PESTLE Scores</a:t>
            </a:r>
          </a:p>
        </p:txBody>
      </p:sp>
      <p:graphicFrame>
        <p:nvGraphicFramePr>
          <p:cNvPr id="3" name="Content Placeholder 2"/>
          <p:cNvGraphicFramePr>
            <a:graphicFrameLocks noGrp="1"/>
          </p:cNvGraphicFramePr>
          <p:nvPr>
            <p:ph idx="1"/>
          </p:nvPr>
        </p:nvGraphicFramePr>
        <p:xfrm>
          <a:off x="838200" y="1825625"/>
          <a:ext cx="5181600" cy="4351338"/>
        </p:xfrm>
        <a:graphic>
          <a:graphicData uri="http://schemas.openxmlformats.org/drawingml/2006/chart">
            <c:chart xmlns:c="http://schemas.openxmlformats.org/drawingml/2006/chart" r:id="rId2"/>
          </a:graphicData>
        </a:graphic>
      </p:graphicFrame>
      <p:sp>
        <p:nvSpPr>
          <p:cNvPr id="4" name="Content Placeholder 3"/>
          <p:cNvSpPr>
            <a:spLocks noGrp="1"/>
          </p:cNvSpPr>
          <p:nvPr>
            <p:ph idx="2" sz="half"/>
          </p:nvPr>
        </p:nvSpPr>
        <p:spPr/>
        <p:txBody>
          <a:bodyPr/>
          <a:lstStyle/>
          <a:p>
            <a:pPr/>
            <a:r>
              <a:rPr sz="2200"/>
              <a:t>Average score of each factor, out of 25 (Excel: AVERAGEIF)</a:t>
            </a:r>
          </a:p>
          <a:p>
            <a:pPr/>
            <a:r>
              <a:rPr sz="2200"/>
              <a:t>Most important: </a:t>
            </a:r>
            <a:r>
              <a:rPr sz="2200" b="1"/>
              <a:t>Economic (20.7)</a:t>
            </a:r>
          </a:p>
          <a:p>
            <a:pPr/>
            <a:r>
              <a:rPr sz="2200"/>
              <a:t>Biggest issue: </a:t>
            </a:r>
            <a:r>
              <a:rPr sz="2200" b="1"/>
              <a:t>Naira devaluation and FX shortages (25 of 25)</a:t>
            </a:r>
          </a:p>
          <a:p>
            <a:pPr/>
            <a:r>
              <a:rPr sz="2200"/>
              <a:t>High priority: </a:t>
            </a:r>
            <a:r>
              <a:rPr sz="2200" b="1"/>
              <a:t>6 of 18 issues</a:t>
            </a:r>
          </a:p>
          <a:p>
            <a:pPr/>
            <a:r>
              <a:rPr sz="2200" b="1"/>
              <a:t>12 threats and 6 opportunities</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3" grpId="0">
        <p:bldAsOne/>
      </p:bldGraphic>
      <p:bldP spid="4"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SWOT Analysis</a:t>
            </a:r>
          </a:p>
        </p:txBody>
      </p:sp>
      <p:graphicFrame>
        <p:nvGraphicFramePr>
          <p:cNvPr id="3" name="Content Placeholder 2"/>
          <p:cNvGraphicFramePr>
            <a:graphicFrameLocks noGrp="1"/>
          </p:cNvGraphicFramePr>
          <p:nvPr>
            <p:ph idx="1"/>
          </p:nvPr>
        </p:nvGraphicFramePr>
        <p:xfrm>
          <a:off x="838200" y="1825625"/>
          <a:ext cx="10515600" cy="4297680"/>
        </p:xfrm>
        <a:graphic>
          <a:graphicData uri="http://schemas.openxmlformats.org/drawingml/2006/table">
            <a:tbl>
              <a:tblPr firstRow="1">
                <a:tableStyleId>{5940675A-B579-460E-94D1-54222C63F5DA}</a:tableStyleId>
              </a:tblPr>
              <a:tblGrid>
                <a:gridCol w="5257800"/>
                <a:gridCol w="5257800"/>
              </a:tblGrid>
              <a:tr h="411480">
                <a:tc>
                  <a:txBody>
                    <a:bodyPr/>
                    <a:lstStyle/>
                    <a:p>
                      <a:r>
                        <a:rPr sz="1500" b="1">
                          <a:solidFill>
                            <a:schemeClr val="tx1"/>
                          </a:solidFill>
                        </a:rPr>
                        <a:t>Strengths (internal)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500" b="1">
                          <a:solidFill>
                            <a:schemeClr val="tx1"/>
                          </a:solidFill>
                        </a:rPr>
                        <a:t>Weaknesses (internal)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1737360">
                <a:tc>
                  <a:txBody>
                    <a:bodyPr/>
                    <a:lstStyle/>
                    <a:p>
                      <a:pPr marL="228600" indent="-228600">
                        <a:buFont typeface="Arial" panose="020B0604020202020204" pitchFamily="34" charset="0"/>
                        <a:buChar char="•"/>
                      </a:pPr>
                      <a:r>
                        <a:rPr sz="1500" b="0">
                          <a:solidFill>
                            <a:schemeClr val="tx1"/>
                          </a:solidFill>
                        </a:rPr>
                        <a:t>Well-known brands such as Imperial Leather and Joy</a:t>
                      </a:r>
                    </a:p>
                    <a:p>
                      <a:pPr marL="228600" indent="-228600">
                        <a:buFont typeface="Arial" panose="020B0604020202020204" pitchFamily="34" charset="0"/>
                        <a:buChar char="•"/>
                      </a:pPr>
                      <a:r>
                        <a:rPr sz="1500" b="0">
                          <a:solidFill>
                            <a:schemeClr val="tx1"/>
                          </a:solidFill>
                        </a:rPr>
                        <a:t>More than 100 years in Nigeria; trusted by buyers</a:t>
                      </a:r>
                    </a:p>
                    <a:p>
                      <a:pPr marL="228600" indent="-228600">
                        <a:buFont typeface="Arial" panose="020B0604020202020204" pitchFamily="34" charset="0"/>
                        <a:buChar char="•"/>
                      </a:pPr>
                      <a:r>
                        <a:rPr sz="1500" b="0">
                          <a:solidFill>
                            <a:schemeClr val="tx1"/>
                          </a:solidFill>
                        </a:rPr>
                        <a:t>Wide distribution network across Nigeria</a:t>
                      </a:r>
                    </a:p>
                    <a:p>
                      <a:pPr marL="228600" indent="-228600">
                        <a:buFont typeface="Arial" panose="020B0604020202020204" pitchFamily="34" charset="0"/>
                        <a:buChar char="•"/>
                      </a:pPr>
                      <a:r>
                        <a:rPr sz="1500" b="0">
                          <a:solidFill>
                            <a:schemeClr val="tx1"/>
                          </a:solidFill>
                        </a:rPr>
                        <a:t>Each business focuses on its own customers</a:t>
                      </a:r>
                    </a:p>
                    <a:p>
                      <a:pPr marL="228600" indent="-228600">
                        <a:buFont typeface="Arial" panose="020B0604020202020204" pitchFamily="34" charset="0"/>
                        <a:buChar char="•"/>
                      </a:pPr>
                      <a:r>
                        <a:rPr sz="1500" b="0">
                          <a:solidFill>
                            <a:schemeClr val="tx1"/>
                          </a:solidFill>
                        </a:rPr>
                        <a:t>One manager per brand; shared teams save money</a:t>
                      </a:r>
                    </a:p>
                    <a:p>
                      <a:pPr marL="228600" indent="-228600">
                        <a:buFont typeface="Arial" panose="020B0604020202020204" pitchFamily="34" charset="0"/>
                        <a:buChar char="•"/>
                      </a:pPr>
                      <a:r>
                        <a:rPr sz="1500" b="0">
                          <a:solidFill>
                            <a:schemeClr val="tx1"/>
                          </a:solidFill>
                        </a:rPr>
                        <a:t>Support from the UK owner (PZ Cussons)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Arial" panose="020B0604020202020204" pitchFamily="34" charset="0"/>
                        <a:buChar char="•"/>
                      </a:pPr>
                      <a:r>
                        <a:rPr sz="1500" b="0">
                          <a:solidFill>
                            <a:schemeClr val="tx1"/>
                          </a:solidFill>
                        </a:rPr>
                        <a:t>Waiting for the UK owner's approval can slow work</a:t>
                      </a:r>
                    </a:p>
                    <a:p>
                      <a:pPr marL="228600" indent="-228600">
                        <a:buFont typeface="Arial" panose="020B0604020202020204" pitchFamily="34" charset="0"/>
                        <a:buChar char="•"/>
                      </a:pPr>
                      <a:r>
                        <a:rPr sz="1500" b="0">
                          <a:solidFill>
                            <a:schemeClr val="tx1"/>
                          </a:solidFill>
                        </a:rPr>
                        <a:t>Too many management levels can cause delays</a:t>
                      </a:r>
                    </a:p>
                    <a:p>
                      <a:pPr marL="228600" indent="-228600">
                        <a:buFont typeface="Arial" panose="020B0604020202020204" pitchFamily="34" charset="0"/>
                        <a:buChar char="•"/>
                      </a:pPr>
                      <a:r>
                        <a:rPr sz="1500" b="0">
                          <a:solidFill>
                            <a:schemeClr val="tx1"/>
                          </a:solidFill>
                        </a:rPr>
                        <a:t>Brands may fight over the same marketing money</a:t>
                      </a:r>
                    </a:p>
                    <a:p>
                      <a:pPr marL="228600" indent="-228600">
                        <a:buFont typeface="Arial" panose="020B0604020202020204" pitchFamily="34" charset="0"/>
                        <a:buChar char="•"/>
                      </a:pPr>
                      <a:r>
                        <a:rPr sz="1500" b="0">
                          <a:solidFill>
                            <a:schemeClr val="tx1"/>
                          </a:solidFill>
                        </a:rPr>
                        <a:t>Naira problems force hard decisions on imports</a:t>
                      </a:r>
                    </a:p>
                    <a:p>
                      <a:pPr marL="228600" indent="-228600">
                        <a:buFont typeface="Arial" panose="020B0604020202020204" pitchFamily="34" charset="0"/>
                        <a:buChar char="•"/>
                      </a:pPr>
                      <a:r>
                        <a:rPr sz="1500" b="0">
                          <a:solidFill>
                            <a:schemeClr val="tx1"/>
                          </a:solidFill>
                        </a:rPr>
                        <a:t>Prices often higher than local low-cost brands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11480">
                <a:tc>
                  <a:txBody>
                    <a:bodyPr/>
                    <a:lstStyle/>
                    <a:p>
                      <a:r>
                        <a:rPr sz="1500" b="1">
                          <a:solidFill>
                            <a:schemeClr val="tx1"/>
                          </a:solidFill>
                        </a:rPr>
                        <a:t>Opportunities (external)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500" b="1">
                          <a:solidFill>
                            <a:schemeClr val="tx1"/>
                          </a:solidFill>
                        </a:rPr>
                        <a:t>Threats (external)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1737360">
                <a:tc>
                  <a:txBody>
                    <a:bodyPr/>
                    <a:lstStyle/>
                    <a:p>
                      <a:pPr marL="228600" indent="-228600">
                        <a:buFont typeface="Arial" panose="020B0604020202020204" pitchFamily="34" charset="0"/>
                        <a:buChar char="•"/>
                      </a:pPr>
                      <a:r>
                        <a:rPr sz="1500" b="0">
                          <a:solidFill>
                            <a:schemeClr val="tx1"/>
                          </a:solidFill>
                        </a:rPr>
                        <a:t>Large, young and growing population</a:t>
                      </a:r>
                    </a:p>
                    <a:p>
                      <a:pPr marL="228600" indent="-228600">
                        <a:buFont typeface="Arial" panose="020B0604020202020204" pitchFamily="34" charset="0"/>
                        <a:buChar char="•"/>
                      </a:pPr>
                      <a:r>
                        <a:rPr sz="1500" b="0">
                          <a:solidFill>
                            <a:schemeClr val="tx1"/>
                          </a:solidFill>
                        </a:rPr>
                        <a:t>Social media, e-commerce and modern retail</a:t>
                      </a:r>
                    </a:p>
                    <a:p>
                      <a:pPr marL="228600" indent="-228600">
                        <a:buFont typeface="Arial" panose="020B0604020202020204" pitchFamily="34" charset="0"/>
                        <a:buChar char="•"/>
                      </a:pPr>
                      <a:r>
                        <a:rPr sz="1500" b="0">
                          <a:solidFill>
                            <a:schemeClr val="tx1"/>
                          </a:solidFill>
                        </a:rPr>
                        <a:t>Smaller, affordable packs for shoppers on a budget</a:t>
                      </a:r>
                    </a:p>
                    <a:p>
                      <a:pPr marL="228600" indent="-228600">
                        <a:buFont typeface="Arial" panose="020B0604020202020204" pitchFamily="34" charset="0"/>
                        <a:buChar char="•"/>
                      </a:pPr>
                      <a:r>
                        <a:rPr sz="1500" b="0">
                          <a:solidFill>
                            <a:schemeClr val="tx1"/>
                          </a:solidFill>
                        </a:rPr>
                        <a:t>Customers left by Unilever and P&amp;G since 2023</a:t>
                      </a:r>
                    </a:p>
                    <a:p>
                      <a:pPr marL="228600" indent="-228600">
                        <a:buFont typeface="Arial" panose="020B0604020202020204" pitchFamily="34" charset="0"/>
                        <a:buChar char="•"/>
                      </a:pPr>
                      <a:r>
                        <a:rPr sz="1500" b="0">
                          <a:solidFill>
                            <a:schemeClr val="tx1"/>
                          </a:solidFill>
                        </a:rPr>
                        <a:t>Exports to other African countries under AfCFTA</a:t>
                      </a:r>
                    </a:p>
                    <a:p>
                      <a:pPr marL="228600" indent="-228600">
                        <a:buFont typeface="Arial" panose="020B0604020202020204" pitchFamily="34" charset="0"/>
                        <a:buChar char="•"/>
                      </a:pPr>
                      <a:r>
                        <a:rPr sz="1500" b="0">
                          <a:solidFill>
                            <a:schemeClr val="tx1"/>
                          </a:solidFill>
                        </a:rPr>
                        <a:t>Buying raw materials locally to cut dollar costs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28600" indent="-228600">
                        <a:buFont typeface="Arial" panose="020B0604020202020204" pitchFamily="34" charset="0"/>
                        <a:buChar char="•"/>
                      </a:pPr>
                      <a:r>
                        <a:rPr sz="1500" b="0">
                          <a:solidFill>
                            <a:schemeClr val="tx1"/>
                          </a:solidFill>
                        </a:rPr>
                        <a:t>Naira devaluation and foreign-exchange shortages</a:t>
                      </a:r>
                    </a:p>
                    <a:p>
                      <a:pPr marL="228600" indent="-228600">
                        <a:buFont typeface="Arial" panose="020B0604020202020204" pitchFamily="34" charset="0"/>
                        <a:buChar char="•"/>
                      </a:pPr>
                      <a:r>
                        <a:rPr sz="1500" b="0">
                          <a:solidFill>
                            <a:schemeClr val="tx1"/>
                          </a:solidFill>
                        </a:rPr>
                        <a:t>High inflation reduces what consumers can spend</a:t>
                      </a:r>
                    </a:p>
                    <a:p>
                      <a:pPr marL="228600" indent="-228600">
                        <a:buFont typeface="Arial" panose="020B0604020202020204" pitchFamily="34" charset="0"/>
                        <a:buChar char="•"/>
                      </a:pPr>
                      <a:r>
                        <a:rPr sz="1500" b="0">
                          <a:solidFill>
                            <a:schemeClr val="tx1"/>
                          </a:solidFill>
                        </a:rPr>
                        <a:t>Strong competition and cheap imports</a:t>
                      </a:r>
                    </a:p>
                    <a:p>
                      <a:pPr marL="228600" indent="-228600">
                        <a:buFont typeface="Arial" panose="020B0604020202020204" pitchFamily="34" charset="0"/>
                        <a:buChar char="•"/>
                      </a:pPr>
                      <a:r>
                        <a:rPr sz="1500" b="0">
                          <a:solidFill>
                            <a:schemeClr val="tx1"/>
                          </a:solidFill>
                        </a:rPr>
                        <a:t>Fake (counterfeit) products</a:t>
                      </a:r>
                    </a:p>
                    <a:p>
                      <a:pPr marL="228600" indent="-228600">
                        <a:buFont typeface="Arial" panose="020B0604020202020204" pitchFamily="34" charset="0"/>
                        <a:buChar char="•"/>
                      </a:pPr>
                      <a:r>
                        <a:rPr sz="1500" b="0">
                          <a:solidFill>
                            <a:schemeClr val="tx1"/>
                          </a:solidFill>
                        </a:rPr>
                        <a:t>High energy and transport costs</a:t>
                      </a:r>
                    </a:p>
                    <a:p>
                      <a:pPr marL="228600" indent="-228600">
                        <a:buFont typeface="Arial" panose="020B0604020202020204" pitchFamily="34" charset="0"/>
                        <a:buChar char="•"/>
                      </a:pPr>
                      <a:r>
                        <a:rPr sz="1500" b="0">
                          <a:solidFill>
                            <a:schemeClr val="tx1"/>
                          </a:solidFill>
                        </a:rPr>
                        <a:t>Policy changes and insecurity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SWOT Scoring (IFE and EFE)</a:t>
            </a:r>
          </a:p>
        </p:txBody>
      </p:sp>
      <p:graphicFrame>
        <p:nvGraphicFramePr>
          <p:cNvPr id="3" name="Content Placeholder 2"/>
          <p:cNvGraphicFramePr>
            <a:graphicFrameLocks noGrp="1"/>
          </p:cNvGraphicFramePr>
          <p:nvPr>
            <p:ph idx="1"/>
          </p:nvPr>
        </p:nvGraphicFramePr>
        <p:xfrm>
          <a:off x="838200" y="1825625"/>
          <a:ext cx="5181600" cy="4351338"/>
        </p:xfrm>
        <a:graphic>
          <a:graphicData uri="http://schemas.openxmlformats.org/drawingml/2006/chart">
            <c:chart xmlns:c="http://schemas.openxmlformats.org/drawingml/2006/chart" r:id="rId2"/>
          </a:graphicData>
        </a:graphic>
      </p:graphicFrame>
      <p:sp>
        <p:nvSpPr>
          <p:cNvPr id="4" name="Content Placeholder 3"/>
          <p:cNvSpPr>
            <a:spLocks noGrp="1"/>
          </p:cNvSpPr>
          <p:nvPr>
            <p:ph idx="2" sz="half"/>
          </p:nvPr>
        </p:nvSpPr>
        <p:spPr/>
        <p:txBody>
          <a:bodyPr/>
          <a:lstStyle/>
          <a:p>
            <a:pPr/>
            <a:r>
              <a:rPr sz="2200"/>
              <a:t>IFE (internal): </a:t>
            </a:r>
            <a:r>
              <a:rPr sz="2200" b="1"/>
              <a:t>2.73</a:t>
            </a:r>
          </a:p>
          <a:p>
            <a:pPr lvl="1"/>
            <a:r>
              <a:rPr sz="1800"/>
              <a:t>Above average: strengths outweigh weaknesses</a:t>
            </a:r>
          </a:p>
          <a:p>
            <a:pPr/>
            <a:r>
              <a:rPr sz="2200"/>
              <a:t>EFE (external): </a:t>
            </a:r>
            <a:r>
              <a:rPr sz="2200" b="1"/>
              <a:t>2.41</a:t>
            </a:r>
          </a:p>
          <a:p>
            <a:pPr lvl="1"/>
            <a:r>
              <a:rPr sz="1800"/>
              <a:t>Below average: PZ must respond better to opportunities and threats</a:t>
            </a:r>
          </a:p>
          <a:p>
            <a:pPr/>
            <a:r>
              <a:rPr sz="2200"/>
              <a:t>IE matrix: </a:t>
            </a:r>
            <a:r>
              <a:rPr sz="2200" b="1"/>
              <a:t>cell V, hold and maintain</a:t>
            </a:r>
          </a:p>
          <a:p>
            <a:pPr lvl="1"/>
            <a:r>
              <a:rPr sz="1800"/>
              <a:t>Market penetration and product development</a:t>
            </a:r>
          </a:p>
          <a:p>
            <a:pPr/>
            <a:r>
              <a:rPr sz="2200"/>
              <a:t>Weight × rating in Excel; 2.50 is average</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3" grpId="0">
        <p:bldAsOne/>
      </p:bldGraphic>
      <p:bldP spid="4"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Industry Overview</a:t>
            </a:r>
          </a:p>
        </p:txBody>
      </p:sp>
      <p:sp>
        <p:nvSpPr>
          <p:cNvPr id="3" name="Content Placeholder 2"/>
          <p:cNvSpPr>
            <a:spLocks noGrp="1"/>
          </p:cNvSpPr>
          <p:nvPr>
            <p:ph idx="1"/>
          </p:nvPr>
        </p:nvSpPr>
        <p:spPr/>
        <p:txBody>
          <a:bodyPr/>
          <a:lstStyle/>
          <a:p>
            <a:pPr/>
            <a:r>
              <a:rPr sz="2400" b="1"/>
              <a:t>Industry: </a:t>
            </a:r>
            <a:r>
              <a:rPr sz="2400"/>
              <a:t>Fast-moving consumer goods (FMCG): personal care (soaps, bathing) and home care (dishwashing), plus consumer electricals</a:t>
            </a:r>
          </a:p>
          <a:p>
            <a:pPr/>
            <a:r>
              <a:rPr sz="2400" b="1"/>
              <a:t>Market: </a:t>
            </a:r>
            <a:r>
              <a:rPr sz="2400"/>
              <a:t>Over 200 million people, most of them young: one of Africa's largest consumer markets</a:t>
            </a:r>
          </a:p>
          <a:p>
            <a:pPr/>
            <a:r>
              <a:rPr sz="2400" b="1"/>
              <a:t>Customers: </a:t>
            </a:r>
            <a:r>
              <a:rPr sz="2400"/>
              <a:t>Households, reached through distributors, wholesalers, open markets, supermarkets and online stores</a:t>
            </a:r>
          </a:p>
          <a:p>
            <a:pPr/>
            <a:r>
              <a:rPr sz="2400" b="1"/>
              <a:t>Key trends: </a:t>
            </a:r>
            <a:r>
              <a:rPr sz="2400"/>
              <a:t>Prices rising with inflation; shoppers moving to smaller packs and cheaper brands; multinationals cutting local production; more selling online and on social media</a:t>
            </a:r>
          </a:p>
          <a:p>
            <a:pPr/>
            <a:r>
              <a:rPr sz="2400" b="1"/>
              <a:t>Key success factors: </a:t>
            </a:r>
            <a:r>
              <a:rPr sz="2400"/>
              <a:t>Strong brands, low costs, wide distribution, local raw materials and affordable pack sizes</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Main Competitors</a:t>
            </a:r>
          </a:p>
        </p:txBody>
      </p:sp>
      <p:graphicFrame>
        <p:nvGraphicFramePr>
          <p:cNvPr id="3" name="Content Placeholder 2"/>
          <p:cNvGraphicFramePr>
            <a:graphicFrameLocks noGrp="1"/>
          </p:cNvGraphicFramePr>
          <p:nvPr>
            <p:ph idx="1"/>
          </p:nvPr>
        </p:nvGraphicFramePr>
        <p:xfrm>
          <a:off x="838200" y="1825625"/>
          <a:ext cx="10515600" cy="4078224"/>
        </p:xfrm>
        <a:graphic>
          <a:graphicData uri="http://schemas.openxmlformats.org/drawingml/2006/table">
            <a:tbl>
              <a:tblPr firstRow="1">
                <a:tableStyleId>{5940675A-B579-460E-94D1-54222C63F5DA}</a:tableStyleId>
              </a:tblPr>
              <a:tblGrid>
                <a:gridCol w="2377440"/>
                <a:gridCol w="2743200"/>
                <a:gridCol w="2194560"/>
                <a:gridCol w="3200400"/>
              </a:tblGrid>
              <a:tr h="457200">
                <a:tc>
                  <a:txBody>
                    <a:bodyPr/>
                    <a:lstStyle/>
                    <a:p>
                      <a:r>
                        <a:rPr sz="1500" b="1">
                          <a:solidFill>
                            <a:schemeClr val="tx1"/>
                          </a:solidFill>
                        </a:rPr>
                        <a:t>Competitor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500" b="1">
                          <a:solidFill>
                            <a:schemeClr val="tx1"/>
                          </a:solidFill>
                        </a:rPr>
                        <a:t>Key brands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500" b="1">
                          <a:solidFill>
                            <a:schemeClr val="tx1"/>
                          </a:solidFill>
                        </a:rPr>
                        <a:t>Competes with PZ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sz="1500" b="1">
                          <a:solidFill>
                            <a:schemeClr val="tx1"/>
                          </a:solidFill>
                        </a:rPr>
                        <a:t>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03504">
                <a:tc>
                  <a:txBody>
                    <a:bodyPr/>
                    <a:lstStyle/>
                    <a:p>
                      <a:r>
                        <a:rPr sz="1500" b="1">
                          <a:solidFill>
                            <a:schemeClr val="tx1"/>
                          </a:solidFill>
                        </a:rPr>
                        <a:t>Unilever Nigeria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Vaseline, Close-Up, Pepsodent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Personal 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Left home care and skin cleansing (soaps) in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3504">
                <a:tc>
                  <a:txBody>
                    <a:bodyPr/>
                    <a:lstStyle/>
                    <a:p>
                      <a:r>
                        <a:rPr sz="1500" b="1">
                          <a:solidFill>
                            <a:schemeClr val="tx1"/>
                          </a:solidFill>
                        </a:rPr>
                        <a:t>Procter &amp; Gamble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Ariel, Pampers, Always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Home 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Stopped making products in Nigeria; imports only (announced 2023)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3504">
                <a:tc>
                  <a:txBody>
                    <a:bodyPr/>
                    <a:lstStyle/>
                    <a:p>
                      <a:r>
                        <a:rPr sz="1500" b="1">
                          <a:solidFill>
                            <a:schemeClr val="tx1"/>
                          </a:solidFill>
                        </a:rPr>
                        <a:t>Reckitt Nigeria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Dettol, Harpic, Jik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Antiseptic soap, home 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Strong in hygiene and health products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3504">
                <a:tc>
                  <a:txBody>
                    <a:bodyPr/>
                    <a:lstStyle/>
                    <a:p>
                      <a:r>
                        <a:rPr sz="1500" b="1">
                          <a:solidFill>
                            <a:schemeClr val="tx1"/>
                          </a:solidFill>
                        </a:rPr>
                        <a:t>Hayat Kimya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Molfix, Bingo, Familia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Home care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Makes products locally; low prices; growing fast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3504">
                <a:tc>
                  <a:txBody>
                    <a:bodyPr/>
                    <a:lstStyle/>
                    <a:p>
                      <a:r>
                        <a:rPr sz="1500" b="1">
                          <a:solidFill>
                            <a:schemeClr val="tx1"/>
                          </a:solidFill>
                        </a:rPr>
                        <a:t>Local low-cost brands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Many local soaps, detergents and dishwashing liquids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All Family Care brands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Win on price, especially in open markets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3504">
                <a:tc>
                  <a:txBody>
                    <a:bodyPr/>
                    <a:lstStyle/>
                    <a:p>
                      <a:r>
                        <a:rPr sz="1500" b="1">
                          <a:solidFill>
                            <a:schemeClr val="tx1"/>
                          </a:solidFill>
                        </a:rPr>
                        <a:t>LG, Samsung, Hisense, Scanfrost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Air conditioners, fridges, washing machines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Electrical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sz="1500" b="0">
                          <a:solidFill>
                            <a:schemeClr val="tx1"/>
                          </a:solidFill>
                        </a:rPr>
                        <a:t>Strong brands, plus many cheaper imports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up)">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Porter's Five Forces</a:t>
            </a:r>
          </a:p>
        </p:txBody>
      </p:sp>
      <p:sp>
        <p:nvSpPr>
          <p:cNvPr id="3" name="Rectangle 2"/>
          <p:cNvSpPr/>
          <p:nvPr/>
        </p:nvSpPr>
        <p:spPr>
          <a:xfrm>
            <a:off x="4315968" y="3246120"/>
            <a:ext cx="3566160" cy="1417320"/>
          </a:xfrm>
          <a:prstGeom prst="rect">
            <a:avLst/>
          </a:prstGeom>
          <a:solidFill>
            <a:schemeClr val="bg1">
              <a:lumMod val="85000"/>
            </a:schemeClr>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chemeClr val="tx1"/>
                </a:solidFill>
              </a:rPr>
              <a:t>Competitive rivalry</a:t>
            </a:r>
          </a:p>
          <a:p>
            <a:pPr algn="ctr"/>
            <a:r>
              <a:rPr sz="1600" b="1">
                <a:solidFill>
                  <a:schemeClr val="tx1"/>
                </a:solidFill>
              </a:rPr>
              <a:t>High: 5 of 5</a:t>
            </a:r>
          </a:p>
          <a:p>
            <a:pPr algn="ctr"/>
            <a:r>
              <a:rPr sz="1400" b="0">
                <a:solidFill>
                  <a:schemeClr val="tx1"/>
                </a:solidFill>
              </a:rPr>
              <a:t>Many local and foreign brands fight on price, promotions and shelf space</a:t>
            </a:r>
          </a:p>
        </p:txBody>
      </p:sp>
      <p:sp>
        <p:nvSpPr>
          <p:cNvPr id="4" name="Rectangle 3"/>
          <p:cNvSpPr/>
          <p:nvPr/>
        </p:nvSpPr>
        <p:spPr>
          <a:xfrm>
            <a:off x="4315968" y="1783080"/>
            <a:ext cx="3566160" cy="1188720"/>
          </a:xfrm>
          <a:prstGeom prst="rect">
            <a:avLst/>
          </a:prstGeom>
          <a:solidFill>
            <a:schemeClr val="bg1"/>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chemeClr val="tx1"/>
                </a:solidFill>
              </a:rPr>
              <a:t>Threat of new entrants</a:t>
            </a:r>
          </a:p>
          <a:p>
            <a:pPr algn="ctr"/>
            <a:r>
              <a:rPr sz="1600" b="1">
                <a:solidFill>
                  <a:schemeClr val="tx1"/>
                </a:solidFill>
              </a:rPr>
              <a:t>Low: 2 of 5</a:t>
            </a:r>
          </a:p>
          <a:p>
            <a:pPr algn="ctr"/>
            <a:r>
              <a:rPr sz="1400" b="0">
                <a:solidFill>
                  <a:schemeClr val="tx1"/>
                </a:solidFill>
              </a:rPr>
              <a:t>Factories, brands and distribution cost a lot, but cheap imports still get in</a:t>
            </a:r>
          </a:p>
        </p:txBody>
      </p:sp>
      <p:cxnSp>
        <p:nvCxnSpPr>
          <p:cNvPr id="5" name="Connector 4"/>
          <p:cNvCxnSpPr/>
          <p:nvPr/>
        </p:nvCxnSpPr>
        <p:spPr>
          <a:xfrm>
            <a:off x="6099048" y="2971800"/>
            <a:ext cx="0" cy="274320"/>
          </a:xfrm>
          <a:prstGeom prst="line">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841248" y="3017520"/>
            <a:ext cx="3108960" cy="1874519"/>
          </a:xfrm>
          <a:prstGeom prst="rect">
            <a:avLst/>
          </a:prstGeom>
          <a:solidFill>
            <a:schemeClr val="bg1"/>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chemeClr val="tx1"/>
                </a:solidFill>
              </a:rPr>
              <a:t>Bargaining power of suppliers</a:t>
            </a:r>
          </a:p>
          <a:p>
            <a:pPr algn="ctr"/>
            <a:r>
              <a:rPr sz="1600" b="1">
                <a:solidFill>
                  <a:schemeClr val="tx1"/>
                </a:solidFill>
              </a:rPr>
              <a:t>High: 4 of 5</a:t>
            </a:r>
          </a:p>
          <a:p>
            <a:pPr algn="ctr"/>
            <a:r>
              <a:rPr sz="1400" b="0">
                <a:solidFill>
                  <a:schemeClr val="tx1"/>
                </a:solidFill>
              </a:rPr>
              <a:t>Key raw materials, packaging and parts are imported and priced in dollars</a:t>
            </a:r>
          </a:p>
        </p:txBody>
      </p:sp>
      <p:cxnSp>
        <p:nvCxnSpPr>
          <p:cNvPr id="7" name="Connector 6"/>
          <p:cNvCxnSpPr/>
          <p:nvPr/>
        </p:nvCxnSpPr>
        <p:spPr>
          <a:xfrm>
            <a:off x="3950208" y="3954780"/>
            <a:ext cx="365760" cy="0"/>
          </a:xfrm>
          <a:prstGeom prst="line">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8241792" y="3017520"/>
            <a:ext cx="3108960" cy="1874519"/>
          </a:xfrm>
          <a:prstGeom prst="rect">
            <a:avLst/>
          </a:prstGeom>
          <a:solidFill>
            <a:schemeClr val="bg1"/>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chemeClr val="tx1"/>
                </a:solidFill>
              </a:rPr>
              <a:t>Bargaining power of buyers</a:t>
            </a:r>
          </a:p>
          <a:p>
            <a:pPr algn="ctr"/>
            <a:r>
              <a:rPr sz="1600" b="1">
                <a:solidFill>
                  <a:schemeClr val="tx1"/>
                </a:solidFill>
              </a:rPr>
              <a:t>High: 4 of 5</a:t>
            </a:r>
          </a:p>
          <a:p>
            <a:pPr algn="ctr"/>
            <a:r>
              <a:rPr sz="1400" b="0">
                <a:solidFill>
                  <a:schemeClr val="tx1"/>
                </a:solidFill>
              </a:rPr>
              <a:t>Shoppers are price-sensitive and switch brands easily; big distributors bargain hard</a:t>
            </a:r>
          </a:p>
        </p:txBody>
      </p:sp>
      <p:cxnSp>
        <p:nvCxnSpPr>
          <p:cNvPr id="9" name="Connector 8"/>
          <p:cNvCxnSpPr/>
          <p:nvPr/>
        </p:nvCxnSpPr>
        <p:spPr>
          <a:xfrm flipH="1">
            <a:off x="7882127" y="3954780"/>
            <a:ext cx="359665" cy="0"/>
          </a:xfrm>
          <a:prstGeom prst="line">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15968" y="4983480"/>
            <a:ext cx="3566160" cy="1188720"/>
          </a:xfrm>
          <a:prstGeom prst="rect">
            <a:avLst/>
          </a:prstGeom>
          <a:solidFill>
            <a:schemeClr val="bg1"/>
          </a:solidFill>
          <a:ln w="12700">
            <a:solidFill>
              <a:schemeClr val="tx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chemeClr val="tx1"/>
                </a:solidFill>
              </a:rPr>
              <a:t>Threat of substitutes</a:t>
            </a:r>
          </a:p>
          <a:p>
            <a:pPr algn="ctr"/>
            <a:r>
              <a:rPr sz="1600" b="1">
                <a:solidFill>
                  <a:schemeClr val="tx1"/>
                </a:solidFill>
              </a:rPr>
              <a:t>Medium: 3 of 5</a:t>
            </a:r>
          </a:p>
          <a:p>
            <a:pPr algn="ctr"/>
            <a:r>
              <a:rPr sz="1400" b="0">
                <a:solidFill>
                  <a:schemeClr val="tx1"/>
                </a:solidFill>
              </a:rPr>
              <a:t>Cheaper unbranded and local soaps; fans instead of air conditioners</a:t>
            </a:r>
          </a:p>
        </p:txBody>
      </p:sp>
      <p:cxnSp>
        <p:nvCxnSpPr>
          <p:cNvPr id="11" name="Connector 10"/>
          <p:cNvCxnSpPr/>
          <p:nvPr/>
        </p:nvCxnSpPr>
        <p:spPr>
          <a:xfrm flipV="1">
            <a:off x="6099048" y="4663440"/>
            <a:ext cx="0" cy="320040"/>
          </a:xfrm>
          <a:prstGeom prst="line">
            <a:avLst/>
          </a:prstGeom>
          <a:ln w="190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ntr" presetSubtype="0" fill="hold"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2000"/>
                            </p:stCondLst>
                            <p:childTnLst>
                              <p:par>
                                <p:cTn id="27" presetID="10" presetClass="entr" presetSubtype="0"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par>
                                <p:cTn id="30" presetID="10"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par>
                          <p:cTn id="33" fill="hold">
                            <p:stCondLst>
                              <p:cond delay="2500"/>
                            </p:stCondLst>
                            <p:childTnLst>
                              <p:par>
                                <p:cTn id="34" presetID="10" presetClass="entr" presetSubtype="0" fill="hold" grpId="0" nodeType="after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par>
                                <p:cTn id="37" presetID="10" presetClass="entr" presetSubtype="0"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8" grpId="0" animBg="1"/>
      <p:bldP spid="1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Five Forces Ratings</a:t>
            </a:r>
          </a:p>
        </p:txBody>
      </p:sp>
      <p:graphicFrame>
        <p:nvGraphicFramePr>
          <p:cNvPr id="3" name="Content Placeholder 2"/>
          <p:cNvGraphicFramePr>
            <a:graphicFrameLocks noGrp="1"/>
          </p:cNvGraphicFramePr>
          <p:nvPr>
            <p:ph idx="1"/>
          </p:nvPr>
        </p:nvGraphicFramePr>
        <p:xfrm>
          <a:off x="838200" y="1825625"/>
          <a:ext cx="5181600" cy="4351338"/>
        </p:xfrm>
        <a:graphic>
          <a:graphicData uri="http://schemas.openxmlformats.org/drawingml/2006/chart">
            <c:chart xmlns:c="http://schemas.openxmlformats.org/drawingml/2006/chart" r:id="rId2"/>
          </a:graphicData>
        </a:graphic>
      </p:graphicFrame>
      <p:sp>
        <p:nvSpPr>
          <p:cNvPr id="4" name="Content Placeholder 3"/>
          <p:cNvSpPr>
            <a:spLocks noGrp="1"/>
          </p:cNvSpPr>
          <p:nvPr>
            <p:ph idx="2" sz="half"/>
          </p:nvPr>
        </p:nvSpPr>
        <p:spPr/>
        <p:txBody>
          <a:bodyPr/>
          <a:lstStyle/>
          <a:p>
            <a:pPr/>
            <a:r>
              <a:rPr sz="2200"/>
              <a:t>Strength of each force, 1 (weak) to 5 (strong)</a:t>
            </a:r>
          </a:p>
          <a:p>
            <a:pPr/>
            <a:r>
              <a:rPr sz="2200"/>
              <a:t>Average: </a:t>
            </a:r>
            <a:r>
              <a:rPr sz="2200" b="1"/>
              <a:t>3.6 of 5 (High)</a:t>
            </a:r>
          </a:p>
          <a:p>
            <a:pPr lvl="1"/>
            <a:r>
              <a:rPr sz="1800"/>
              <a:t>Strong competitive pressure: profits are hard to earn</a:t>
            </a:r>
          </a:p>
          <a:p>
            <a:pPr/>
            <a:r>
              <a:rPr sz="2200"/>
              <a:t>Strongest: </a:t>
            </a:r>
            <a:r>
              <a:rPr sz="2200" b="1"/>
              <a:t>Competitive rivalry</a:t>
            </a:r>
          </a:p>
          <a:p>
            <a:pPr/>
            <a:r>
              <a:rPr sz="2200"/>
              <a:t>Weakest: </a:t>
            </a:r>
            <a:r>
              <a:rPr sz="2200" b="1"/>
              <a:t>Threat of new entrants</a:t>
            </a:r>
          </a:p>
          <a:p>
            <a:pPr/>
            <a:r>
              <a:rPr sz="2200"/>
              <a:t>Rated high: </a:t>
            </a:r>
            <a:r>
              <a:rPr sz="2200" b="1"/>
              <a:t>3 of 5 forces</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right)">
                                      <p:cBhvr>
                                        <p:cTn id="11" dur="500"/>
                                        <p:tgtEl>
                                          <p:spTgt spid="3"/>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3" grpId="0">
        <p:bldAsOne/>
      </p:bldGraphic>
      <p:bldP spid="4"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pPr marL="457200" indent="-457200">
              <a:buFont typeface="+mj-lt"/>
              <a:buAutoNum type="arabicPeriod"/>
            </a:pPr>
            <a:r>
              <a:rPr sz="2400" b="1"/>
              <a:t>Buy more raw materials in Nigeria</a:t>
            </a:r>
          </a:p>
          <a:p>
            <a:pPr lvl="1" marL="685800"/>
            <a:r>
              <a:rPr sz="2000"/>
              <a:t>Cuts dollar costs and the damage from naira devaluation (the biggest PESTLE issue)</a:t>
            </a:r>
          </a:p>
          <a:p>
            <a:pPr marL="457200" indent="-457200">
              <a:buFont typeface="+mj-lt"/>
              <a:buAutoNum type="arabicPeriod"/>
            </a:pPr>
            <a:r>
              <a:rPr sz="2400" b="1"/>
              <a:t>Sell smaller, affordable packs</a:t>
            </a:r>
          </a:p>
          <a:p>
            <a:pPr lvl="1" marL="685800"/>
            <a:r>
              <a:rPr sz="2000"/>
              <a:t>Keeps price-sensitive shoppers buying Imperial Leather, Premier Cool, Joy and Morning Fresh</a:t>
            </a:r>
          </a:p>
          <a:p>
            <a:pPr marL="457200" indent="-457200">
              <a:buFont typeface="+mj-lt"/>
              <a:buAutoNum type="arabicPeriod"/>
            </a:pPr>
            <a:r>
              <a:rPr sz="2400" b="1"/>
              <a:t>Grow digital marketing and online sales</a:t>
            </a:r>
          </a:p>
          <a:p>
            <a:pPr lvl="1" marL="685800"/>
            <a:r>
              <a:rPr sz="2000"/>
              <a:t>Reaches the large young population cheaply through social media and e-commerce</a:t>
            </a:r>
          </a:p>
          <a:p>
            <a:pPr marL="457200" indent="-457200">
              <a:buFont typeface="+mj-lt"/>
              <a:buAutoNum type="arabicPeriod"/>
            </a:pPr>
            <a:r>
              <a:rPr sz="2400" b="1"/>
              <a:t>Win customers competitors left behind</a:t>
            </a:r>
          </a:p>
          <a:p>
            <a:pPr lvl="1" marL="685800"/>
            <a:r>
              <a:rPr sz="2000"/>
              <a:t>Use the wide distribution network to fill shelves Unilever and P&amp;G have left</a:t>
            </a:r>
          </a:p>
          <a:p>
            <a:pPr marL="457200" indent="-457200">
              <a:buFont typeface="+mj-lt"/>
              <a:buAutoNum type="arabicPeriod"/>
            </a:pPr>
            <a:r>
              <a:rPr sz="2400" b="1"/>
              <a:t>Make decisions faster</a:t>
            </a:r>
          </a:p>
          <a:p>
            <a:pPr lvl="1" marL="685800"/>
            <a:r>
              <a:rPr sz="2000"/>
              <a:t>Give local managers more authority and cut approval levels to fix the main weaknesses</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a:r>
              <a:rPr sz="2800" b="1"/>
              <a:t>PESTLE: </a:t>
            </a:r>
            <a:r>
              <a:rPr sz="2800"/>
              <a:t>Economic factors matter most (average 20.7 of 25); the biggest issue is naira devaluation and FX shortages</a:t>
            </a:r>
          </a:p>
          <a:p>
            <a:pPr/>
            <a:r>
              <a:rPr sz="2800" b="1"/>
              <a:t>SWOT: </a:t>
            </a:r>
            <a:r>
              <a:rPr sz="2800"/>
              <a:t>strong inside (IFE 2.73), but a weaker response to the outside (EFE 2.41)</a:t>
            </a:r>
          </a:p>
          <a:p>
            <a:pPr/>
            <a:r>
              <a:rPr sz="2800" b="1"/>
              <a:t>Industry: </a:t>
            </a:r>
            <a:r>
              <a:rPr sz="2800"/>
              <a:t>high competitive pressure (Five Forces average 3.6 of 5); competitive rivalry is the strongest force</a:t>
            </a:r>
          </a:p>
          <a:p>
            <a:pPr/>
            <a:r>
              <a:rPr sz="2800" b="1"/>
              <a:t>Strategy: </a:t>
            </a:r>
            <a:r>
              <a:rPr sz="2800"/>
              <a:t>hold and maintain, through market penetration and product development</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a:pPr/>
            <a:r>
              <a:rPr sz="2800"/>
              <a:t>Questions?</a:t>
            </a: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15</Slides>
  <Notes>15</Notes>
  <HiddenSlides>0</HiddenSlides>
  <MMClips>0</MMClip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PZ Nigeria Limited: PESTLE, SWOT and Industry Analysis</dc:title>
  <dc:subject>PESTLE, SWOT and industry analysis of PZ Nigeria Limited</dc:subject>
  <dc:creator>Marketing Department</dc:creator>
  <cp:keywords>PZ Nigeria, PESTLE, SWOT, Five Forces</cp:keywords>
  <dc:description/>
  <cp:lastModifiedBy>Marketing Department</cp:lastModifiedBy>
  <cp:revision>1</cp:revision>
  <dcterms:created xsi:type="dcterms:W3CDTF">2026-09-27T12:16:17Z</dcterms:created>
  <dcterms:modified xsi:type="dcterms:W3CDTF">2026-09-27T12:16:17Z</dcterms:modified>
  <cp:category/>
</cp:coreProperties>
</file>