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3f69e75-c72f-f927-07c0-2c58ee264d6e}">
          <p14:sldIdLst>
            <p14:sldId id="256"/>
            <p14:sldId id="257"/>
          </p14:sldIdLst>
        </p14:section>
        <p14:section name="Findings" id="{be937f73-035e-2983-7f2d-e34ec1021b57}">
          <p14:sldIdLst>
            <p14:sldId id="258"/>
            <p14:sldId id="259"/>
            <p14:sldId id="260"/>
            <p14:sldId id="261"/>
          </p14:sldIdLst>
        </p14:section>
        <p14:section name="Sources" id="{0a9bf9d2-68d0-3a6f-26fb-08abcfdfd433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7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B6B73"/>
                </a:solidFill>
                <a:latin typeface="+mn-lt"/>
              </a:rPr>
              <a:t>Monthly searches in Lagos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searches</c:v>
                </c:pt>
              </c:strCache>
            </c:strRef>
          </c:tx>
          <c:spPr>
            <a:solidFill>
              <a:srgbClr val="10A3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A3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A37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Data analysis course</c:v>
                  </c:pt>
                  <c:pt idx="1">
                    <c:v>Microsoft Excel training</c:v>
                  </c:pt>
                  <c:pt idx="2">
                    <c:v>AI training for beginners</c:v>
                  </c:pt>
                  <c:pt idx="3">
                    <c:v>Web design training</c:v>
                  </c:pt>
                  <c:pt idx="4">
                    <c:v>Cybersecurity training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2400</c:v>
                </c:pt>
                <c:pt idx="1">
                  <c:v>1800</c:v>
                </c:pt>
                <c:pt idx="2">
                  <c:v>1000</c:v>
                </c:pt>
                <c:pt idx="3">
                  <c:v>900</c:v>
                </c:pt>
                <c:pt idx="4">
                  <c:v>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Class Work 2 · Search demand analysis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ds.google.com/home/tools/keyword-planner/" TargetMode="External"/><Relationship Id="rId2" Type="http://schemas.openxmlformats.org/officeDocument/2006/relationships/hyperlink" Target="https://trends.google.com/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Demand for Training Courses in Lagos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Class Work 2: Analyse search demand  ·  Marketing Strategy, Module 4  ·  Research date 25/10/2026</a:t>
            </a:r>
            <a:endParaRPr lang="en-US" sz="2000" dirty="0"/>
          </a:p>
        </p:txBody>
      </p:sp>
      <p:sp>
        <p:nvSpPr>
          <p:cNvPr id="4" name="Accent dot 1"/>
          <p:cNvSpPr/>
          <p:nvPr/>
        </p:nvSpPr>
        <p:spPr>
          <a:xfrm>
            <a:off x="731520" y="914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ccent dot 2"/>
          <p:cNvSpPr/>
          <p:nvPr/>
        </p:nvSpPr>
        <p:spPr>
          <a:xfrm>
            <a:off x="1371600" y="9144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nine columns we recorded</a:t>
            </a:r>
            <a:endParaRPr lang="en-US" sz="3600" dirty="0"/>
          </a:p>
        </p:txBody>
      </p:sp>
      <p:sp>
        <p:nvSpPr>
          <p:cNvPr id="3" name="Column A card"/>
          <p:cNvSpPr/>
          <p:nvPr/>
        </p:nvSpPr>
        <p:spPr>
          <a:xfrm>
            <a:off x="548640" y="141732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lumn A circle"/>
          <p:cNvSpPr/>
          <p:nvPr/>
        </p:nvSpPr>
        <p:spPr>
          <a:xfrm>
            <a:off x="777240" y="18013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olumn A letter"/>
          <p:cNvSpPr txBox="1"/>
          <p:nvPr/>
        </p:nvSpPr>
        <p:spPr>
          <a:xfrm>
            <a:off x="777240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Column A text"/>
          <p:cNvSpPr txBox="1"/>
          <p:nvPr/>
        </p:nvSpPr>
        <p:spPr>
          <a:xfrm>
            <a:off x="1508760" y="1554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Keyword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Search phrase</a:t>
            </a:r>
            <a:endParaRPr lang="en-US" sz="1700" dirty="0"/>
          </a:p>
        </p:txBody>
      </p:sp>
      <p:sp>
        <p:nvSpPr>
          <p:cNvPr id="7" name="Column B card"/>
          <p:cNvSpPr/>
          <p:nvPr/>
        </p:nvSpPr>
        <p:spPr>
          <a:xfrm>
            <a:off x="4297680" y="141732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olumn B circle"/>
          <p:cNvSpPr/>
          <p:nvPr/>
        </p:nvSpPr>
        <p:spPr>
          <a:xfrm>
            <a:off x="4526280" y="18013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Column B letter"/>
          <p:cNvSpPr txBox="1"/>
          <p:nvPr/>
        </p:nvSpPr>
        <p:spPr>
          <a:xfrm>
            <a:off x="4526280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0" name="Column B text"/>
          <p:cNvSpPr txBox="1"/>
          <p:nvPr/>
        </p:nvSpPr>
        <p:spPr>
          <a:xfrm>
            <a:off x="5257800" y="1554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Course category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Related course</a:t>
            </a:r>
            <a:endParaRPr lang="en-US" sz="1700" dirty="0"/>
          </a:p>
        </p:txBody>
      </p:sp>
      <p:sp>
        <p:nvSpPr>
          <p:cNvPr id="11" name="Column C card"/>
          <p:cNvSpPr/>
          <p:nvPr/>
        </p:nvSpPr>
        <p:spPr>
          <a:xfrm>
            <a:off x="8046720" y="141732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olumn C circle"/>
          <p:cNvSpPr/>
          <p:nvPr/>
        </p:nvSpPr>
        <p:spPr>
          <a:xfrm>
            <a:off x="8275320" y="18013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olumn C letter"/>
          <p:cNvSpPr txBox="1"/>
          <p:nvPr/>
        </p:nvSpPr>
        <p:spPr>
          <a:xfrm>
            <a:off x="8275320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4" name="Column C text"/>
          <p:cNvSpPr txBox="1"/>
          <p:nvPr/>
        </p:nvSpPr>
        <p:spPr>
          <a:xfrm>
            <a:off x="9006840" y="1554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Location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Selected geography</a:t>
            </a:r>
            <a:endParaRPr lang="en-US" sz="1700" dirty="0"/>
          </a:p>
        </p:txBody>
      </p:sp>
      <p:sp>
        <p:nvSpPr>
          <p:cNvPr id="15" name="Column D card"/>
          <p:cNvSpPr/>
          <p:nvPr/>
        </p:nvSpPr>
        <p:spPr>
          <a:xfrm>
            <a:off x="548640" y="292608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olumn D circle"/>
          <p:cNvSpPr/>
          <p:nvPr/>
        </p:nvSpPr>
        <p:spPr>
          <a:xfrm>
            <a:off x="777240" y="33101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Column D letter"/>
          <p:cNvSpPr txBox="1"/>
          <p:nvPr/>
        </p:nvSpPr>
        <p:spPr>
          <a:xfrm>
            <a:off x="777240" y="3310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</a:t>
            </a:r>
            <a:endParaRPr lang="en-US" sz="2000" dirty="0"/>
          </a:p>
        </p:txBody>
      </p:sp>
      <p:sp>
        <p:nvSpPr>
          <p:cNvPr id="18" name="Column D text"/>
          <p:cNvSpPr txBox="1"/>
          <p:nvPr/>
        </p:nvSpPr>
        <p:spPr>
          <a:xfrm>
            <a:off x="1508760" y="30632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Search volume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Estimated monthly searches</a:t>
            </a:r>
            <a:endParaRPr lang="en-US" sz="1700" dirty="0"/>
          </a:p>
        </p:txBody>
      </p:sp>
      <p:sp>
        <p:nvSpPr>
          <p:cNvPr id="19" name="Column E card"/>
          <p:cNvSpPr/>
          <p:nvPr/>
        </p:nvSpPr>
        <p:spPr>
          <a:xfrm>
            <a:off x="4297680" y="292608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olumn E circle"/>
          <p:cNvSpPr/>
          <p:nvPr/>
        </p:nvSpPr>
        <p:spPr>
          <a:xfrm>
            <a:off x="4526280" y="331012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olumn E letter"/>
          <p:cNvSpPr txBox="1"/>
          <p:nvPr/>
        </p:nvSpPr>
        <p:spPr>
          <a:xfrm>
            <a:off x="4526280" y="3310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22" name="Column E text"/>
          <p:cNvSpPr txBox="1"/>
          <p:nvPr/>
        </p:nvSpPr>
        <p:spPr>
          <a:xfrm>
            <a:off x="5257800" y="30632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Competition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Source-defined competition measure</a:t>
            </a:r>
            <a:endParaRPr lang="en-US" sz="1700" dirty="0"/>
          </a:p>
        </p:txBody>
      </p:sp>
      <p:sp>
        <p:nvSpPr>
          <p:cNvPr id="23" name="Column F card"/>
          <p:cNvSpPr/>
          <p:nvPr/>
        </p:nvSpPr>
        <p:spPr>
          <a:xfrm>
            <a:off x="8046720" y="292608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olumn F circle"/>
          <p:cNvSpPr/>
          <p:nvPr/>
        </p:nvSpPr>
        <p:spPr>
          <a:xfrm>
            <a:off x="8275320" y="331012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olumn F letter"/>
          <p:cNvSpPr txBox="1"/>
          <p:nvPr/>
        </p:nvSpPr>
        <p:spPr>
          <a:xfrm>
            <a:off x="8275320" y="3310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</a:t>
            </a:r>
            <a:endParaRPr lang="en-US" sz="2000" dirty="0"/>
          </a:p>
        </p:txBody>
      </p:sp>
      <p:sp>
        <p:nvSpPr>
          <p:cNvPr id="26" name="Column F text"/>
          <p:cNvSpPr txBox="1"/>
          <p:nvPr/>
        </p:nvSpPr>
        <p:spPr>
          <a:xfrm>
            <a:off x="9006840" y="30632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Trends interest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Interest index (0 to 100)</a:t>
            </a:r>
            <a:endParaRPr lang="en-US" sz="1700" dirty="0"/>
          </a:p>
        </p:txBody>
      </p:sp>
      <p:sp>
        <p:nvSpPr>
          <p:cNvPr id="27" name="Column G card"/>
          <p:cNvSpPr/>
          <p:nvPr/>
        </p:nvSpPr>
        <p:spPr>
          <a:xfrm>
            <a:off x="548640" y="443484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Column G circle"/>
          <p:cNvSpPr/>
          <p:nvPr/>
        </p:nvSpPr>
        <p:spPr>
          <a:xfrm>
            <a:off x="777240" y="48188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olumn G letter"/>
          <p:cNvSpPr txBox="1"/>
          <p:nvPr/>
        </p:nvSpPr>
        <p:spPr>
          <a:xfrm>
            <a:off x="777240" y="4818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</a:t>
            </a:r>
            <a:endParaRPr lang="en-US" sz="2000" dirty="0"/>
          </a:p>
        </p:txBody>
      </p:sp>
      <p:sp>
        <p:nvSpPr>
          <p:cNvPr id="30" name="Column G text"/>
          <p:cNvSpPr txBox="1"/>
          <p:nvPr/>
        </p:nvSpPr>
        <p:spPr>
          <a:xfrm>
            <a:off x="1508760" y="45720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Search intent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Informational, commercial or transactional</a:t>
            </a:r>
            <a:endParaRPr lang="en-US" sz="1700" dirty="0"/>
          </a:p>
        </p:txBody>
      </p:sp>
      <p:sp>
        <p:nvSpPr>
          <p:cNvPr id="31" name="Column H card"/>
          <p:cNvSpPr/>
          <p:nvPr/>
        </p:nvSpPr>
        <p:spPr>
          <a:xfrm>
            <a:off x="4297680" y="443484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olumn H circle"/>
          <p:cNvSpPr/>
          <p:nvPr/>
        </p:nvSpPr>
        <p:spPr>
          <a:xfrm>
            <a:off x="4526280" y="48188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Column H letter"/>
          <p:cNvSpPr txBox="1"/>
          <p:nvPr/>
        </p:nvSpPr>
        <p:spPr>
          <a:xfrm>
            <a:off x="4526280" y="4818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</a:t>
            </a:r>
            <a:endParaRPr lang="en-US" sz="2000" dirty="0"/>
          </a:p>
        </p:txBody>
      </p:sp>
      <p:sp>
        <p:nvSpPr>
          <p:cNvPr id="34" name="Column H text"/>
          <p:cNvSpPr txBox="1"/>
          <p:nvPr/>
        </p:nvSpPr>
        <p:spPr>
          <a:xfrm>
            <a:off x="5257800" y="45720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Source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Evidence link or ID</a:t>
            </a:r>
            <a:endParaRPr lang="en-US" sz="1700" dirty="0"/>
          </a:p>
        </p:txBody>
      </p:sp>
      <p:sp>
        <p:nvSpPr>
          <p:cNvPr id="35" name="Column I card"/>
          <p:cNvSpPr/>
          <p:nvPr/>
        </p:nvSpPr>
        <p:spPr>
          <a:xfrm>
            <a:off x="8046720" y="4434840"/>
            <a:ext cx="35661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Column I circle"/>
          <p:cNvSpPr/>
          <p:nvPr/>
        </p:nvSpPr>
        <p:spPr>
          <a:xfrm>
            <a:off x="8275320" y="48188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Column I letter"/>
          <p:cNvSpPr txBox="1"/>
          <p:nvPr/>
        </p:nvSpPr>
        <p:spPr>
          <a:xfrm>
            <a:off x="8275320" y="4818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38" name="Column I text"/>
          <p:cNvSpPr txBox="1"/>
          <p:nvPr/>
        </p:nvSpPr>
        <p:spPr>
          <a:xfrm>
            <a:off x="9006840" y="45720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Research date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Date collected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 leads search demand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2237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mmentary card"/>
          <p:cNvSpPr/>
          <p:nvPr/>
        </p:nvSpPr>
        <p:spPr>
          <a:xfrm>
            <a:off x="8138160" y="1463040"/>
            <a:ext cx="3474720" cy="44805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mmentary text"/>
          <p:cNvSpPr txBox="1"/>
          <p:nvPr/>
        </p:nvSpPr>
        <p:spPr>
          <a:xfrm>
            <a:off x="8412480" y="173736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Above average (1,360)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Data analysis course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Microsoft Excel training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Below average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training for beginners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 design training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Cybersecurity training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keyword data</a:t>
            </a:r>
            <a:endParaRPr lang="en-US" sz="3600" dirty="0"/>
          </a:p>
        </p:txBody>
      </p:sp>
      <p:graphicFrame>
        <p:nvGraphicFramePr>
          <p:cNvPr id="5" name="Keywor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097280"/>
                <a:gridCol w="1463040"/>
                <a:gridCol w="12801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Keyword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Course category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Location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Monthly searches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Competition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Trends interest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Search intent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training for beginners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Lagos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1,000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Informational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Microsoft Excel training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Microsoft 365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Lagos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1,800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Commercial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Data analysis course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Data analysis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Lagos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2,400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85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Commercial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 design training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 design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Lagos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900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Commercial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Cybersecurity training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Cybersecurity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Lagos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Low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Commercial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6,800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Source: class handout example. Research date: 25/10/2026. Competition and Trends interest are example values to check in Keyword Planner and Google Trends.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calculations</a:t>
            </a:r>
            <a:endParaRPr lang="en-US" sz="3600" dirty="0"/>
          </a:p>
        </p:txBody>
      </p:sp>
      <p:sp>
        <p:nvSpPr>
          <p:cNvPr id="3" name="Calc card 1"/>
          <p:cNvSpPr/>
          <p:nvPr/>
        </p:nvSpPr>
        <p:spPr>
          <a:xfrm>
            <a:off x="548640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lc 1 number"/>
          <p:cNvSpPr txBox="1"/>
          <p:nvPr/>
        </p:nvSpPr>
        <p:spPr>
          <a:xfrm>
            <a:off x="548640" y="18288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6,800</a:t>
            </a:r>
            <a:endParaRPr lang="en-US" sz="4400" dirty="0"/>
          </a:p>
        </p:txBody>
      </p:sp>
      <p:sp>
        <p:nvSpPr>
          <p:cNvPr id="5" name="Calc 1 label"/>
          <p:cNvSpPr txBox="1"/>
          <p:nvPr/>
        </p:nvSpPr>
        <p:spPr>
          <a:xfrm>
            <a:off x="731520" y="30175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a. Total recorded search volume</a:t>
            </a:r>
            <a:endParaRPr lang="en-US" sz="1500" dirty="0"/>
          </a:p>
        </p:txBody>
      </p:sp>
      <p:sp>
        <p:nvSpPr>
          <p:cNvPr id="6" name="Calc 1 formula"/>
          <p:cNvSpPr txBox="1"/>
          <p:nvPr/>
        </p:nvSpPr>
        <p:spPr>
          <a:xfrm>
            <a:off x="640080" y="41148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=SUM(D2:D6)</a:t>
            </a:r>
            <a:endParaRPr lang="en-US" sz="1400" dirty="0"/>
          </a:p>
        </p:txBody>
      </p:sp>
      <p:sp>
        <p:nvSpPr>
          <p:cNvPr id="7" name="Calc card 2"/>
          <p:cNvSpPr/>
          <p:nvPr/>
        </p:nvSpPr>
        <p:spPr>
          <a:xfrm>
            <a:off x="3383280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alc 2 number"/>
          <p:cNvSpPr txBox="1"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1,360</a:t>
            </a:r>
            <a:endParaRPr lang="en-US" sz="4400" dirty="0"/>
          </a:p>
        </p:txBody>
      </p:sp>
      <p:sp>
        <p:nvSpPr>
          <p:cNvPr id="9" name="Calc 2 label"/>
          <p:cNvSpPr txBox="1"/>
          <p:nvPr/>
        </p:nvSpPr>
        <p:spPr>
          <a:xfrm>
            <a:off x="3566160" y="30175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b. Average recorded search volume</a:t>
            </a:r>
            <a:endParaRPr lang="en-US" sz="1500" dirty="0"/>
          </a:p>
        </p:txBody>
      </p:sp>
      <p:sp>
        <p:nvSpPr>
          <p:cNvPr id="10" name="Calc 2 formula"/>
          <p:cNvSpPr txBox="1"/>
          <p:nvPr/>
        </p:nvSpPr>
        <p:spPr>
          <a:xfrm>
            <a:off x="3474720" y="41148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=AVERAGE(D2:D6)</a:t>
            </a:r>
            <a:endParaRPr lang="en-US" sz="1400" dirty="0"/>
          </a:p>
        </p:txBody>
      </p:sp>
      <p:sp>
        <p:nvSpPr>
          <p:cNvPr id="11" name="Calc card 3"/>
          <p:cNvSpPr/>
          <p:nvPr/>
        </p:nvSpPr>
        <p:spPr>
          <a:xfrm>
            <a:off x="6217920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lc 3 number"/>
          <p:cNvSpPr txBox="1"/>
          <p:nvPr/>
        </p:nvSpPr>
        <p:spPr>
          <a:xfrm>
            <a:off x="6217920" y="18288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3" name="Calc 3 label"/>
          <p:cNvSpPr txBox="1"/>
          <p:nvPr/>
        </p:nvSpPr>
        <p:spPr>
          <a:xfrm>
            <a:off x="6400800" y="30175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c. Keywords being analysed</a:t>
            </a:r>
            <a:endParaRPr lang="en-US" sz="1500" dirty="0"/>
          </a:p>
        </p:txBody>
      </p:sp>
      <p:sp>
        <p:nvSpPr>
          <p:cNvPr id="14" name="Calc 3 formula"/>
          <p:cNvSpPr txBox="1"/>
          <p:nvPr/>
        </p:nvSpPr>
        <p:spPr>
          <a:xfrm>
            <a:off x="6309360" y="41148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=COUNTA(A2:A6)</a:t>
            </a:r>
            <a:endParaRPr lang="en-US" sz="1400" dirty="0"/>
          </a:p>
        </p:txBody>
      </p:sp>
      <p:sp>
        <p:nvSpPr>
          <p:cNvPr id="15" name="Calc card 4"/>
          <p:cNvSpPr/>
          <p:nvPr/>
        </p:nvSpPr>
        <p:spPr>
          <a:xfrm>
            <a:off x="9052560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lc 4 number"/>
          <p:cNvSpPr txBox="1"/>
          <p:nvPr/>
        </p:nvSpPr>
        <p:spPr>
          <a:xfrm>
            <a:off x="9052560" y="18288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</a:t>
            </a:r>
            <a:endParaRPr lang="en-US" sz="4400" dirty="0"/>
          </a:p>
        </p:txBody>
      </p:sp>
      <p:sp>
        <p:nvSpPr>
          <p:cNvPr id="17" name="Calc 4 label"/>
          <p:cNvSpPr txBox="1"/>
          <p:nvPr/>
        </p:nvSpPr>
        <p:spPr>
          <a:xfrm>
            <a:off x="9235440" y="30175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d. Median search volume</a:t>
            </a:r>
            <a:endParaRPr lang="en-US" sz="1500" dirty="0"/>
          </a:p>
        </p:txBody>
      </p:sp>
      <p:sp>
        <p:nvSpPr>
          <p:cNvPr id="18" name="Calc 4 formula"/>
          <p:cNvSpPr txBox="1"/>
          <p:nvPr/>
        </p:nvSpPr>
        <p:spPr>
          <a:xfrm>
            <a:off x="9144000" y="41148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=MEDIAN(D2:D6)</a:t>
            </a:r>
            <a:endParaRPr lang="en-US" sz="1400" dirty="0"/>
          </a:p>
        </p:txBody>
      </p:sp>
      <p:sp>
        <p:nvSpPr>
          <p:cNvPr id="19" name="Median note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Median: the middle value when the five search volumes are sorted (700, 900, 1,000, 1,800, 2,400).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3600" dirty="0"/>
          </a:p>
        </p:txBody>
      </p:sp>
      <p:sp>
        <p:nvSpPr>
          <p:cNvPr id="3" name="Highest demand card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Highest demand dot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Highest demand heading"/>
          <p:cNvSpPr txBox="1"/>
          <p:nvPr/>
        </p:nvSpPr>
        <p:spPr>
          <a:xfrm>
            <a:off x="1554480" y="1737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Highest demand</a:t>
            </a:r>
            <a:endParaRPr lang="en-US" sz="2200" dirty="0"/>
          </a:p>
        </p:txBody>
      </p:sp>
      <p:sp>
        <p:nvSpPr>
          <p:cNvPr id="6" name="Highest demand points"/>
          <p:cNvSpPr txBox="1"/>
          <p:nvPr/>
        </p:nvSpPr>
        <p:spPr>
          <a:xfrm>
            <a:off x="914400" y="246888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Data analysis course: 2,400 searches a month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Microsoft Excel training: 1,800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Together 4,200 of 6,800 searches (62%)</a:t>
            </a:r>
            <a:endParaRPr lang="en-US" sz="1700" dirty="0"/>
          </a:p>
        </p:txBody>
      </p:sp>
      <p:sp>
        <p:nvSpPr>
          <p:cNvPr id="7" name="Lower demand card"/>
          <p:cNvSpPr/>
          <p:nvPr/>
        </p:nvSpPr>
        <p:spPr>
          <a:xfrm>
            <a:off x="6217920" y="1463040"/>
            <a:ext cx="53949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Lower demand dot"/>
          <p:cNvSpPr/>
          <p:nvPr/>
        </p:nvSpPr>
        <p:spPr>
          <a:xfrm>
            <a:off x="658368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Lower demand heading"/>
          <p:cNvSpPr txBox="1"/>
          <p:nvPr/>
        </p:nvSpPr>
        <p:spPr>
          <a:xfrm>
            <a:off x="7223760" y="1737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Lower demand</a:t>
            </a:r>
            <a:endParaRPr lang="en-US" sz="2200" dirty="0"/>
          </a:p>
        </p:txBody>
      </p:sp>
      <p:sp>
        <p:nvSpPr>
          <p:cNvPr id="10" name="Lower demand points"/>
          <p:cNvSpPr txBox="1"/>
          <p:nvPr/>
        </p:nvSpPr>
        <p:spPr>
          <a:xfrm>
            <a:off x="6583680" y="246888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training for beginners: 1,000 (the median)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Web design training: 900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Cybersecurity training: 700 (the lowest)</a:t>
            </a:r>
            <a:endParaRPr lang="en-US" sz="17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akeaway text"/>
          <p:cNvSpPr txBox="1"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What it means: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in Lagos, start with data analysis and Microsoft Excel courses, where search demand is highest. Offer AI training for beginners as an entry-level option.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limitations</a:t>
            </a:r>
            <a:endParaRPr lang="en-US" sz="3600" dirty="0"/>
          </a:p>
        </p:txBody>
      </p:sp>
      <p:sp>
        <p:nvSpPr>
          <p:cNvPr id="3" name="Sources heading"/>
          <p:cNvSpPr txBox="1"/>
          <p:nvPr/>
        </p:nvSpPr>
        <p:spPr>
          <a:xfrm>
            <a:off x="548640" y="14173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Sources</a:t>
            </a:r>
            <a:endParaRPr lang="en-US" sz="2000" dirty="0"/>
          </a:p>
        </p:txBody>
      </p:sp>
      <p:sp>
        <p:nvSpPr>
          <p:cNvPr id="4" name="Source list"/>
          <p:cNvSpPr txBox="1"/>
          <p:nvPr/>
        </p:nvSpPr>
        <p:spPr>
          <a:xfrm>
            <a:off x="548640" y="1965960"/>
            <a:ext cx="6217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Class handout: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Class Work 2 example data (monthly searches)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Google Keyword Planner: </a:t>
            </a:r>
            <a:pPr indent="0" marL="0">
              <a:spcAft>
                <a:spcPts val="1200"/>
              </a:spcAft>
              <a:buNone/>
            </a:pPr>
            <a:r>
              <a:rPr lang="en-US" sz="1500" u="sng" dirty="0">
                <a:solidFill>
                  <a:srgbClr val="000000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ads.google.com/home/tools/keyword-planner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Google Trends: </a:t>
            </a:r>
            <a:pPr indent="0" marL="0">
              <a:spcAft>
                <a:spcPts val="1200"/>
              </a:spcAft>
              <a:buNone/>
            </a:pPr>
            <a:r>
              <a:rPr lang="en-US" sz="1500" u="sng" dirty="0">
                <a:solidFill>
                  <a:srgbClr val="000000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trends.google.com</a:t>
            </a:r>
            <a:endParaRPr lang="en-US" sz="1500" dirty="0"/>
          </a:p>
        </p:txBody>
      </p:sp>
      <p:sp>
        <p:nvSpPr>
          <p:cNvPr id="5" name="Limitations card"/>
          <p:cNvSpPr/>
          <p:nvPr/>
        </p:nvSpPr>
        <p:spPr>
          <a:xfrm>
            <a:off x="7132320" y="1417320"/>
            <a:ext cx="448056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itations heading"/>
          <p:cNvSpPr txBox="1"/>
          <p:nvPr/>
        </p:nvSpPr>
        <p:spPr>
          <a:xfrm>
            <a:off x="740664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7" name="Limitations list"/>
          <p:cNvSpPr txBox="1"/>
          <p:nvPr/>
        </p:nvSpPr>
        <p:spPr>
          <a:xfrm>
            <a:off x="7406640" y="2194560"/>
            <a:ext cx="3931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Monthly searches are example figures from the class handout.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Competition and Trends interest are example values to replace with Keyword Planner and Google Trends results.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Search volumes are estimates for one location (Lagos).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Demand Analysis">
  <a:themeElements>
    <a:clrScheme name="Search Demand Analysis">
      <a:dk1>
        <a:srgbClr val="1F2328"/>
      </a:dk1>
      <a:lt1>
        <a:srgbClr val="FFFFFF"/>
      </a:lt1>
      <a:dk2>
        <a:srgbClr val="1E2A32"/>
      </a:dk2>
      <a:lt2>
        <a:srgbClr val="EEF3F1"/>
      </a:lt2>
      <a:accent1>
        <a:srgbClr val="10A37F"/>
      </a:accent1>
      <a:accent2>
        <a:srgbClr val="D97757"/>
      </a:accent2>
      <a:accent3>
        <a:srgbClr val="5B6B73"/>
      </a:accent3>
      <a:accent4>
        <a:srgbClr val="C0392B"/>
      </a:accent4>
      <a:accent5>
        <a:srgbClr val="7FC8B4"/>
      </a:accent5>
      <a:accent6>
        <a:srgbClr val="F0B9A4"/>
      </a:accent6>
      <a:hlink>
        <a:srgbClr val="0B6E99"/>
      </a:hlink>
      <a:folHlink>
        <a:srgbClr val="6B4E9B"/>
      </a:folHlink>
    </a:clrScheme>
    <a:fontScheme name="Search Demand Analys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Search Demand for Training Courses in Lagos</dc:title>
  <dc:subject>PptxGenJS Presentation</dc:subject>
  <dc:creator>Class Work 2</dc:creator>
  <cp:lastModifiedBy>Class Work 2</cp:lastModifiedBy>
  <cp:revision>1</cp:revision>
  <dcterms:created xsi:type="dcterms:W3CDTF">2026-10-25T15:54:09Z</dcterms:created>
  <dcterms:modified xsi:type="dcterms:W3CDTF">2026-10-25T15:54:09Z</dcterms:modified>
</cp:coreProperties>
</file>