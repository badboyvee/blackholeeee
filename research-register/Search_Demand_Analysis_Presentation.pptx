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72726f6-0b3e-5edc-2da9-28577776e221}">
          <p14:sldIdLst>
            <p14:sldId id="256"/>
            <p14:sldId id="257"/>
          </p14:sldIdLst>
        </p14:section>
        <p14:section name="Findings" id="{1c3a7e34-c714-d1ca-8ec7-0e9a1fe0034f}">
          <p14:sldIdLst>
            <p14:sldId id="258"/>
            <p14:sldId id="259"/>
            <p14:sldId id="260"/>
            <p14:sldId id="261"/>
          </p14:sldIdLst>
        </p14:section>
        <p14:section name="Sources" id="{69e7fef3-1cda-1487-514c-a846e2669c0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F3F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F3F46"/>
                </a:solidFill>
                <a:latin typeface="+mn-lt"/>
              </a:rPr>
              <a:t>Monthly searches in Lagos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searches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Data analysis course</c:v>
                  </c:pt>
                  <c:pt idx="1">
                    <c:v>Microsoft Excel training</c:v>
                  </c:pt>
                  <c:pt idx="2">
                    <c:v>AI training for beginners</c:v>
                  </c:pt>
                  <c:pt idx="3">
                    <c:v>Web design training</c:v>
                  </c:pt>
                  <c:pt idx="4">
                    <c:v>Cybersecurity training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2400</c:v>
                </c:pt>
                <c:pt idx="1">
                  <c:v>1800</c:v>
                </c:pt>
                <c:pt idx="2">
                  <c:v>1000</c:v>
                </c:pt>
                <c:pt idx="3">
                  <c:v>900</c:v>
                </c:pt>
                <c:pt idx="4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Class Work 2 · Search demand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ds.google.com/home/tools/keyword-planner/" TargetMode="External"/><Relationship Id="rId2" Type="http://schemas.openxmlformats.org/officeDocument/2006/relationships/hyperlink" Target="https://trends.google.com/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Demand for Training Courses in Lagos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Class Work 2: Analyse search demand  ·  Marketing Strategy, Module 4  ·  Research date 25/10/2026</a:t>
            </a:r>
            <a:endParaRPr lang="en-US" sz="2000" dirty="0"/>
          </a:p>
        </p:txBody>
      </p:sp>
      <p:sp>
        <p:nvSpPr>
          <p:cNvPr id="4" name="Accent dot 1"/>
          <p:cNvSpPr/>
          <p:nvPr/>
        </p:nvSpPr>
        <p:spPr>
          <a:xfrm>
            <a:off x="731520" y="914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ccent dot 2"/>
          <p:cNvSpPr/>
          <p:nvPr/>
        </p:nvSpPr>
        <p:spPr>
          <a:xfrm>
            <a:off x="1371600" y="9144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columns we recorded</a:t>
            </a:r>
            <a:endParaRPr lang="en-US" sz="3600" dirty="0"/>
          </a:p>
        </p:txBody>
      </p:sp>
      <p:sp>
        <p:nvSpPr>
          <p:cNvPr id="3" name="Column A card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 A circle"/>
          <p:cNvSpPr/>
          <p:nvPr/>
        </p:nvSpPr>
        <p:spPr>
          <a:xfrm>
            <a:off x="777240" y="1801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olumn A letter"/>
          <p:cNvSpPr txBox="1"/>
          <p:nvPr/>
        </p:nvSpPr>
        <p:spPr>
          <a:xfrm>
            <a:off x="777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6" name="Column A text"/>
          <p:cNvSpPr txBox="1"/>
          <p:nvPr/>
        </p:nvSpPr>
        <p:spPr>
          <a:xfrm>
            <a:off x="150876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Keyword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Search phrase</a:t>
            </a:r>
            <a:endParaRPr lang="en-US" sz="1700" dirty="0"/>
          </a:p>
        </p:txBody>
      </p:sp>
      <p:sp>
        <p:nvSpPr>
          <p:cNvPr id="7" name="Column B card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lumn B circle"/>
          <p:cNvSpPr/>
          <p:nvPr/>
        </p:nvSpPr>
        <p:spPr>
          <a:xfrm>
            <a:off x="4526280" y="1801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Column B letter"/>
          <p:cNvSpPr txBox="1"/>
          <p:nvPr/>
        </p:nvSpPr>
        <p:spPr>
          <a:xfrm>
            <a:off x="45262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0" name="Column B text"/>
          <p:cNvSpPr txBox="1"/>
          <p:nvPr/>
        </p:nvSpPr>
        <p:spPr>
          <a:xfrm>
            <a:off x="525780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Course category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Related course</a:t>
            </a:r>
            <a:endParaRPr lang="en-US" sz="1700" dirty="0"/>
          </a:p>
        </p:txBody>
      </p:sp>
      <p:sp>
        <p:nvSpPr>
          <p:cNvPr id="11" name="Column C card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lumn C circle"/>
          <p:cNvSpPr/>
          <p:nvPr/>
        </p:nvSpPr>
        <p:spPr>
          <a:xfrm>
            <a:off x="8275320" y="18013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Column C letter"/>
          <p:cNvSpPr txBox="1"/>
          <p:nvPr/>
        </p:nvSpPr>
        <p:spPr>
          <a:xfrm>
            <a:off x="82753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Column C text"/>
          <p:cNvSpPr txBox="1"/>
          <p:nvPr/>
        </p:nvSpPr>
        <p:spPr>
          <a:xfrm>
            <a:off x="900684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Location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Selected geography</a:t>
            </a:r>
            <a:endParaRPr lang="en-US" sz="1700" dirty="0"/>
          </a:p>
        </p:txBody>
      </p:sp>
      <p:sp>
        <p:nvSpPr>
          <p:cNvPr id="15" name="Column D card"/>
          <p:cNvSpPr/>
          <p:nvPr/>
        </p:nvSpPr>
        <p:spPr>
          <a:xfrm>
            <a:off x="548640" y="292608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lumn D circle"/>
          <p:cNvSpPr/>
          <p:nvPr/>
        </p:nvSpPr>
        <p:spPr>
          <a:xfrm>
            <a:off x="777240" y="33101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Column D letter"/>
          <p:cNvSpPr txBox="1"/>
          <p:nvPr/>
        </p:nvSpPr>
        <p:spPr>
          <a:xfrm>
            <a:off x="77724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</a:t>
            </a:r>
            <a:endParaRPr lang="en-US" sz="2000" dirty="0"/>
          </a:p>
        </p:txBody>
      </p:sp>
      <p:sp>
        <p:nvSpPr>
          <p:cNvPr id="18" name="Column D text"/>
          <p:cNvSpPr txBox="1"/>
          <p:nvPr/>
        </p:nvSpPr>
        <p:spPr>
          <a:xfrm>
            <a:off x="1508760" y="30632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Search volume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Estimated monthly searches</a:t>
            </a:r>
            <a:endParaRPr lang="en-US" sz="1700" dirty="0"/>
          </a:p>
        </p:txBody>
      </p:sp>
      <p:sp>
        <p:nvSpPr>
          <p:cNvPr id="19" name="Column E card"/>
          <p:cNvSpPr/>
          <p:nvPr/>
        </p:nvSpPr>
        <p:spPr>
          <a:xfrm>
            <a:off x="4297680" y="292608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olumn E circle"/>
          <p:cNvSpPr/>
          <p:nvPr/>
        </p:nvSpPr>
        <p:spPr>
          <a:xfrm>
            <a:off x="4526280" y="33101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Column E letter"/>
          <p:cNvSpPr txBox="1"/>
          <p:nvPr/>
        </p:nvSpPr>
        <p:spPr>
          <a:xfrm>
            <a:off x="452628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</a:t>
            </a:r>
            <a:endParaRPr lang="en-US" sz="2000" dirty="0"/>
          </a:p>
        </p:txBody>
      </p:sp>
      <p:sp>
        <p:nvSpPr>
          <p:cNvPr id="22" name="Column E text"/>
          <p:cNvSpPr txBox="1"/>
          <p:nvPr/>
        </p:nvSpPr>
        <p:spPr>
          <a:xfrm>
            <a:off x="5257800" y="30632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Competition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Source-defined competition measure</a:t>
            </a:r>
            <a:endParaRPr lang="en-US" sz="1700" dirty="0"/>
          </a:p>
        </p:txBody>
      </p:sp>
      <p:sp>
        <p:nvSpPr>
          <p:cNvPr id="23" name="Column F card"/>
          <p:cNvSpPr/>
          <p:nvPr/>
        </p:nvSpPr>
        <p:spPr>
          <a:xfrm>
            <a:off x="8046720" y="292608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lumn F circle"/>
          <p:cNvSpPr/>
          <p:nvPr/>
        </p:nvSpPr>
        <p:spPr>
          <a:xfrm>
            <a:off x="8275320" y="33101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Column F letter"/>
          <p:cNvSpPr txBox="1"/>
          <p:nvPr/>
        </p:nvSpPr>
        <p:spPr>
          <a:xfrm>
            <a:off x="82753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26" name="Column F text"/>
          <p:cNvSpPr txBox="1"/>
          <p:nvPr/>
        </p:nvSpPr>
        <p:spPr>
          <a:xfrm>
            <a:off x="9006840" y="30632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Trends interest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Interest index (0 to 100)</a:t>
            </a:r>
            <a:endParaRPr lang="en-US" sz="1700" dirty="0"/>
          </a:p>
        </p:txBody>
      </p:sp>
      <p:sp>
        <p:nvSpPr>
          <p:cNvPr id="27" name="Column G card"/>
          <p:cNvSpPr/>
          <p:nvPr/>
        </p:nvSpPr>
        <p:spPr>
          <a:xfrm>
            <a:off x="548640" y="443484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olumn G circle"/>
          <p:cNvSpPr/>
          <p:nvPr/>
        </p:nvSpPr>
        <p:spPr>
          <a:xfrm>
            <a:off x="777240" y="4818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Column G letter"/>
          <p:cNvSpPr txBox="1"/>
          <p:nvPr/>
        </p:nvSpPr>
        <p:spPr>
          <a:xfrm>
            <a:off x="77724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</a:t>
            </a:r>
            <a:endParaRPr lang="en-US" sz="2000" dirty="0"/>
          </a:p>
        </p:txBody>
      </p:sp>
      <p:sp>
        <p:nvSpPr>
          <p:cNvPr id="30" name="Column G text"/>
          <p:cNvSpPr txBox="1"/>
          <p:nvPr/>
        </p:nvSpPr>
        <p:spPr>
          <a:xfrm>
            <a:off x="1508760" y="4572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Search intent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Informational, commercial or transactional</a:t>
            </a:r>
            <a:endParaRPr lang="en-US" sz="1700" dirty="0"/>
          </a:p>
        </p:txBody>
      </p:sp>
      <p:sp>
        <p:nvSpPr>
          <p:cNvPr id="31" name="Column H card"/>
          <p:cNvSpPr/>
          <p:nvPr/>
        </p:nvSpPr>
        <p:spPr>
          <a:xfrm>
            <a:off x="4297680" y="443484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Column H circle"/>
          <p:cNvSpPr/>
          <p:nvPr/>
        </p:nvSpPr>
        <p:spPr>
          <a:xfrm>
            <a:off x="4526280" y="4818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Column H letter"/>
          <p:cNvSpPr txBox="1"/>
          <p:nvPr/>
        </p:nvSpPr>
        <p:spPr>
          <a:xfrm>
            <a:off x="452628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</a:t>
            </a:r>
            <a:endParaRPr lang="en-US" sz="2000" dirty="0"/>
          </a:p>
        </p:txBody>
      </p:sp>
      <p:sp>
        <p:nvSpPr>
          <p:cNvPr id="34" name="Column H text"/>
          <p:cNvSpPr txBox="1"/>
          <p:nvPr/>
        </p:nvSpPr>
        <p:spPr>
          <a:xfrm>
            <a:off x="5257800" y="4572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Source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Evidence link or ID</a:t>
            </a:r>
            <a:endParaRPr lang="en-US" sz="1700" dirty="0"/>
          </a:p>
        </p:txBody>
      </p:sp>
      <p:sp>
        <p:nvSpPr>
          <p:cNvPr id="35" name="Column I card"/>
          <p:cNvSpPr/>
          <p:nvPr/>
        </p:nvSpPr>
        <p:spPr>
          <a:xfrm>
            <a:off x="8046720" y="4434840"/>
            <a:ext cx="35661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Column I circle"/>
          <p:cNvSpPr/>
          <p:nvPr/>
        </p:nvSpPr>
        <p:spPr>
          <a:xfrm>
            <a:off x="8275320" y="4818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Column I letter"/>
          <p:cNvSpPr txBox="1"/>
          <p:nvPr/>
        </p:nvSpPr>
        <p:spPr>
          <a:xfrm>
            <a:off x="827532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</a:t>
            </a:r>
            <a:endParaRPr lang="en-US" sz="2000" dirty="0"/>
          </a:p>
        </p:txBody>
      </p:sp>
      <p:sp>
        <p:nvSpPr>
          <p:cNvPr id="38" name="Column I text"/>
          <p:cNvSpPr txBox="1"/>
          <p:nvPr/>
        </p:nvSpPr>
        <p:spPr>
          <a:xfrm>
            <a:off x="9006840" y="4572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Research date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Date collected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leads search demand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2237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ry card"/>
          <p:cNvSpPr/>
          <p:nvPr/>
        </p:nvSpPr>
        <p:spPr>
          <a:xfrm>
            <a:off x="813816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mmentary text"/>
          <p:cNvSpPr txBox="1"/>
          <p:nvPr/>
        </p:nvSpPr>
        <p:spPr>
          <a:xfrm>
            <a:off x="8412480" y="173736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Above average (1,360)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analysis course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Microsoft Excel training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Below average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training for beginners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Web design training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Cybersecurity training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keyword data</a:t>
            </a:r>
            <a:endParaRPr lang="en-US" sz="3600" dirty="0"/>
          </a:p>
        </p:txBody>
      </p:sp>
      <p:graphicFrame>
        <p:nvGraphicFramePr>
          <p:cNvPr id="5" name="Keyw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097280"/>
                <a:gridCol w="1463040"/>
                <a:gridCol w="128016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Keyword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Course category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Monthly searches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Competition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Trends interest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Search intent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training for beginners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Informational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Microsoft Excel training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Microsoft 365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1,800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Commercial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analysis course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analysis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2,400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Commercial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design training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design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Commercial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Cybersecurity training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Cybersecurity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Commercial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6,800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Source: class handout example. Research date: 25/10/2026. Competition and Trends interest are example values to check in Keyword Planner and Google Trends.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calculations</a:t>
            </a:r>
            <a:endParaRPr lang="en-US" sz="3600" dirty="0"/>
          </a:p>
        </p:txBody>
      </p:sp>
      <p:sp>
        <p:nvSpPr>
          <p:cNvPr id="3" name="Calc card 1"/>
          <p:cNvSpPr/>
          <p:nvPr/>
        </p:nvSpPr>
        <p:spPr>
          <a:xfrm>
            <a:off x="54864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lc 1 number"/>
          <p:cNvSpPr txBox="1"/>
          <p:nvPr/>
        </p:nvSpPr>
        <p:spPr>
          <a:xfrm>
            <a:off x="54864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6,800</a:t>
            </a:r>
            <a:endParaRPr lang="en-US" sz="4400" dirty="0"/>
          </a:p>
        </p:txBody>
      </p:sp>
      <p:sp>
        <p:nvSpPr>
          <p:cNvPr id="5" name="Calc 1 label"/>
          <p:cNvSpPr txBox="1"/>
          <p:nvPr/>
        </p:nvSpPr>
        <p:spPr>
          <a:xfrm>
            <a:off x="73152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a. Total recorded search volume</a:t>
            </a:r>
            <a:endParaRPr lang="en-US" sz="1500" dirty="0"/>
          </a:p>
        </p:txBody>
      </p:sp>
      <p:sp>
        <p:nvSpPr>
          <p:cNvPr id="6" name="Calc 1 formula"/>
          <p:cNvSpPr txBox="1"/>
          <p:nvPr/>
        </p:nvSpPr>
        <p:spPr>
          <a:xfrm>
            <a:off x="64008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=SUM(D2:D6)</a:t>
            </a:r>
            <a:endParaRPr lang="en-US" sz="1400" dirty="0"/>
          </a:p>
        </p:txBody>
      </p:sp>
      <p:sp>
        <p:nvSpPr>
          <p:cNvPr id="7" name="Calc card 2"/>
          <p:cNvSpPr/>
          <p:nvPr/>
        </p:nvSpPr>
        <p:spPr>
          <a:xfrm>
            <a:off x="338328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lc 2 number"/>
          <p:cNvSpPr txBox="1"/>
          <p:nvPr/>
        </p:nvSpPr>
        <p:spPr>
          <a:xfrm>
            <a:off x="338328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1,360</a:t>
            </a:r>
            <a:endParaRPr lang="en-US" sz="4400" dirty="0"/>
          </a:p>
        </p:txBody>
      </p:sp>
      <p:sp>
        <p:nvSpPr>
          <p:cNvPr id="9" name="Calc 2 label"/>
          <p:cNvSpPr txBox="1"/>
          <p:nvPr/>
        </p:nvSpPr>
        <p:spPr>
          <a:xfrm>
            <a:off x="356616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b. Average recorded search volume</a:t>
            </a:r>
            <a:endParaRPr lang="en-US" sz="1500" dirty="0"/>
          </a:p>
        </p:txBody>
      </p:sp>
      <p:sp>
        <p:nvSpPr>
          <p:cNvPr id="10" name="Calc 2 formula"/>
          <p:cNvSpPr txBox="1"/>
          <p:nvPr/>
        </p:nvSpPr>
        <p:spPr>
          <a:xfrm>
            <a:off x="347472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=AVERAGE(D2:D6)</a:t>
            </a:r>
            <a:endParaRPr lang="en-US" sz="1400" dirty="0"/>
          </a:p>
        </p:txBody>
      </p:sp>
      <p:sp>
        <p:nvSpPr>
          <p:cNvPr id="11" name="Calc card 3"/>
          <p:cNvSpPr/>
          <p:nvPr/>
        </p:nvSpPr>
        <p:spPr>
          <a:xfrm>
            <a:off x="621792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lc 3 number"/>
          <p:cNvSpPr txBox="1"/>
          <p:nvPr/>
        </p:nvSpPr>
        <p:spPr>
          <a:xfrm>
            <a:off x="621792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Calc 3 label"/>
          <p:cNvSpPr txBox="1"/>
          <p:nvPr/>
        </p:nvSpPr>
        <p:spPr>
          <a:xfrm>
            <a:off x="640080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c. Keywords being analysed</a:t>
            </a:r>
            <a:endParaRPr lang="en-US" sz="1500" dirty="0"/>
          </a:p>
        </p:txBody>
      </p:sp>
      <p:sp>
        <p:nvSpPr>
          <p:cNvPr id="14" name="Calc 3 formula"/>
          <p:cNvSpPr txBox="1"/>
          <p:nvPr/>
        </p:nvSpPr>
        <p:spPr>
          <a:xfrm>
            <a:off x="630936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=COUNTA(A2:A6)</a:t>
            </a:r>
            <a:endParaRPr lang="en-US" sz="1400" dirty="0"/>
          </a:p>
        </p:txBody>
      </p:sp>
      <p:sp>
        <p:nvSpPr>
          <p:cNvPr id="15" name="Calc card 4"/>
          <p:cNvSpPr/>
          <p:nvPr/>
        </p:nvSpPr>
        <p:spPr>
          <a:xfrm>
            <a:off x="9052560" y="155448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lc 4 number"/>
          <p:cNvSpPr txBox="1"/>
          <p:nvPr/>
        </p:nvSpPr>
        <p:spPr>
          <a:xfrm>
            <a:off x="9052560" y="18288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17" name="Calc 4 label"/>
          <p:cNvSpPr txBox="1"/>
          <p:nvPr/>
        </p:nvSpPr>
        <p:spPr>
          <a:xfrm>
            <a:off x="9235440" y="3017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d. Median search volume</a:t>
            </a:r>
            <a:endParaRPr lang="en-US" sz="1500" dirty="0"/>
          </a:p>
        </p:txBody>
      </p:sp>
      <p:sp>
        <p:nvSpPr>
          <p:cNvPr id="18" name="Calc 4 formula"/>
          <p:cNvSpPr txBox="1"/>
          <p:nvPr/>
        </p:nvSpPr>
        <p:spPr>
          <a:xfrm>
            <a:off x="914400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=MEDIAN(D2:D6)</a:t>
            </a:r>
            <a:endParaRPr lang="en-US" sz="1400" dirty="0"/>
          </a:p>
        </p:txBody>
      </p:sp>
      <p:sp>
        <p:nvSpPr>
          <p:cNvPr id="19" name="Median note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Median: the middle value when the five search volumes are sorted (700, 900, 1,000, 1,800, 2,400).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Highest demand card"/>
          <p:cNvSpPr/>
          <p:nvPr/>
        </p:nvSpPr>
        <p:spPr>
          <a:xfrm>
            <a:off x="54864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ighest demand dot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Highest demand heading"/>
          <p:cNvSpPr txBox="1"/>
          <p:nvPr/>
        </p:nvSpPr>
        <p:spPr>
          <a:xfrm>
            <a:off x="15544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Highest demand</a:t>
            </a:r>
            <a:endParaRPr lang="en-US" sz="2200" dirty="0"/>
          </a:p>
        </p:txBody>
      </p:sp>
      <p:sp>
        <p:nvSpPr>
          <p:cNvPr id="6" name="Highest demand points"/>
          <p:cNvSpPr txBox="1"/>
          <p:nvPr/>
        </p:nvSpPr>
        <p:spPr>
          <a:xfrm>
            <a:off x="91440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analysis course: 2,400 searches a month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Microsoft Excel training: 1,800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Together 4,200 of 6,800 searches (62%)</a:t>
            </a:r>
            <a:endParaRPr lang="en-US" sz="1700" dirty="0"/>
          </a:p>
        </p:txBody>
      </p:sp>
      <p:sp>
        <p:nvSpPr>
          <p:cNvPr id="7" name="Lower demand card"/>
          <p:cNvSpPr/>
          <p:nvPr/>
        </p:nvSpPr>
        <p:spPr>
          <a:xfrm>
            <a:off x="621792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ower demand dot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Lower demand heading"/>
          <p:cNvSpPr txBox="1"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Lower demand</a:t>
            </a:r>
            <a:endParaRPr lang="en-US" sz="2200" dirty="0"/>
          </a:p>
        </p:txBody>
      </p:sp>
      <p:sp>
        <p:nvSpPr>
          <p:cNvPr id="10" name="Lower demand points"/>
          <p:cNvSpPr txBox="1"/>
          <p:nvPr/>
        </p:nvSpPr>
        <p:spPr>
          <a:xfrm>
            <a:off x="658368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 training for beginners: 1,000 (the median)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Web design training: 900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Cybersecurity training: 700 (the lowest)</a:t>
            </a:r>
            <a:endParaRPr lang="en-US" sz="17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keaway text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What it means: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in Lagos, start with data analysis and Microsoft Excel courses, where search demand is highest. Offer AI training for beginners as an entry-level option.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limitations</a:t>
            </a:r>
            <a:endParaRPr lang="en-US" sz="3600" dirty="0"/>
          </a:p>
        </p:txBody>
      </p:sp>
      <p:sp>
        <p:nvSpPr>
          <p:cNvPr id="3" name="Sources heading"/>
          <p:cNvSpPr txBox="1"/>
          <p:nvPr/>
        </p:nvSpPr>
        <p:spPr>
          <a:xfrm>
            <a:off x="548640" y="1417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Sources</a:t>
            </a:r>
            <a:endParaRPr lang="en-US" sz="2000" dirty="0"/>
          </a:p>
        </p:txBody>
      </p:sp>
      <p:sp>
        <p:nvSpPr>
          <p:cNvPr id="4" name="Source list"/>
          <p:cNvSpPr txBox="1"/>
          <p:nvPr/>
        </p:nvSpPr>
        <p:spPr>
          <a:xfrm>
            <a:off x="548640" y="196596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Class handout: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Class Work 2 example data (monthly searches)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Google Keyword Planner: </a:t>
            </a:r>
            <a:pPr indent="0" marL="0">
              <a:spcAft>
                <a:spcPts val="1200"/>
              </a:spcAft>
              <a:buNone/>
            </a:pPr>
            <a:r>
              <a:rPr lang="en-US" sz="15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ads.google.com/home/tools/keyword-planner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Google Trends: </a:t>
            </a:r>
            <a:pPr indent="0" marL="0">
              <a:spcAft>
                <a:spcPts val="1200"/>
              </a:spcAft>
              <a:buNone/>
            </a:pPr>
            <a:r>
              <a:rPr lang="en-US" sz="1500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trends.google.com</a:t>
            </a:r>
            <a:endParaRPr lang="en-US" sz="1500" dirty="0"/>
          </a:p>
        </p:txBody>
      </p:sp>
      <p:sp>
        <p:nvSpPr>
          <p:cNvPr id="5" name="Limitations card"/>
          <p:cNvSpPr/>
          <p:nvPr/>
        </p:nvSpPr>
        <p:spPr>
          <a:xfrm>
            <a:off x="7132320" y="1417320"/>
            <a:ext cx="44805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mitations heading"/>
          <p:cNvSpPr txBox="1"/>
          <p:nvPr/>
        </p:nvSpPr>
        <p:spPr>
          <a:xfrm>
            <a:off x="740664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Limitations list"/>
          <p:cNvSpPr txBox="1"/>
          <p:nvPr/>
        </p:nvSpPr>
        <p:spPr>
          <a:xfrm>
            <a:off x="7406640" y="21945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Monthly searches are example figures from the class handout.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Competition and Trends interest are example values to replace with Keyword Planner and Google Trends results.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Search volumes are estimates for one location (Lagos).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rch Demand Analysis">
  <a:themeElements>
    <a:clrScheme name="Search Demand Analysis">
      <a:dk1>
        <a:srgbClr val="000000"/>
      </a:dk1>
      <a:lt1>
        <a:srgbClr val="FFFFFF"/>
      </a:lt1>
      <a:dk2>
        <a:srgbClr val="0A0A0A"/>
      </a:dk2>
      <a:lt2>
        <a:srgbClr val="EEF4FF"/>
      </a:lt2>
      <a:accent1>
        <a:srgbClr val="1A56DB"/>
      </a:accent1>
      <a:accent2>
        <a:srgbClr val="111111"/>
      </a:accent2>
      <a:accent3>
        <a:srgbClr val="3F3F46"/>
      </a:accent3>
      <a:accent4>
        <a:srgbClr val="0B3D91"/>
      </a:accent4>
      <a:accent5>
        <a:srgbClr val="8AB4F8"/>
      </a:accent5>
      <a:accent6>
        <a:srgbClr val="C7D7F9"/>
      </a:accent6>
      <a:hlink>
        <a:srgbClr val="1A56DB"/>
      </a:hlink>
      <a:folHlink>
        <a:srgbClr val="0B3D91"/>
      </a:folHlink>
    </a:clrScheme>
    <a:fontScheme name="Search Demand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Demand for Training Courses in Lagos</dc:title>
  <dc:subject>PptxGenJS Presentation</dc:subject>
  <dc:creator>Class Work 2</dc:creator>
  <cp:lastModifiedBy>Class Work 2</cp:lastModifiedBy>
  <cp:revision>1</cp:revision>
  <dcterms:created xsi:type="dcterms:W3CDTF">2026-10-25T16:58:12Z</dcterms:created>
  <dcterms:modified xsi:type="dcterms:W3CDTF">2026-10-25T16:58:12Z</dcterms:modified>
</cp:coreProperties>
</file>