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fdd759a-cfdd-e798-4a4c-c8a0e592f9a8}">
          <p14:sldIdLst>
            <p14:sldId id="256"/>
            <p14:sldId id="257"/>
          </p14:sldIdLst>
        </p14:section>
        <p14:section name="Findings" id="{577f94ee-a199-cc8c-72d9-ff28abb01510}">
          <p14:sldIdLst>
            <p14:sldId id="258"/>
            <p14:sldId id="259"/>
            <p14:sldId id="260"/>
            <p14:sldId id="261"/>
          </p14:sldIdLst>
        </p14:section>
        <p14:section name="Sources" id="{cd9cd689-6838-1a96-e939-78daa9a165a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7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B6B73"/>
                </a:solidFill>
                <a:latin typeface="+mn-lt"/>
              </a:rPr>
              <a:t>% of projected target reached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target reached</c:v>
                </c:pt>
              </c:strCache>
            </c:strRef>
          </c:tx>
          <c:spPr>
            <a:solidFill>
              <a:srgbClr val="10A37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A3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A37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Prompt Engineering for ChatGPT</c:v>
                  </c:pt>
                  <c:pt idx="1">
                    <c:v>ChatGPT Advanced Data Analysis</c:v>
                  </c:pt>
                  <c:pt idx="2">
                    <c:v>Claude Code (Vanderbilt)</c:v>
                  </c:pt>
                  <c:pt idx="3">
                    <c:v>Claude Code in Action</c:v>
                  </c:pt>
                  <c:pt idx="4">
                    <c:v>Claude AI 101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1.456</c:v>
                </c:pt>
                <c:pt idx="1">
                  <c:v>1.418</c:v>
                </c:pt>
                <c:pt idx="2">
                  <c:v>0.726</c:v>
                </c:pt>
                <c:pt idx="3">
                  <c:v>0.592</c:v>
                </c:pt>
                <c:pt idx="4">
                  <c:v>0.77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Research sources register · AI Workflow Automation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oursera.org/learn/prompt-engineering" TargetMode="External"/><Relationship Id="rId2" Type="http://schemas.openxmlformats.org/officeDocument/2006/relationships/hyperlink" Target="https://www.coursera.org/learn/chatgpt-advanced-data-analysis" TargetMode="External"/><Relationship Id="rId3" Type="http://schemas.openxmlformats.org/officeDocument/2006/relationships/hyperlink" Target="https://www.coursera.org/learn/claude-code" TargetMode="External"/><Relationship Id="rId4" Type="http://schemas.openxmlformats.org/officeDocument/2006/relationships/hyperlink" Target="https://www.coursera.org/learn/claude-code-in-action" TargetMode="External"/><Relationship Id="rId5" Type="http://schemas.openxmlformats.org/officeDocument/2006/relationships/hyperlink" Target="https://www.udemy.com/course/claude-ai-101-the-complete-tutorial-for-beginners-in-2026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Workflow Automation: ChatGPT &amp; Claude Courses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Research sources register  ·  Marketing Strategy, Module 4  ·  Data collected 23/10/2026</a:t>
            </a:r>
            <a:endParaRPr lang="en-US" sz="2000" dirty="0"/>
          </a:p>
        </p:txBody>
      </p:sp>
      <p:sp>
        <p:nvSpPr>
          <p:cNvPr id="4" name="ChatGPT dot"/>
          <p:cNvSpPr/>
          <p:nvPr/>
        </p:nvSpPr>
        <p:spPr>
          <a:xfrm>
            <a:off x="731520" y="914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laude dot"/>
          <p:cNvSpPr/>
          <p:nvPr/>
        </p:nvSpPr>
        <p:spPr>
          <a:xfrm>
            <a:off x="1371600" y="9144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research question</a:t>
            </a:r>
            <a:endParaRPr lang="en-US" sz="36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5120640" cy="4480560"/>
          </a:xfrm>
          <a:prstGeom prst="roundRect">
            <a:avLst>
              <a:gd name="adj" fmla="val 3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uestion text"/>
          <p:cNvSpPr txBox="1"/>
          <p:nvPr/>
        </p:nvSpPr>
        <p:spPr>
          <a:xfrm>
            <a:off x="914400" y="1828800"/>
            <a:ext cx="438912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Research question</a:t>
            </a:r>
            <a:endParaRPr lang="en-US" sz="14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students register for an AI Workflow Automation course?</a:t>
            </a:r>
            <a:endParaRPr lang="en-US" sz="1400" dirty="0"/>
          </a:p>
        </p:txBody>
      </p:sp>
      <p:sp>
        <p:nvSpPr>
          <p:cNvPr id="5" name="Step 1 circle"/>
          <p:cNvSpPr/>
          <p:nvPr/>
        </p:nvSpPr>
        <p:spPr>
          <a:xfrm>
            <a:off x="630936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 1 number"/>
          <p:cNvSpPr txBox="1"/>
          <p:nvPr/>
        </p:nvSpPr>
        <p:spPr>
          <a:xfrm>
            <a:off x="630936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tep 1 text"/>
          <p:cNvSpPr txBox="1"/>
          <p:nvPr/>
        </p:nvSpPr>
        <p:spPr>
          <a:xfrm>
            <a:off x="7269480" y="15544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Pick 5 real courses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2 on ChatGPT and 3 on Claude, from Coursera and Udemy</a:t>
            </a:r>
            <a:endParaRPr lang="en-US" sz="2000" dirty="0"/>
          </a:p>
        </p:txBody>
      </p:sp>
      <p:sp>
        <p:nvSpPr>
          <p:cNvPr id="8" name="Step 2 circle"/>
          <p:cNvSpPr/>
          <p:nvPr/>
        </p:nvSpPr>
        <p:spPr>
          <a:xfrm>
            <a:off x="6309360" y="3063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tep 2 number"/>
          <p:cNvSpPr txBox="1"/>
          <p:nvPr/>
        </p:nvSpPr>
        <p:spPr>
          <a:xfrm>
            <a:off x="630936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Step 2 text"/>
          <p:cNvSpPr txBox="1"/>
          <p:nvPr/>
        </p:nvSpPr>
        <p:spPr>
          <a:xfrm>
            <a:off x="7269480" y="29718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Record actual registrants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Copied from each course page on 23/10/2026</a:t>
            </a:r>
            <a:endParaRPr lang="en-US" sz="2000" dirty="0"/>
          </a:p>
        </p:txBody>
      </p:sp>
      <p:sp>
        <p:nvSpPr>
          <p:cNvPr id="11" name="Step 3 circle"/>
          <p:cNvSpPr/>
          <p:nvPr/>
        </p:nvSpPr>
        <p:spPr>
          <a:xfrm>
            <a:off x="6309360" y="44805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3 number"/>
          <p:cNvSpPr txBox="1"/>
          <p:nvPr/>
        </p:nvSpPr>
        <p:spPr>
          <a:xfrm>
            <a:off x="6309360" y="4480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Step 3 text"/>
          <p:cNvSpPr txBox="1"/>
          <p:nvPr/>
        </p:nvSpPr>
        <p:spPr>
          <a:xfrm>
            <a:off x="7269480" y="4389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Compare with our plan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Projected target, suggested tuition and ads spend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Registrants beat our total target by 255,696</a:t>
            </a:r>
            <a:endParaRPr lang="en-US" sz="3600" dirty="0"/>
          </a:p>
        </p:txBody>
      </p:sp>
      <p:sp>
        <p:nvSpPr>
          <p:cNvPr id="3" name="Stat card 1"/>
          <p:cNvSpPr/>
          <p:nvPr/>
        </p:nvSpPr>
        <p:spPr>
          <a:xfrm>
            <a:off x="54864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 number"/>
          <p:cNvSpPr txBox="1"/>
          <p:nvPr/>
        </p:nvSpPr>
        <p:spPr>
          <a:xfrm>
            <a:off x="548640" y="20116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642,000</a:t>
            </a:r>
            <a:endParaRPr lang="en-US" sz="40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32004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Projected target of registrants</a:t>
            </a:r>
            <a:endParaRPr lang="en-US" sz="1500" dirty="0"/>
          </a:p>
        </p:txBody>
      </p:sp>
      <p:sp>
        <p:nvSpPr>
          <p:cNvPr id="6" name="Stat card 2"/>
          <p:cNvSpPr/>
          <p:nvPr/>
        </p:nvSpPr>
        <p:spPr>
          <a:xfrm>
            <a:off x="338328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 2 number"/>
          <p:cNvSpPr txBox="1"/>
          <p:nvPr/>
        </p:nvSpPr>
        <p:spPr>
          <a:xfrm>
            <a:off x="3383280" y="20116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897,696</a:t>
            </a:r>
            <a:endParaRPr lang="en-US" sz="4000" dirty="0"/>
          </a:p>
        </p:txBody>
      </p:sp>
      <p:sp>
        <p:nvSpPr>
          <p:cNvPr id="8" name="Stat 2 label"/>
          <p:cNvSpPr txBox="1"/>
          <p:nvPr/>
        </p:nvSpPr>
        <p:spPr>
          <a:xfrm>
            <a:off x="3566160" y="32004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Actual results of registrants</a:t>
            </a:r>
            <a:endParaRPr lang="en-US" sz="1500" dirty="0"/>
          </a:p>
        </p:txBody>
      </p:sp>
      <p:sp>
        <p:nvSpPr>
          <p:cNvPr id="9" name="Stat card 3"/>
          <p:cNvSpPr/>
          <p:nvPr/>
        </p:nvSpPr>
        <p:spPr>
          <a:xfrm>
            <a:off x="621792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 3 number"/>
          <p:cNvSpPr txBox="1"/>
          <p:nvPr/>
        </p:nvSpPr>
        <p:spPr>
          <a:xfrm>
            <a:off x="6217920" y="20116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+255,696</a:t>
            </a:r>
            <a:endParaRPr lang="en-US" sz="4000" dirty="0"/>
          </a:p>
        </p:txBody>
      </p:sp>
      <p:sp>
        <p:nvSpPr>
          <p:cNvPr id="11" name="Stat 3 label"/>
          <p:cNvSpPr txBox="1"/>
          <p:nvPr/>
        </p:nvSpPr>
        <p:spPr>
          <a:xfrm>
            <a:off x="6400800" y="32004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Variance (actual − target)</a:t>
            </a:r>
            <a:endParaRPr lang="en-US" sz="1500" dirty="0"/>
          </a:p>
        </p:txBody>
      </p:sp>
      <p:sp>
        <p:nvSpPr>
          <p:cNvPr id="12" name="Stat card 4"/>
          <p:cNvSpPr/>
          <p:nvPr/>
        </p:nvSpPr>
        <p:spPr>
          <a:xfrm>
            <a:off x="905256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 4 number"/>
          <p:cNvSpPr txBox="1"/>
          <p:nvPr/>
        </p:nvSpPr>
        <p:spPr>
          <a:xfrm>
            <a:off x="9052560" y="20116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$44.7M</a:t>
            </a:r>
            <a:endParaRPr lang="en-US" sz="4000" dirty="0"/>
          </a:p>
        </p:txBody>
      </p:sp>
      <p:sp>
        <p:nvSpPr>
          <p:cNvPr id="14" name="Stat 4 label"/>
          <p:cNvSpPr txBox="1"/>
          <p:nvPr/>
        </p:nvSpPr>
        <p:spPr>
          <a:xfrm>
            <a:off x="9235440" y="32004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Cost of revenue (tuition × registrants)</a:t>
            </a:r>
            <a:endParaRPr lang="en-US" sz="1500" dirty="0"/>
          </a:p>
        </p:txBody>
      </p:sp>
      <p:sp>
        <p:nvSpPr>
          <p:cNvPr id="15" name="Formula note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Totals for all 5 courses. Variance = actual registrants − projected target. Cost of revenue = suggested tuition × actual registrants.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 beat target; Claude fell short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2237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mmentary card"/>
          <p:cNvSpPr/>
          <p:nvPr/>
        </p:nvSpPr>
        <p:spPr>
          <a:xfrm>
            <a:off x="8138160" y="1463040"/>
            <a:ext cx="3474720" cy="44805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mmentary text"/>
          <p:cNvSpPr txBox="1"/>
          <p:nvPr/>
        </p:nvSpPr>
        <p:spPr>
          <a:xfrm>
            <a:off x="8412480" y="1737360"/>
            <a:ext cx="2926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ChatGPT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Both courses reached over 140% of target.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Courses reached 59% to 77% of target. They are newer, so demand is still growing.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% of target = actual ÷ target × 100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at a glance</a:t>
            </a:r>
            <a:endParaRPr lang="en-US" sz="3600" dirty="0"/>
          </a:p>
        </p:txBody>
      </p:sp>
      <p:graphicFrame>
        <p:nvGraphicFramePr>
          <p:cNvPr id="6" name="Regis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91840"/>
                <a:gridCol w="1005840"/>
                <a:gridCol w="1143000"/>
                <a:gridCol w="1188720"/>
                <a:gridCol w="1051560"/>
                <a:gridCol w="822960"/>
                <a:gridCol w="91440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Course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Projected target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Actual registrants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Variance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Tuition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Ads spend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Cost of revenue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Prompt Engineering for ChatGPT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Coursera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728,000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+228,000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$50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$36,400,000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ChatGPT Advanced Data Analysis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Coursera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141,801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+41,801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$50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$2,000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$7,090,050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Claude Code: Software Engineering with Gen AI Agents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Coursera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14,518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−5,482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$50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$1,000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$725,900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Claude Code in Action (Anthropic)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Coursera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11,838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−8,162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$40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$1,000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$473,520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Claude AI 101 (Beginners 2026)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Udemy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1,539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−461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$20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$300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$30,780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642,000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897,696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+255,696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$9,300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$44,720,250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Projected target, tuition and ads spend are our suggested figures. Actual registrants are real totals since each course launched.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3600" dirty="0"/>
          </a:p>
        </p:txBody>
      </p:sp>
      <p:sp>
        <p:nvSpPr>
          <p:cNvPr id="3" name="ChatGPT courses card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hatGPT courses dot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hatGPT courses heading"/>
          <p:cNvSpPr txBox="1"/>
          <p:nvPr/>
        </p:nvSpPr>
        <p:spPr>
          <a:xfrm>
            <a:off x="1554480" y="1737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ChatGPT courses</a:t>
            </a:r>
            <a:endParaRPr lang="en-US" sz="2200" dirty="0"/>
          </a:p>
        </p:txBody>
      </p:sp>
      <p:sp>
        <p:nvSpPr>
          <p:cNvPr id="6" name="ChatGPT courses points"/>
          <p:cNvSpPr txBox="1"/>
          <p:nvPr/>
        </p:nvSpPr>
        <p:spPr>
          <a:xfrm>
            <a:off x="914400" y="246888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Both beat their targets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728,000 and 141,801 registrants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Large, proven demand</a:t>
            </a:r>
            <a:endParaRPr lang="en-US" sz="1700" dirty="0"/>
          </a:p>
        </p:txBody>
      </p:sp>
      <p:sp>
        <p:nvSpPr>
          <p:cNvPr id="7" name="Claude courses card"/>
          <p:cNvSpPr/>
          <p:nvPr/>
        </p:nvSpPr>
        <p:spPr>
          <a:xfrm>
            <a:off x="6217920" y="1463040"/>
            <a:ext cx="53949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laude courses dot"/>
          <p:cNvSpPr/>
          <p:nvPr/>
        </p:nvSpPr>
        <p:spPr>
          <a:xfrm>
            <a:off x="658368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Claude courses heading"/>
          <p:cNvSpPr txBox="1"/>
          <p:nvPr/>
        </p:nvSpPr>
        <p:spPr>
          <a:xfrm>
            <a:off x="7223760" y="1737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Claude courses</a:t>
            </a:r>
            <a:endParaRPr lang="en-US" sz="2200" dirty="0"/>
          </a:p>
        </p:txBody>
      </p:sp>
      <p:sp>
        <p:nvSpPr>
          <p:cNvPr id="10" name="Claude courses points"/>
          <p:cNvSpPr txBox="1"/>
          <p:nvPr/>
        </p:nvSpPr>
        <p:spPr>
          <a:xfrm>
            <a:off x="6583680" y="246888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All three are below target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1,539 to 14,518 registrants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Newer courses with growing demand</a:t>
            </a:r>
            <a:endParaRPr lang="en-US" sz="17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akeaway text"/>
          <p:cNvSpPr txBox="1"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What it means for our course: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teach AI workflow automation with both ChatGPT and Claude. ChatGPT brings proven demand; Claude is the growing opportunity.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limitations</a:t>
            </a:r>
            <a:endParaRPr lang="en-US" sz="3600" dirty="0"/>
          </a:p>
        </p:txBody>
      </p:sp>
      <p:sp>
        <p:nvSpPr>
          <p:cNvPr id="3" name="Sources heading"/>
          <p:cNvSpPr txBox="1"/>
          <p:nvPr/>
        </p:nvSpPr>
        <p:spPr>
          <a:xfrm>
            <a:off x="548640" y="14173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Sources</a:t>
            </a:r>
            <a:endParaRPr lang="en-US" sz="2000" dirty="0"/>
          </a:p>
        </p:txBody>
      </p:sp>
      <p:sp>
        <p:nvSpPr>
          <p:cNvPr id="4" name="Source list"/>
          <p:cNvSpPr txBox="1"/>
          <p:nvPr/>
        </p:nvSpPr>
        <p:spPr>
          <a:xfrm>
            <a:off x="548640" y="1965960"/>
            <a:ext cx="6217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S01  </a:t>
            </a:r>
            <a:pPr indent="0" marL="0">
              <a:spcAft>
                <a:spcPts val="1200"/>
              </a:spcAft>
              <a:buNone/>
            </a:pPr>
            <a:r>
              <a:rPr lang="en-US" sz="1400" u="sng" dirty="0">
                <a:solidFill>
                  <a:srgbClr val="0B6E99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coursera.org/learn/prompt-engineering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S02  </a:t>
            </a:r>
            <a:pPr indent="0" marL="0">
              <a:spcAft>
                <a:spcPts val="1200"/>
              </a:spcAft>
              <a:buNone/>
            </a:pPr>
            <a:r>
              <a:rPr lang="en-US" sz="1400" u="sng" dirty="0">
                <a:solidFill>
                  <a:srgbClr val="0B6E99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coursera.org/learn/chatgpt-advanced-data-analysis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S03  </a:t>
            </a:r>
            <a:pPr indent="0" marL="0">
              <a:spcAft>
                <a:spcPts val="1200"/>
              </a:spcAft>
              <a:buNone/>
            </a:pPr>
            <a:r>
              <a:rPr lang="en-US" sz="1400" u="sng" dirty="0">
                <a:solidFill>
                  <a:srgbClr val="0B6E99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coursera.org/learn/claude-code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S04  </a:t>
            </a:r>
            <a:pPr indent="0" marL="0">
              <a:spcAft>
                <a:spcPts val="1200"/>
              </a:spcAft>
              <a:buNone/>
            </a:pPr>
            <a:r>
              <a:rPr lang="en-US" sz="1400" u="sng" dirty="0">
                <a:solidFill>
                  <a:srgbClr val="0B6E99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coursera.org/learn/claude-code-in-action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S05  </a:t>
            </a:r>
            <a:pPr indent="0" marL="0">
              <a:spcAft>
                <a:spcPts val="1200"/>
              </a:spcAft>
              <a:buNone/>
            </a:pPr>
            <a:r>
              <a:rPr lang="en-US" sz="1400" u="sng" dirty="0">
                <a:solidFill>
                  <a:srgbClr val="0B6E99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udemy.com/course/claude-ai-101-the-complete-tutorial-for-beginners-in-2026</a:t>
            </a:r>
            <a:endParaRPr lang="en-US" sz="1400" dirty="0"/>
          </a:p>
        </p:txBody>
      </p:sp>
      <p:sp>
        <p:nvSpPr>
          <p:cNvPr id="5" name="Limitations card"/>
          <p:cNvSpPr/>
          <p:nvPr/>
        </p:nvSpPr>
        <p:spPr>
          <a:xfrm>
            <a:off x="7132320" y="1417320"/>
            <a:ext cx="448056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itations heading"/>
          <p:cNvSpPr txBox="1"/>
          <p:nvPr/>
        </p:nvSpPr>
        <p:spPr>
          <a:xfrm>
            <a:off x="740664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7" name="Limitations list"/>
          <p:cNvSpPr txBox="1"/>
          <p:nvPr/>
        </p:nvSpPr>
        <p:spPr>
          <a:xfrm>
            <a:off x="7406640" y="2194560"/>
            <a:ext cx="3931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Registrant numbers are totals since each course launched, not per month.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Numbers come from search-result copies of the course pages (23/10/2026); live pages may be higher.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Projected target, tuition and ads spend are our own suggested figures.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 Claude Register">
  <a:themeElements>
    <a:clrScheme name="ChatGPT Claude Register">
      <a:dk1>
        <a:srgbClr val="1F2328"/>
      </a:dk1>
      <a:lt1>
        <a:srgbClr val="FFFFFF"/>
      </a:lt1>
      <a:dk2>
        <a:srgbClr val="1E2A32"/>
      </a:dk2>
      <a:lt2>
        <a:srgbClr val="EEF3F1"/>
      </a:lt2>
      <a:accent1>
        <a:srgbClr val="10A37F"/>
      </a:accent1>
      <a:accent2>
        <a:srgbClr val="D97757"/>
      </a:accent2>
      <a:accent3>
        <a:srgbClr val="5B6B73"/>
      </a:accent3>
      <a:accent4>
        <a:srgbClr val="C0392B"/>
      </a:accent4>
      <a:accent5>
        <a:srgbClr val="7FC8B4"/>
      </a:accent5>
      <a:accent6>
        <a:srgbClr val="F0B9A4"/>
      </a:accent6>
      <a:hlink>
        <a:srgbClr val="0B6E99"/>
      </a:hlink>
      <a:folHlink>
        <a:srgbClr val="6B4E9B"/>
      </a:folHlink>
    </a:clrScheme>
    <a:fontScheme name="ChatGPT Claude Regist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Workflow Automation: ChatGPT and Claude Courses</dc:title>
  <dc:subject>PptxGenJS Presentation</dc:subject>
  <dc:creator>Research sources register</dc:creator>
  <cp:lastModifiedBy>Research sources register</cp:lastModifiedBy>
  <cp:revision>1</cp:revision>
  <dcterms:created xsi:type="dcterms:W3CDTF">2026-10-25T15:54:09Z</dcterms:created>
  <dcterms:modified xsi:type="dcterms:W3CDTF">2026-10-25T15:54:09Z</dcterms:modified>
</cp:coreProperties>
</file>