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8"/>
    <p:sldId id="258" r:id="rId9"/>
    <p:sldId id="259" r:id="rId10"/>
    <p:sldId id="260" r:id="rId11"/>
    <p:sldId id="261" r:id="rId12"/>
    <p:sldId id="262" r:id="rId13"/>
    <p:sldId id="263"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1F3864"/>
            </a:solidFill>
          </c:spPr>
          <c:dPt>
            <c:idx val="0"/>
            <c:spPr>
              <a:solidFill>
                <a:srgbClr val="C55A11"/>
              </a:solidFill>
            </c:spPr>
          </c:dPt>
          <c:cat>
            <c:strRef>
              <c:f>Sheet1!$A$2:$A$6</c:f>
              <c:strCache>
                <c:ptCount val="5"/>
                <c:pt idx="0">
                  <c:v>Cybersecurity learners</c:v>
                </c:pt>
                <c:pt idx="1">
                  <c:v>Digital marketing learners</c:v>
                </c:pt>
                <c:pt idx="2">
                  <c:v>Data analytics learners</c:v>
                </c:pt>
                <c:pt idx="3">
                  <c:v>Generative AI learners</c:v>
                </c:pt>
                <c:pt idx="4">
                  <c:v>Web development learners</c:v>
                </c:pt>
              </c:strCache>
            </c:strRef>
          </c:cat>
          <c:val>
            <c:numRef>
              <c:f>Sheet1!$B$2:$B$6</c:f>
              <c:numCache>
                <c:formatCode>0</c:formatCode>
                <c:ptCount val="5"/>
                <c:pt idx="0">
                  <c:v>43</c:v>
                </c:pt>
                <c:pt idx="1">
                  <c:v>33</c:v>
                </c:pt>
                <c:pt idx="2">
                  <c:v>18</c:v>
                </c:pt>
                <c:pt idx="3">
                  <c:v>13</c:v>
                </c:pt>
                <c:pt idx="4">
                  <c:v>13</c:v>
                </c:pt>
              </c:numCache>
            </c:numRef>
          </c:val>
        </c:ser>
        <c:dLbls>
          <c:numFmt formatCode="0" sourceLinked="0"/>
          <c:txPr>
            <a:bodyPr wrap="none"/>
            <a:lstStyle/>
            <a:p>
              <a:pPr>
                <a:defRPr sz="1600" b="1">
                  <a:solidFill>
                    <a:srgbClr val="000000"/>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
          <c:min val="0.0"/>
        </c:scaling>
        <c:delete val="0"/>
        <c:axPos val="b"/>
        <c:majorTickMark val="none"/>
        <c:minorTickMark val="none"/>
        <c:tickLblPos val="none"/>
        <c:spPr>
          <a:ln>
            <a:noFill/>
          </a:ln>
        </c:spPr>
        <c:crossAx val="79456312"/>
        <c:crosses val="autoZero"/>
      </c:valAx>
    </c:plotArea>
    <c:dispBlanksAs val="gap"/>
  </c:chart>
  <c:txPr>
    <a:bodyPr/>
    <a:lstStyle/>
    <a:p>
      <a:pPr>
        <a:defRPr sz="1600">
          <a:solidFill>
            <a:srgbClr val="00000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1F3864"/>
            </a:solidFill>
          </c:spPr>
          <c:dPt>
            <c:idx val="0"/>
            <c:spPr>
              <a:solidFill>
                <a:srgbClr val="C55A11"/>
              </a:solidFill>
            </c:spPr>
          </c:dPt>
          <c:cat>
            <c:strRef>
              <c:f>Sheet1!$A$2:$A$6</c:f>
              <c:strCache>
                <c:ptCount val="5"/>
                <c:pt idx="0">
                  <c:v>Cybersecurity learners</c:v>
                </c:pt>
                <c:pt idx="1">
                  <c:v>Digital marketing learners</c:v>
                </c:pt>
                <c:pt idx="2">
                  <c:v>Data analytics learners</c:v>
                </c:pt>
                <c:pt idx="3">
                  <c:v>Generative AI learners</c:v>
                </c:pt>
                <c:pt idx="4">
                  <c:v>Web development learners</c:v>
                </c:pt>
              </c:strCache>
            </c:strRef>
          </c:cat>
          <c:val>
            <c:numRef>
              <c:f>Sheet1!$B$2:$B$6</c:f>
              <c:numCache>
                <c:formatCode>0.00</c:formatCode>
                <c:ptCount val="5"/>
                <c:pt idx="0">
                  <c:v>4.5</c:v>
                </c:pt>
                <c:pt idx="1">
                  <c:v>3.5</c:v>
                </c:pt>
                <c:pt idx="2">
                  <c:v>2.75</c:v>
                </c:pt>
                <c:pt idx="3">
                  <c:v>2.85</c:v>
                </c:pt>
                <c:pt idx="4">
                  <c:v>2.2</c:v>
                </c:pt>
              </c:numCache>
            </c:numRef>
          </c:val>
        </c:ser>
        <c:dLbls>
          <c:numFmt formatCode="0.00" sourceLinked="0"/>
          <c:txPr>
            <a:bodyPr wrap="none"/>
            <a:lstStyle/>
            <a:p>
              <a:pPr>
                <a:defRPr sz="1600" b="1">
                  <a:solidFill>
                    <a:srgbClr val="000000"/>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
          <c:min val="0.0"/>
        </c:scaling>
        <c:delete val="0"/>
        <c:axPos val="b"/>
        <c:majorTickMark val="none"/>
        <c:minorTickMark val="none"/>
        <c:tickLblPos val="none"/>
        <c:spPr>
          <a:ln>
            <a:noFill/>
          </a:ln>
        </c:spPr>
        <c:crossAx val="79456312"/>
        <c:crosses val="autoZero"/>
      </c:valAx>
    </c:plotArea>
    <c:dispBlanksAs val="gap"/>
  </c:chart>
  <c:txPr>
    <a:bodyPr/>
    <a:lstStyle/>
    <a:p>
      <a:pPr>
        <a:defRPr sz="1600">
          <a:solidFill>
            <a:srgbClr val="00000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assignment is a market segmentation for a new business, SkillUp Academy, a digital-skills training academy. I designed a segmentation matrix with five target customer segments and used Google Trends to find the most attractive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SkillUp Academy will run short, practical courses online and at weekends. I segmented the customers by the skill they want to learn, because each skill matches a search term I could measure on Google Trends.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five target customer segments. For each one I describe who they are and what they want, and give the average Google Trends search interest for their skill in Nigeria over the past 12 months.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 Trends shows that cybersecurity learners search the most, with an average of 43, followed by digital marketing learners at 33. Cybersecurity reached 100 in April 2026 after news of a breach at the Corporate Affairs Commission, and it was the most searched in most states.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scored each segment from 1 to 5 on five factors: search interest, growth and spread across Nigeria from Google Trends, and ability to pay and competition from my own judgement. Each factor has a weight, and the weighted total is out of 5. Cybersecurity learners score 4.50,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bar chart shows the weighted scores. Cybersecurity learners come first with 4.50 out of 5, then digital marketing learners with 3.50.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learners are the most attractive segment because they search the most, their interest is growing and urgent after the CAC breach news, they are spread across the country, and they or their employers can pay. So I would launch with a cybersecurity course and add digital marketing next.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nchor="b"/>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4" name="Rectangle 3"/>
          <p:cNvSpPr/>
          <p:nvPr/>
        </p:nvSpPr>
        <p:spPr>
          <a:xfrm>
            <a:off x="1828800" y="1554480"/>
            <a:ext cx="8534400" cy="3657600"/>
          </a:xfrm>
          <a:prstGeom prst="rect">
            <a:avLst/>
          </a:prstGeom>
          <a:solidFill>
            <a:srgbClr val="FFFFFF"/>
          </a:solidFill>
          <a:ln>
            <a:noFill/>
          </a:ln>
          <a:effectLst>
            <a:outerShdw blurRad="63500" dist="25400" dir="5400000" algn="t"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920240" y="1645920"/>
            <a:ext cx="8351520" cy="3474720"/>
          </a:xfrm>
          <a:prstGeom prst="rect">
            <a:avLst/>
          </a:prstGeom>
          <a:noFill/>
          <a:ln w="12700">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2057400" y="2286000"/>
            <a:ext cx="8077200" cy="1005840"/>
          </a:xfrm>
        </p:spPr>
        <p:txBody>
          <a:bodyPr anchor="b"/>
          <a:lstStyle/>
          <a:p>
            <a:pPr algn="ctr"/>
            <a:r>
              <a:rPr sz="4400" b="1">
                <a:solidFill>
                  <a:srgbClr val="1F3864"/>
                </a:solidFill>
                <a:latin typeface="Cambria"/>
              </a:rPr>
              <a:t>MARKET SEGMENTATION</a:t>
            </a:r>
          </a:p>
        </p:txBody>
      </p:sp>
      <p:sp>
        <p:nvSpPr>
          <p:cNvPr id="3" name="Subtitle 2"/>
          <p:cNvSpPr>
            <a:spLocks noGrp="1"/>
          </p:cNvSpPr>
          <p:nvPr>
            <p:ph type="subTitle" idx="1"/>
          </p:nvPr>
        </p:nvSpPr>
        <p:spPr>
          <a:xfrm>
            <a:off x="2103120" y="3566160"/>
            <a:ext cx="7985760" cy="1417320"/>
          </a:xfrm>
        </p:spPr>
        <p:txBody>
          <a:bodyPr anchor="t"/>
          <a:lstStyle/>
          <a:p>
            <a:pPr algn="ctr">
              <a:spcAft>
                <a:spcPts val="600"/>
              </a:spcAft>
            </a:pPr>
            <a:r>
              <a:rPr sz="2400" b="0">
                <a:solidFill>
                  <a:srgbClr val="000000"/>
                </a:solidFill>
                <a:latin typeface="Calibri"/>
              </a:rPr>
              <a:t>SkillUp Academy: a new digital-skills training business</a:t>
            </a:r>
          </a:p>
          <a:p>
            <a:pPr algn="ctr">
              <a:spcAft>
                <a:spcPts val="600"/>
              </a:spcAft>
            </a:pPr>
            <a:r>
              <a:rPr sz="1600" b="0">
                <a:solidFill>
                  <a:srgbClr val="000000"/>
                </a:solidFill>
                <a:latin typeface="Calibri"/>
              </a:rPr>
              <a:t>Market Research Lab  ·  Google Trends, Nigeria, past 12 months</a:t>
            </a:r>
          </a:p>
        </p:txBody>
      </p:sp>
      <p:sp>
        <p:nvSpPr>
          <p:cNvPr id="6" name="Rectangle 5"/>
          <p:cNvSpPr/>
          <p:nvPr/>
        </p:nvSpPr>
        <p:spPr>
          <a:xfrm>
            <a:off x="5821680" y="0"/>
            <a:ext cx="548640" cy="1783080"/>
          </a:xfrm>
          <a:prstGeom prst="rect">
            <a:avLst/>
          </a:prstGeom>
          <a:solidFill>
            <a:srgbClr val="4E3B30"/>
          </a:solidFill>
          <a:ln>
            <a:noFill/>
          </a:ln>
          <a:effectLst>
            <a:outerShdw blurRad="63500" dist="25400" dir="5400000" algn="t"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21680" y="4983480"/>
            <a:ext cx="548640" cy="1874520"/>
          </a:xfrm>
          <a:prstGeom prst="rect">
            <a:avLst/>
          </a:prstGeom>
          <a:solidFill>
            <a:srgbClr val="4E3B30"/>
          </a:solidFill>
          <a:ln>
            <a:noFill/>
          </a:ln>
          <a:effectLst>
            <a:outerShdw blurRad="63500" dist="25400" dir="5400000" algn="t"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Straight Connector 7"/>
          <p:cNvCxnSpPr/>
          <p:nvPr/>
        </p:nvCxnSpPr>
        <p:spPr>
          <a:xfrm>
            <a:off x="2926080" y="3429000"/>
            <a:ext cx="6339840" cy="0"/>
          </a:xfrm>
          <a:prstGeom prst="line">
            <a:avLst/>
          </a:prstGeom>
          <a:ln w="19050">
            <a:solidFill>
              <a:srgbClr val="C55A11"/>
            </a:solidFill>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274320" y="274320"/>
            <a:ext cx="11643360" cy="6309360"/>
          </a:xfrm>
          <a:prstGeom prst="rect">
            <a:avLst/>
          </a:prstGeom>
          <a:noFill/>
          <a:ln w="12700">
            <a:solidFill>
              <a:srgbClr val="F4B1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502920"/>
            <a:ext cx="10728960" cy="731520"/>
          </a:xfrm>
        </p:spPr>
        <p:txBody>
          <a:bodyPr anchor="ctr"/>
          <a:lstStyle/>
          <a:p>
            <a:pPr algn="ctr"/>
            <a:r>
              <a:rPr sz="3600" b="1">
                <a:solidFill>
                  <a:srgbClr val="1F3864"/>
                </a:solidFill>
                <a:latin typeface="Cambria"/>
              </a:rPr>
              <a:t>The New Business</a:t>
            </a:r>
          </a:p>
        </p:txBody>
      </p:sp>
      <p:sp>
        <p:nvSpPr>
          <p:cNvPr id="7" name="Rectangle 6"/>
          <p:cNvSpPr/>
          <p:nvPr/>
        </p:nvSpPr>
        <p:spPr>
          <a:xfrm>
            <a:off x="914400" y="1965960"/>
            <a:ext cx="10363200" cy="406908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234440" y="2148840"/>
            <a:ext cx="9723120" cy="3703320"/>
          </a:xfrm>
        </p:spPr>
        <p:txBody>
          <a:bodyPr anchor="ctr"/>
          <a:lstStyle/>
          <a:p>
            <a:pPr>
              <a:spcAft>
                <a:spcPts val="1000"/>
              </a:spcAft>
            </a:pPr>
            <a:r>
              <a:rPr sz="2400" b="1">
                <a:solidFill>
                  <a:srgbClr val="1F3864"/>
                </a:solidFill>
                <a:latin typeface="Calibri"/>
              </a:rPr>
              <a:t>SkillUp Academy</a:t>
            </a:r>
            <a:r>
              <a:rPr sz="2400" b="0">
                <a:solidFill>
                  <a:srgbClr val="000000"/>
                </a:solidFill>
                <a:latin typeface="Calibri"/>
              </a:rPr>
              <a:t> will teach short, practical digital-skills courses.</a:t>
            </a:r>
          </a:p>
          <a:p>
            <a:pPr>
              <a:spcAft>
                <a:spcPts val="1000"/>
              </a:spcAft>
            </a:pPr>
            <a:r>
              <a:rPr sz="2400" b="0">
                <a:solidFill>
                  <a:srgbClr val="000000"/>
                </a:solidFill>
                <a:latin typeface="Calibri"/>
              </a:rPr>
              <a:t>Classes will run online and at weekends, so students and workers can attend.</a:t>
            </a:r>
          </a:p>
          <a:p>
            <a:pPr>
              <a:spcAft>
                <a:spcPts val="1000"/>
              </a:spcAft>
            </a:pPr>
            <a:r>
              <a:rPr sz="2400" b="0">
                <a:solidFill>
                  <a:srgbClr val="000000"/>
                </a:solidFill>
                <a:latin typeface="Calibri"/>
              </a:rPr>
              <a:t>Customers are grouped by the skill they want to learn, which gives </a:t>
            </a:r>
            <a:r>
              <a:rPr sz="2400" b="1">
                <a:solidFill>
                  <a:srgbClr val="1F3864"/>
                </a:solidFill>
                <a:latin typeface="Calibri"/>
              </a:rPr>
              <a:t>five segments</a:t>
            </a:r>
            <a:r>
              <a:rPr sz="2400" b="0">
                <a:solidFill>
                  <a:srgbClr val="000000"/>
                </a:solidFill>
                <a:latin typeface="Calibri"/>
              </a:rPr>
              <a:t>.</a:t>
            </a:r>
          </a:p>
          <a:p>
            <a:pPr>
              <a:spcAft>
                <a:spcPts val="1000"/>
              </a:spcAft>
            </a:pPr>
            <a:r>
              <a:rPr sz="2400" b="0">
                <a:solidFill>
                  <a:srgbClr val="000000"/>
                </a:solidFill>
                <a:latin typeface="Calibri"/>
              </a:rPr>
              <a:t>Google Trends shows how much each segment searches, and a scoring matrix picks the best one.</a:t>
            </a:r>
          </a:p>
        </p:txBody>
      </p:sp>
      <p:cxnSp>
        <p:nvCxnSpPr>
          <p:cNvPr id="5" name="Straight Connector 4"/>
          <p:cNvCxnSpPr/>
          <p:nvPr/>
        </p:nvCxnSpPr>
        <p:spPr>
          <a:xfrm>
            <a:off x="914400" y="1298448"/>
            <a:ext cx="10363200" cy="0"/>
          </a:xfrm>
          <a:prstGeom prst="line">
            <a:avLst/>
          </a:prstGeom>
          <a:ln w="19050">
            <a:solidFill>
              <a:srgbClr val="C55A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31520" y="1371600"/>
            <a:ext cx="10728960" cy="411480"/>
          </a:xfrm>
          <a:prstGeom prst="rect">
            <a:avLst/>
          </a:prstGeom>
          <a:noFill/>
        </p:spPr>
        <p:txBody>
          <a:bodyPr wrap="square">
            <a:spAutoFit/>
          </a:bodyPr>
          <a:lstStyle/>
          <a:p>
            <a:pPr algn="ctr"/>
            <a:r>
              <a:rPr sz="1800" b="0">
                <a:solidFill>
                  <a:srgbClr val="404040"/>
                </a:solidFill>
                <a:latin typeface="Calibri"/>
              </a:rPr>
              <a:t>What I plan to launch, and how I chose who to sell to</a:t>
            </a:r>
          </a:p>
        </p:txBody>
      </p:sp>
    </p:spTree>
  </p:cSld>
  <p:clrMapOvr>
    <a:masterClrMapping/>
  </p:clrMapOvr>
  <p:transition spd="med">
    <p:push dir="u"/>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274320" y="274320"/>
            <a:ext cx="11643360" cy="6309360"/>
          </a:xfrm>
          <a:prstGeom prst="rect">
            <a:avLst/>
          </a:prstGeom>
          <a:noFill/>
          <a:ln w="12700">
            <a:solidFill>
              <a:srgbClr val="F4B1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502920"/>
            <a:ext cx="10728960" cy="731520"/>
          </a:xfrm>
        </p:spPr>
        <p:txBody>
          <a:bodyPr anchor="ctr"/>
          <a:lstStyle/>
          <a:p>
            <a:pPr algn="ctr"/>
            <a:r>
              <a:rPr sz="3600" b="1">
                <a:solidFill>
                  <a:srgbClr val="1F3864"/>
                </a:solidFill>
                <a:latin typeface="Cambria"/>
              </a:rPr>
              <a:t>Segmentation Matrix</a:t>
            </a:r>
          </a:p>
        </p:txBody>
      </p:sp>
      <p:graphicFrame>
        <p:nvGraphicFramePr>
          <p:cNvPr id="3" name="Content Placeholder 2"/>
          <p:cNvGraphicFramePr>
            <a:graphicFrameLocks noGrp="1"/>
          </p:cNvGraphicFramePr>
          <p:nvPr>
            <p:ph idx="1"/>
          </p:nvPr>
        </p:nvGraphicFramePr>
        <p:xfrm>
          <a:off x="655320" y="1965960"/>
          <a:ext cx="10881360" cy="3703320"/>
        </p:xfrm>
        <a:graphic>
          <a:graphicData uri="http://schemas.openxmlformats.org/drawingml/2006/table">
            <a:tbl>
              <a:tblPr firstRow="1">
                <a:tableStyleId>{5940675A-B579-460E-94D1-54222C63F5DA}</a:tableStyleId>
              </a:tblPr>
              <a:tblGrid>
                <a:gridCol w="2651760"/>
                <a:gridCol w="3931920"/>
                <a:gridCol w="2834640"/>
                <a:gridCol w="1463040"/>
              </a:tblGrid>
              <a:tr h="502920">
                <a:tc>
                  <a:txBody>
                    <a:bodyPr/>
                    <a:lstStyle/>
                    <a:p>
                      <a:pPr algn="l"/>
                      <a:r>
                        <a:rPr sz="1500" b="1">
                          <a:solidFill>
                            <a:srgbClr val="FFFFFF"/>
                          </a:solidFill>
                          <a:latin typeface="Calibri"/>
                        </a:rPr>
                        <a:t>Segment</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c>
                  <a:txBody>
                    <a:bodyPr/>
                    <a:lstStyle/>
                    <a:p>
                      <a:pPr algn="l"/>
                      <a:r>
                        <a:rPr sz="1500" b="1">
                          <a:solidFill>
                            <a:srgbClr val="FFFFFF"/>
                          </a:solidFill>
                          <a:latin typeface="Calibri"/>
                        </a:rPr>
                        <a:t>Who they are</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c>
                  <a:txBody>
                    <a:bodyPr/>
                    <a:lstStyle/>
                    <a:p>
                      <a:pPr algn="l"/>
                      <a:r>
                        <a:rPr sz="1500" b="1">
                          <a:solidFill>
                            <a:srgbClr val="FFFFFF"/>
                          </a:solidFill>
                          <a:latin typeface="Calibri"/>
                        </a:rPr>
                        <a:t>What they want</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c>
                  <a:txBody>
                    <a:bodyPr/>
                    <a:lstStyle/>
                    <a:p>
                      <a:pPr algn="ctr"/>
                      <a:r>
                        <a:rPr sz="1500" b="1">
                          <a:solidFill>
                            <a:srgbClr val="FFFFFF"/>
                          </a:solidFill>
                          <a:latin typeface="Calibri"/>
                        </a:rPr>
                        <a:t>Search interest</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r>
              <a:tr h="640080">
                <a:tc>
                  <a:txBody>
                    <a:bodyPr/>
                    <a:lstStyle/>
                    <a:p>
                      <a:pPr algn="l"/>
                      <a:r>
                        <a:rPr sz="1500" b="1">
                          <a:solidFill>
                            <a:srgbClr val="000000"/>
                          </a:solidFill>
                          <a:latin typeface="Calibri"/>
                        </a:rPr>
                        <a:t>Cybersecurity learners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l"/>
                      <a:r>
                        <a:rPr sz="1500" b="0">
                          <a:solidFill>
                            <a:srgbClr val="000000"/>
                          </a:solidFill>
                          <a:latin typeface="Calibri"/>
                        </a:rPr>
                        <a:t>IT students, and staff of banks, telecoms and government</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l"/>
                      <a:r>
                        <a:rPr sz="1500" b="0">
                          <a:solidFill>
                            <a:srgbClr val="000000"/>
                          </a:solidFill>
                          <a:latin typeface="Calibri"/>
                        </a:rPr>
                        <a:t>To protect systems and get security jobs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500" b="0">
                          <a:solidFill>
                            <a:srgbClr val="000000"/>
                          </a:solidFill>
                          <a:latin typeface="Calibri"/>
                        </a:rPr>
                        <a:t>43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r>
              <a:tr h="640080">
                <a:tc>
                  <a:txBody>
                    <a:bodyPr/>
                    <a:lstStyle/>
                    <a:p>
                      <a:pPr algn="l"/>
                      <a:r>
                        <a:rPr sz="1500" b="1">
                          <a:solidFill>
                            <a:srgbClr val="000000"/>
                          </a:solidFill>
                          <a:latin typeface="Calibri"/>
                        </a:rPr>
                        <a:t>Digital marketing learners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c>
                  <a:txBody>
                    <a:bodyPr/>
                    <a:lstStyle/>
                    <a:p>
                      <a:pPr algn="l"/>
                      <a:r>
                        <a:rPr sz="1500" b="0">
                          <a:solidFill>
                            <a:srgbClr val="000000"/>
                          </a:solidFill>
                          <a:latin typeface="Calibri"/>
                        </a:rPr>
                        <a:t>Small business owners, traders and social media managers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c>
                  <a:txBody>
                    <a:bodyPr/>
                    <a:lstStyle/>
                    <a:p>
                      <a:pPr algn="l"/>
                      <a:r>
                        <a:rPr sz="1500" b="0">
                          <a:solidFill>
                            <a:srgbClr val="000000"/>
                          </a:solidFill>
                          <a:latin typeface="Calibri"/>
                        </a:rPr>
                        <a:t>To sell more online with social media and adverts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c>
                  <a:txBody>
                    <a:bodyPr/>
                    <a:lstStyle/>
                    <a:p>
                      <a:pPr algn="ctr"/>
                      <a:r>
                        <a:rPr sz="1500" b="0">
                          <a:solidFill>
                            <a:srgbClr val="000000"/>
                          </a:solidFill>
                          <a:latin typeface="Calibri"/>
                        </a:rPr>
                        <a:t>33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r>
              <a:tr h="640080">
                <a:tc>
                  <a:txBody>
                    <a:bodyPr/>
                    <a:lstStyle/>
                    <a:p>
                      <a:pPr algn="l"/>
                      <a:r>
                        <a:rPr sz="1500" b="1">
                          <a:solidFill>
                            <a:srgbClr val="000000"/>
                          </a:solidFill>
                          <a:latin typeface="Calibri"/>
                        </a:rPr>
                        <a:t>Data analytics learners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l"/>
                      <a:r>
                        <a:rPr sz="1500" b="0">
                          <a:solidFill>
                            <a:srgbClr val="000000"/>
                          </a:solidFill>
                          <a:latin typeface="Calibri"/>
                        </a:rPr>
                        <a:t>Graduates, and staff in finance, NGOs and research</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l"/>
                      <a:r>
                        <a:rPr sz="1500" b="0">
                          <a:solidFill>
                            <a:srgbClr val="000000"/>
                          </a:solidFill>
                          <a:latin typeface="Calibri"/>
                        </a:rPr>
                        <a:t>Data skills for better jobs and decisions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500" b="0">
                          <a:solidFill>
                            <a:srgbClr val="000000"/>
                          </a:solidFill>
                          <a:latin typeface="Calibri"/>
                        </a:rPr>
                        <a:t>18</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r>
              <a:tr h="640080">
                <a:tc>
                  <a:txBody>
                    <a:bodyPr/>
                    <a:lstStyle/>
                    <a:p>
                      <a:pPr algn="l"/>
                      <a:r>
                        <a:rPr sz="1500" b="1">
                          <a:solidFill>
                            <a:srgbClr val="000000"/>
                          </a:solidFill>
                          <a:latin typeface="Calibri"/>
                        </a:rPr>
                        <a:t>Generative AI learners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c>
                  <a:txBody>
                    <a:bodyPr/>
                    <a:lstStyle/>
                    <a:p>
                      <a:pPr algn="l"/>
                      <a:r>
                        <a:rPr sz="1500" b="0">
                          <a:solidFill>
                            <a:srgbClr val="000000"/>
                          </a:solidFill>
                          <a:latin typeface="Calibri"/>
                        </a:rPr>
                        <a:t>Students, content creators and office workers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c>
                  <a:txBody>
                    <a:bodyPr/>
                    <a:lstStyle/>
                    <a:p>
                      <a:pPr algn="l"/>
                      <a:r>
                        <a:rPr sz="1500" b="0">
                          <a:solidFill>
                            <a:srgbClr val="000000"/>
                          </a:solidFill>
                          <a:latin typeface="Calibri"/>
                        </a:rPr>
                        <a:t>To use AI tools and prompts to work faster</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c>
                  <a:txBody>
                    <a:bodyPr/>
                    <a:lstStyle/>
                    <a:p>
                      <a:pPr algn="ctr"/>
                      <a:r>
                        <a:rPr sz="1500" b="0">
                          <a:solidFill>
                            <a:srgbClr val="000000"/>
                          </a:solidFill>
                          <a:latin typeface="Calibri"/>
                        </a:rPr>
                        <a:t>13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r>
              <a:tr h="640080">
                <a:tc>
                  <a:txBody>
                    <a:bodyPr/>
                    <a:lstStyle/>
                    <a:p>
                      <a:pPr algn="l"/>
                      <a:r>
                        <a:rPr sz="1500" b="1">
                          <a:solidFill>
                            <a:srgbClr val="000000"/>
                          </a:solidFill>
                          <a:latin typeface="Calibri"/>
                        </a:rPr>
                        <a:t>Web development learners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l"/>
                      <a:r>
                        <a:rPr sz="1500" b="0">
                          <a:solidFill>
                            <a:srgbClr val="000000"/>
                          </a:solidFill>
                          <a:latin typeface="Calibri"/>
                        </a:rPr>
                        <a:t>Young people and freelancers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l"/>
                      <a:r>
                        <a:rPr sz="1500" b="0">
                          <a:solidFill>
                            <a:srgbClr val="000000"/>
                          </a:solidFill>
                          <a:latin typeface="Calibri"/>
                        </a:rPr>
                        <a:t>To build websites and apps for clients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500" b="0">
                          <a:solidFill>
                            <a:srgbClr val="000000"/>
                          </a:solidFill>
                          <a:latin typeface="Calibri"/>
                        </a:rPr>
                        <a:t>13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r>
            </a:tbl>
          </a:graphicData>
        </a:graphic>
      </p:graphicFrame>
      <p:cxnSp>
        <p:nvCxnSpPr>
          <p:cNvPr id="5" name="Straight Connector 4"/>
          <p:cNvCxnSpPr/>
          <p:nvPr/>
        </p:nvCxnSpPr>
        <p:spPr>
          <a:xfrm>
            <a:off x="914400" y="1298448"/>
            <a:ext cx="10363200" cy="0"/>
          </a:xfrm>
          <a:prstGeom prst="line">
            <a:avLst/>
          </a:prstGeom>
          <a:ln w="19050">
            <a:solidFill>
              <a:srgbClr val="C55A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31520" y="1371600"/>
            <a:ext cx="10728960" cy="411480"/>
          </a:xfrm>
          <a:prstGeom prst="rect">
            <a:avLst/>
          </a:prstGeom>
          <a:noFill/>
        </p:spPr>
        <p:txBody>
          <a:bodyPr wrap="square">
            <a:spAutoFit/>
          </a:bodyPr>
          <a:lstStyle/>
          <a:p>
            <a:pPr algn="ctr"/>
            <a:r>
              <a:rPr sz="1800" b="0">
                <a:solidFill>
                  <a:srgbClr val="404040"/>
                </a:solidFill>
                <a:latin typeface="Calibri"/>
              </a:rPr>
              <a:t>Five target customer segments for SkillUp Academy</a:t>
            </a:r>
          </a:p>
        </p:txBody>
      </p:sp>
      <p:sp>
        <p:nvSpPr>
          <p:cNvPr id="7" name="TextBox 6"/>
          <p:cNvSpPr txBox="1"/>
          <p:nvPr/>
        </p:nvSpPr>
        <p:spPr>
          <a:xfrm>
            <a:off x="731520" y="5806440"/>
            <a:ext cx="10728960" cy="365760"/>
          </a:xfrm>
          <a:prstGeom prst="rect">
            <a:avLst/>
          </a:prstGeom>
          <a:noFill/>
        </p:spPr>
        <p:txBody>
          <a:bodyPr wrap="square">
            <a:spAutoFit/>
          </a:bodyPr>
          <a:lstStyle/>
          <a:p>
            <a:pPr algn="ctr"/>
            <a:r>
              <a:rPr sz="1400" b="0">
                <a:solidFill>
                  <a:srgbClr val="404040"/>
                </a:solidFill>
                <a:latin typeface="Calibri"/>
              </a:rPr>
              <a:t>Search interest: the average Google Trends score in Nigeria over the past 12 months (0 to 100).</a:t>
            </a:r>
          </a:p>
        </p:txBody>
      </p:sp>
    </p:spTree>
  </p:cSld>
  <p:clrMapOvr>
    <a:masterClrMapping/>
  </p:clrMapOvr>
  <p:transition spd="med">
    <p:wipe dir="r"/>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274320" y="274320"/>
            <a:ext cx="11643360" cy="6309360"/>
          </a:xfrm>
          <a:prstGeom prst="rect">
            <a:avLst/>
          </a:prstGeom>
          <a:noFill/>
          <a:ln w="12700">
            <a:solidFill>
              <a:srgbClr val="F4B1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502920"/>
            <a:ext cx="10728960" cy="731520"/>
          </a:xfrm>
        </p:spPr>
        <p:txBody>
          <a:bodyPr anchor="ctr"/>
          <a:lstStyle/>
          <a:p>
            <a:pPr algn="ctr"/>
            <a:r>
              <a:rPr sz="3600" b="1">
                <a:solidFill>
                  <a:srgbClr val="1F3864"/>
                </a:solidFill>
                <a:latin typeface="Cambria"/>
              </a:rPr>
              <a:t>Google Trends Research</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914400" y="1298448"/>
            <a:ext cx="10363200" cy="0"/>
          </a:xfrm>
          <a:prstGeom prst="line">
            <a:avLst/>
          </a:prstGeom>
          <a:ln w="19050">
            <a:solidFill>
              <a:srgbClr val="C55A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31520" y="1371600"/>
            <a:ext cx="10728960" cy="411480"/>
          </a:xfrm>
          <a:prstGeom prst="rect">
            <a:avLst/>
          </a:prstGeom>
          <a:noFill/>
        </p:spPr>
        <p:txBody>
          <a:bodyPr wrap="square">
            <a:spAutoFit/>
          </a:bodyPr>
          <a:lstStyle/>
          <a:p>
            <a:pPr algn="ctr"/>
            <a:r>
              <a:rPr sz="1800" b="0">
                <a:solidFill>
                  <a:srgbClr val="404040"/>
                </a:solidFill>
                <a:latin typeface="Calibri"/>
              </a:rPr>
              <a:t>Average search interest in Nigeria over the past 12 months (0 to 100)</a:t>
            </a:r>
          </a:p>
        </p:txBody>
      </p:sp>
      <p:sp>
        <p:nvSpPr>
          <p:cNvPr id="7" name="Rectangle 6"/>
          <p:cNvSpPr/>
          <p:nvPr/>
        </p:nvSpPr>
        <p:spPr>
          <a:xfrm>
            <a:off x="7818120" y="1965960"/>
            <a:ext cx="3596640" cy="40233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0" y="2148840"/>
            <a:ext cx="3139440" cy="3657600"/>
          </a:xfrm>
          <a:prstGeom prst="rect">
            <a:avLst/>
          </a:prstGeom>
          <a:noFill/>
        </p:spPr>
        <p:txBody>
          <a:bodyPr wrap="square" anchor="ctr">
            <a:spAutoFit/>
          </a:bodyPr>
          <a:lstStyle/>
          <a:p>
            <a:pPr>
              <a:spcAft>
                <a:spcPts val="1200"/>
              </a:spcAft>
            </a:pPr>
            <a:r>
              <a:rPr sz="1700" b="1">
                <a:solidFill>
                  <a:srgbClr val="000000"/>
                </a:solidFill>
                <a:latin typeface="Calibri"/>
              </a:rPr>
              <a:t>Highest interest: </a:t>
            </a:r>
            <a:r>
              <a:rPr sz="1700" b="0">
                <a:solidFill>
                  <a:srgbClr val="000000"/>
                </a:solidFill>
                <a:latin typeface="Calibri"/>
              </a:rPr>
              <a:t>Cybersecurity led almost all year and reached 100 in April 2026.</a:t>
            </a:r>
          </a:p>
          <a:p>
            <a:pPr>
              <a:spcAft>
                <a:spcPts val="1200"/>
              </a:spcAft>
            </a:pPr>
            <a:r>
              <a:rPr sz="1700" b="1">
                <a:solidFill>
                  <a:srgbClr val="000000"/>
                </a:solidFill>
                <a:latin typeface="Calibri"/>
              </a:rPr>
              <a:t>Widest reach: </a:t>
            </a:r>
            <a:r>
              <a:rPr sz="1700" b="0">
                <a:solidFill>
                  <a:srgbClr val="000000"/>
                </a:solidFill>
                <a:latin typeface="Calibri"/>
              </a:rPr>
              <a:t>it was the most searched in most states; Digital Marketing led in some southern states.</a:t>
            </a:r>
          </a:p>
          <a:p>
            <a:pPr>
              <a:spcAft>
                <a:spcPts val="1200"/>
              </a:spcAft>
            </a:pPr>
            <a:r>
              <a:rPr sz="1700" b="1">
                <a:solidFill>
                  <a:srgbClr val="000000"/>
                </a:solidFill>
                <a:latin typeface="Calibri"/>
              </a:rPr>
              <a:t>What people want: </a:t>
            </a:r>
            <a:r>
              <a:rPr sz="1700" b="0">
                <a:solidFill>
                  <a:srgbClr val="000000"/>
                </a:solidFill>
                <a:latin typeface="Calibri"/>
              </a:rPr>
              <a:t>many related searches ask for free courses.</a:t>
            </a:r>
          </a:p>
        </p:txBody>
      </p:sp>
    </p:spTree>
  </p:cSld>
  <p:clrMapOvr>
    <a:masterClrMapping/>
  </p:clrMapOvr>
  <p:transition spd="med">
    <p:split orient="vert" dir="out"/>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274320" y="274320"/>
            <a:ext cx="11643360" cy="6309360"/>
          </a:xfrm>
          <a:prstGeom prst="rect">
            <a:avLst/>
          </a:prstGeom>
          <a:noFill/>
          <a:ln w="12700">
            <a:solidFill>
              <a:srgbClr val="F4B1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502920"/>
            <a:ext cx="10728960" cy="731520"/>
          </a:xfrm>
        </p:spPr>
        <p:txBody>
          <a:bodyPr anchor="ctr"/>
          <a:lstStyle/>
          <a:p>
            <a:pPr algn="ctr"/>
            <a:r>
              <a:rPr sz="3600" b="1">
                <a:solidFill>
                  <a:srgbClr val="1F3864"/>
                </a:solidFill>
                <a:latin typeface="Cambria"/>
              </a:rPr>
              <a:t>Attractiveness Scores</a:t>
            </a:r>
          </a:p>
        </p:txBody>
      </p:sp>
      <p:graphicFrame>
        <p:nvGraphicFramePr>
          <p:cNvPr id="3" name="Content Placeholder 2"/>
          <p:cNvGraphicFramePr>
            <a:graphicFrameLocks noGrp="1"/>
          </p:cNvGraphicFramePr>
          <p:nvPr>
            <p:ph idx="1"/>
          </p:nvPr>
        </p:nvGraphicFramePr>
        <p:xfrm>
          <a:off x="723900" y="1965960"/>
          <a:ext cx="10744200" cy="3383280"/>
        </p:xfrm>
        <a:graphic>
          <a:graphicData uri="http://schemas.openxmlformats.org/drawingml/2006/table">
            <a:tbl>
              <a:tblPr firstRow="1">
                <a:tableStyleId>{5940675A-B579-460E-94D1-54222C63F5DA}</a:tableStyleId>
              </a:tblPr>
              <a:tblGrid>
                <a:gridCol w="2743200"/>
                <a:gridCol w="1325880"/>
                <a:gridCol w="1325880"/>
                <a:gridCol w="1325880"/>
                <a:gridCol w="1325880"/>
                <a:gridCol w="1325880"/>
                <a:gridCol w="1371600"/>
              </a:tblGrid>
              <a:tr h="731520">
                <a:tc>
                  <a:txBody>
                    <a:bodyPr/>
                    <a:lstStyle/>
                    <a:p>
                      <a:pPr algn="l"/>
                      <a:r>
                        <a:rPr sz="1600" b="1">
                          <a:solidFill>
                            <a:srgbClr val="FFFFFF"/>
                          </a:solidFill>
                          <a:latin typeface="Calibri"/>
                        </a:rPr>
                        <a:t>Segment</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c>
                  <a:txBody>
                    <a:bodyPr/>
                    <a:lstStyle/>
                    <a:p>
                      <a:pPr algn="ctr"/>
                      <a:r>
                        <a:rPr sz="1600" b="1">
                          <a:solidFill>
                            <a:srgbClr val="FFFFFF"/>
                          </a:solidFill>
                          <a:latin typeface="Calibri"/>
                        </a:rPr>
                        <a:t>Interest (30%)</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c>
                  <a:txBody>
                    <a:bodyPr/>
                    <a:lstStyle/>
                    <a:p>
                      <a:pPr algn="ctr"/>
                      <a:r>
                        <a:rPr sz="1600" b="1">
                          <a:solidFill>
                            <a:srgbClr val="FFFFFF"/>
                          </a:solidFill>
                          <a:latin typeface="Calibri"/>
                        </a:rPr>
                        <a:t>Growth (20%)</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c>
                  <a:txBody>
                    <a:bodyPr/>
                    <a:lstStyle/>
                    <a:p>
                      <a:pPr algn="ctr"/>
                      <a:r>
                        <a:rPr sz="1600" b="1">
                          <a:solidFill>
                            <a:srgbClr val="FFFFFF"/>
                          </a:solidFill>
                          <a:latin typeface="Calibri"/>
                        </a:rPr>
                        <a:t>Spread (15%)</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c>
                  <a:txBody>
                    <a:bodyPr/>
                    <a:lstStyle/>
                    <a:p>
                      <a:pPr algn="ctr"/>
                      <a:r>
                        <a:rPr sz="1600" b="1">
                          <a:solidFill>
                            <a:srgbClr val="FFFFFF"/>
                          </a:solidFill>
                          <a:latin typeface="Calibri"/>
                        </a:rPr>
                        <a:t>Ability to pay (20%)</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c>
                  <a:txBody>
                    <a:bodyPr/>
                    <a:lstStyle/>
                    <a:p>
                      <a:pPr algn="ctr"/>
                      <a:r>
                        <a:rPr sz="1600" b="1">
                          <a:solidFill>
                            <a:srgbClr val="FFFFFF"/>
                          </a:solidFill>
                          <a:latin typeface="Calibri"/>
                        </a:rPr>
                        <a:t>Competition (15%)</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c>
                  <a:txBody>
                    <a:bodyPr/>
                    <a:lstStyle/>
                    <a:p>
                      <a:pPr algn="ctr"/>
                      <a:r>
                        <a:rPr sz="1600" b="1">
                          <a:solidFill>
                            <a:srgbClr val="FFFFFF"/>
                          </a:solidFill>
                          <a:latin typeface="Calibri"/>
                        </a:rPr>
                        <a:t>Score (of 5)</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1F3864"/>
                    </a:solidFill>
                  </a:tcPr>
                </a:tc>
              </a:tr>
              <a:tr h="530352">
                <a:tc>
                  <a:txBody>
                    <a:bodyPr/>
                    <a:lstStyle/>
                    <a:p>
                      <a:pPr algn="l"/>
                      <a:r>
                        <a:rPr sz="1600" b="1">
                          <a:solidFill>
                            <a:srgbClr val="000000"/>
                          </a:solidFill>
                          <a:latin typeface="Calibri"/>
                        </a:rPr>
                        <a:t>Cybersecurity learners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1">
                          <a:solidFill>
                            <a:srgbClr val="000000"/>
                          </a:solidFill>
                          <a:latin typeface="Calibri"/>
                        </a:rPr>
                        <a:t>5</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1">
                          <a:solidFill>
                            <a:srgbClr val="000000"/>
                          </a:solidFill>
                          <a:latin typeface="Calibri"/>
                        </a:rPr>
                        <a:t>5</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1">
                          <a:solidFill>
                            <a:srgbClr val="000000"/>
                          </a:solidFill>
                          <a:latin typeface="Calibri"/>
                        </a:rPr>
                        <a:t>5</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1">
                          <a:solidFill>
                            <a:srgbClr val="000000"/>
                          </a:solidFill>
                          <a:latin typeface="Calibri"/>
                        </a:rPr>
                        <a:t>4</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1">
                          <a:solidFill>
                            <a:srgbClr val="000000"/>
                          </a:solidFill>
                          <a:latin typeface="Calibri"/>
                        </a:rPr>
                        <a:t>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1">
                          <a:solidFill>
                            <a:srgbClr val="000000"/>
                          </a:solidFill>
                          <a:latin typeface="Calibri"/>
                        </a:rPr>
                        <a:t>4.50</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r>
              <a:tr h="530352">
                <a:tc>
                  <a:txBody>
                    <a:bodyPr/>
                    <a:lstStyle/>
                    <a:p>
                      <a:pPr algn="l"/>
                      <a:r>
                        <a:rPr sz="1600" b="0">
                          <a:solidFill>
                            <a:srgbClr val="000000"/>
                          </a:solidFill>
                          <a:latin typeface="Calibri"/>
                        </a:rPr>
                        <a:t>Digital marketing learners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c>
                  <a:txBody>
                    <a:bodyPr/>
                    <a:lstStyle/>
                    <a:p>
                      <a:pPr algn="ctr"/>
                      <a:r>
                        <a:rPr sz="1600" b="0">
                          <a:solidFill>
                            <a:srgbClr val="000000"/>
                          </a:solidFill>
                          <a:latin typeface="Calibri"/>
                        </a:rPr>
                        <a:t>4</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c>
                  <a:txBody>
                    <a:bodyPr/>
                    <a:lstStyle/>
                    <a:p>
                      <a:pPr algn="ctr"/>
                      <a:r>
                        <a:rPr sz="1600" b="0">
                          <a:solidFill>
                            <a:srgbClr val="000000"/>
                          </a:solidFill>
                          <a:latin typeface="Calibri"/>
                        </a:rPr>
                        <a:t>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c>
                  <a:txBody>
                    <a:bodyPr/>
                    <a:lstStyle/>
                    <a:p>
                      <a:pPr algn="ctr"/>
                      <a:r>
                        <a:rPr sz="1600" b="0">
                          <a:solidFill>
                            <a:srgbClr val="000000"/>
                          </a:solidFill>
                          <a:latin typeface="Calibri"/>
                        </a:rPr>
                        <a:t>4</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c>
                  <a:txBody>
                    <a:bodyPr/>
                    <a:lstStyle/>
                    <a:p>
                      <a:pPr algn="ctr"/>
                      <a:r>
                        <a:rPr sz="1600" b="0">
                          <a:solidFill>
                            <a:srgbClr val="000000"/>
                          </a:solidFill>
                          <a:latin typeface="Calibri"/>
                        </a:rPr>
                        <a:t>4</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c>
                  <a:txBody>
                    <a:bodyPr/>
                    <a:lstStyle/>
                    <a:p>
                      <a:pPr algn="ctr"/>
                      <a:r>
                        <a:rPr sz="1600" b="0">
                          <a:solidFill>
                            <a:srgbClr val="000000"/>
                          </a:solidFill>
                          <a:latin typeface="Calibri"/>
                        </a:rPr>
                        <a:t>2</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c>
                  <a:txBody>
                    <a:bodyPr/>
                    <a:lstStyle/>
                    <a:p>
                      <a:pPr algn="ctr"/>
                      <a:r>
                        <a:rPr sz="1600" b="0">
                          <a:solidFill>
                            <a:srgbClr val="000000"/>
                          </a:solidFill>
                          <a:latin typeface="Calibri"/>
                        </a:rPr>
                        <a:t>3.50</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r>
              <a:tr h="530352">
                <a:tc>
                  <a:txBody>
                    <a:bodyPr/>
                    <a:lstStyle/>
                    <a:p>
                      <a:pPr algn="l"/>
                      <a:r>
                        <a:rPr sz="1600" b="0">
                          <a:solidFill>
                            <a:srgbClr val="000000"/>
                          </a:solidFill>
                          <a:latin typeface="Calibri"/>
                        </a:rPr>
                        <a:t>Data analytics learners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2</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2</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4</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2.75</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r>
              <a:tr h="530352">
                <a:tc>
                  <a:txBody>
                    <a:bodyPr/>
                    <a:lstStyle/>
                    <a:p>
                      <a:pPr algn="l"/>
                      <a:r>
                        <a:rPr sz="1600" b="0">
                          <a:solidFill>
                            <a:srgbClr val="000000"/>
                          </a:solidFill>
                          <a:latin typeface="Calibri"/>
                        </a:rPr>
                        <a:t>Generative AI learners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c>
                  <a:txBody>
                    <a:bodyPr/>
                    <a:lstStyle/>
                    <a:p>
                      <a:pPr algn="ctr"/>
                      <a:r>
                        <a:rPr sz="1600" b="0">
                          <a:solidFill>
                            <a:srgbClr val="000000"/>
                          </a:solidFill>
                          <a:latin typeface="Calibri"/>
                        </a:rPr>
                        <a:t>2</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c>
                  <a:txBody>
                    <a:bodyPr/>
                    <a:lstStyle/>
                    <a:p>
                      <a:pPr algn="ctr"/>
                      <a:r>
                        <a:rPr sz="1600" b="0">
                          <a:solidFill>
                            <a:srgbClr val="000000"/>
                          </a:solidFill>
                          <a:latin typeface="Calibri"/>
                        </a:rPr>
                        <a:t>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c>
                  <a:txBody>
                    <a:bodyPr/>
                    <a:lstStyle/>
                    <a:p>
                      <a:pPr algn="ctr"/>
                      <a:r>
                        <a:rPr sz="1600" b="0">
                          <a:solidFill>
                            <a:srgbClr val="000000"/>
                          </a:solidFill>
                          <a:latin typeface="Calibri"/>
                        </a:rPr>
                        <a:t>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c>
                  <a:txBody>
                    <a:bodyPr/>
                    <a:lstStyle/>
                    <a:p>
                      <a:pPr algn="ctr"/>
                      <a:r>
                        <a:rPr sz="1600" b="0">
                          <a:solidFill>
                            <a:srgbClr val="000000"/>
                          </a:solidFill>
                          <a:latin typeface="Calibri"/>
                        </a:rPr>
                        <a:t>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c>
                  <a:txBody>
                    <a:bodyPr/>
                    <a:lstStyle/>
                    <a:p>
                      <a:pPr algn="ctr"/>
                      <a:r>
                        <a:rPr sz="1600" b="0">
                          <a:solidFill>
                            <a:srgbClr val="000000"/>
                          </a:solidFill>
                          <a:latin typeface="Calibri"/>
                        </a:rPr>
                        <a:t>4</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c>
                  <a:txBody>
                    <a:bodyPr/>
                    <a:lstStyle/>
                    <a:p>
                      <a:pPr algn="ctr"/>
                      <a:r>
                        <a:rPr sz="1600" b="0">
                          <a:solidFill>
                            <a:srgbClr val="000000"/>
                          </a:solidFill>
                          <a:latin typeface="Calibri"/>
                        </a:rPr>
                        <a:t>2.85</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BE5D6"/>
                    </a:solidFill>
                  </a:tcPr>
                </a:tc>
              </a:tr>
              <a:tr h="530352">
                <a:tc>
                  <a:txBody>
                    <a:bodyPr/>
                    <a:lstStyle/>
                    <a:p>
                      <a:pPr algn="l"/>
                      <a:r>
                        <a:rPr sz="1600" b="0">
                          <a:solidFill>
                            <a:srgbClr val="000000"/>
                          </a:solidFill>
                          <a:latin typeface="Calibri"/>
                        </a:rPr>
                        <a:t>Web development learners</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2</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2</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2</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3</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2</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sz="1600" b="0">
                          <a:solidFill>
                            <a:srgbClr val="000000"/>
                          </a:solidFill>
                          <a:latin typeface="Calibri"/>
                        </a:rPr>
                        <a:t>2.20</a:t>
                      </a:r>
                    </a:p>
                  </a:txBody>
                  <a:tcPr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r>
            </a:tbl>
          </a:graphicData>
        </a:graphic>
      </p:graphicFrame>
      <p:cxnSp>
        <p:nvCxnSpPr>
          <p:cNvPr id="5" name="Straight Connector 4"/>
          <p:cNvCxnSpPr/>
          <p:nvPr/>
        </p:nvCxnSpPr>
        <p:spPr>
          <a:xfrm>
            <a:off x="914400" y="1298448"/>
            <a:ext cx="10363200" cy="0"/>
          </a:xfrm>
          <a:prstGeom prst="line">
            <a:avLst/>
          </a:prstGeom>
          <a:ln w="19050">
            <a:solidFill>
              <a:srgbClr val="C55A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31520" y="1371600"/>
            <a:ext cx="10728960" cy="411480"/>
          </a:xfrm>
          <a:prstGeom prst="rect">
            <a:avLst/>
          </a:prstGeom>
          <a:noFill/>
        </p:spPr>
        <p:txBody>
          <a:bodyPr wrap="square">
            <a:spAutoFit/>
          </a:bodyPr>
          <a:lstStyle/>
          <a:p>
            <a:pPr algn="ctr"/>
            <a:r>
              <a:rPr sz="1800" b="0">
                <a:solidFill>
                  <a:srgbClr val="404040"/>
                </a:solidFill>
                <a:latin typeface="Calibri"/>
              </a:rPr>
              <a:t>Each factor is scored 1 (poor) to 5 (best); its weight is in brackets</a:t>
            </a:r>
          </a:p>
        </p:txBody>
      </p:sp>
      <p:sp>
        <p:nvSpPr>
          <p:cNvPr id="7" name="TextBox 6"/>
          <p:cNvSpPr txBox="1"/>
          <p:nvPr/>
        </p:nvSpPr>
        <p:spPr>
          <a:xfrm>
            <a:off x="731520" y="5486400"/>
            <a:ext cx="10728960" cy="640080"/>
          </a:xfrm>
          <a:prstGeom prst="rect">
            <a:avLst/>
          </a:prstGeom>
          <a:noFill/>
        </p:spPr>
        <p:txBody>
          <a:bodyPr wrap="square">
            <a:spAutoFit/>
          </a:bodyPr>
          <a:lstStyle/>
          <a:p>
            <a:pPr algn="ctr"/>
            <a:r>
              <a:rPr sz="1400" b="0">
                <a:solidFill>
                  <a:srgbClr val="404040"/>
                </a:solidFill>
                <a:latin typeface="Calibri"/>
              </a:rPr>
              <a:t>Score = the weighted total (SUMPRODUCT in Excel). Search interest comes from Google Trends; for competition, 5 means little competition.</a:t>
            </a:r>
          </a:p>
        </p:txBody>
      </p:sp>
    </p:spTree>
  </p:cSld>
  <p:clrMapOvr>
    <a:masterClrMapping/>
  </p:clrMapOvr>
  <p:transition spd="med">
    <p:cover dir="l"/>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274320" y="274320"/>
            <a:ext cx="11643360" cy="6309360"/>
          </a:xfrm>
          <a:prstGeom prst="rect">
            <a:avLst/>
          </a:prstGeom>
          <a:noFill/>
          <a:ln w="12700">
            <a:solidFill>
              <a:srgbClr val="F4B1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502920"/>
            <a:ext cx="10728960" cy="731520"/>
          </a:xfrm>
        </p:spPr>
        <p:txBody>
          <a:bodyPr anchor="ctr"/>
          <a:lstStyle/>
          <a:p>
            <a:pPr algn="ctr"/>
            <a:r>
              <a:rPr sz="3600" b="1">
                <a:solidFill>
                  <a:srgbClr val="1F3864"/>
                </a:solidFill>
                <a:latin typeface="Cambria"/>
              </a:rPr>
              <a:t>Most Attractive Segment</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5" name="Straight Connector 4"/>
          <p:cNvCxnSpPr/>
          <p:nvPr/>
        </p:nvCxnSpPr>
        <p:spPr>
          <a:xfrm>
            <a:off x="914400" y="1298448"/>
            <a:ext cx="10363200" cy="0"/>
          </a:xfrm>
          <a:prstGeom prst="line">
            <a:avLst/>
          </a:prstGeom>
          <a:ln w="19050">
            <a:solidFill>
              <a:srgbClr val="C55A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31520" y="1371600"/>
            <a:ext cx="10728960" cy="411480"/>
          </a:xfrm>
          <a:prstGeom prst="rect">
            <a:avLst/>
          </a:prstGeom>
          <a:noFill/>
        </p:spPr>
        <p:txBody>
          <a:bodyPr wrap="square">
            <a:spAutoFit/>
          </a:bodyPr>
          <a:lstStyle/>
          <a:p>
            <a:pPr algn="ctr"/>
            <a:r>
              <a:rPr sz="1800" b="0">
                <a:solidFill>
                  <a:srgbClr val="404040"/>
                </a:solidFill>
                <a:latin typeface="Calibri"/>
              </a:rPr>
              <a:t>Weighted attractiveness score of each segment (out of 5)</a:t>
            </a:r>
          </a:p>
        </p:txBody>
      </p:sp>
      <p:sp>
        <p:nvSpPr>
          <p:cNvPr id="7" name="Rectangle 6"/>
          <p:cNvSpPr/>
          <p:nvPr/>
        </p:nvSpPr>
        <p:spPr>
          <a:xfrm>
            <a:off x="7818120" y="1965960"/>
            <a:ext cx="3596640" cy="40233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0" y="2148840"/>
            <a:ext cx="3139440" cy="3657600"/>
          </a:xfrm>
          <a:prstGeom prst="rect">
            <a:avLst/>
          </a:prstGeom>
          <a:noFill/>
        </p:spPr>
        <p:txBody>
          <a:bodyPr wrap="square" anchor="ctr">
            <a:spAutoFit/>
          </a:bodyPr>
          <a:lstStyle/>
          <a:p>
            <a:pPr algn="ctr">
              <a:spcAft>
                <a:spcPts val="1200"/>
              </a:spcAft>
            </a:pPr>
            <a:r>
              <a:rPr sz="5400" b="1">
                <a:solidFill>
                  <a:srgbClr val="1F3864"/>
                </a:solidFill>
                <a:latin typeface="Calibri"/>
              </a:rPr>
              <a:t>4.50</a:t>
            </a:r>
          </a:p>
          <a:p>
            <a:pPr algn="ctr">
              <a:spcAft>
                <a:spcPts val="0"/>
              </a:spcAft>
            </a:pPr>
            <a:r>
              <a:rPr sz="1700" b="0">
                <a:solidFill>
                  <a:srgbClr val="000000"/>
                </a:solidFill>
                <a:latin typeface="Calibri"/>
              </a:rPr>
              <a:t>out of 5</a:t>
            </a:r>
          </a:p>
          <a:p>
            <a:pPr algn="ctr">
              <a:spcAft>
                <a:spcPts val="1200"/>
              </a:spcAft>
            </a:pPr>
            <a:r>
              <a:rPr sz="1700" b="1">
                <a:solidFill>
                  <a:srgbClr val="000000"/>
                </a:solidFill>
                <a:latin typeface="Calibri"/>
              </a:rPr>
              <a:t>Cybersecurity learners</a:t>
            </a:r>
          </a:p>
          <a:p>
            <a:pPr>
              <a:spcAft>
                <a:spcPts val="1200"/>
              </a:spcAft>
            </a:pPr>
            <a:r>
              <a:rPr sz="1700" b="0">
                <a:solidFill>
                  <a:srgbClr val="000000"/>
                </a:solidFill>
                <a:latin typeface="Calibri"/>
              </a:rPr>
              <a:t>are the most attractive segment, ahead of </a:t>
            </a:r>
            <a:r>
              <a:rPr sz="1700" b="1">
                <a:solidFill>
                  <a:srgbClr val="000000"/>
                </a:solidFill>
                <a:latin typeface="Calibri"/>
              </a:rPr>
              <a:t>digital marketing learners</a:t>
            </a:r>
            <a:r>
              <a:rPr sz="1700" b="0">
                <a:solidFill>
                  <a:srgbClr val="000000"/>
                </a:solidFill>
                <a:latin typeface="Calibri"/>
              </a:rPr>
              <a:t> (3.50).</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274320" y="274320"/>
            <a:ext cx="11643360" cy="6309360"/>
          </a:xfrm>
          <a:prstGeom prst="rect">
            <a:avLst/>
          </a:prstGeom>
          <a:noFill/>
          <a:ln w="12700">
            <a:solidFill>
              <a:srgbClr val="F4B1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502920"/>
            <a:ext cx="10728960" cy="731520"/>
          </a:xfrm>
        </p:spPr>
        <p:txBody>
          <a:bodyPr anchor="ctr"/>
          <a:lstStyle/>
          <a:p>
            <a:pPr algn="ctr"/>
            <a:r>
              <a:rPr sz="3600" b="1">
                <a:solidFill>
                  <a:srgbClr val="1F3864"/>
                </a:solidFill>
                <a:latin typeface="Cambria"/>
              </a:rPr>
              <a:t>Why Cybersecurity Learners?</a:t>
            </a:r>
          </a:p>
        </p:txBody>
      </p:sp>
      <p:sp>
        <p:nvSpPr>
          <p:cNvPr id="7" name="Rectangle 6"/>
          <p:cNvSpPr/>
          <p:nvPr/>
        </p:nvSpPr>
        <p:spPr>
          <a:xfrm>
            <a:off x="914400" y="1965960"/>
            <a:ext cx="10363200" cy="406908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234440" y="2148840"/>
            <a:ext cx="9723120" cy="3703320"/>
          </a:xfrm>
        </p:spPr>
        <p:txBody>
          <a:bodyPr anchor="ctr"/>
          <a:lstStyle/>
          <a:p>
            <a:pPr>
              <a:spcAft>
                <a:spcPts val="1000"/>
              </a:spcAft>
            </a:pPr>
            <a:r>
              <a:rPr sz="2100" b="1">
                <a:solidFill>
                  <a:srgbClr val="1F3864"/>
                </a:solidFill>
                <a:latin typeface="Calibri"/>
              </a:rPr>
              <a:t>Biggest demand: </a:t>
            </a:r>
            <a:r>
              <a:rPr sz="2100" b="0">
                <a:solidFill>
                  <a:srgbClr val="000000"/>
                </a:solidFill>
                <a:latin typeface="Calibri"/>
              </a:rPr>
              <a:t>the highest Google Trends interest (around 43).</a:t>
            </a:r>
          </a:p>
          <a:p>
            <a:pPr>
              <a:spcAft>
                <a:spcPts val="1000"/>
              </a:spcAft>
            </a:pPr>
            <a:r>
              <a:rPr sz="2100" b="1">
                <a:solidFill>
                  <a:srgbClr val="1F3864"/>
                </a:solidFill>
                <a:latin typeface="Calibri"/>
              </a:rPr>
              <a:t>Growing and urgent: </a:t>
            </a:r>
            <a:r>
              <a:rPr sz="2100" b="0">
                <a:solidFill>
                  <a:srgbClr val="000000"/>
                </a:solidFill>
                <a:latin typeface="Calibri"/>
              </a:rPr>
              <a:t>it reached 100 in April 2026 after news of a breach at the CAC.</a:t>
            </a:r>
          </a:p>
          <a:p>
            <a:pPr>
              <a:spcAft>
                <a:spcPts val="1000"/>
              </a:spcAft>
            </a:pPr>
            <a:r>
              <a:rPr sz="2100" b="1">
                <a:solidFill>
                  <a:srgbClr val="1F3864"/>
                </a:solidFill>
                <a:latin typeface="Calibri"/>
              </a:rPr>
              <a:t>Nationwide: </a:t>
            </a:r>
            <a:r>
              <a:rPr sz="2100" b="0">
                <a:solidFill>
                  <a:srgbClr val="000000"/>
                </a:solidFill>
                <a:latin typeface="Calibri"/>
              </a:rPr>
              <a:t>it was the most searched programme in most states.</a:t>
            </a:r>
          </a:p>
          <a:p>
            <a:pPr>
              <a:spcAft>
                <a:spcPts val="1000"/>
              </a:spcAft>
            </a:pPr>
            <a:r>
              <a:rPr sz="2100" b="1">
                <a:solidFill>
                  <a:srgbClr val="1F3864"/>
                </a:solidFill>
                <a:latin typeface="Calibri"/>
              </a:rPr>
              <a:t>Customers can pay: </a:t>
            </a:r>
            <a:r>
              <a:rPr sz="2100" b="0">
                <a:solidFill>
                  <a:srgbClr val="000000"/>
                </a:solidFill>
                <a:latin typeface="Calibri"/>
              </a:rPr>
              <a:t>bank, telecom and government staff, and employers who sponsor training.</a:t>
            </a:r>
          </a:p>
          <a:p>
            <a:pPr>
              <a:spcAft>
                <a:spcPts val="1000"/>
              </a:spcAft>
            </a:pPr>
            <a:r>
              <a:rPr sz="2100" b="1">
                <a:solidFill>
                  <a:srgbClr val="1F3864"/>
                </a:solidFill>
                <a:latin typeface="Calibri"/>
              </a:rPr>
              <a:t>My plan: </a:t>
            </a:r>
            <a:r>
              <a:rPr sz="2100" b="0">
                <a:solidFill>
                  <a:srgbClr val="000000"/>
                </a:solidFill>
                <a:latin typeface="Calibri"/>
              </a:rPr>
              <a:t>launch with a cybersecurity course, then add digital marketing (3.50), using “free class” offers in the adverts.</a:t>
            </a:r>
          </a:p>
        </p:txBody>
      </p:sp>
      <p:cxnSp>
        <p:nvCxnSpPr>
          <p:cNvPr id="5" name="Straight Connector 4"/>
          <p:cNvCxnSpPr/>
          <p:nvPr/>
        </p:nvCxnSpPr>
        <p:spPr>
          <a:xfrm>
            <a:off x="914400" y="1298448"/>
            <a:ext cx="10363200" cy="0"/>
          </a:xfrm>
          <a:prstGeom prst="line">
            <a:avLst/>
          </a:prstGeom>
          <a:ln w="19050">
            <a:solidFill>
              <a:srgbClr val="C55A1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31520" y="1371600"/>
            <a:ext cx="10728960" cy="411480"/>
          </a:xfrm>
          <a:prstGeom prst="rect">
            <a:avLst/>
          </a:prstGeom>
          <a:noFill/>
        </p:spPr>
        <p:txBody>
          <a:bodyPr wrap="square">
            <a:spAutoFit/>
          </a:bodyPr>
          <a:lstStyle/>
          <a:p>
            <a:pPr algn="ctr"/>
            <a:r>
              <a:rPr sz="1800" b="0">
                <a:solidFill>
                  <a:srgbClr val="404040"/>
                </a:solidFill>
                <a:latin typeface="Calibri"/>
              </a:rPr>
              <a:t>The reasons, from the Google Trends research and the scores</a:t>
            </a:r>
          </a:p>
        </p:txBody>
      </p:sp>
    </p:spTree>
  </p:cSld>
  <p:clrMapOvr>
    <a:masterClrMapping/>
  </p:clrMapOvr>
  <p:transition spd="med">
    <p:push dir="u"/>
  </p:transition>
</p:sld>
</file>

<file path=ppt/slides/slide8.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4" name="Rectangle 3"/>
          <p:cNvSpPr/>
          <p:nvPr/>
        </p:nvSpPr>
        <p:spPr>
          <a:xfrm>
            <a:off x="1828800" y="1554480"/>
            <a:ext cx="8534400" cy="3657600"/>
          </a:xfrm>
          <a:prstGeom prst="rect">
            <a:avLst/>
          </a:prstGeom>
          <a:solidFill>
            <a:srgbClr val="FFFFFF"/>
          </a:solidFill>
          <a:ln>
            <a:noFill/>
          </a:ln>
          <a:effectLst>
            <a:outerShdw blurRad="63500" dist="25400" dir="5400000" algn="t"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920240" y="1645920"/>
            <a:ext cx="8351520" cy="3474720"/>
          </a:xfrm>
          <a:prstGeom prst="rect">
            <a:avLst/>
          </a:prstGeom>
          <a:noFill/>
          <a:ln w="12700">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2057400" y="2286000"/>
            <a:ext cx="8077200" cy="1005840"/>
          </a:xfrm>
        </p:spPr>
        <p:txBody>
          <a:bodyPr anchor="b"/>
          <a:lstStyle/>
          <a:p>
            <a:pPr algn="ctr"/>
            <a:r>
              <a:rPr sz="4800" b="1">
                <a:solidFill>
                  <a:srgbClr val="1F3864"/>
                </a:solidFill>
                <a:latin typeface="Cambria"/>
              </a:rPr>
              <a:t>THANK YOU</a:t>
            </a:r>
          </a:p>
        </p:txBody>
      </p:sp>
      <p:sp>
        <p:nvSpPr>
          <p:cNvPr id="3" name="Subtitle 2"/>
          <p:cNvSpPr>
            <a:spLocks noGrp="1"/>
          </p:cNvSpPr>
          <p:nvPr>
            <p:ph type="subTitle" idx="1"/>
          </p:nvPr>
        </p:nvSpPr>
        <p:spPr>
          <a:xfrm>
            <a:off x="2103120" y="3566160"/>
            <a:ext cx="7985760" cy="1417320"/>
          </a:xfrm>
        </p:spPr>
        <p:txBody>
          <a:bodyPr anchor="t"/>
          <a:lstStyle/>
          <a:p>
            <a:pPr algn="ctr">
              <a:spcAft>
                <a:spcPts val="600"/>
              </a:spcAft>
            </a:pPr>
            <a:r>
              <a:rPr sz="2400" b="0">
                <a:solidFill>
                  <a:srgbClr val="000000"/>
                </a:solidFill>
                <a:latin typeface="Calibri"/>
              </a:rPr>
              <a:t>Any questions?</a:t>
            </a:r>
          </a:p>
          <a:p>
            <a:pPr algn="ctr">
              <a:spcAft>
                <a:spcPts val="600"/>
              </a:spcAft>
            </a:pPr>
            <a:r>
              <a:rPr sz="1600" b="0">
                <a:solidFill>
                  <a:srgbClr val="000000"/>
                </a:solidFill>
                <a:latin typeface="Calibri"/>
              </a:rPr>
              <a:t>SkillUp Academy  ·  Market Research Lab</a:t>
            </a:r>
          </a:p>
        </p:txBody>
      </p:sp>
      <p:sp>
        <p:nvSpPr>
          <p:cNvPr id="6" name="Rectangle 5"/>
          <p:cNvSpPr/>
          <p:nvPr/>
        </p:nvSpPr>
        <p:spPr>
          <a:xfrm>
            <a:off x="5821680" y="0"/>
            <a:ext cx="548640" cy="1783080"/>
          </a:xfrm>
          <a:prstGeom prst="rect">
            <a:avLst/>
          </a:prstGeom>
          <a:solidFill>
            <a:srgbClr val="4E3B30"/>
          </a:solidFill>
          <a:ln>
            <a:noFill/>
          </a:ln>
          <a:effectLst>
            <a:outerShdw blurRad="63500" dist="25400" dir="5400000" algn="t"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21680" y="4983480"/>
            <a:ext cx="548640" cy="1874520"/>
          </a:xfrm>
          <a:prstGeom prst="rect">
            <a:avLst/>
          </a:prstGeom>
          <a:solidFill>
            <a:srgbClr val="4E3B30"/>
          </a:solidFill>
          <a:ln>
            <a:noFill/>
          </a:ln>
          <a:effectLst>
            <a:outerShdw blurRad="63500" dist="25400" dir="5400000" algn="t"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Straight Connector 7"/>
          <p:cNvCxnSpPr/>
          <p:nvPr/>
        </p:nvCxnSpPr>
        <p:spPr>
          <a:xfrm>
            <a:off x="2926080" y="3429000"/>
            <a:ext cx="6339840" cy="0"/>
          </a:xfrm>
          <a:prstGeom prst="line">
            <a:avLst/>
          </a:prstGeom>
          <a:ln w="19050">
            <a:solidFill>
              <a:srgbClr val="C55A11"/>
            </a:solidFill>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p:wipe dir="r"/>
  </p:transition>
</p:sld>
</file>

<file path=ppt/theme/theme1.xml><?xml version="1.0" encoding="utf-8"?>
<a:theme xmlns:a="http://schemas.openxmlformats.org/drawingml/2006/main" name="Office Theme">
  <a:themeElements>
    <a:clrScheme name="Navy and Wood">
      <a:dk1>
        <a:sysClr val="windowText" lastClr="000000"/>
      </a:dk1>
      <a:lt1>
        <a:sysClr val="window" lastClr="FFFFFF"/>
      </a:lt1>
      <a:dk2>
        <a:srgbClr val="1F3864"/>
      </a:dk2>
      <a:lt2>
        <a:srgbClr val="DEEBF7"/>
      </a:lt2>
      <a:accent1>
        <a:srgbClr val="1F3864"/>
      </a:accent1>
      <a:accent2>
        <a:srgbClr val="C55A11"/>
      </a:accent2>
      <a:accent3>
        <a:srgbClr val="9DC3E6"/>
      </a:accent3>
      <a:accent4>
        <a:srgbClr val="F4B183"/>
      </a:accent4>
      <a:accent5>
        <a:srgbClr val="7F7F7F"/>
      </a:accent5>
      <a:accent6>
        <a:srgbClr val="6B3A1E"/>
      </a:accent6>
      <a:hlink>
        <a:srgbClr val="2E75B6"/>
      </a:hlink>
      <a:folHlink>
        <a:srgbClr val="7F7F7F"/>
      </a:folHlink>
    </a:clrScheme>
    <a:fontScheme name="Office">
      <a:majorFont>
        <a:latin typeface="Cambria"/>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Navy and Wood">
      <a:dk1>
        <a:sysClr val="windowText" lastClr="000000"/>
      </a:dk1>
      <a:lt1>
        <a:sysClr val="window" lastClr="FFFFFF"/>
      </a:lt1>
      <a:dk2>
        <a:srgbClr val="1F3864"/>
      </a:dk2>
      <a:lt2>
        <a:srgbClr val="DEEBF7"/>
      </a:lt2>
      <a:accent1>
        <a:srgbClr val="1F3864"/>
      </a:accent1>
      <a:accent2>
        <a:srgbClr val="C55A11"/>
      </a:accent2>
      <a:accent3>
        <a:srgbClr val="9DC3E6"/>
      </a:accent3>
      <a:accent4>
        <a:srgbClr val="F4B183"/>
      </a:accent4>
      <a:accent5>
        <a:srgbClr val="7F7F7F"/>
      </a:accent5>
      <a:accent6>
        <a:srgbClr val="6B3A1E"/>
      </a:accent6>
      <a:hlink>
        <a:srgbClr val="2E75B6"/>
      </a:hlink>
      <a:folHlink>
        <a:srgbClr val="7F7F7F"/>
      </a:folHlink>
    </a:clrScheme>
    <a:fontScheme name="Office">
      <a:majorFont>
        <a:latin typeface="Cambria"/>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8</Slides>
  <Notes>8</Notes>
  <HiddenSlides>0</HiddenSlides>
  <MMClips>0</MMClip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Market Segmentation: SkillUp Academy</dc:title>
  <dc:subject>Segmentation matrix with five target customer segments, supported by Google Trends</dc:subject>
  <dc:creator/>
  <cp:keywords>market segmentation, Google Trends, bar chart</cp:keywords>
  <dc:description/>
  <cp:lastModifiedBy/>
  <cp:revision>1</cp:revision>
  <dcterms:created xsi:type="dcterms:W3CDTF">2026-10-08T15:30:03Z</dcterms:created>
  <dcterms:modified xsi:type="dcterms:W3CDTF">2026-10-08T15:30:03Z</dcterms:modified>
  <cp:category/>
</cp:coreProperties>
</file>