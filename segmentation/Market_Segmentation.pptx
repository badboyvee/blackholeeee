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5CCD3"/>
            </a:solidFill>
          </c:spPr>
          <c:dPt>
            <c:idx val="0"/>
            <c:spPr>
              <a:solidFill>
                <a:srgbClr val="0F766E"/>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c:formatCode>
                <c:ptCount val="5"/>
                <c:pt idx="0">
                  <c:v>43</c:v>
                </c:pt>
                <c:pt idx="1">
                  <c:v>33</c:v>
                </c:pt>
                <c:pt idx="2">
                  <c:v>18</c:v>
                </c:pt>
                <c:pt idx="3">
                  <c:v>13</c:v>
                </c:pt>
                <c:pt idx="4">
                  <c:v>13</c:v>
                </c:pt>
              </c:numCache>
            </c:numRef>
          </c:val>
        </c:ser>
        <c:dLbls>
          <c:numFmt formatCode="0" sourceLinked="0"/>
          <c:txPr>
            <a:bodyPr wrap="none"/>
            <a:lstStyle/>
            <a:p>
              <a:pPr>
                <a:defRPr sz="1600" b="1">
                  <a:solidFill>
                    <a:srgbClr val="1F2933"/>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5CCD3"/>
            </a:solidFill>
          </c:spPr>
          <c:dPt>
            <c:idx val="0"/>
            <c:spPr>
              <a:solidFill>
                <a:srgbClr val="0F766E"/>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0.00</c:formatCode>
                <c:ptCount val="5"/>
                <c:pt idx="0">
                  <c:v>4.5</c:v>
                </c:pt>
                <c:pt idx="1">
                  <c:v>3.5</c:v>
                </c:pt>
                <c:pt idx="2">
                  <c:v>2.75</c:v>
                </c:pt>
                <c:pt idx="3">
                  <c:v>2.85</c:v>
                </c:pt>
                <c:pt idx="4">
                  <c:v>2.2</c:v>
                </c:pt>
              </c:numCache>
            </c:numRef>
          </c:val>
        </c:ser>
        <c:dLbls>
          <c:numFmt formatCode="0.00" sourceLinked="0"/>
          <c:txPr>
            <a:bodyPr wrap="none"/>
            <a:lstStyle/>
            <a:p>
              <a:pPr>
                <a:defRPr sz="1600" b="1">
                  <a:solidFill>
                    <a:srgbClr val="1F2933"/>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assignment is a market segmentation for a new business, SkillUp Academy, a digital-skills training academy. I designed a segmentation matrix with five target customer segments and used Google Trends to find the most attractive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SkillUp Academy will run short, practical courses online and at weekends. I segmented the customers by the skill they want to learn, because each skill matches a search term I could measure on Google Trends.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target customer segments. For each one I describe who they are and what they want, and give the average Google Trends search interest for their skill in Nigeria over the past 12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Trends shows that cybersecurity learners search the most, with an average of 43, followed by digital marketing learners at 33. Cybersecurity reached 100 in April 2026 after news of a breach at the Corporate Affairs Commission, and it was the most searched in most states.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research supports the Google Trends results. The CAC confirmed a cyber breach in April 2026, which explains the jump to 100. Nigeria has very few cybersecurity professionals, about 8,352 in 2023 against 57,269 in South Africa, while attacks on Nigerian organisations rose by 47% in a year. So employers need trained people. About 14 million small businesses use Facebook, Instagram and WhatsApp, which supports digital marketing as the second segment. The government's 3MTT programme shows demand for tech skills is growing, but its free training is also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each segment from 1 to 5 on five factors: search interest, growth and spread across Nigeria from Google Trends, and ability to pay and competition from my own judgement. Each factor has a weight, and the weighted total is out of 5. Cybersecurity learners score 4.50, the highest.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shows the weighted scores. Cybersecurity learners come first with 4.50 out of 5, then digital marketing learners with 3.50.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learners are the most attractive segment because they search the most, their interest is growing and urgent after the CAC breach, there are too few trained experts in Nigeria, and they or their employers can pay. So I would launch with a cybersecurity course and add digital marketing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05840" y="2057400"/>
            <a:ext cx="10180320" cy="1371600"/>
          </a:xfrm>
        </p:spPr>
        <p:txBody>
          <a:bodyPr anchor="b"/>
          <a:lstStyle/>
          <a:p>
            <a:pPr algn="l"/>
            <a:r>
              <a:rPr sz="5400" b="0">
                <a:solidFill>
                  <a:srgbClr val="1F2933"/>
                </a:solidFill>
                <a:latin typeface="Calibri Light"/>
              </a:rPr>
              <a:t>Market Segmentation</a:t>
            </a:r>
          </a:p>
        </p:txBody>
      </p:sp>
      <p:sp>
        <p:nvSpPr>
          <p:cNvPr id="3" name="Subtitle 2"/>
          <p:cNvSpPr>
            <a:spLocks noGrp="1"/>
          </p:cNvSpPr>
          <p:nvPr>
            <p:ph type="subTitle" idx="1"/>
          </p:nvPr>
        </p:nvSpPr>
        <p:spPr>
          <a:xfrm>
            <a:off x="1005840" y="3840480"/>
            <a:ext cx="10180320" cy="1828800"/>
          </a:xfrm>
        </p:spPr>
        <p:txBody>
          <a:bodyPr anchor="t"/>
          <a:lstStyle/>
          <a:p>
            <a:pPr algn="l">
              <a:spcAft>
                <a:spcPts val="800"/>
              </a:spcAft>
            </a:pPr>
            <a:r>
              <a:rPr sz="2400" b="0">
                <a:solidFill>
                  <a:srgbClr val="616E7C"/>
                </a:solidFill>
                <a:latin typeface="Calibri"/>
              </a:rPr>
              <a:t>SkillUp Academy: a new digital-skills training business</a:t>
            </a:r>
          </a:p>
          <a:p>
            <a:pPr algn="l">
              <a:spcAft>
                <a:spcPts val="800"/>
              </a:spcAft>
            </a:pPr>
            <a:r>
              <a:rPr sz="1600" b="0">
                <a:solidFill>
                  <a:srgbClr val="616E7C"/>
                </a:solidFill>
                <a:latin typeface="Calibri"/>
              </a:rPr>
              <a:t>Market Research Lab  ·  Google Trends, Nigeria, past 12 months</a:t>
            </a:r>
          </a:p>
        </p:txBody>
      </p:sp>
      <p:sp>
        <p:nvSpPr>
          <p:cNvPr id="4" name="Rectangle 3"/>
          <p:cNvSpPr/>
          <p:nvPr/>
        </p:nvSpPr>
        <p:spPr>
          <a:xfrm>
            <a:off x="0" y="0"/>
            <a:ext cx="256032"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Straight Connector 4"/>
          <p:cNvCxnSpPr/>
          <p:nvPr/>
        </p:nvCxnSpPr>
        <p:spPr>
          <a:xfrm>
            <a:off x="1097280" y="3630168"/>
            <a:ext cx="137160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The New Business</a:t>
            </a:r>
          </a:p>
        </p:txBody>
      </p:sp>
      <p:sp>
        <p:nvSpPr>
          <p:cNvPr id="8" name="Rectangle 7"/>
          <p:cNvSpPr/>
          <p:nvPr/>
        </p:nvSpPr>
        <p:spPr>
          <a:xfrm>
            <a:off x="731520" y="1965960"/>
            <a:ext cx="10728960" cy="4069080"/>
          </a:xfrm>
          <a:prstGeom prst="rect">
            <a:avLst/>
          </a:prstGeom>
          <a:solidFill>
            <a:srgbClr val="F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65960"/>
            <a:ext cx="64008" cy="40690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051560" y="2148840"/>
            <a:ext cx="10088880" cy="3703320"/>
          </a:xfrm>
        </p:spPr>
        <p:txBody>
          <a:bodyPr anchor="ctr"/>
          <a:lstStyle/>
          <a:p>
            <a:pPr>
              <a:spcAft>
                <a:spcPts val="1000"/>
              </a:spcAft>
              <a:buClr>
                <a:srgbClr val="0F766E"/>
              </a:buClr>
            </a:pPr>
            <a:r>
              <a:rPr sz="2400" b="1">
                <a:solidFill>
                  <a:srgbClr val="0F766E"/>
                </a:solidFill>
                <a:latin typeface="Calibri"/>
              </a:rPr>
              <a:t>SkillUp Academy</a:t>
            </a:r>
            <a:r>
              <a:rPr sz="2400" b="0">
                <a:solidFill>
                  <a:srgbClr val="1F2933"/>
                </a:solidFill>
                <a:latin typeface="Calibri"/>
              </a:rPr>
              <a:t> will teach short, practical digital-skills courses.</a:t>
            </a:r>
          </a:p>
          <a:p>
            <a:pPr>
              <a:spcAft>
                <a:spcPts val="1000"/>
              </a:spcAft>
              <a:buClr>
                <a:srgbClr val="0F766E"/>
              </a:buClr>
            </a:pPr>
            <a:r>
              <a:rPr sz="2400" b="0">
                <a:solidFill>
                  <a:srgbClr val="1F2933"/>
                </a:solidFill>
                <a:latin typeface="Calibri"/>
              </a:rPr>
              <a:t>Classes will run online and at weekends, so students and workers can attend.</a:t>
            </a:r>
          </a:p>
          <a:p>
            <a:pPr>
              <a:spcAft>
                <a:spcPts val="1000"/>
              </a:spcAft>
              <a:buClr>
                <a:srgbClr val="0F766E"/>
              </a:buClr>
            </a:pPr>
            <a:r>
              <a:rPr sz="2400" b="0">
                <a:solidFill>
                  <a:srgbClr val="1F2933"/>
                </a:solidFill>
                <a:latin typeface="Calibri"/>
              </a:rPr>
              <a:t>Customers are grouped by the skill they want to learn, which gives </a:t>
            </a:r>
            <a:r>
              <a:rPr sz="2400" b="1">
                <a:solidFill>
                  <a:srgbClr val="0F766E"/>
                </a:solidFill>
                <a:latin typeface="Calibri"/>
              </a:rPr>
              <a:t>five segments</a:t>
            </a:r>
            <a:r>
              <a:rPr sz="2400" b="0">
                <a:solidFill>
                  <a:srgbClr val="1F2933"/>
                </a:solidFill>
                <a:latin typeface="Calibri"/>
              </a:rPr>
              <a:t>.</a:t>
            </a:r>
          </a:p>
          <a:p>
            <a:pPr>
              <a:spcAft>
                <a:spcPts val="1000"/>
              </a:spcAft>
              <a:buClr>
                <a:srgbClr val="0F766E"/>
              </a:buClr>
            </a:pPr>
            <a:r>
              <a:rPr sz="2400" b="0">
                <a:solidFill>
                  <a:srgbClr val="1F2933"/>
                </a:solidFill>
                <a:latin typeface="Calibri"/>
              </a:rPr>
              <a:t>Google Trends shows how much each segment searches, and a scoring matrix picks the best one.</a:t>
            </a:r>
          </a:p>
        </p:txBody>
      </p:sp>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What I plan to launch, and how I chose who to sell to</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2</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9" grpId="0" animBg="1"/>
      <p:bldP spid="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Segmentation Matrix</a:t>
            </a:r>
          </a:p>
        </p:txBody>
      </p:sp>
      <p:graphicFrame>
        <p:nvGraphicFramePr>
          <p:cNvPr id="3" name="Content Placeholder 2"/>
          <p:cNvGraphicFramePr>
            <a:graphicFrameLocks noGrp="1"/>
          </p:cNvGraphicFramePr>
          <p:nvPr>
            <p:ph idx="1"/>
          </p:nvPr>
        </p:nvGraphicFramePr>
        <p:xfrm>
          <a:off x="655320" y="1965960"/>
          <a:ext cx="10881360" cy="3703320"/>
        </p:xfrm>
        <a:graphic>
          <a:graphicData uri="http://schemas.openxmlformats.org/drawingml/2006/table">
            <a:tbl>
              <a:tblPr firstRow="1">
                <a:tableStyleId>{5940675A-B579-460E-94D1-54222C63F5DA}</a:tableStyleId>
              </a:tblPr>
              <a:tblGrid>
                <a:gridCol w="2651760"/>
                <a:gridCol w="3931920"/>
                <a:gridCol w="2834640"/>
                <a:gridCol w="1463040"/>
              </a:tblGrid>
              <a:tr h="502920">
                <a:tc>
                  <a:txBody>
                    <a:bodyPr/>
                    <a:lstStyle/>
                    <a:p>
                      <a:pPr algn="l"/>
                      <a:r>
                        <a:rPr sz="1500" b="1">
                          <a:solidFill>
                            <a:srgbClr val="0F766E"/>
                          </a:solidFill>
                          <a:latin typeface="Calibri"/>
                        </a:rPr>
                        <a:t>Segment</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l"/>
                      <a:r>
                        <a:rPr sz="1500" b="1">
                          <a:solidFill>
                            <a:srgbClr val="0F766E"/>
                          </a:solidFill>
                          <a:latin typeface="Calibri"/>
                        </a:rPr>
                        <a:t>Who they are</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l"/>
                      <a:r>
                        <a:rPr sz="1500" b="1">
                          <a:solidFill>
                            <a:srgbClr val="0F766E"/>
                          </a:solidFill>
                          <a:latin typeface="Calibri"/>
                        </a:rPr>
                        <a:t>What they want</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500" b="1">
                          <a:solidFill>
                            <a:srgbClr val="0F766E"/>
                          </a:solidFill>
                          <a:latin typeface="Calibri"/>
                        </a:rPr>
                        <a:t>Search interest</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r>
              <a:tr h="640080">
                <a:tc>
                  <a:txBody>
                    <a:bodyPr/>
                    <a:lstStyle/>
                    <a:p>
                      <a:pPr algn="l"/>
                      <a:r>
                        <a:rPr sz="1500" b="1">
                          <a:solidFill>
                            <a:srgbClr val="1F2933"/>
                          </a:solidFill>
                          <a:latin typeface="Calibri"/>
                        </a:rPr>
                        <a:t>Cybersecurity learners</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IT students, and staff of banks, telecoms and government</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To protect systems and get security jobs</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500" b="0">
                          <a:solidFill>
                            <a:srgbClr val="1F2933"/>
                          </a:solidFill>
                          <a:latin typeface="Calibri"/>
                        </a:rPr>
                        <a:t>43</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640080">
                <a:tc>
                  <a:txBody>
                    <a:bodyPr/>
                    <a:lstStyle/>
                    <a:p>
                      <a:pPr algn="l"/>
                      <a:r>
                        <a:rPr sz="1500" b="1">
                          <a:solidFill>
                            <a:srgbClr val="1F2933"/>
                          </a:solidFill>
                          <a:latin typeface="Calibri"/>
                        </a:rPr>
                        <a:t>Digital marketing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Small business owners, traders and social media managers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To sell more online with social media and adverts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500" b="0">
                          <a:solidFill>
                            <a:srgbClr val="1F2933"/>
                          </a:solidFill>
                          <a:latin typeface="Calibri"/>
                        </a:rPr>
                        <a:t>33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640080">
                <a:tc>
                  <a:txBody>
                    <a:bodyPr/>
                    <a:lstStyle/>
                    <a:p>
                      <a:pPr algn="l"/>
                      <a:r>
                        <a:rPr sz="1500" b="1">
                          <a:solidFill>
                            <a:srgbClr val="1F2933"/>
                          </a:solidFill>
                          <a:latin typeface="Calibri"/>
                        </a:rPr>
                        <a:t>Data analytics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Graduates, and staff in finance, NGOs and research</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Data skills for better jobs and decisions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500" b="0">
                          <a:solidFill>
                            <a:srgbClr val="1F2933"/>
                          </a:solidFill>
                          <a:latin typeface="Calibri"/>
                        </a:rPr>
                        <a:t>18</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640080">
                <a:tc>
                  <a:txBody>
                    <a:bodyPr/>
                    <a:lstStyle/>
                    <a:p>
                      <a:pPr algn="l"/>
                      <a:r>
                        <a:rPr sz="1500" b="1">
                          <a:solidFill>
                            <a:srgbClr val="1F2933"/>
                          </a:solidFill>
                          <a:latin typeface="Calibri"/>
                        </a:rPr>
                        <a:t>Generative AI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Students, content creators and office workers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To use AI tools and prompts to work faster</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500" b="0">
                          <a:solidFill>
                            <a:srgbClr val="1F2933"/>
                          </a:solidFill>
                          <a:latin typeface="Calibri"/>
                        </a:rPr>
                        <a:t>13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640080">
                <a:tc>
                  <a:txBody>
                    <a:bodyPr/>
                    <a:lstStyle/>
                    <a:p>
                      <a:pPr algn="l"/>
                      <a:r>
                        <a:rPr sz="1500" b="1">
                          <a:solidFill>
                            <a:srgbClr val="1F2933"/>
                          </a:solidFill>
                          <a:latin typeface="Calibri"/>
                        </a:rPr>
                        <a:t>Web development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Young people and freelancers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l"/>
                      <a:r>
                        <a:rPr sz="1500" b="0">
                          <a:solidFill>
                            <a:srgbClr val="1F2933"/>
                          </a:solidFill>
                          <a:latin typeface="Calibri"/>
                        </a:rPr>
                        <a:t>To build websites and apps for clients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500" b="0">
                          <a:solidFill>
                            <a:srgbClr val="1F2933"/>
                          </a:solidFill>
                          <a:latin typeface="Calibri"/>
                        </a:rPr>
                        <a:t>13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bl>
          </a:graphicData>
        </a:graphic>
      </p:graphicFrame>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Five target customer segments for SkillUp Academy</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3</a:t>
            </a:r>
          </a:p>
        </p:txBody>
      </p:sp>
      <p:sp>
        <p:nvSpPr>
          <p:cNvPr id="8" name="TextBox 7"/>
          <p:cNvSpPr txBox="1"/>
          <p:nvPr/>
        </p:nvSpPr>
        <p:spPr>
          <a:xfrm>
            <a:off x="640080" y="5806440"/>
            <a:ext cx="10911840" cy="365760"/>
          </a:xfrm>
          <a:prstGeom prst="rect">
            <a:avLst/>
          </a:prstGeom>
          <a:noFill/>
        </p:spPr>
        <p:txBody>
          <a:bodyPr wrap="square">
            <a:spAutoFit/>
          </a:bodyPr>
          <a:lstStyle/>
          <a:p>
            <a:r>
              <a:rPr sz="1400" b="0">
                <a:solidFill>
                  <a:srgbClr val="616E7C"/>
                </a:solidFill>
                <a:latin typeface="Calibri"/>
              </a:rPr>
              <a:t>Search interest: the average Google Trends score in Nigeria over the past 12 months (0 to 100).</a:t>
            </a:r>
          </a:p>
        </p:txBody>
      </p:sp>
    </p:spTree>
  </p:cSld>
  <p:clrMapOvr>
    <a:masterClrMapping/>
  </p:clrMapOvr>
  <p:transition spd="med" advTm="3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Google Trends Research</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Average search interest in Nigeria over the past 12 months (0 to 100)</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4</a:t>
            </a:r>
          </a:p>
        </p:txBody>
      </p:sp>
      <p:sp>
        <p:nvSpPr>
          <p:cNvPr id="8" name="Rectangle 7"/>
          <p:cNvSpPr/>
          <p:nvPr/>
        </p:nvSpPr>
        <p:spPr>
          <a:xfrm>
            <a:off x="7818120" y="1965960"/>
            <a:ext cx="3596640" cy="4023360"/>
          </a:xfrm>
          <a:prstGeom prst="rect">
            <a:avLst/>
          </a:prstGeom>
          <a:solidFill>
            <a:srgbClr val="F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965960"/>
            <a:ext cx="64008" cy="40233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148840"/>
            <a:ext cx="3139440" cy="3657600"/>
          </a:xfrm>
          <a:prstGeom prst="rect">
            <a:avLst/>
          </a:prstGeom>
          <a:noFill/>
        </p:spPr>
        <p:txBody>
          <a:bodyPr wrap="square" anchor="ctr">
            <a:spAutoFit/>
          </a:bodyPr>
          <a:lstStyle/>
          <a:p>
            <a:pPr>
              <a:spcAft>
                <a:spcPts val="1200"/>
              </a:spcAft>
            </a:pPr>
            <a:r>
              <a:rPr sz="1700" b="1">
                <a:solidFill>
                  <a:srgbClr val="1F2933"/>
                </a:solidFill>
                <a:latin typeface="Calibri"/>
              </a:rPr>
              <a:t>Highest interest: </a:t>
            </a:r>
            <a:r>
              <a:rPr sz="1700" b="0">
                <a:solidFill>
                  <a:srgbClr val="1F2933"/>
                </a:solidFill>
                <a:latin typeface="Calibri"/>
              </a:rPr>
              <a:t>Cybersecurity led almost all year and reached 100 in April 2026.</a:t>
            </a:r>
          </a:p>
          <a:p>
            <a:pPr>
              <a:spcAft>
                <a:spcPts val="1200"/>
              </a:spcAft>
            </a:pPr>
            <a:r>
              <a:rPr sz="1700" b="1">
                <a:solidFill>
                  <a:srgbClr val="1F2933"/>
                </a:solidFill>
                <a:latin typeface="Calibri"/>
              </a:rPr>
              <a:t>Widest reach: </a:t>
            </a:r>
            <a:r>
              <a:rPr sz="1700" b="0">
                <a:solidFill>
                  <a:srgbClr val="1F2933"/>
                </a:solidFill>
                <a:latin typeface="Calibri"/>
              </a:rPr>
              <a:t>it was the most searched in most states; Digital Marketing led in some southern states.</a:t>
            </a:r>
          </a:p>
          <a:p>
            <a:pPr>
              <a:spcAft>
                <a:spcPts val="1200"/>
              </a:spcAft>
            </a:pPr>
            <a:r>
              <a:rPr sz="1700" b="1">
                <a:solidFill>
                  <a:srgbClr val="1F2933"/>
                </a:solidFill>
                <a:latin typeface="Calibri"/>
              </a:rPr>
              <a:t>What people want: </a:t>
            </a:r>
            <a:r>
              <a:rPr sz="1700" b="0">
                <a:solidFill>
                  <a:srgbClr val="1F2933"/>
                </a:solidFill>
                <a:latin typeface="Calibri"/>
              </a:rPr>
              <a:t>many related searches ask for free courses.</a:t>
            </a:r>
          </a:p>
        </p:txBody>
      </p:sp>
    </p:spTree>
  </p:cSld>
  <p:clrMapOvr>
    <a:masterClrMapping/>
  </p:clrMapOvr>
  <p:transition spd="med" advTm="3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Graphic spid="3" grpId="0">
        <p:bldAsOne/>
      </p:bldGraphic>
      <p:bldP spid="8" grpId="0" animBg="1"/>
      <p:bldP spid="9" grpId="0" animBg="1"/>
      <p:bldP spid="1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Other Research</a:t>
            </a:r>
          </a:p>
        </p:txBody>
      </p:sp>
      <p:graphicFrame>
        <p:nvGraphicFramePr>
          <p:cNvPr id="3" name="Content Placeholder 2"/>
          <p:cNvGraphicFramePr>
            <a:graphicFrameLocks noGrp="1"/>
          </p:cNvGraphicFramePr>
          <p:nvPr>
            <p:ph idx="1"/>
          </p:nvPr>
        </p:nvGraphicFramePr>
        <p:xfrm>
          <a:off x="701040" y="1920240"/>
          <a:ext cx="10789920" cy="4023360"/>
        </p:xfrm>
        <a:graphic>
          <a:graphicData uri="http://schemas.openxmlformats.org/drawingml/2006/table">
            <a:tbl>
              <a:tblPr firstRow="1">
                <a:tableStyleId>{5940675A-B579-460E-94D1-54222C63F5DA}</a:tableStyleId>
              </a:tblPr>
              <a:tblGrid>
                <a:gridCol w="6035040"/>
                <a:gridCol w="1737360"/>
                <a:gridCol w="3017520"/>
              </a:tblGrid>
              <a:tr h="457200">
                <a:tc>
                  <a:txBody>
                    <a:bodyPr/>
                    <a:lstStyle/>
                    <a:p>
                      <a:pPr algn="l"/>
                      <a:r>
                        <a:rPr sz="1400" b="1">
                          <a:solidFill>
                            <a:srgbClr val="0F766E"/>
                          </a:solidFill>
                          <a:latin typeface="Calibri"/>
                        </a:rPr>
                        <a:t>What the research found</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400" b="1">
                          <a:solidFill>
                            <a:srgbClr val="0F766E"/>
                          </a:solidFill>
                          <a:latin typeface="Calibri"/>
                        </a:rPr>
                        <a:t>Supports</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400" b="1">
                          <a:solidFill>
                            <a:srgbClr val="0F766E"/>
                          </a:solidFill>
                          <a:latin typeface="Calibri"/>
                        </a:rPr>
                        <a:t>Source</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r>
              <a:tr h="713232">
                <a:tc>
                  <a:txBody>
                    <a:bodyPr/>
                    <a:lstStyle/>
                    <a:p>
                      <a:pPr algn="l"/>
                      <a:r>
                        <a:rPr sz="1400" b="0">
                          <a:solidFill>
                            <a:srgbClr val="1F2933"/>
                          </a:solidFill>
                          <a:latin typeface="Calibri"/>
                        </a:rPr>
                        <a:t>The CAC confirmed a cyber breach of its systems in April 2026, and the data protection commission (NDPC) opened an investigation.</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1">
                          <a:solidFill>
                            <a:srgbClr val="1F2933"/>
                          </a:solidFill>
                          <a:latin typeface="Calibri"/>
                        </a:rPr>
                        <a:t>Cybersecurity</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0">
                          <a:solidFill>
                            <a:srgbClr val="1F2933"/>
                          </a:solidFill>
                          <a:latin typeface="Calibri"/>
                        </a:rPr>
                        <a:t>AllAfrica, 16 April 2026</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713232">
                <a:tc>
                  <a:txBody>
                    <a:bodyPr/>
                    <a:lstStyle/>
                    <a:p>
                      <a:pPr algn="l"/>
                      <a:r>
                        <a:rPr sz="1400" b="0">
                          <a:solidFill>
                            <a:srgbClr val="1F2933"/>
                          </a:solidFill>
                          <a:latin typeface="Calibri"/>
                        </a:rPr>
                        <a:t>Nigeria had only about 8,352 cybersecurity professionals in 2023, against 57,269 in South Africa.</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1">
                          <a:solidFill>
                            <a:srgbClr val="1F2933"/>
                          </a:solidFill>
                          <a:latin typeface="Calibri"/>
                        </a:rPr>
                        <a:t>Cybersecurity</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0">
                          <a:solidFill>
                            <a:srgbClr val="1F2933"/>
                          </a:solidFill>
                          <a:latin typeface="Calibri"/>
                        </a:rPr>
                        <a:t>ISC2 figures, reported by CompTIA</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713232">
                <a:tc>
                  <a:txBody>
                    <a:bodyPr/>
                    <a:lstStyle/>
                    <a:p>
                      <a:pPr algn="l"/>
                      <a:r>
                        <a:rPr sz="1400" b="0">
                          <a:solidFill>
                            <a:srgbClr val="1F2933"/>
                          </a:solidFill>
                          <a:latin typeface="Calibri"/>
                        </a:rPr>
                        <a:t>Nigerian organisations faced about 4,388 cyber attacks a week in early 2025, 47% more than a year before.</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1">
                          <a:solidFill>
                            <a:srgbClr val="1F2933"/>
                          </a:solidFill>
                          <a:latin typeface="Calibri"/>
                        </a:rPr>
                        <a:t>Cybersecurity</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0">
                          <a:solidFill>
                            <a:srgbClr val="1F2933"/>
                          </a:solidFill>
                          <a:latin typeface="Calibri"/>
                        </a:rPr>
                        <a:t>Check Point, reported by BusinessDay</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713232">
                <a:tc>
                  <a:txBody>
                    <a:bodyPr/>
                    <a:lstStyle/>
                    <a:p>
                      <a:pPr algn="l"/>
                      <a:r>
                        <a:rPr sz="1400" b="0">
                          <a:solidFill>
                            <a:srgbClr val="1F2933"/>
                          </a:solidFill>
                          <a:latin typeface="Calibri"/>
                        </a:rPr>
                        <a:t>About 14 million Nigerian small businesses used Facebook, Instagram and WhatsApp in 2025.</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1">
                          <a:solidFill>
                            <a:srgbClr val="1F2933"/>
                          </a:solidFill>
                          <a:latin typeface="Calibri"/>
                        </a:rPr>
                        <a:t>Digital marketing</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0">
                          <a:solidFill>
                            <a:srgbClr val="1F2933"/>
                          </a:solidFill>
                          <a:latin typeface="Calibri"/>
                        </a:rPr>
                        <a:t>Public First report for Meta, reported by IT Edge News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713232">
                <a:tc>
                  <a:txBody>
                    <a:bodyPr/>
                    <a:lstStyle/>
                    <a:p>
                      <a:pPr algn="l"/>
                      <a:r>
                        <a:rPr sz="1400" b="0">
                          <a:solidFill>
                            <a:srgbClr val="1F2933"/>
                          </a:solidFill>
                          <a:latin typeface="Calibri"/>
                        </a:rPr>
                        <a:t>The government's 3MTT programme aims to train three million tech talents by 2027, so demand for tech skills is growing, but free training also competes.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1">
                          <a:solidFill>
                            <a:srgbClr val="1F2933"/>
                          </a:solidFill>
                          <a:latin typeface="Calibri"/>
                        </a:rPr>
                        <a:t>All five</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400" b="0">
                          <a:solidFill>
                            <a:srgbClr val="1F2933"/>
                          </a:solidFill>
                          <a:latin typeface="Calibri"/>
                        </a:rPr>
                        <a:t>Federal Ministry of Communications, Innovation and Digital Economy</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bl>
          </a:graphicData>
        </a:graphic>
      </p:graphicFrame>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Desk research that backs up the Google Trends findings</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5</a:t>
            </a:r>
          </a:p>
        </p:txBody>
      </p:sp>
      <p:sp>
        <p:nvSpPr>
          <p:cNvPr id="8" name="TextBox 7"/>
          <p:cNvSpPr txBox="1"/>
          <p:nvPr/>
        </p:nvSpPr>
        <p:spPr>
          <a:xfrm>
            <a:off x="640080" y="6035040"/>
            <a:ext cx="10911840" cy="365760"/>
          </a:xfrm>
          <a:prstGeom prst="rect">
            <a:avLst/>
          </a:prstGeom>
          <a:noFill/>
        </p:spPr>
        <p:txBody>
          <a:bodyPr wrap="square">
            <a:spAutoFit/>
          </a:bodyPr>
          <a:lstStyle/>
          <a:p>
            <a:r>
              <a:rPr sz="1400" b="0">
                <a:solidFill>
                  <a:srgbClr val="616E7C"/>
                </a:solidFill>
                <a:latin typeface="Calibri"/>
              </a:rPr>
              <a:t>The links to every source are in the Research sheet of Segmentation_Matrix.xlsx.</a:t>
            </a:r>
          </a:p>
        </p:txBody>
      </p:sp>
    </p:spTree>
  </p:cSld>
  <p:clrMapOvr>
    <a:masterClrMapping/>
  </p:clrMapOvr>
  <p:transition spd="med" advTm="3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Attractiveness Scores</a:t>
            </a:r>
          </a:p>
        </p:txBody>
      </p:sp>
      <p:graphicFrame>
        <p:nvGraphicFramePr>
          <p:cNvPr id="3" name="Content Placeholder 2"/>
          <p:cNvGraphicFramePr>
            <a:graphicFrameLocks noGrp="1"/>
          </p:cNvGraphicFramePr>
          <p:nvPr>
            <p:ph idx="1"/>
          </p:nvPr>
        </p:nvGraphicFramePr>
        <p:xfrm>
          <a:off x="723900" y="1965960"/>
          <a:ext cx="10744200" cy="3383280"/>
        </p:xfrm>
        <a:graphic>
          <a:graphicData uri="http://schemas.openxmlformats.org/drawingml/2006/table">
            <a:tbl>
              <a:tblPr firstRow="1">
                <a:tableStyleId>{5940675A-B579-460E-94D1-54222C63F5DA}</a:tableStyleId>
              </a:tblPr>
              <a:tblGrid>
                <a:gridCol w="2743200"/>
                <a:gridCol w="1325880"/>
                <a:gridCol w="1325880"/>
                <a:gridCol w="1325880"/>
                <a:gridCol w="1325880"/>
                <a:gridCol w="1325880"/>
                <a:gridCol w="1371600"/>
              </a:tblGrid>
              <a:tr h="731520">
                <a:tc>
                  <a:txBody>
                    <a:bodyPr/>
                    <a:lstStyle/>
                    <a:p>
                      <a:pPr algn="l"/>
                      <a:r>
                        <a:rPr sz="1600" b="1">
                          <a:solidFill>
                            <a:srgbClr val="0F766E"/>
                          </a:solidFill>
                          <a:latin typeface="Calibri"/>
                        </a:rPr>
                        <a:t>Segment</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Interest (30%)</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Growth (20%)</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Spread (15%)</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Ability to pay (20%)</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Competition (15%)</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c>
                  <a:txBody>
                    <a:bodyPr/>
                    <a:lstStyle/>
                    <a:p>
                      <a:pPr algn="ctr"/>
                      <a:r>
                        <a:rPr sz="1600" b="1">
                          <a:solidFill>
                            <a:srgbClr val="0F766E"/>
                          </a:solidFill>
                          <a:latin typeface="Calibri"/>
                        </a:rPr>
                        <a:t>Score (of 5)</a:t>
                      </a:r>
                    </a:p>
                  </a:txBody>
                  <a:tcPr anchor="ctr">
                    <a:lnL w="12700" cmpd="sng">
                      <a:noFill/>
                    </a:lnL>
                    <a:lnR w="12700" cmpd="sng">
                      <a:noFill/>
                    </a:lnR>
                    <a:lnT w="12700" cmpd="sng">
                      <a:noFill/>
                    </a:lnT>
                    <a:lnB w="19050" cap="flat" cmpd="sng" algn="ctr">
                      <a:solidFill>
                        <a:srgbClr val="0F766E"/>
                      </a:solidFill>
                      <a:prstDash val="solid"/>
                      <a:round/>
                      <a:headEnd type="none" w="med" len="med"/>
                      <a:tailEnd type="none" w="med" len="med"/>
                    </a:lnB>
                    <a:noFill/>
                  </a:tcPr>
                </a:tc>
              </a:tr>
              <a:tr h="530352">
                <a:tc>
                  <a:txBody>
                    <a:bodyPr/>
                    <a:lstStyle/>
                    <a:p>
                      <a:pPr algn="l"/>
                      <a:r>
                        <a:rPr sz="1600" b="1">
                          <a:solidFill>
                            <a:srgbClr val="1F2933"/>
                          </a:solidFill>
                          <a:latin typeface="Calibri"/>
                        </a:rPr>
                        <a:t>Cybersecurity learners</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5</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5</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5</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4</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3</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1">
                          <a:solidFill>
                            <a:srgbClr val="1F2933"/>
                          </a:solidFill>
                          <a:latin typeface="Calibri"/>
                        </a:rPr>
                        <a:t>4.50</a:t>
                      </a:r>
                    </a:p>
                  </a:txBody>
                  <a:tcPr anchor="ctr">
                    <a:lnL w="12700" cmpd="sng">
                      <a:noFill/>
                    </a:lnL>
                    <a:lnR w="12700" cmpd="sng">
                      <a:noFill/>
                    </a:lnR>
                    <a:lnT w="19050" cap="flat" cmpd="sng" algn="ctr">
                      <a:solidFill>
                        <a:srgbClr val="0F766E"/>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530352">
                <a:tc>
                  <a:txBody>
                    <a:bodyPr/>
                    <a:lstStyle/>
                    <a:p>
                      <a:pPr algn="l"/>
                      <a:r>
                        <a:rPr sz="1600" b="0">
                          <a:solidFill>
                            <a:srgbClr val="1F2933"/>
                          </a:solidFill>
                          <a:latin typeface="Calibri"/>
                        </a:rPr>
                        <a:t>Digital marketing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4</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4</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4</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3.50</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530352">
                <a:tc>
                  <a:txBody>
                    <a:bodyPr/>
                    <a:lstStyle/>
                    <a:p>
                      <a:pPr algn="l"/>
                      <a:r>
                        <a:rPr sz="1600" b="0">
                          <a:solidFill>
                            <a:srgbClr val="1F2933"/>
                          </a:solidFill>
                          <a:latin typeface="Calibri"/>
                        </a:rPr>
                        <a:t>Data analytics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4</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2.75</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530352">
                <a:tc>
                  <a:txBody>
                    <a:bodyPr/>
                    <a:lstStyle/>
                    <a:p>
                      <a:pPr algn="l"/>
                      <a:r>
                        <a:rPr sz="1600" b="0">
                          <a:solidFill>
                            <a:srgbClr val="1F2933"/>
                          </a:solidFill>
                          <a:latin typeface="Calibri"/>
                        </a:rPr>
                        <a:t>Generative AI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4</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2.85</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r h="530352">
                <a:tc>
                  <a:txBody>
                    <a:bodyPr/>
                    <a:lstStyle/>
                    <a:p>
                      <a:pPr algn="l"/>
                      <a:r>
                        <a:rPr sz="1600" b="0">
                          <a:solidFill>
                            <a:srgbClr val="1F2933"/>
                          </a:solidFill>
                          <a:latin typeface="Calibri"/>
                        </a:rPr>
                        <a:t>Web development learners</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3</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c>
                  <a:txBody>
                    <a:bodyPr/>
                    <a:lstStyle/>
                    <a:p>
                      <a:pPr algn="ctr"/>
                      <a:r>
                        <a:rPr sz="1600" b="0">
                          <a:solidFill>
                            <a:srgbClr val="1F2933"/>
                          </a:solidFill>
                          <a:latin typeface="Calibri"/>
                        </a:rPr>
                        <a:t>2.20</a:t>
                      </a:r>
                    </a:p>
                  </a:txBody>
                  <a:tcPr anchor="ctr">
                    <a:lnL w="12700" cmpd="sng">
                      <a:noFill/>
                    </a:lnL>
                    <a:lnR w="12700" cmpd="sng">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noFill/>
                  </a:tcPr>
                </a:tc>
              </a:tr>
            </a:tbl>
          </a:graphicData>
        </a:graphic>
      </p:graphicFrame>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Each factor is scored 1 (poor) to 5 (best); its weight is in brackets</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6</a:t>
            </a:r>
          </a:p>
        </p:txBody>
      </p:sp>
      <p:sp>
        <p:nvSpPr>
          <p:cNvPr id="8" name="TextBox 7"/>
          <p:cNvSpPr txBox="1"/>
          <p:nvPr/>
        </p:nvSpPr>
        <p:spPr>
          <a:xfrm>
            <a:off x="640080" y="5486400"/>
            <a:ext cx="10911840" cy="640080"/>
          </a:xfrm>
          <a:prstGeom prst="rect">
            <a:avLst/>
          </a:prstGeom>
          <a:noFill/>
        </p:spPr>
        <p:txBody>
          <a:bodyPr wrap="square">
            <a:spAutoFit/>
          </a:bodyPr>
          <a:lstStyle/>
          <a:p>
            <a:r>
              <a:rPr sz="1400" b="0">
                <a:solidFill>
                  <a:srgbClr val="616E7C"/>
                </a:solidFill>
                <a:latin typeface="Calibri"/>
              </a:rPr>
              <a:t>Score = the weighted total (SUMPRODUCT in Excel). Search interest comes from Google Trends; for competition, 5 means little competition.</a:t>
            </a:r>
          </a:p>
        </p:txBody>
      </p:sp>
    </p:spTree>
  </p:cSld>
  <p:clrMapOvr>
    <a:masterClrMapping/>
  </p:clrMapOvr>
  <p:transition spd="med" advTm="3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Most Attractive Segment</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Weighted attractiveness score of each segment (out of 5)</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7</a:t>
            </a:r>
          </a:p>
        </p:txBody>
      </p:sp>
      <p:sp>
        <p:nvSpPr>
          <p:cNvPr id="8" name="Rectangle 7"/>
          <p:cNvSpPr/>
          <p:nvPr/>
        </p:nvSpPr>
        <p:spPr>
          <a:xfrm>
            <a:off x="7818120" y="1965960"/>
            <a:ext cx="3596640" cy="4023360"/>
          </a:xfrm>
          <a:prstGeom prst="rect">
            <a:avLst/>
          </a:prstGeom>
          <a:solidFill>
            <a:srgbClr val="F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965960"/>
            <a:ext cx="64008" cy="40233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148840"/>
            <a:ext cx="3139440" cy="3657600"/>
          </a:xfrm>
          <a:prstGeom prst="rect">
            <a:avLst/>
          </a:prstGeom>
          <a:noFill/>
        </p:spPr>
        <p:txBody>
          <a:bodyPr wrap="square" anchor="ctr">
            <a:spAutoFit/>
          </a:bodyPr>
          <a:lstStyle/>
          <a:p>
            <a:pPr algn="ctr">
              <a:spcAft>
                <a:spcPts val="1200"/>
              </a:spcAft>
            </a:pPr>
            <a:r>
              <a:rPr sz="5400" b="1">
                <a:solidFill>
                  <a:srgbClr val="0F766E"/>
                </a:solidFill>
                <a:latin typeface="Calibri"/>
              </a:rPr>
              <a:t>4.50</a:t>
            </a:r>
          </a:p>
          <a:p>
            <a:pPr algn="ctr">
              <a:spcAft>
                <a:spcPts val="0"/>
              </a:spcAft>
            </a:pPr>
            <a:r>
              <a:rPr sz="1700" b="0">
                <a:solidFill>
                  <a:srgbClr val="1F2933"/>
                </a:solidFill>
                <a:latin typeface="Calibri"/>
              </a:rPr>
              <a:t>out of 5</a:t>
            </a:r>
          </a:p>
          <a:p>
            <a:pPr algn="ctr">
              <a:spcAft>
                <a:spcPts val="1200"/>
              </a:spcAft>
            </a:pPr>
            <a:r>
              <a:rPr sz="1700" b="1">
                <a:solidFill>
                  <a:srgbClr val="1F2933"/>
                </a:solidFill>
                <a:latin typeface="Calibri"/>
              </a:rPr>
              <a:t>Cybersecurity learners</a:t>
            </a:r>
          </a:p>
          <a:p>
            <a:pPr>
              <a:spcAft>
                <a:spcPts val="1200"/>
              </a:spcAft>
            </a:pPr>
            <a:r>
              <a:rPr sz="1700" b="0">
                <a:solidFill>
                  <a:srgbClr val="1F2933"/>
                </a:solidFill>
                <a:latin typeface="Calibri"/>
              </a:rPr>
              <a:t>are the most attractive segment, ahead of </a:t>
            </a:r>
            <a:r>
              <a:rPr sz="1700" b="1">
                <a:solidFill>
                  <a:srgbClr val="1F2933"/>
                </a:solidFill>
                <a:latin typeface="Calibri"/>
              </a:rPr>
              <a:t>digital marketing learners</a:t>
            </a:r>
            <a:r>
              <a:rPr sz="1700" b="0">
                <a:solidFill>
                  <a:srgbClr val="1F2933"/>
                </a:solidFill>
                <a:latin typeface="Calibri"/>
              </a:rPr>
              <a:t> (3.50).</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Graphic spid="3" grpId="0">
        <p:bldAsOne/>
      </p:bldGraphic>
      <p:bldP spid="8" grpId="0" animBg="1"/>
      <p:bldP spid="9" grpId="0" animBg="1"/>
      <p:bldP spid="1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621792"/>
            <a:ext cx="10911840" cy="658368"/>
          </a:xfrm>
        </p:spPr>
        <p:txBody>
          <a:bodyPr anchor="ctr"/>
          <a:lstStyle/>
          <a:p>
            <a:pPr algn="l"/>
            <a:r>
              <a:rPr sz="3400" b="0">
                <a:solidFill>
                  <a:srgbClr val="1F2933"/>
                </a:solidFill>
                <a:latin typeface="Calibri Light"/>
              </a:rPr>
              <a:t>Why Cybersecurity Learners?</a:t>
            </a:r>
          </a:p>
        </p:txBody>
      </p:sp>
      <p:sp>
        <p:nvSpPr>
          <p:cNvPr id="8" name="Rectangle 7"/>
          <p:cNvSpPr/>
          <p:nvPr/>
        </p:nvSpPr>
        <p:spPr>
          <a:xfrm>
            <a:off x="731520" y="1965960"/>
            <a:ext cx="10728960" cy="4069080"/>
          </a:xfrm>
          <a:prstGeom prst="rect">
            <a:avLst/>
          </a:prstGeom>
          <a:solidFill>
            <a:srgbClr val="F2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65960"/>
            <a:ext cx="64008" cy="40690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051560" y="2148840"/>
            <a:ext cx="10088880" cy="3703320"/>
          </a:xfrm>
        </p:spPr>
        <p:txBody>
          <a:bodyPr anchor="ctr"/>
          <a:lstStyle/>
          <a:p>
            <a:pPr>
              <a:spcAft>
                <a:spcPts val="1000"/>
              </a:spcAft>
              <a:buClr>
                <a:srgbClr val="0F766E"/>
              </a:buClr>
            </a:pPr>
            <a:r>
              <a:rPr sz="2000" b="1">
                <a:solidFill>
                  <a:srgbClr val="0F766E"/>
                </a:solidFill>
                <a:latin typeface="Calibri"/>
              </a:rPr>
              <a:t>Biggest demand: </a:t>
            </a:r>
            <a:r>
              <a:rPr sz="2000" b="0">
                <a:solidFill>
                  <a:srgbClr val="1F2933"/>
                </a:solidFill>
                <a:latin typeface="Calibri"/>
              </a:rPr>
              <a:t>the highest Google Trends interest (around 43), in most states.</a:t>
            </a:r>
          </a:p>
          <a:p>
            <a:pPr>
              <a:spcAft>
                <a:spcPts val="1000"/>
              </a:spcAft>
              <a:buClr>
                <a:srgbClr val="0F766E"/>
              </a:buClr>
            </a:pPr>
            <a:r>
              <a:rPr sz="2000" b="1">
                <a:solidFill>
                  <a:srgbClr val="0F766E"/>
                </a:solidFill>
                <a:latin typeface="Calibri"/>
              </a:rPr>
              <a:t>Growing and urgent: </a:t>
            </a:r>
            <a:r>
              <a:rPr sz="2000" b="0">
                <a:solidFill>
                  <a:srgbClr val="1F2933"/>
                </a:solidFill>
                <a:latin typeface="Calibri"/>
              </a:rPr>
              <a:t>it reached 100 in April 2026, when the CAC confirmed a cyber breach; attacks rose 47% in a year.</a:t>
            </a:r>
          </a:p>
          <a:p>
            <a:pPr>
              <a:spcAft>
                <a:spcPts val="1000"/>
              </a:spcAft>
              <a:buClr>
                <a:srgbClr val="0F766E"/>
              </a:buClr>
            </a:pPr>
            <a:r>
              <a:rPr sz="2000" b="1">
                <a:solidFill>
                  <a:srgbClr val="0F766E"/>
                </a:solidFill>
                <a:latin typeface="Calibri"/>
              </a:rPr>
              <a:t>Too few experts: </a:t>
            </a:r>
            <a:r>
              <a:rPr sz="2000" b="0">
                <a:solidFill>
                  <a:srgbClr val="1F2933"/>
                </a:solidFill>
                <a:latin typeface="Calibri"/>
              </a:rPr>
              <a:t>only about 8,352 cybersecurity professionals in Nigeria (2023), so employers need trained people.</a:t>
            </a:r>
          </a:p>
          <a:p>
            <a:pPr>
              <a:spcAft>
                <a:spcPts val="1000"/>
              </a:spcAft>
              <a:buClr>
                <a:srgbClr val="0F766E"/>
              </a:buClr>
            </a:pPr>
            <a:r>
              <a:rPr sz="2000" b="1">
                <a:solidFill>
                  <a:srgbClr val="0F766E"/>
                </a:solidFill>
                <a:latin typeface="Calibri"/>
              </a:rPr>
              <a:t>Customers can pay: </a:t>
            </a:r>
            <a:r>
              <a:rPr sz="2000" b="0">
                <a:solidFill>
                  <a:srgbClr val="1F2933"/>
                </a:solidFill>
                <a:latin typeface="Calibri"/>
              </a:rPr>
              <a:t>bank, telecom and government staff, and employers who sponsor training.</a:t>
            </a:r>
          </a:p>
          <a:p>
            <a:pPr>
              <a:spcAft>
                <a:spcPts val="1000"/>
              </a:spcAft>
              <a:buClr>
                <a:srgbClr val="0F766E"/>
              </a:buClr>
            </a:pPr>
            <a:r>
              <a:rPr sz="2000" b="1">
                <a:solidFill>
                  <a:srgbClr val="0F766E"/>
                </a:solidFill>
                <a:latin typeface="Calibri"/>
              </a:rPr>
              <a:t>My plan: </a:t>
            </a:r>
            <a:r>
              <a:rPr sz="2000" b="0">
                <a:solidFill>
                  <a:srgbClr val="1F2933"/>
                </a:solidFill>
                <a:latin typeface="Calibri"/>
              </a:rPr>
              <a:t>launch with a cybersecurity course, then add digital marketing (3.50), using “free class” offers in the adverts.</a:t>
            </a:r>
          </a:p>
        </p:txBody>
      </p:sp>
      <p:cxnSp>
        <p:nvCxnSpPr>
          <p:cNvPr id="4" name="Straight Connector 3"/>
          <p:cNvCxnSpPr/>
          <p:nvPr/>
        </p:nvCxnSpPr>
        <p:spPr>
          <a:xfrm>
            <a:off x="731520" y="566928"/>
            <a:ext cx="64008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280160"/>
            <a:ext cx="10911840" cy="384048"/>
          </a:xfrm>
          <a:prstGeom prst="rect">
            <a:avLst/>
          </a:prstGeom>
          <a:noFill/>
        </p:spPr>
        <p:txBody>
          <a:bodyPr wrap="square">
            <a:spAutoFit/>
          </a:bodyPr>
          <a:lstStyle/>
          <a:p>
            <a:pPr algn="l"/>
            <a:r>
              <a:rPr sz="1600" b="0">
                <a:solidFill>
                  <a:srgbClr val="616E7C"/>
                </a:solidFill>
                <a:latin typeface="Calibri"/>
              </a:rPr>
              <a:t>The reasons, from Google Trends, the other research and the scores</a:t>
            </a:r>
          </a:p>
        </p:txBody>
      </p:sp>
      <p:sp>
        <p:nvSpPr>
          <p:cNvPr id="6" name="TextBox 5"/>
          <p:cNvSpPr txBox="1"/>
          <p:nvPr/>
        </p:nvSpPr>
        <p:spPr>
          <a:xfrm>
            <a:off x="640080" y="6400800"/>
            <a:ext cx="7315200" cy="274320"/>
          </a:xfrm>
          <a:prstGeom prst="rect">
            <a:avLst/>
          </a:prstGeom>
          <a:noFill/>
        </p:spPr>
        <p:txBody>
          <a:bodyPr wrap="square">
            <a:spAutoFit/>
          </a:bodyPr>
          <a:lstStyle/>
          <a:p>
            <a:r>
              <a:rPr sz="1000" b="0">
                <a:solidFill>
                  <a:srgbClr val="616E7C"/>
                </a:solidFill>
                <a:latin typeface="Calibri"/>
              </a:rPr>
              <a:t>SkillUp Academy  ·  Market Segmentation</a:t>
            </a:r>
          </a:p>
        </p:txBody>
      </p:sp>
      <p:sp>
        <p:nvSpPr>
          <p:cNvPr id="7" name="TextBox 6"/>
          <p:cNvSpPr txBox="1"/>
          <p:nvPr/>
        </p:nvSpPr>
        <p:spPr>
          <a:xfrm>
            <a:off x="10637520" y="6400800"/>
            <a:ext cx="914400" cy="274320"/>
          </a:xfrm>
          <a:prstGeom prst="rect">
            <a:avLst/>
          </a:prstGeom>
          <a:noFill/>
        </p:spPr>
        <p:txBody>
          <a:bodyPr wrap="square">
            <a:spAutoFit/>
          </a:bodyPr>
          <a:lstStyle/>
          <a:p>
            <a:pPr algn="r"/>
            <a:r>
              <a:rPr sz="1000" b="0">
                <a:solidFill>
                  <a:srgbClr val="616E7C"/>
                </a:solidFill>
                <a:latin typeface="Calibri"/>
              </a:rPr>
              <a:t>8</a:t>
            </a:r>
          </a:p>
        </p:txBody>
      </p:sp>
    </p:spTree>
  </p:cSld>
  <p:clrMapOvr>
    <a:masterClrMapping/>
  </p:clrMapOvr>
  <p:transition spd="med" advTm="3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9" grpId="0" animBg="1"/>
      <p:bldP spid="3"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05840" y="2057400"/>
            <a:ext cx="10180320" cy="1371600"/>
          </a:xfrm>
        </p:spPr>
        <p:txBody>
          <a:bodyPr anchor="b"/>
          <a:lstStyle/>
          <a:p>
            <a:pPr algn="l"/>
            <a:r>
              <a:rPr sz="4800" b="0">
                <a:solidFill>
                  <a:srgbClr val="1F2933"/>
                </a:solidFill>
                <a:latin typeface="Calibri Light"/>
              </a:rPr>
              <a:t>Thank You</a:t>
            </a:r>
          </a:p>
        </p:txBody>
      </p:sp>
      <p:sp>
        <p:nvSpPr>
          <p:cNvPr id="3" name="Subtitle 2"/>
          <p:cNvSpPr>
            <a:spLocks noGrp="1"/>
          </p:cNvSpPr>
          <p:nvPr>
            <p:ph type="subTitle" idx="1"/>
          </p:nvPr>
        </p:nvSpPr>
        <p:spPr>
          <a:xfrm>
            <a:off x="1005840" y="3840480"/>
            <a:ext cx="10180320" cy="1828800"/>
          </a:xfrm>
        </p:spPr>
        <p:txBody>
          <a:bodyPr anchor="t"/>
          <a:lstStyle/>
          <a:p>
            <a:pPr algn="l">
              <a:spcAft>
                <a:spcPts val="800"/>
              </a:spcAft>
            </a:pPr>
            <a:r>
              <a:rPr sz="2400" b="0">
                <a:solidFill>
                  <a:srgbClr val="616E7C"/>
                </a:solidFill>
                <a:latin typeface="Calibri"/>
              </a:rPr>
              <a:t>Any questions?</a:t>
            </a:r>
          </a:p>
          <a:p>
            <a:pPr algn="l">
              <a:spcAft>
                <a:spcPts val="800"/>
              </a:spcAft>
            </a:pPr>
            <a:r>
              <a:rPr sz="1600" b="0">
                <a:solidFill>
                  <a:srgbClr val="616E7C"/>
                </a:solidFill>
                <a:latin typeface="Calibri"/>
              </a:rPr>
              <a:t>SkillUp Academy  ·  Market Research Lab</a:t>
            </a:r>
          </a:p>
        </p:txBody>
      </p:sp>
      <p:sp>
        <p:nvSpPr>
          <p:cNvPr id="4" name="Rectangle 3"/>
          <p:cNvSpPr/>
          <p:nvPr/>
        </p:nvSpPr>
        <p:spPr>
          <a:xfrm>
            <a:off x="0" y="0"/>
            <a:ext cx="256032"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Straight Connector 4"/>
          <p:cNvCxnSpPr/>
          <p:nvPr/>
        </p:nvCxnSpPr>
        <p:spPr>
          <a:xfrm>
            <a:off x="1097280" y="3630168"/>
            <a:ext cx="1371600" cy="0"/>
          </a:xfrm>
          <a:prstGeom prst="line">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Minimal Teal">
      <a:dk1>
        <a:sysClr val="windowText" lastClr="000000"/>
      </a:dk1>
      <a:lt1>
        <a:sysClr val="window" lastClr="FFFFFF"/>
      </a:lt1>
      <a:dk2>
        <a:srgbClr val="1F2933"/>
      </a:dk2>
      <a:lt2>
        <a:srgbClr val="F2F5F5"/>
      </a:lt2>
      <a:accent1>
        <a:srgbClr val="0F766E"/>
      </a:accent1>
      <a:accent2>
        <a:srgbClr val="5EAAA8"/>
      </a:accent2>
      <a:accent3>
        <a:srgbClr val="9AA5B1"/>
      </a:accent3>
      <a:accent4>
        <a:srgbClr val="1F2933"/>
      </a:accent4>
      <a:accent5>
        <a:srgbClr val="C5CCD3"/>
      </a:accent5>
      <a:accent6>
        <a:srgbClr val="52606D"/>
      </a:accent6>
      <a:hlink>
        <a:srgbClr val="0F766E"/>
      </a:hlink>
      <a:folHlink>
        <a:srgbClr val="52606D"/>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Minimal Teal">
      <a:dk1>
        <a:sysClr val="windowText" lastClr="000000"/>
      </a:dk1>
      <a:lt1>
        <a:sysClr val="window" lastClr="FFFFFF"/>
      </a:lt1>
      <a:dk2>
        <a:srgbClr val="1F2933"/>
      </a:dk2>
      <a:lt2>
        <a:srgbClr val="F2F5F5"/>
      </a:lt2>
      <a:accent1>
        <a:srgbClr val="0F766E"/>
      </a:accent1>
      <a:accent2>
        <a:srgbClr val="5EAAA8"/>
      </a:accent2>
      <a:accent3>
        <a:srgbClr val="9AA5B1"/>
      </a:accent3>
      <a:accent4>
        <a:srgbClr val="1F2933"/>
      </a:accent4>
      <a:accent5>
        <a:srgbClr val="C5CCD3"/>
      </a:accent5>
      <a:accent6>
        <a:srgbClr val="52606D"/>
      </a:accent6>
      <a:hlink>
        <a:srgbClr val="0F766E"/>
      </a:hlink>
      <a:folHlink>
        <a:srgbClr val="52606D"/>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Segmentation: SkillUp Academy</dc:title>
  <dc:subject>Segmentation matrix with five target customer segments, supported by Google Trends</dc:subject>
  <dc:creator/>
  <cp:keywords>market segmentation, Google Trends, bar chart</cp:keywords>
  <dc:description/>
  <cp:lastModifiedBy/>
  <cp:revision>1</cp:revision>
  <dcterms:created xsi:type="dcterms:W3CDTF">2026-10-08T20:03:54Z</dcterms:created>
  <dcterms:modified xsi:type="dcterms:W3CDTF">2026-10-08T20:03:54Z</dcterms:modified>
  <cp:category/>
</cp:coreProperties>
</file>