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472C4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030A0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48235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Garamon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Garamon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Garamon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Garamon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5A1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030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8235"/>
              </a:solidFill>
              <a:effectLst/>
            </c:spPr>
          </c:dPt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1F3864"/>
            </a:solidFill>
            <a:ln w="25400" cap="flat">
              <a:solidFill>
                <a:srgbClr val="1F3864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$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4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95959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8FAADC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600200"/>
            <a:ext cx="9997135" cy="13258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Shadow title"/>
          <p:cNvSpPr txBox="1"/>
          <p:nvPr/>
        </p:nvSpPr>
        <p:spPr>
          <a:xfrm>
            <a:off x="1097280" y="1600200"/>
            <a:ext cx="9997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386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aramond" pitchFamily="34" charset="0"/>
                <a:ea typeface="Garamond" pitchFamily="34" charset="-122"/>
                <a:cs typeface="Garamond" pitchFamily="34" charset="-120"/>
              </a:rPr>
              <a:t>MARKETING DEPARTMENT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1097280" y="3017520"/>
            <a:ext cx="999713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3127248"/>
            <a:ext cx="9997135" cy="822960"/>
          </a:xfrm>
          <a:prstGeom prst="rect">
            <a:avLst/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127248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Annual Budget 2026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160520"/>
            <a:ext cx="99971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 the department's budget is planned and shared across its four units:</a:t>
            </a:r>
            <a:endParaRPr lang="en-US" sz="22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Advertising   •   Marketing   •   Public Relations   •   e-Business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576072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Amounts in US$  ·  Source: Marketing_Department_Budget.xlsx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Budget at a Glance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 the $890,000 department budget is shared across the four units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3931920" cy="1965960"/>
          </a:xfrm>
          <a:prstGeom prst="rect">
            <a:avLst/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6" name="Shadow figure"/>
          <p:cNvSpPr txBox="1"/>
          <p:nvPr/>
        </p:nvSpPr>
        <p:spPr>
          <a:xfrm>
            <a:off x="822960" y="21945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aramond" pitchFamily="34" charset="0"/>
                <a:ea typeface="Garamond" pitchFamily="34" charset="-122"/>
                <a:cs typeface="Garamond" pitchFamily="34" charset="-120"/>
              </a:rPr>
              <a:t>$890,000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department budget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015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Excel: =SUM(B13:E13)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3931920" cy="1965960"/>
          </a:xfrm>
          <a:prstGeom prst="rect">
            <a:avLst/>
          </a:prstGeom>
          <a:solidFill>
            <a:srgbClr val="FBE5D6"/>
          </a:solidFill>
          <a:ln w="12700">
            <a:solidFill>
              <a:srgbClr val="FBE5D6"/>
            </a:solidFill>
            <a:prstDash val="solid"/>
          </a:ln>
        </p:spPr>
      </p:sp>
      <p:sp>
        <p:nvSpPr>
          <p:cNvPr id="10" name="Shadow figure"/>
          <p:cNvSpPr txBox="1"/>
          <p:nvPr/>
        </p:nvSpPr>
        <p:spPr>
          <a:xfrm>
            <a:off x="822960" y="4343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aramond" pitchFamily="34" charset="0"/>
                <a:ea typeface="Garamond" pitchFamily="34" charset="-122"/>
                <a:cs typeface="Garamond" pitchFamily="34" charset="-120"/>
              </a:rPr>
              <a:t>$222,500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1480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budget per unit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50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Excel: =AVERAGE(B13:E13)</a:t>
            </a:r>
            <a:endParaRPr lang="en-US" sz="16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937760" y="2103120"/>
          <a:ext cx="39319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98932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of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budget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52560" y="2322576"/>
            <a:ext cx="219456" cy="219456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400032" y="22402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Advertising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$320,000  ·  36.0%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9052560" y="3282696"/>
            <a:ext cx="219456" cy="21945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00032" y="32004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Marketing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$260,000  ·  29.2%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9052560" y="4242816"/>
            <a:ext cx="219456" cy="219456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00032" y="41605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Public Relations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$130,000  ·  14.6%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9052560" y="5202936"/>
            <a:ext cx="219456" cy="219456"/>
          </a:xfrm>
          <a:prstGeom prst="rect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00032" y="51206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e-Business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$180,000  ·  20.2%</a:t>
            </a:r>
            <a:endParaRPr lang="en-US" sz="19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Advertising (Ads)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Paid media campaigns on TV, radio, print, outdoor and online channels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Figures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budget: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$320,000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 formula: </a:t>
            </a:r>
            <a:r>
              <a:rPr lang="en-US" sz="1900" i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=SUM(B5:B12)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of the department: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36.0%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(rank 1 of 4)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per budget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$40,000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Media &amp; Advertising Space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$150,000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the Money Goes (US$)</a:t>
            </a:r>
            <a:endParaRPr lang="en-US" sz="2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research, sales promotions, product launches and trade shows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FBE5D6"/>
          </a:solidFill>
          <a:ln w="12700">
            <a:solidFill>
              <a:srgbClr val="FBE5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5A1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Figures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budget: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$260,000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 formula: </a:t>
            </a:r>
            <a:r>
              <a:rPr lang="en-US" sz="1900" i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=SUM(C5:C12)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of the department: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29.2%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(rank 2 of 4)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per budget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$32,500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Events, Sponsorships &amp; Promotions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$70,000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the Money Goes (US$)</a:t>
            </a:r>
            <a:endParaRPr lang="en-US" sz="2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Public Relations (PR)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Media relations, corporate events, sponsorships and community relations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E9DDF2"/>
          </a:solidFill>
          <a:ln w="12700">
            <a:solidFill>
              <a:srgbClr val="E9DD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030A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Figures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budget: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$130,000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 formula: </a:t>
            </a:r>
            <a:r>
              <a:rPr lang="en-US" sz="1900" i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=SUM(D5:D12)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of the department: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14.6%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(rank 4 of 4)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per budget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$16,250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Staff Salaries &amp; Benefits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$44,000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the Money Goes (US$)</a:t>
            </a:r>
            <a:endParaRPr lang="en-US" sz="2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e-Business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Company website, e-commerce platform, search and social media marketing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E2F0D9"/>
          </a:solidFill>
          <a:ln w="12700">
            <a:solidFill>
              <a:srgbClr val="E2F0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23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Figures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budget: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$180,000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 formula: </a:t>
            </a:r>
            <a:r>
              <a:rPr lang="en-US" sz="1900" i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=SUM(E5:E12)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of the department: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20.2%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(rank 3 of 4)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per budget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$22,500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item: </a:t>
            </a: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Digital Platforms &amp; Technology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$60,000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the Money Goes (US$)</a:t>
            </a:r>
            <a:endParaRPr lang="en-US" sz="2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Budget Table from Excel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Imported from Marketing_Department_Budget.xlsx, sheet “Marketing Budget”, cells A4:G15</a:t>
            </a:r>
            <a:endParaRPr lang="en-US" sz="1800" dirty="0"/>
          </a:p>
        </p:txBody>
      </p:sp>
      <p:graphicFrame>
        <p:nvGraphicFramePr>
          <p:cNvPr id="7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792328" y="2011680"/>
          <a:ext cx="10607040" cy="3681618"/>
        </p:xfrm>
        <a:graphic>
          <a:graphicData uri="http://schemas.openxmlformats.org/presentationml/2006/ole">
            <p:oleObj r:id="rId4" imgW="9747504" imgH="3383280" progId="Excel.Sheet.12" name="Worksheet">
              <p:embed/>
              <p:pic>
                <p:nvPicPr>
                  <p:cNvPr id="8" name="Excel Budget Table pictur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792328" y="2011680"/>
                    <a:ext cx="10607040" cy="36816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583045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Double-click the table to open it in Excel. </a:t>
            </a:r>
            <a:r>
              <a:rPr lang="en-US" sz="16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Blue figures are the budget inputs; black figures are SUM and AVERAGE formulas.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 Budgets vs. the Average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unit's total (SUM) compared with the average of $222,500 per unit (AVERAGE)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6675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2057400"/>
            <a:ext cx="3703320" cy="4114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01000" y="2487168"/>
            <a:ext cx="502920" cy="0"/>
          </a:xfrm>
          <a:prstGeom prst="line">
            <a:avLst/>
          </a:prstGeom>
          <a:noFill/>
          <a:ln w="25400">
            <a:solidFill>
              <a:srgbClr val="1F3864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8595360" y="2240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Average per unit: $222,500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926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Advertising: 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$97,500 above the average</a:t>
            </a:r>
            <a:endParaRPr lang="en-US" sz="19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Marketing: 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$37,500 above the average</a:t>
            </a:r>
            <a:endParaRPr lang="en-US" sz="19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Public Relations: 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$92,500 below the average</a:t>
            </a:r>
            <a:endParaRPr lang="en-US" sz="19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b="1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e-Business: </a:t>
            </a:r>
            <a:r>
              <a:rPr lang="en-US" sz="19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$42,500 below the average</a:t>
            </a:r>
            <a:endParaRPr lang="en-US" sz="19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1036289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2464994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2245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$890,000 in Total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2464994" cy="2148840"/>
          </a:xfrm>
          <a:prstGeom prst="rect">
            <a:avLst/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43200"/>
            <a:ext cx="209923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SUM of the four unit budgets. The AVERAGE budget per unit is $222,500.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516554" y="1691640"/>
            <a:ext cx="2464994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6282" y="1691640"/>
            <a:ext cx="2245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Advertising Is the Largest Unit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516554" y="2560320"/>
            <a:ext cx="2464994" cy="2148840"/>
          </a:xfrm>
          <a:prstGeom prst="rect">
            <a:avLst/>
          </a:prstGeom>
          <a:solidFill>
            <a:srgbClr val="FBE5D6"/>
          </a:solidFill>
          <a:ln w="12700">
            <a:solidFill>
              <a:srgbClr val="FBE5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9434" y="2743200"/>
            <a:ext cx="209923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$320,000 (36.0% of the total). Media space alone costs $150,000.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464994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9876" y="1691640"/>
            <a:ext cx="2245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Staff Costs Are the Biggest Item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210148" y="2560320"/>
            <a:ext cx="2464994" cy="2148840"/>
          </a:xfrm>
          <a:prstGeom prst="rect">
            <a:avLst/>
          </a:prstGeom>
          <a:solidFill>
            <a:srgbClr val="E9DDF2"/>
          </a:solidFill>
          <a:ln w="12700">
            <a:solidFill>
              <a:srgbClr val="E9DD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3028" y="2743200"/>
            <a:ext cx="209923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Staff Salaries &amp; Benefits come to $234,000 across all units, 26.3% of the budget.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03741" y="1691640"/>
            <a:ext cx="2464994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13469" y="1691640"/>
            <a:ext cx="2245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Technology Leads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e-Business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8903741" y="2560320"/>
            <a:ext cx="2464994" cy="2148840"/>
          </a:xfrm>
          <a:prstGeom prst="rect">
            <a:avLst/>
          </a:prstGeom>
          <a:solidFill>
            <a:srgbClr val="E2F0D9"/>
          </a:solidFill>
          <a:ln w="12700">
            <a:solidFill>
              <a:srgbClr val="E2F0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86621" y="2743200"/>
            <a:ext cx="209923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$60,000 of its $180,000 (33.3%) goes to digital platforms and technology.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926080" y="5120640"/>
            <a:ext cx="6339535" cy="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85232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Thank You. Questions?</a:t>
            </a:r>
            <a:endParaRPr lang="en-US" sz="3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PptxGenJS</dc:creator>
  <cp:lastModifiedBy>PptxGenJS</cp:lastModifiedBy>
  <cp:revision>1</cp:revision>
  <dcterms:created xsi:type="dcterms:W3CDTF">2026-09-24T23:19:31Z</dcterms:created>
  <dcterms:modified xsi:type="dcterms:W3CDTF">2026-09-24T23:19:31Z</dcterms:modified>
</cp:coreProperties>
</file>