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472C4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030A0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48235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5A1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030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8235"/>
              </a:solidFill>
              <a:effectLst/>
            </c:spPr>
          </c:dPt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000000"/>
            </a:solidFill>
            <a:ln w="25400" cap="flat">
              <a:solidFill>
                <a:srgbClr val="000000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8FAADC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173736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</a:t>
            </a:r>
            <a:endParaRPr lang="en-US" sz="4400" dirty="0"/>
          </a:p>
        </p:txBody>
      </p:sp>
      <p:sp>
        <p:nvSpPr>
          <p:cNvPr id="3" name="Title Rule"/>
          <p:cNvSpPr/>
          <p:nvPr/>
        </p:nvSpPr>
        <p:spPr>
          <a:xfrm>
            <a:off x="2286000" y="2743200"/>
            <a:ext cx="76196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28803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Budget 2026</a:t>
            </a:r>
            <a:endParaRPr lang="en-US" sz="3200" dirty="0"/>
          </a:p>
        </p:txBody>
      </p:sp>
      <p:sp>
        <p:nvSpPr>
          <p:cNvPr id="5" name="Units"/>
          <p:cNvSpPr txBox="1"/>
          <p:nvPr/>
        </p:nvSpPr>
        <p:spPr>
          <a:xfrm>
            <a:off x="914400" y="39319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department's budget is planned and shared across its four units: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  •   Marketing   •   Public Relations   •   e-Business</a:t>
            </a:r>
            <a:endParaRPr lang="en-US" sz="2000" dirty="0"/>
          </a:p>
        </p:txBody>
      </p:sp>
      <p:sp>
        <p:nvSpPr>
          <p:cNvPr id="6" name="Source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in US$  ·  Source: Marketing_Department_Budget.xlsx</a:t>
            </a:r>
            <a:endParaRPr lang="en-US" sz="1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at a Glance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$890,000 department budget is shared across the four units</a:t>
            </a:r>
            <a:endParaRPr lang="en-US" sz="1800" dirty="0"/>
          </a:p>
        </p:txBody>
      </p:sp>
      <p:sp>
        <p:nvSpPr>
          <p:cNvPr id="5" name="Total Box"/>
          <p:cNvSpPr/>
          <p:nvPr/>
        </p:nvSpPr>
        <p:spPr>
          <a:xfrm>
            <a:off x="822960" y="201168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otal Value"/>
          <p:cNvSpPr txBox="1"/>
          <p:nvPr/>
        </p:nvSpPr>
        <p:spPr>
          <a:xfrm>
            <a:off x="822960" y="22128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</a:t>
            </a:r>
            <a:endParaRPr lang="en-US" sz="4000" dirty="0"/>
          </a:p>
        </p:txBody>
      </p:sp>
      <p:sp>
        <p:nvSpPr>
          <p:cNvPr id="7" name="Total Label"/>
          <p:cNvSpPr txBox="1"/>
          <p:nvPr/>
        </p:nvSpPr>
        <p:spPr>
          <a:xfrm>
            <a:off x="822960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department budget</a:t>
            </a:r>
            <a:endParaRPr lang="en-US" sz="2000" dirty="0"/>
          </a:p>
        </p:txBody>
      </p:sp>
      <p:sp>
        <p:nvSpPr>
          <p:cNvPr id="8" name="Total Formula"/>
          <p:cNvSpPr txBox="1"/>
          <p:nvPr/>
        </p:nvSpPr>
        <p:spPr>
          <a:xfrm>
            <a:off x="822960" y="34015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=SUM(B13:E13)</a:t>
            </a:r>
            <a:endParaRPr lang="en-US" sz="1600" dirty="0"/>
          </a:p>
        </p:txBody>
      </p:sp>
      <p:sp>
        <p:nvSpPr>
          <p:cNvPr id="9" name="Average Box"/>
          <p:cNvSpPr/>
          <p:nvPr/>
        </p:nvSpPr>
        <p:spPr>
          <a:xfrm>
            <a:off x="822960" y="416052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0" name="Average Value"/>
          <p:cNvSpPr txBox="1"/>
          <p:nvPr/>
        </p:nvSpPr>
        <p:spPr>
          <a:xfrm>
            <a:off x="822960" y="436168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</a:t>
            </a:r>
            <a:endParaRPr lang="en-US" sz="4000" dirty="0"/>
          </a:p>
        </p:txBody>
      </p:sp>
      <p:sp>
        <p:nvSpPr>
          <p:cNvPr id="11" name="Average Label"/>
          <p:cNvSpPr txBox="1"/>
          <p:nvPr/>
        </p:nvSpPr>
        <p:spPr>
          <a:xfrm>
            <a:off x="822960" y="5148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 per unit</a:t>
            </a:r>
            <a:endParaRPr lang="en-US" sz="2000" dirty="0"/>
          </a:p>
        </p:txBody>
      </p:sp>
      <p:sp>
        <p:nvSpPr>
          <p:cNvPr id="12" name="Average Formula"/>
          <p:cNvSpPr txBox="1"/>
          <p:nvPr/>
        </p:nvSpPr>
        <p:spPr>
          <a:xfrm>
            <a:off x="822960" y="55504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=AVERAGE(B13:E13)</a:t>
            </a:r>
            <a:endParaRPr lang="en-US" sz="1600" dirty="0"/>
          </a:p>
        </p:txBody>
      </p:sp>
      <p:graphicFrame>
        <p:nvGraphicFramePr>
          <p:cNvPr id="13" name="Share Chart" descr=""/>
          <p:cNvGraphicFramePr/>
          <p:nvPr/>
        </p:nvGraphicFramePr>
        <p:xfrm>
          <a:off x="4937760" y="2103120"/>
          <a:ext cx="39319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re Label"/>
          <p:cNvSpPr txBox="1"/>
          <p:nvPr/>
        </p:nvSpPr>
        <p:spPr>
          <a:xfrm>
            <a:off x="598932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600" dirty="0"/>
          </a:p>
        </p:txBody>
      </p:sp>
      <p:sp>
        <p:nvSpPr>
          <p:cNvPr id="15" name="Legend Key Advertising"/>
          <p:cNvSpPr/>
          <p:nvPr/>
        </p:nvSpPr>
        <p:spPr>
          <a:xfrm>
            <a:off x="9052560" y="2304288"/>
            <a:ext cx="219456" cy="219456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Legend Advertising"/>
          <p:cNvSpPr txBox="1"/>
          <p:nvPr/>
        </p:nvSpPr>
        <p:spPr>
          <a:xfrm>
            <a:off x="9400032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 ·  36.0%</a:t>
            </a:r>
            <a:endParaRPr lang="en-US" sz="1700" dirty="0"/>
          </a:p>
        </p:txBody>
      </p:sp>
      <p:sp>
        <p:nvSpPr>
          <p:cNvPr id="17" name="Legend Key Marketing"/>
          <p:cNvSpPr/>
          <p:nvPr/>
        </p:nvSpPr>
        <p:spPr>
          <a:xfrm>
            <a:off x="9052560" y="3264408"/>
            <a:ext cx="219456" cy="21945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8" name="Legend Marketing"/>
          <p:cNvSpPr txBox="1"/>
          <p:nvPr/>
        </p:nvSpPr>
        <p:spPr>
          <a:xfrm>
            <a:off x="9400032" y="32004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  ·  29.2%</a:t>
            </a:r>
            <a:endParaRPr lang="en-US" sz="1700" dirty="0"/>
          </a:p>
        </p:txBody>
      </p:sp>
      <p:sp>
        <p:nvSpPr>
          <p:cNvPr id="19" name="Legend Key Public Relations"/>
          <p:cNvSpPr/>
          <p:nvPr/>
        </p:nvSpPr>
        <p:spPr>
          <a:xfrm>
            <a:off x="9052560" y="4224528"/>
            <a:ext cx="219456" cy="219456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20" name="Legend Public Relations"/>
          <p:cNvSpPr txBox="1"/>
          <p:nvPr/>
        </p:nvSpPr>
        <p:spPr>
          <a:xfrm>
            <a:off x="9400032" y="41605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  ·  14.6%</a:t>
            </a:r>
            <a:endParaRPr lang="en-US" sz="1700" dirty="0"/>
          </a:p>
        </p:txBody>
      </p:sp>
      <p:sp>
        <p:nvSpPr>
          <p:cNvPr id="21" name="Legend Key e-Business"/>
          <p:cNvSpPr/>
          <p:nvPr/>
        </p:nvSpPr>
        <p:spPr>
          <a:xfrm>
            <a:off x="9052560" y="5184648"/>
            <a:ext cx="219456" cy="219456"/>
          </a:xfrm>
          <a:prstGeom prst="rect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sp>
        <p:nvSpPr>
          <p:cNvPr id="22" name="Legend e-Business"/>
          <p:cNvSpPr txBox="1"/>
          <p:nvPr/>
        </p:nvSpPr>
        <p:spPr>
          <a:xfrm>
            <a:off x="9400032" y="5120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  ·  20.2%</a:t>
            </a:r>
            <a:endParaRPr lang="en-US" sz="17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Graphic spid="13" grpId="0">
        <p:bldAsOne/>
      </p:bldGraphic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(Ads)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campaigns on TV, radio, print, outdoor and online channels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=SUM(B5:B12)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1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&amp; Advertising Space, $150,000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research, sales promotions, product launches and trade shows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=SUM(C5:C12)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2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Events, Sponsorships &amp; Promotions, $70,000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 (PR)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relations, corporate events, sponsorships and community relations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=SUM(D5:D12)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4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$16,250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Benefits, $44,000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website, e-commerce platform, search and social media marketing</a:t>
            </a:r>
            <a:endParaRPr lang="en-US" sz="1800" dirty="0"/>
          </a:p>
        </p:txBody>
      </p:sp>
      <p:sp>
        <p:nvSpPr>
          <p:cNvPr id="5" name="Key Figures Box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Key Figures Heading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Key Figures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=SUM(E5:E12)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3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Platforms &amp; Technology, $60,000</a:t>
            </a:r>
            <a:endParaRPr lang="en-US" sz="1700" dirty="0"/>
          </a:p>
        </p:txBody>
      </p:sp>
      <p:sp>
        <p:nvSpPr>
          <p:cNvPr id="8" name="Chart Heading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Budget Chart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Graphic spid="9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Table from Excel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from Marketing_Department_Budget.xlsx, sheet “Marketing Budget”, cells A4:G15</a:t>
            </a:r>
            <a:endParaRPr lang="en-US" sz="1800" dirty="0"/>
          </a:p>
        </p:txBody>
      </p:sp>
      <p:graphicFrame>
        <p:nvGraphicFramePr>
          <p:cNvPr id="7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792328" y="2011680"/>
          <a:ext cx="10607040" cy="3681618"/>
        </p:xfrm>
        <a:graphic>
          <a:graphicData uri="http://schemas.openxmlformats.org/presentationml/2006/ole">
            <p:oleObj r:id="rId4" imgW="9747504" imgH="3383280" progId="Excel.Sheet.12" name="Worksheet">
              <p:embed/>
              <p:pic>
                <p:nvPicPr>
                  <p:cNvPr id="8" name="Excel Budget Table pictur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792328" y="2011680"/>
                    <a:ext cx="10607040" cy="36816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Caption"/>
          <p:cNvSpPr txBox="1"/>
          <p:nvPr/>
        </p:nvSpPr>
        <p:spPr>
          <a:xfrm>
            <a:off x="731520" y="583045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table to open it in Excel. 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figures are the budget inputs; black figures are SUM and AVERAGE formulas.</a:t>
            </a:r>
            <a:endParaRPr lang="en-US" sz="15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Budgets vs. the Average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ubtitle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unit's total (SUM) compared with the average of $222,500 per unit (AVERAGE)</a:t>
            </a:r>
            <a:endParaRPr lang="en-US" sz="1800" dirty="0"/>
          </a:p>
        </p:txBody>
      </p:sp>
      <p:graphicFrame>
        <p:nvGraphicFramePr>
          <p:cNvPr id="5" name="Comparison Chart" descr=""/>
          <p:cNvGraphicFramePr/>
          <p:nvPr/>
        </p:nvGraphicFramePr>
        <p:xfrm>
          <a:off x="731520" y="1965960"/>
          <a:ext cx="6675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Average Box"/>
          <p:cNvSpPr/>
          <p:nvPr/>
        </p:nvSpPr>
        <p:spPr>
          <a:xfrm>
            <a:off x="7726680" y="2057400"/>
            <a:ext cx="3703320" cy="411480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7" name="Average Key"/>
          <p:cNvSpPr/>
          <p:nvPr/>
        </p:nvSpPr>
        <p:spPr>
          <a:xfrm>
            <a:off x="8001000" y="2487168"/>
            <a:ext cx="4572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</a:ln>
        </p:spPr>
      </p:sp>
      <p:sp>
        <p:nvSpPr>
          <p:cNvPr id="8" name="Average Label"/>
          <p:cNvSpPr txBox="1"/>
          <p:nvPr/>
        </p:nvSpPr>
        <p:spPr>
          <a:xfrm>
            <a:off x="8549640" y="224028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unit: $222,500</a:t>
            </a:r>
            <a:endParaRPr lang="en-US" sz="1600" dirty="0"/>
          </a:p>
        </p:txBody>
      </p:sp>
      <p:sp>
        <p:nvSpPr>
          <p:cNvPr id="9" name="Above and Below"/>
          <p:cNvSpPr txBox="1"/>
          <p:nvPr/>
        </p:nvSpPr>
        <p:spPr>
          <a:xfrm>
            <a:off x="8001000" y="2926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$92,500 below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$42,500 below the average</a:t>
            </a:r>
            <a:endParaRPr lang="en-US" sz="17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Graphic spid="5" grpId="0">
        <p:bldAsOne/>
      </p:bldGraphic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Title Rule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akeaway 1 Box"/>
          <p:cNvSpPr/>
          <p:nvPr/>
        </p:nvSpPr>
        <p:spPr>
          <a:xfrm>
            <a:off x="822960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5" name="Takeaway 1 Headline"/>
          <p:cNvSpPr txBox="1"/>
          <p:nvPr/>
        </p:nvSpPr>
        <p:spPr>
          <a:xfrm>
            <a:off x="960120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 in Total</a:t>
            </a:r>
            <a:endParaRPr lang="en-US" sz="1800" dirty="0"/>
          </a:p>
        </p:txBody>
      </p:sp>
      <p:sp>
        <p:nvSpPr>
          <p:cNvPr id="6" name="Takeaway 1 Rule"/>
          <p:cNvSpPr/>
          <p:nvPr/>
        </p:nvSpPr>
        <p:spPr>
          <a:xfrm>
            <a:off x="1188720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7" name="Takeaway 1 Text"/>
          <p:cNvSpPr txBox="1"/>
          <p:nvPr/>
        </p:nvSpPr>
        <p:spPr>
          <a:xfrm>
            <a:off x="1005840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of the four unit budgets. The AVERAGE budget per unit is $222,500.</a:t>
            </a:r>
            <a:endParaRPr lang="en-US" sz="1700" dirty="0"/>
          </a:p>
        </p:txBody>
      </p:sp>
      <p:sp>
        <p:nvSpPr>
          <p:cNvPr id="8" name="Takeaway 2 Box"/>
          <p:cNvSpPr/>
          <p:nvPr/>
        </p:nvSpPr>
        <p:spPr>
          <a:xfrm>
            <a:off x="3516554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9" name="Takeaway 2 Headline"/>
          <p:cNvSpPr txBox="1"/>
          <p:nvPr/>
        </p:nvSpPr>
        <p:spPr>
          <a:xfrm>
            <a:off x="3653714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Is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Unit</a:t>
            </a:r>
            <a:endParaRPr lang="en-US" sz="1800" dirty="0"/>
          </a:p>
        </p:txBody>
      </p:sp>
      <p:sp>
        <p:nvSpPr>
          <p:cNvPr id="10" name="Takeaway 2 Rule"/>
          <p:cNvSpPr/>
          <p:nvPr/>
        </p:nvSpPr>
        <p:spPr>
          <a:xfrm>
            <a:off x="3882314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1" name="Takeaway 2 Text"/>
          <p:cNvSpPr txBox="1"/>
          <p:nvPr/>
        </p:nvSpPr>
        <p:spPr>
          <a:xfrm>
            <a:off x="3699434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(36.0% of the total). Media space alone costs $150,000.</a:t>
            </a:r>
            <a:endParaRPr lang="en-US" sz="1700" dirty="0"/>
          </a:p>
        </p:txBody>
      </p:sp>
      <p:sp>
        <p:nvSpPr>
          <p:cNvPr id="12" name="Takeaway 3 Box"/>
          <p:cNvSpPr/>
          <p:nvPr/>
        </p:nvSpPr>
        <p:spPr>
          <a:xfrm>
            <a:off x="6210148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3" name="Takeaway 3 Headline"/>
          <p:cNvSpPr txBox="1"/>
          <p:nvPr/>
        </p:nvSpPr>
        <p:spPr>
          <a:xfrm>
            <a:off x="6347308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Costs Are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Item</a:t>
            </a:r>
            <a:endParaRPr lang="en-US" sz="1800" dirty="0"/>
          </a:p>
        </p:txBody>
      </p:sp>
      <p:sp>
        <p:nvSpPr>
          <p:cNvPr id="14" name="Takeaway 3 Rule"/>
          <p:cNvSpPr/>
          <p:nvPr/>
        </p:nvSpPr>
        <p:spPr>
          <a:xfrm>
            <a:off x="6575908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5" name="Takeaway 3 Text"/>
          <p:cNvSpPr txBox="1"/>
          <p:nvPr/>
        </p:nvSpPr>
        <p:spPr>
          <a:xfrm>
            <a:off x="6393028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 come to $234,000 across all units, 26.3% of the budget.</a:t>
            </a:r>
            <a:endParaRPr lang="en-US" sz="1700" dirty="0"/>
          </a:p>
        </p:txBody>
      </p:sp>
      <p:sp>
        <p:nvSpPr>
          <p:cNvPr id="16" name="Takeaway 4 Box"/>
          <p:cNvSpPr/>
          <p:nvPr/>
        </p:nvSpPr>
        <p:spPr>
          <a:xfrm>
            <a:off x="8903741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7" name="Takeaway 4 Headline"/>
          <p:cNvSpPr txBox="1"/>
          <p:nvPr/>
        </p:nvSpPr>
        <p:spPr>
          <a:xfrm>
            <a:off x="9040901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Leads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800" dirty="0"/>
          </a:p>
        </p:txBody>
      </p:sp>
      <p:sp>
        <p:nvSpPr>
          <p:cNvPr id="18" name="Takeaway 4 Rule"/>
          <p:cNvSpPr/>
          <p:nvPr/>
        </p:nvSpPr>
        <p:spPr>
          <a:xfrm>
            <a:off x="9269501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9" name="Takeaway 4 Text"/>
          <p:cNvSpPr txBox="1"/>
          <p:nvPr/>
        </p:nvSpPr>
        <p:spPr>
          <a:xfrm>
            <a:off x="9086621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 of its $180,000 (33.3%) goes to digital platforms and technology.</a:t>
            </a:r>
            <a:endParaRPr lang="en-US" sz="1700" dirty="0"/>
          </a:p>
        </p:txBody>
      </p:sp>
      <p:sp>
        <p:nvSpPr>
          <p:cNvPr id="20" name="Closing Rule"/>
          <p:cNvSpPr/>
          <p:nvPr/>
        </p:nvSpPr>
        <p:spPr>
          <a:xfrm>
            <a:off x="2926080" y="4937760"/>
            <a:ext cx="633953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1" name="Thank You"/>
          <p:cNvSpPr txBox="1"/>
          <p:nvPr/>
        </p:nvSpPr>
        <p:spPr>
          <a:xfrm>
            <a:off x="731520" y="51206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Questions?</a:t>
            </a:r>
            <a:endParaRPr lang="en-US" sz="32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PptxGenJS</dc:creator>
  <cp:lastModifiedBy>PptxGenJS</cp:lastModifiedBy>
  <cp:revision>1</cp:revision>
  <dcterms:created xsi:type="dcterms:W3CDTF">2026-09-24T23:34:43Z</dcterms:created>
  <dcterms:modified xsi:type="dcterms:W3CDTF">2026-09-24T23:34:43Z</dcterms:modified>
</cp:coreProperties>
</file>