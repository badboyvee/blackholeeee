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0000"/>
                </a:solidFill>
                <a:latin typeface="Arial"/>
              </a:rPr>
              <a:t>Share of Total Budget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6262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6A6A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9595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9D9D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%" sourceLinked="0"/>
              <c:spPr/>
              <c:txPr>
                <a:bodyPr wrap="none"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 wrap="none"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 wrap="none"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 wrap="none"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 wrap="none"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Advertising</c:v>
                </c:pt>
                <c:pt idx="1">
                  <c:v>Marketing</c:v>
                </c:pt>
                <c:pt idx="2">
                  <c:v>Public Relations</c:v>
                </c:pt>
                <c:pt idx="3">
                  <c:v>e-Business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320000</c:v>
                </c:pt>
                <c:pt idx="1">
                  <c:v>260000</c:v>
                </c:pt>
                <c:pt idx="2">
                  <c:v>130000</c:v>
                </c:pt>
                <c:pt idx="3">
                  <c:v>180000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Advertising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Media &amp; Advertising Space</c:v>
                  </c:pt>
                  <c:pt idx="1">
                    <c:v>Staff Salaries &amp; Benefits</c:v>
                  </c:pt>
                  <c:pt idx="2">
                    <c:v>Agency &amp; Consultancy Fees</c:v>
                  </c:pt>
                  <c:pt idx="3">
                    <c:v>Printing &amp; Promotional Materials</c:v>
                  </c:pt>
                  <c:pt idx="4">
                    <c:v>Events, Sponsorships &amp; Promotions</c:v>
                  </c:pt>
                  <c:pt idx="5">
                    <c:v>Digital Platforms &amp; Technology</c:v>
                  </c:pt>
                  <c:pt idx="6">
                    <c:v>Market Research &amp; Analytics</c:v>
                  </c:pt>
                  <c:pt idx="7">
                    <c:v>Training &amp; Travel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150000</c:v>
                </c:pt>
                <c:pt idx="1">
                  <c:v>66000</c:v>
                </c:pt>
                <c:pt idx="2">
                  <c:v>40000</c:v>
                </c:pt>
                <c:pt idx="3">
                  <c:v>28000</c:v>
                </c:pt>
                <c:pt idx="4">
                  <c:v>12000</c:v>
                </c:pt>
                <c:pt idx="5">
                  <c:v>10000</c:v>
                </c:pt>
                <c:pt idx="6">
                  <c:v>8000</c:v>
                </c:pt>
                <c:pt idx="7">
                  <c:v>6000</c:v>
                </c:pt>
              </c:numCache>
            </c:numRef>
          </c:val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Events, Sponsorships &amp; Promotions</c:v>
                  </c:pt>
                  <c:pt idx="1">
                    <c:v>Staff Salaries &amp; Benefits</c:v>
                  </c:pt>
                  <c:pt idx="2">
                    <c:v>Market Research &amp; Analytics</c:v>
                  </c:pt>
                  <c:pt idx="3">
                    <c:v>Printing &amp; Promotional Materials</c:v>
                  </c:pt>
                  <c:pt idx="4">
                    <c:v>Media &amp; Advertising Space</c:v>
                  </c:pt>
                  <c:pt idx="5">
                    <c:v>Training &amp; Travel</c:v>
                  </c:pt>
                  <c:pt idx="6">
                    <c:v>Digital Platforms &amp; Technology</c:v>
                  </c:pt>
                  <c:pt idx="7">
                    <c:v>Agency &amp; Consultancy Fees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70000</c:v>
                </c:pt>
                <c:pt idx="1">
                  <c:v>68000</c:v>
                </c:pt>
                <c:pt idx="2">
                  <c:v>35000</c:v>
                </c:pt>
                <c:pt idx="3">
                  <c:v>25000</c:v>
                </c:pt>
                <c:pt idx="4">
                  <c:v>20000</c:v>
                </c:pt>
                <c:pt idx="5">
                  <c:v>18000</c:v>
                </c:pt>
                <c:pt idx="6">
                  <c:v>12000</c:v>
                </c:pt>
                <c:pt idx="7">
                  <c:v>12000</c:v>
                </c:pt>
              </c:numCache>
            </c:numRef>
          </c:val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Relations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Staff Salaries &amp; Benefits</c:v>
                  </c:pt>
                  <c:pt idx="1">
                    <c:v>Events, Sponsorships &amp; Promotions</c:v>
                  </c:pt>
                  <c:pt idx="2">
                    <c:v>Printing &amp; Promotional Materials</c:v>
                  </c:pt>
                  <c:pt idx="3">
                    <c:v>Training &amp; Travel</c:v>
                  </c:pt>
                  <c:pt idx="4">
                    <c:v>Media &amp; Advertising Space</c:v>
                  </c:pt>
                  <c:pt idx="5">
                    <c:v>Agency &amp; Consultancy Fees</c:v>
                  </c:pt>
                  <c:pt idx="6">
                    <c:v>Digital Platforms &amp; Technology</c:v>
                  </c:pt>
                  <c:pt idx="7">
                    <c:v>Market Research &amp; Analytics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44000</c:v>
                </c:pt>
                <c:pt idx="1">
                  <c:v>38000</c:v>
                </c:pt>
                <c:pt idx="2">
                  <c:v>12000</c:v>
                </c:pt>
                <c:pt idx="3">
                  <c:v>9000</c:v>
                </c:pt>
                <c:pt idx="4">
                  <c:v>8000</c:v>
                </c:pt>
                <c:pt idx="5">
                  <c:v>8000</c:v>
                </c:pt>
                <c:pt idx="6">
                  <c:v>6000</c:v>
                </c:pt>
                <c:pt idx="7">
                  <c:v>5000</c:v>
                </c:pt>
              </c:numCache>
            </c:numRef>
          </c:val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e-Business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Digital Platforms &amp; Technology</c:v>
                  </c:pt>
                  <c:pt idx="1">
                    <c:v>Staff Salaries &amp; Benefits</c:v>
                  </c:pt>
                  <c:pt idx="2">
                    <c:v>Media &amp; Advertising Space</c:v>
                  </c:pt>
                  <c:pt idx="3">
                    <c:v>Market Research &amp; Analytics</c:v>
                  </c:pt>
                  <c:pt idx="4">
                    <c:v>Events, Sponsorships &amp; Promotions</c:v>
                  </c:pt>
                  <c:pt idx="5">
                    <c:v>Agency &amp; Consultancy Fees</c:v>
                  </c:pt>
                  <c:pt idx="6">
                    <c:v>Training &amp; Travel</c:v>
                  </c:pt>
                  <c:pt idx="7">
                    <c:v>Printing &amp; Promotional Materials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56000</c:v>
                </c:pt>
                <c:pt idx="2">
                  <c:v>28000</c:v>
                </c:pt>
                <c:pt idx="3">
                  <c:v>12000</c:v>
                </c:pt>
                <c:pt idx="4">
                  <c:v>8000</c:v>
                </c:pt>
                <c:pt idx="5">
                  <c:v>8000</c:v>
                </c:pt>
                <c:pt idx="6">
                  <c:v>6000</c:v>
                </c:pt>
                <c:pt idx="7">
                  <c:v>2000</c:v>
                </c:pt>
              </c:numCache>
            </c:numRef>
          </c:val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budget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Advertising</c:v>
                  </c:pt>
                  <c:pt idx="1">
                    <c:v>Marketing</c:v>
                  </c:pt>
                  <c:pt idx="2">
                    <c:v>Public Relations</c:v>
                  </c:pt>
                  <c:pt idx="3">
                    <c:v>e-Business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320000</c:v>
                </c:pt>
                <c:pt idx="1">
                  <c:v>260000</c:v>
                </c:pt>
                <c:pt idx="2">
                  <c:v>130000</c:v>
                </c:pt>
                <c:pt idx="3">
                  <c:v>180000</c:v>
                </c:pt>
              </c:numCache>
            </c:numRef>
          </c:val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Average per unit</c:v>
                </c:pt>
              </c:strCache>
            </c:strRef>
          </c:tx>
          <c:spPr>
            <a:solidFill>
              <a:srgbClr val="000000"/>
            </a:solidFill>
            <a:ln w="25400" cap="flat">
              <a:solidFill>
                <a:srgbClr val="000000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dLbls>
            <c:numFmt formatCode="$#,##0" sourceLinked="0"/>
            <c:txPr>
              <a:bodyPr wrap="none"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Advertising</c:v>
                  </c:pt>
                  <c:pt idx="1">
                    <c:v>Marketing</c:v>
                  </c:pt>
                  <c:pt idx="2">
                    <c:v>Public Relations</c:v>
                  </c:pt>
                  <c:pt idx="3">
                    <c:v>e-Business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222500</c:v>
                </c:pt>
                <c:pt idx="1">
                  <c:v>222500</c:v>
                </c:pt>
                <c:pt idx="2">
                  <c:v>222500</c:v>
                </c:pt>
                <c:pt idx="3">
                  <c:v>222500</c:v>
                </c:pt>
              </c:numCache>
            </c:numRef>
          </c:val>
          <c:smooth val="0"/>
        </c:ser>
        <c:dLbls>
          <c:numFmt formatCode="$#,##0" sourceLinked="0"/>
          <c:txPr>
            <a:bodyPr wrap="none"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0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day. This presentation covers the 2026 budget of the Marketing Department. The department has four units: Advertising (Ads), Marketing, Public Relations (PR) and e-Business. The figures were prepared in Microsoft Excel, where SUM and AVERAGE formulas calculate the totals and averages.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total the department plans to spend $890,000. In Excel this is the SUM of the four unit budgets. The average budget per unit is $222,500, calculated with the AVERAGE formula. Advertising takes the largest share (36.0%), followed by Marketing (29.2%), e-Business (20.2%) and Public Relations (14.6%).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Advertising (Ads): this unit covers paid media campaigns on TV, radio, print, outdoor and online channels. Its total budget is $320,000, the SUM of its 8 budget items. That is 36.0% of the department budget, making it the largest of the 4 units. The largest item is Media &amp; Advertising Space at $150,000 (46.9% of the unit's budget), followed by Staff Salaries &amp; Benefits at $66,000. On average the unit spends $40,000 per budget item (AVERAGE formula).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Marketing: this unit covers market research, sales promotions, product launches and trade shows. Its total budget is $260,000, the SUM of its 8 budget items. That is 29.2% of the department budget, making it the second largest of the 4 units. The largest item is Events, Sponsorships &amp; Promotions at $70,000 (26.9% of the unit's budget), followed by Staff Salaries &amp; Benefits at $68,000. On average the unit spends $32,500 per budget item (AVERAGE formula).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Relations (PR): this unit covers media relations, corporate events, sponsorships and community relations. Its total budget is $130,000, the SUM of its 8 budget items. That is 14.6% of the department budget, making it the smallest of the 4 units. The largest item is Staff Salaries &amp; Benefits at $44,000 (33.8% of the unit's budget), followed by Events, Sponsorships &amp; Promotions at $38,000. On average the unit spends $16,250 per budget item (AVERAGE formula).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e-Business: this unit covers company website, e-commerce platform, search and social media marketing. Its total budget is $180,000, the SUM of its 8 budget items. That is 20.2% of the department budget, making it the third largest of the 4 units. The largest item is Digital Platforms &amp; Technology at $60,000 (33.3% of the unit's budget), followed by Staff Salaries &amp; Benefits at $56,000. On average the unit spends $22,500 per budget item (AVERAGE formula).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budget table imported directly from the Excel workbook as an embedded Excel worksheet object, so double-clicking it opens the live spreadsheet. Each row is a budget item and each column is a unit. The Total column and the Total Budget row use SUM; the Average per Unit column and the Average per Budget Item row use AVERAGE. The department total is $890,000 and the average per unit is $222,500.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line marks the average budget per unit, $222,500. Advertising and Marketing are above the average; Public Relations and e-Business are below it. Advertising is $97,500 above the average, while Public Relations is $92,500 below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the department budget is $890,000 with an average of $222,500 per unit. Advertising is the largest unit at $320,000, staff salaries and benefits are the biggest single item at $234,000, and e-Business puts 33.3% of its budget into digital platforms. Thank you;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8FAADC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package" Target="../embeddings/Microsoft_Excel_Sheet1.xlsx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73736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DEPARTMENT</a:t>
            </a:r>
            <a:endParaRPr lang="en-US" sz="4400" dirty="0"/>
          </a:p>
        </p:txBody>
      </p:sp>
      <p:sp>
        <p:nvSpPr>
          <p:cNvPr id="3" name="Title Rule"/>
          <p:cNvSpPr/>
          <p:nvPr/>
        </p:nvSpPr>
        <p:spPr>
          <a:xfrm>
            <a:off x="2286000" y="2743200"/>
            <a:ext cx="76196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28803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Budget 2026</a:t>
            </a:r>
            <a:endParaRPr lang="en-US" sz="3200" dirty="0"/>
          </a:p>
        </p:txBody>
      </p:sp>
      <p:sp>
        <p:nvSpPr>
          <p:cNvPr id="5" name="Units"/>
          <p:cNvSpPr txBox="1"/>
          <p:nvPr/>
        </p:nvSpPr>
        <p:spPr>
          <a:xfrm>
            <a:off x="914400" y="39319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department's budget is planned and shared across its four units: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  •   Marketing   •   Public Relations   •   e-Business</a:t>
            </a:r>
            <a:endParaRPr lang="en-US" sz="2000" dirty="0"/>
          </a:p>
        </p:txBody>
      </p:sp>
      <p:sp>
        <p:nvSpPr>
          <p:cNvPr id="6" name="Source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in US$  ·  Source: Marketing_Department_Budget.xlsx</a:t>
            </a:r>
            <a:endParaRPr lang="en-US" sz="14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at a Glance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$890,000 department budget is shared across the four units</a:t>
            </a:r>
            <a:endParaRPr lang="en-US" sz="1800" dirty="0"/>
          </a:p>
        </p:txBody>
      </p:sp>
      <p:sp>
        <p:nvSpPr>
          <p:cNvPr id="5" name="Total Box"/>
          <p:cNvSpPr/>
          <p:nvPr/>
        </p:nvSpPr>
        <p:spPr>
          <a:xfrm>
            <a:off x="822960" y="2011680"/>
            <a:ext cx="3931920" cy="196596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Total Value"/>
          <p:cNvSpPr txBox="1"/>
          <p:nvPr/>
        </p:nvSpPr>
        <p:spPr>
          <a:xfrm>
            <a:off x="822960" y="22128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$890,000</a:t>
            </a:r>
            <a:endParaRPr lang="en-US" sz="4000" dirty="0"/>
          </a:p>
        </p:txBody>
      </p:sp>
      <p:sp>
        <p:nvSpPr>
          <p:cNvPr id="7" name="Total Label"/>
          <p:cNvSpPr txBox="1"/>
          <p:nvPr/>
        </p:nvSpPr>
        <p:spPr>
          <a:xfrm>
            <a:off x="82296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department budget</a:t>
            </a:r>
            <a:endParaRPr lang="en-US" sz="2000" dirty="0"/>
          </a:p>
        </p:txBody>
      </p:sp>
      <p:sp>
        <p:nvSpPr>
          <p:cNvPr id="8" name="Total Formula"/>
          <p:cNvSpPr txBox="1"/>
          <p:nvPr/>
        </p:nvSpPr>
        <p:spPr>
          <a:xfrm>
            <a:off x="82296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=SUM(B13:E13)</a:t>
            </a:r>
            <a:endParaRPr lang="en-US" sz="1600" dirty="0"/>
          </a:p>
        </p:txBody>
      </p:sp>
      <p:sp>
        <p:nvSpPr>
          <p:cNvPr id="9" name="Average Box"/>
          <p:cNvSpPr/>
          <p:nvPr/>
        </p:nvSpPr>
        <p:spPr>
          <a:xfrm>
            <a:off x="822960" y="4160520"/>
            <a:ext cx="3931920" cy="196596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0" name="Average Value"/>
          <p:cNvSpPr txBox="1"/>
          <p:nvPr/>
        </p:nvSpPr>
        <p:spPr>
          <a:xfrm>
            <a:off x="822960" y="43616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$222,500</a:t>
            </a:r>
            <a:endParaRPr lang="en-US" sz="4000" dirty="0"/>
          </a:p>
        </p:txBody>
      </p:sp>
      <p:sp>
        <p:nvSpPr>
          <p:cNvPr id="11" name="Average Label"/>
          <p:cNvSpPr txBox="1"/>
          <p:nvPr/>
        </p:nvSpPr>
        <p:spPr>
          <a:xfrm>
            <a:off x="822960" y="5148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budget per unit</a:t>
            </a:r>
            <a:endParaRPr lang="en-US" sz="2000" dirty="0"/>
          </a:p>
        </p:txBody>
      </p:sp>
      <p:sp>
        <p:nvSpPr>
          <p:cNvPr id="12" name="Average Formula"/>
          <p:cNvSpPr txBox="1"/>
          <p:nvPr/>
        </p:nvSpPr>
        <p:spPr>
          <a:xfrm>
            <a:off x="822960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=AVERAGE(B13:E13)</a:t>
            </a:r>
            <a:endParaRPr lang="en-US" sz="1600" dirty="0"/>
          </a:p>
        </p:txBody>
      </p:sp>
      <p:graphicFrame>
        <p:nvGraphicFramePr>
          <p:cNvPr id="13" name="Share Chart" descr=""/>
          <p:cNvGraphicFramePr/>
          <p:nvPr/>
        </p:nvGraphicFramePr>
        <p:xfrm>
          <a:off x="4892040" y="2011680"/>
          <a:ext cx="4023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Legend Key Advertising"/>
          <p:cNvSpPr/>
          <p:nvPr/>
        </p:nvSpPr>
        <p:spPr>
          <a:xfrm>
            <a:off x="9052560" y="2304288"/>
            <a:ext cx="219456" cy="219456"/>
          </a:xfrm>
          <a:prstGeom prst="rect">
            <a:avLst/>
          </a:prstGeom>
          <a:solidFill>
            <a:srgbClr val="26262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Legend Advertising"/>
          <p:cNvSpPr txBox="1"/>
          <p:nvPr/>
        </p:nvSpPr>
        <p:spPr>
          <a:xfrm>
            <a:off x="9400032" y="2240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$320,000  ·  36.0%</a:t>
            </a:r>
            <a:endParaRPr lang="en-US" sz="1700" dirty="0"/>
          </a:p>
        </p:txBody>
      </p:sp>
      <p:sp>
        <p:nvSpPr>
          <p:cNvPr id="16" name="Legend Key Marketing"/>
          <p:cNvSpPr/>
          <p:nvPr/>
        </p:nvSpPr>
        <p:spPr>
          <a:xfrm>
            <a:off x="9052560" y="3264408"/>
            <a:ext cx="219456" cy="219456"/>
          </a:xfrm>
          <a:prstGeom prst="rect">
            <a:avLst/>
          </a:prstGeom>
          <a:solidFill>
            <a:srgbClr val="A6A6A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Legend Marketing"/>
          <p:cNvSpPr txBox="1"/>
          <p:nvPr/>
        </p:nvSpPr>
        <p:spPr>
          <a:xfrm>
            <a:off x="9400032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$260,000  ·  29.2%</a:t>
            </a:r>
            <a:endParaRPr lang="en-US" sz="1700" dirty="0"/>
          </a:p>
        </p:txBody>
      </p:sp>
      <p:sp>
        <p:nvSpPr>
          <p:cNvPr id="18" name="Legend Key Public Relations"/>
          <p:cNvSpPr/>
          <p:nvPr/>
        </p:nvSpPr>
        <p:spPr>
          <a:xfrm>
            <a:off x="9052560" y="4224528"/>
            <a:ext cx="219456" cy="219456"/>
          </a:xfrm>
          <a:prstGeom prst="rect">
            <a:avLst/>
          </a:prstGeom>
          <a:solidFill>
            <a:srgbClr val="595959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9" name="Legend Public Relations"/>
          <p:cNvSpPr txBox="1"/>
          <p:nvPr/>
        </p:nvSpPr>
        <p:spPr>
          <a:xfrm>
            <a:off x="9400032" y="4160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Relations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$130,000  ·  14.6%</a:t>
            </a:r>
            <a:endParaRPr lang="en-US" sz="1700" dirty="0"/>
          </a:p>
        </p:txBody>
      </p:sp>
      <p:sp>
        <p:nvSpPr>
          <p:cNvPr id="20" name="Legend Key e-Business"/>
          <p:cNvSpPr/>
          <p:nvPr/>
        </p:nvSpPr>
        <p:spPr>
          <a:xfrm>
            <a:off x="9052560" y="5184648"/>
            <a:ext cx="219456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Legend e-Business"/>
          <p:cNvSpPr txBox="1"/>
          <p:nvPr/>
        </p:nvSpPr>
        <p:spPr>
          <a:xfrm>
            <a:off x="9400032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e-Business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$180,000  ·  20.2%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Graphic spid="13" grpId="0">
        <p:bldAsOne/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(Ads)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media campaigns on TV, radio, print, outdoor and online channels</a:t>
            </a:r>
            <a:endParaRPr lang="en-US" sz="1800" dirty="0"/>
          </a:p>
        </p:txBody>
      </p:sp>
      <p:sp>
        <p:nvSpPr>
          <p:cNvPr id="5" name="Key Figures Box"/>
          <p:cNvSpPr/>
          <p:nvPr/>
        </p:nvSpPr>
        <p:spPr>
          <a:xfrm>
            <a:off x="822960" y="2011680"/>
            <a:ext cx="4023360" cy="41605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Key Figures Heading"/>
          <p:cNvSpPr txBox="1"/>
          <p:nvPr/>
        </p:nvSpPr>
        <p:spPr>
          <a:xfrm>
            <a:off x="10515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Figures</a:t>
            </a:r>
            <a:endParaRPr lang="en-US" sz="2200" dirty="0"/>
          </a:p>
        </p:txBody>
      </p:sp>
      <p:sp>
        <p:nvSpPr>
          <p:cNvPr id="7" name="Key Figures"/>
          <p:cNvSpPr txBox="1"/>
          <p:nvPr/>
        </p:nvSpPr>
        <p:spPr>
          <a:xfrm>
            <a:off x="1051560" y="269748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$320,000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formula: =SUM(B5:B12)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department: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36.0%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(rank 1 of 4)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budget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&amp; Advertising Space, $150,000</a:t>
            </a:r>
            <a:endParaRPr lang="en-US" sz="1700" dirty="0"/>
          </a:p>
        </p:txBody>
      </p:sp>
      <p:sp>
        <p:nvSpPr>
          <p:cNvPr id="8" name="Chart Heading"/>
          <p:cNvSpPr txBox="1"/>
          <p:nvPr/>
        </p:nvSpPr>
        <p:spPr>
          <a:xfrm>
            <a:off x="5212080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 (US$)</a:t>
            </a:r>
            <a:endParaRPr lang="en-US" sz="2200" dirty="0"/>
          </a:p>
        </p:txBody>
      </p:sp>
      <p:graphicFrame>
        <p:nvGraphicFramePr>
          <p:cNvPr id="9" name="Budget Chart" descr=""/>
          <p:cNvGraphicFramePr/>
          <p:nvPr/>
        </p:nvGraphicFramePr>
        <p:xfrm>
          <a:off x="5074920" y="2514600"/>
          <a:ext cx="6446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Graphic spid="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research, sales promotions, product launches and trade shows</a:t>
            </a:r>
            <a:endParaRPr lang="en-US" sz="1800" dirty="0"/>
          </a:p>
        </p:txBody>
      </p:sp>
      <p:sp>
        <p:nvSpPr>
          <p:cNvPr id="5" name="Key Figures Box"/>
          <p:cNvSpPr/>
          <p:nvPr/>
        </p:nvSpPr>
        <p:spPr>
          <a:xfrm>
            <a:off x="822960" y="2011680"/>
            <a:ext cx="4023360" cy="41605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Key Figures Heading"/>
          <p:cNvSpPr txBox="1"/>
          <p:nvPr/>
        </p:nvSpPr>
        <p:spPr>
          <a:xfrm>
            <a:off x="10515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Figures</a:t>
            </a:r>
            <a:endParaRPr lang="en-US" sz="2200" dirty="0"/>
          </a:p>
        </p:txBody>
      </p:sp>
      <p:sp>
        <p:nvSpPr>
          <p:cNvPr id="7" name="Key Figures"/>
          <p:cNvSpPr txBox="1"/>
          <p:nvPr/>
        </p:nvSpPr>
        <p:spPr>
          <a:xfrm>
            <a:off x="1051560" y="269748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$260,000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formula: =SUM(C5:C12)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department: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29.2%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(rank 2 of 4)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budget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Sponsorships &amp; Promotions, $70,000</a:t>
            </a:r>
            <a:endParaRPr lang="en-US" sz="1700" dirty="0"/>
          </a:p>
        </p:txBody>
      </p:sp>
      <p:sp>
        <p:nvSpPr>
          <p:cNvPr id="8" name="Chart Heading"/>
          <p:cNvSpPr txBox="1"/>
          <p:nvPr/>
        </p:nvSpPr>
        <p:spPr>
          <a:xfrm>
            <a:off x="5212080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 (US$)</a:t>
            </a:r>
            <a:endParaRPr lang="en-US" sz="2200" dirty="0"/>
          </a:p>
        </p:txBody>
      </p:sp>
      <p:graphicFrame>
        <p:nvGraphicFramePr>
          <p:cNvPr id="9" name="Budget Chart" descr=""/>
          <p:cNvGraphicFramePr/>
          <p:nvPr/>
        </p:nvGraphicFramePr>
        <p:xfrm>
          <a:off x="5074920" y="2514600"/>
          <a:ext cx="6446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Relations (PR)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relations, corporate events, sponsorships and community relations</a:t>
            </a:r>
            <a:endParaRPr lang="en-US" sz="1800" dirty="0"/>
          </a:p>
        </p:txBody>
      </p:sp>
      <p:sp>
        <p:nvSpPr>
          <p:cNvPr id="5" name="Key Figures Box"/>
          <p:cNvSpPr/>
          <p:nvPr/>
        </p:nvSpPr>
        <p:spPr>
          <a:xfrm>
            <a:off x="822960" y="2011680"/>
            <a:ext cx="4023360" cy="41605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Key Figures Heading"/>
          <p:cNvSpPr txBox="1"/>
          <p:nvPr/>
        </p:nvSpPr>
        <p:spPr>
          <a:xfrm>
            <a:off x="10515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Figures</a:t>
            </a:r>
            <a:endParaRPr lang="en-US" sz="2200" dirty="0"/>
          </a:p>
        </p:txBody>
      </p:sp>
      <p:sp>
        <p:nvSpPr>
          <p:cNvPr id="7" name="Key Figures"/>
          <p:cNvSpPr txBox="1"/>
          <p:nvPr/>
        </p:nvSpPr>
        <p:spPr>
          <a:xfrm>
            <a:off x="1051560" y="269748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$130,000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formula: =SUM(D5:D12)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department: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(rank 4 of 4)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budget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$16,250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Salaries &amp; Benefits, $44,000</a:t>
            </a:r>
            <a:endParaRPr lang="en-US" sz="1700" dirty="0"/>
          </a:p>
        </p:txBody>
      </p:sp>
      <p:sp>
        <p:nvSpPr>
          <p:cNvPr id="8" name="Chart Heading"/>
          <p:cNvSpPr txBox="1"/>
          <p:nvPr/>
        </p:nvSpPr>
        <p:spPr>
          <a:xfrm>
            <a:off x="5212080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 (US$)</a:t>
            </a:r>
            <a:endParaRPr lang="en-US" sz="2200" dirty="0"/>
          </a:p>
        </p:txBody>
      </p:sp>
      <p:graphicFrame>
        <p:nvGraphicFramePr>
          <p:cNvPr id="9" name="Budget Chart" descr=""/>
          <p:cNvGraphicFramePr/>
          <p:nvPr/>
        </p:nvGraphicFramePr>
        <p:xfrm>
          <a:off x="5074920" y="2514600"/>
          <a:ext cx="6446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Graphic spid="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e-Business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website, e-commerce platform, search and social media marketing</a:t>
            </a:r>
            <a:endParaRPr lang="en-US" sz="1800" dirty="0"/>
          </a:p>
        </p:txBody>
      </p:sp>
      <p:sp>
        <p:nvSpPr>
          <p:cNvPr id="5" name="Key Figures Box"/>
          <p:cNvSpPr/>
          <p:nvPr/>
        </p:nvSpPr>
        <p:spPr>
          <a:xfrm>
            <a:off x="822960" y="2011680"/>
            <a:ext cx="4023360" cy="41605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6" name="Key Figures Heading"/>
          <p:cNvSpPr txBox="1"/>
          <p:nvPr/>
        </p:nvSpPr>
        <p:spPr>
          <a:xfrm>
            <a:off x="105156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Figures</a:t>
            </a:r>
            <a:endParaRPr lang="en-US" sz="2200" dirty="0"/>
          </a:p>
        </p:txBody>
      </p:sp>
      <p:sp>
        <p:nvSpPr>
          <p:cNvPr id="7" name="Key Figures"/>
          <p:cNvSpPr txBox="1"/>
          <p:nvPr/>
        </p:nvSpPr>
        <p:spPr>
          <a:xfrm>
            <a:off x="1051560" y="2697480"/>
            <a:ext cx="3611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$180,000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formula: =SUM(E5:E12)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department: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(rank 3 of 4)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budget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item: </a:t>
            </a: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Platforms &amp; Technology, $60,000</a:t>
            </a:r>
            <a:endParaRPr lang="en-US" sz="1700" dirty="0"/>
          </a:p>
        </p:txBody>
      </p:sp>
      <p:sp>
        <p:nvSpPr>
          <p:cNvPr id="8" name="Chart Heading"/>
          <p:cNvSpPr txBox="1"/>
          <p:nvPr/>
        </p:nvSpPr>
        <p:spPr>
          <a:xfrm>
            <a:off x="5212080" y="2011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 (US$)</a:t>
            </a:r>
            <a:endParaRPr lang="en-US" sz="2200" dirty="0"/>
          </a:p>
        </p:txBody>
      </p:sp>
      <p:graphicFrame>
        <p:nvGraphicFramePr>
          <p:cNvPr id="9" name="Budget Chart" descr=""/>
          <p:cNvGraphicFramePr/>
          <p:nvPr/>
        </p:nvGraphicFramePr>
        <p:xfrm>
          <a:off x="5074920" y="2514600"/>
          <a:ext cx="6446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Graphic spid="9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Table from Excel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from Marketing_Department_Budget.xlsx, sheet “Marketing Budget”, cells A4:G15</a:t>
            </a:r>
            <a:endParaRPr lang="en-US" sz="1800" dirty="0"/>
          </a:p>
        </p:txBody>
      </p:sp>
      <p:graphicFrame>
        <p:nvGraphicFramePr>
          <p:cNvPr id="7" name="Excel Budget Table" descr="Budget table from Excel: budget items by unit with SUM totals, AVERAGE rows and each unit's share of the total budget"/>
          <p:cNvGraphicFramePr>
            <a:graphicFrameLocks noGrp="1" noChangeAspect="1"/>
          </p:cNvGraphicFramePr>
          <p:nvPr/>
        </p:nvGraphicFramePr>
        <p:xfrm>
          <a:off x="792328" y="2011680"/>
          <a:ext cx="10607040" cy="3681618"/>
        </p:xfrm>
        <a:graphic>
          <a:graphicData uri="http://schemas.openxmlformats.org/presentationml/2006/ole">
            <p:oleObj r:id="rId4" imgW="9747504" imgH="3383280" progId="Excel.Sheet.12" name="Worksheet">
              <p:embed/>
              <p:pic>
                <p:nvPicPr>
                  <p:cNvPr id="8" name="Excel Budget Table picture"/>
                  <p:cNvPicPr/>
                  <p:nvPr/>
                </p:nvPicPr>
                <p:blipFill>
                  <a:blip r:embed="rId1"/>
                  <a:stretch>
                    <a:fillRect/>
                  </a:stretch>
                </p:blipFill>
                <p:spPr>
                  <a:xfrm>
                    <a:off x="792328" y="2011680"/>
                    <a:ext cx="10607040" cy="368161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731520" y="583045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Double-click the table to open it in Excel. </a:t>
            </a: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figures are the budget inputs; black figures are SUM and AVERAGE formulas.</a:t>
            </a:r>
            <a:endParaRPr lang="en-US" sz="15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Budgets vs. the Average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Subtitle"/>
          <p:cNvSpPr txBox="1"/>
          <p:nvPr/>
        </p:nvSpPr>
        <p:spPr>
          <a:xfrm>
            <a:off x="731520" y="141732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unit's total (SUM) compared with the average of $222,500 per unit (AVERAGE)</a:t>
            </a:r>
            <a:endParaRPr lang="en-US" sz="1800" dirty="0"/>
          </a:p>
        </p:txBody>
      </p:sp>
      <p:graphicFrame>
        <p:nvGraphicFramePr>
          <p:cNvPr id="5" name="Comparison Chart" descr=""/>
          <p:cNvGraphicFramePr/>
          <p:nvPr/>
        </p:nvGraphicFramePr>
        <p:xfrm>
          <a:off x="731520" y="196596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Average Box"/>
          <p:cNvSpPr/>
          <p:nvPr/>
        </p:nvSpPr>
        <p:spPr>
          <a:xfrm>
            <a:off x="7726680" y="2057400"/>
            <a:ext cx="3703320" cy="411480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7" name="Average Key"/>
          <p:cNvSpPr/>
          <p:nvPr/>
        </p:nvSpPr>
        <p:spPr>
          <a:xfrm>
            <a:off x="8001000" y="2487168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</a:ln>
        </p:spPr>
      </p:sp>
      <p:sp>
        <p:nvSpPr>
          <p:cNvPr id="8" name="Average Label"/>
          <p:cNvSpPr txBox="1"/>
          <p:nvPr/>
        </p:nvSpPr>
        <p:spPr>
          <a:xfrm>
            <a:off x="8549640" y="2240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unit: $222,500</a:t>
            </a:r>
            <a:endParaRPr lang="en-US" sz="1600" dirty="0"/>
          </a:p>
        </p:txBody>
      </p:sp>
      <p:sp>
        <p:nvSpPr>
          <p:cNvPr id="9" name="Above and Below"/>
          <p:cNvSpPr txBox="1"/>
          <p:nvPr/>
        </p:nvSpPr>
        <p:spPr>
          <a:xfrm>
            <a:off x="8001000" y="29260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$97,500 above the average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$37,500 above the average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Relations: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$92,500 below the average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e-Business: </a:t>
            </a: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$42,500 below the average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itle Rule"/>
          <p:cNvSpPr/>
          <p:nvPr/>
        </p:nvSpPr>
        <p:spPr>
          <a:xfrm>
            <a:off x="914400" y="1298448"/>
            <a:ext cx="1036289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akeaway 1 Box"/>
          <p:cNvSpPr/>
          <p:nvPr/>
        </p:nvSpPr>
        <p:spPr>
          <a:xfrm>
            <a:off x="822960" y="1691640"/>
            <a:ext cx="2464994" cy="27889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5" name="Takeaway 1 Headline"/>
          <p:cNvSpPr txBox="1"/>
          <p:nvPr/>
        </p:nvSpPr>
        <p:spPr>
          <a:xfrm>
            <a:off x="960120" y="182880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$890,000 in Total</a:t>
            </a:r>
            <a:endParaRPr lang="en-US" sz="1800" dirty="0"/>
          </a:p>
        </p:txBody>
      </p:sp>
      <p:sp>
        <p:nvSpPr>
          <p:cNvPr id="6" name="Takeaway 1 Rule"/>
          <p:cNvSpPr/>
          <p:nvPr/>
        </p:nvSpPr>
        <p:spPr>
          <a:xfrm>
            <a:off x="1188720" y="2606040"/>
            <a:ext cx="173347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Takeaway 1 Text"/>
          <p:cNvSpPr txBox="1"/>
          <p:nvPr/>
        </p:nvSpPr>
        <p:spPr>
          <a:xfrm>
            <a:off x="1005840" y="2743200"/>
            <a:ext cx="2099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 of the four unit budgets. The AVERAGE budget per unit is $222,500.</a:t>
            </a:r>
            <a:endParaRPr lang="en-US" sz="1700" dirty="0"/>
          </a:p>
        </p:txBody>
      </p:sp>
      <p:sp>
        <p:nvSpPr>
          <p:cNvPr id="8" name="Takeaway 2 Box"/>
          <p:cNvSpPr/>
          <p:nvPr/>
        </p:nvSpPr>
        <p:spPr>
          <a:xfrm>
            <a:off x="3516554" y="1691640"/>
            <a:ext cx="2464994" cy="27889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9" name="Takeaway 2 Headline"/>
          <p:cNvSpPr txBox="1"/>
          <p:nvPr/>
        </p:nvSpPr>
        <p:spPr>
          <a:xfrm>
            <a:off x="3653714" y="182880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Is the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Unit</a:t>
            </a:r>
            <a:endParaRPr lang="en-US" sz="1800" dirty="0"/>
          </a:p>
        </p:txBody>
      </p:sp>
      <p:sp>
        <p:nvSpPr>
          <p:cNvPr id="10" name="Takeaway 2 Rule"/>
          <p:cNvSpPr/>
          <p:nvPr/>
        </p:nvSpPr>
        <p:spPr>
          <a:xfrm>
            <a:off x="3882314" y="2606040"/>
            <a:ext cx="173347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Takeaway 2 Text"/>
          <p:cNvSpPr txBox="1"/>
          <p:nvPr/>
        </p:nvSpPr>
        <p:spPr>
          <a:xfrm>
            <a:off x="3699434" y="2743200"/>
            <a:ext cx="2099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$320,000 (36.0% of the total). Media space alone costs $150,000.</a:t>
            </a:r>
            <a:endParaRPr lang="en-US" sz="1700" dirty="0"/>
          </a:p>
        </p:txBody>
      </p:sp>
      <p:sp>
        <p:nvSpPr>
          <p:cNvPr id="12" name="Takeaway 3 Box"/>
          <p:cNvSpPr/>
          <p:nvPr/>
        </p:nvSpPr>
        <p:spPr>
          <a:xfrm>
            <a:off x="6210148" y="1691640"/>
            <a:ext cx="2464994" cy="27889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3" name="Takeaway 3 Headline"/>
          <p:cNvSpPr txBox="1"/>
          <p:nvPr/>
        </p:nvSpPr>
        <p:spPr>
          <a:xfrm>
            <a:off x="6347308" y="182880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Costs Are the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Item</a:t>
            </a:r>
            <a:endParaRPr lang="en-US" sz="1800" dirty="0"/>
          </a:p>
        </p:txBody>
      </p:sp>
      <p:sp>
        <p:nvSpPr>
          <p:cNvPr id="14" name="Takeaway 3 Rule"/>
          <p:cNvSpPr/>
          <p:nvPr/>
        </p:nvSpPr>
        <p:spPr>
          <a:xfrm>
            <a:off x="6575908" y="2606040"/>
            <a:ext cx="173347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Takeaway 3 Text"/>
          <p:cNvSpPr txBox="1"/>
          <p:nvPr/>
        </p:nvSpPr>
        <p:spPr>
          <a:xfrm>
            <a:off x="6393028" y="2743200"/>
            <a:ext cx="2099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Salaries &amp; Benefits come to $234,000 across all units, 26.3% of the budget.</a:t>
            </a:r>
            <a:endParaRPr lang="en-US" sz="1700" dirty="0"/>
          </a:p>
        </p:txBody>
      </p:sp>
      <p:sp>
        <p:nvSpPr>
          <p:cNvPr id="16" name="Takeaway 4 Box"/>
          <p:cNvSpPr/>
          <p:nvPr/>
        </p:nvSpPr>
        <p:spPr>
          <a:xfrm>
            <a:off x="8903741" y="1691640"/>
            <a:ext cx="2464994" cy="2788920"/>
          </a:xfrm>
          <a:prstGeom prst="rect">
            <a:avLst/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</p:sp>
      <p:sp>
        <p:nvSpPr>
          <p:cNvPr id="17" name="Takeaway 4 Headline"/>
          <p:cNvSpPr txBox="1"/>
          <p:nvPr/>
        </p:nvSpPr>
        <p:spPr>
          <a:xfrm>
            <a:off x="9040901" y="182880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e-Business</a:t>
            </a:r>
            <a:endParaRPr lang="en-US" sz="1800" dirty="0"/>
          </a:p>
        </p:txBody>
      </p:sp>
      <p:sp>
        <p:nvSpPr>
          <p:cNvPr id="18" name="Takeaway 4 Rule"/>
          <p:cNvSpPr/>
          <p:nvPr/>
        </p:nvSpPr>
        <p:spPr>
          <a:xfrm>
            <a:off x="9269501" y="2606040"/>
            <a:ext cx="173347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Takeaway 4 Text"/>
          <p:cNvSpPr txBox="1"/>
          <p:nvPr/>
        </p:nvSpPr>
        <p:spPr>
          <a:xfrm>
            <a:off x="9086621" y="2743200"/>
            <a:ext cx="209923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$60,000 of its $180,000 (33.3%) goes to digital platforms and technology.</a:t>
            </a:r>
            <a:endParaRPr lang="en-US" sz="1700" dirty="0"/>
          </a:p>
        </p:txBody>
      </p:sp>
      <p:sp>
        <p:nvSpPr>
          <p:cNvPr id="20" name="Closing Rule"/>
          <p:cNvSpPr/>
          <p:nvPr/>
        </p:nvSpPr>
        <p:spPr>
          <a:xfrm>
            <a:off x="2926080" y="4937760"/>
            <a:ext cx="6339535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1" name="Thank You"/>
          <p:cNvSpPr txBox="1"/>
          <p:nvPr/>
        </p:nvSpPr>
        <p:spPr>
          <a:xfrm>
            <a:off x="731520" y="51206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Questions?</a:t>
            </a:r>
            <a:endParaRPr lang="en-US" sz="3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Department Budget 2026</dc:title>
  <dc:subject>Budget for the Advertising, Marketing, Public Relations and e-Business units</dc:subject>
  <dc:creator>PptxGenJS</dc:creator>
  <cp:lastModifiedBy>PptxGenJS</cp:lastModifiedBy>
  <cp:revision>1</cp:revision>
  <dcterms:created xsi:type="dcterms:W3CDTF">2026-09-27T11:06:54Z</dcterms:created>
  <dcterms:modified xsi:type="dcterms:W3CDTF">2026-09-27T11:06:54Z</dcterms:modified>
</cp:coreProperties>
</file>