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total 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78D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B683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BAF7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DA10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.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B2436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Advertising</c:v>
                </c:pt>
                <c:pt idx="1">
                  <c:v>Marketing</c:v>
                </c:pt>
                <c:pt idx="2">
                  <c:v>Public Relations</c:v>
                </c:pt>
                <c:pt idx="3">
                  <c:v>e-Business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Advertising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Media &amp; Advertising Space</c:v>
                  </c:pt>
                  <c:pt idx="1">
                    <c:v>Staff Salaries &amp; Benefits</c:v>
                  </c:pt>
                  <c:pt idx="2">
                    <c:v>Agency &amp; Consultancy Fees</c:v>
                  </c:pt>
                  <c:pt idx="3">
                    <c:v>Printing &amp; Promotional Materials</c:v>
                  </c:pt>
                  <c:pt idx="4">
                    <c:v>Events, Sponsorships &amp; Promotions</c:v>
                  </c:pt>
                  <c:pt idx="5">
                    <c:v>Digital Platforms &amp; Technology</c:v>
                  </c:pt>
                  <c:pt idx="6">
                    <c:v>Market Research &amp; Analytics</c:v>
                  </c:pt>
                  <c:pt idx="7">
                    <c:v>Training &amp; Travel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150000</c:v>
                </c:pt>
                <c:pt idx="1">
                  <c:v>66000</c:v>
                </c:pt>
                <c:pt idx="2">
                  <c:v>40000</c:v>
                </c:pt>
                <c:pt idx="3">
                  <c:v>28000</c:v>
                </c:pt>
                <c:pt idx="4">
                  <c:v>12000</c:v>
                </c:pt>
                <c:pt idx="5">
                  <c:v>10000</c:v>
                </c:pt>
                <c:pt idx="6">
                  <c:v>8000</c:v>
                </c:pt>
                <c:pt idx="7">
                  <c:v>6000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Events, Sponsorships &amp; Promotions</c:v>
                  </c:pt>
                  <c:pt idx="1">
                    <c:v>Staff Salaries &amp; Benefits</c:v>
                  </c:pt>
                  <c:pt idx="2">
                    <c:v>Market Research &amp; Analytics</c:v>
                  </c:pt>
                  <c:pt idx="3">
                    <c:v>Printing &amp; Promotional Materials</c:v>
                  </c:pt>
                  <c:pt idx="4">
                    <c:v>Media &amp; Advertising Space</c:v>
                  </c:pt>
                  <c:pt idx="5">
                    <c:v>Training &amp; Travel</c:v>
                  </c:pt>
                  <c:pt idx="6">
                    <c:v>Digital Platforms &amp; Technology</c:v>
                  </c:pt>
                  <c:pt idx="7">
                    <c:v>Agency &amp; Consultancy Fees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70000</c:v>
                </c:pt>
                <c:pt idx="1">
                  <c:v>68000</c:v>
                </c:pt>
                <c:pt idx="2">
                  <c:v>35000</c:v>
                </c:pt>
                <c:pt idx="3">
                  <c:v>25000</c:v>
                </c:pt>
                <c:pt idx="4">
                  <c:v>20000</c:v>
                </c:pt>
                <c:pt idx="5">
                  <c:v>18000</c:v>
                </c:pt>
                <c:pt idx="6">
                  <c:v>12000</c:v>
                </c:pt>
                <c:pt idx="7">
                  <c:v>12000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Relations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Staff Salaries &amp; Benefits</c:v>
                  </c:pt>
                  <c:pt idx="1">
                    <c:v>Events, Sponsorships &amp; Promotions</c:v>
                  </c:pt>
                  <c:pt idx="2">
                    <c:v>Printing &amp; Promotional Materials</c:v>
                  </c:pt>
                  <c:pt idx="3">
                    <c:v>Training &amp; Travel</c:v>
                  </c:pt>
                  <c:pt idx="4">
                    <c:v>Media &amp; Advertising Space</c:v>
                  </c:pt>
                  <c:pt idx="5">
                    <c:v>Agency &amp; Consultancy Fees</c:v>
                  </c:pt>
                  <c:pt idx="6">
                    <c:v>Digital Platforms &amp; Technology</c:v>
                  </c:pt>
                  <c:pt idx="7">
                    <c:v>Market Research &amp; Analytics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44000</c:v>
                </c:pt>
                <c:pt idx="1">
                  <c:v>38000</c:v>
                </c:pt>
                <c:pt idx="2">
                  <c:v>12000</c:v>
                </c:pt>
                <c:pt idx="3">
                  <c:v>9000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e-Business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Digital Platforms &amp; Technology</c:v>
                  </c:pt>
                  <c:pt idx="1">
                    <c:v>Staff Salaries &amp; Benefits</c:v>
                  </c:pt>
                  <c:pt idx="2">
                    <c:v>Media &amp; Advertising Space</c:v>
                  </c:pt>
                  <c:pt idx="3">
                    <c:v>Market Research &amp; Analytics</c:v>
                  </c:pt>
                  <c:pt idx="4">
                    <c:v>Events, Sponsorships &amp; Promotions</c:v>
                  </c:pt>
                  <c:pt idx="5">
                    <c:v>Agency &amp; Consultancy Fees</c:v>
                  </c:pt>
                  <c:pt idx="6">
                    <c:v>Training &amp; Travel</c:v>
                  </c:pt>
                  <c:pt idx="7">
                    <c:v>Printing &amp; Promotional Materials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60000</c:v>
                </c:pt>
                <c:pt idx="1">
                  <c:v>56000</c:v>
                </c:pt>
                <c:pt idx="2">
                  <c:v>28000</c:v>
                </c:pt>
                <c:pt idx="3">
                  <c:v>12000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budget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Average per unit</c:v>
                </c:pt>
              </c:strCache>
            </c:strRef>
          </c:tx>
          <c:spPr>
            <a:solidFill>
              <a:srgbClr val="1B2436"/>
            </a:solidFill>
            <a:ln w="25400" cap="flat">
              <a:solidFill>
                <a:srgbClr val="1B2436"/>
              </a:solidFill>
              <a:prstDash val="dash"/>
              <a:round/>
            </a:ln>
            <a:effectLst/>
          </c:spPr>
          <c:marker>
            <c:symbol val="none"/>
            <c:size val="6"/>
            <c:spPr>
              <a:solidFill>
                <a:srgbClr val="1B2436"/>
              </a:solidFill>
              <a:ln w="9525" cap="flat">
                <a:solidFill>
                  <a:srgbClr val="1B2436"/>
                </a:solidFill>
                <a:prstDash val="solid"/>
                <a:round/>
              </a:ln>
              <a:effectLst/>
            </c:spPr>
          </c:marker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222500</c:v>
                </c:pt>
                <c:pt idx="1">
                  <c:v>222500</c:v>
                </c:pt>
                <c:pt idx="2">
                  <c:v>222500</c:v>
                </c:pt>
                <c:pt idx="3">
                  <c:v>222500</c:v>
                </c:pt>
              </c:numCache>
            </c:numRef>
          </c:val>
          <c:smooth val="0"/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8D2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l"/>
        <c:majorGridlines>
          <c:spPr>
            <a:ln w="9525" cap="flat">
              <a:solidFill>
                <a:srgbClr val="E1E4EA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3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day. This presentation covers the 2026 budget of the Marketing Department. The department has four units: Advertising (Ads), Marketing, Public Relations (PR) and e-Business. The figures were prepared in Microsoft Excel, where SUM and AVERAGE formulas calculate the totals and averages.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total the department plans to spend $890,000. In Excel this is the SUM of the four unit budgets. The average budget per unit is $222,500, calculated with the AVERAGE formula. Advertising takes the largest share (36.0%), followed by Marketing (29.2%), e-Business (20.2%) and Public Relations (14.6%).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Advertising (Ads): this unit covers paid media campaigns on TV, radio, print, outdoor and online channels. Its total budget is $320,000, the SUM of its 8 budget items. That is 36.0% of the department budget, making it the largest of the 4 units. The largest item is Media &amp; Advertising Space at $150,000 (46.9% of the unit's budget), followed by Staff Salaries &amp; Benefits at $66,000. On average the unit spends $40,000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Marketing: this unit covers market research, sales promotions, product launches and trade shows. Its total budget is $260,000, the SUM of its 8 budget items. That is 29.2% of the department budget, making it the second largest of the 4 units. The largest item is Events, Sponsorships &amp; Promotions at $70,000 (26.9% of the unit's budget), followed by Staff Salaries &amp; Benefits at $68,000. On average the unit spends $32,500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Relations (PR): this unit covers media relations, corporate events, sponsorships and community relations. Its total budget is $130,000, the SUM of its 8 budget items. That is 14.6% of the department budget, making it the smallest of the 4 units. The largest item is Staff Salaries &amp; Benefits at $44,000 (33.8% of the unit's budget), followed by Events, Sponsorships &amp; Promotions at $38,000. On average the unit spends $16,250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e-Business: this unit covers company website, e-commerce platform, search and social media marketing. Its total budget is $180,000, the SUM of its 8 budget items. That is 20.2% of the department budget, making it the third largest of the 4 units. The largest item is Digital Platforms &amp; Technology at $60,000 (33.3% of the unit's budget), followed by Staff Salaries &amp; Benefits at $56,000. On average the unit spends $22,500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budget table imported directly from the Excel workbook as an embedded Excel worksheet object, so double-clicking it opens the live spreadsheet. Each row is a budget item and each column is a unit. The Total column and the Total Budget row use SUM; the Average per Unit column and the Average per Budget Item row use AVERAGE. The department total is $890,000 and the average per unit is $222,500.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dashed line marks the average budget per unit, $222,500. Advertising and Marketing are above the average; Public Relations and e-Business are below it. Advertising is $97,500 above the average, while Public Relations is $92,500 below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summarise: the department budget is $890,000 with an average of $222,500 per unit. Advertising is the largest unit at $320,000, staff salaries and benefits are the biggest single item at $234,000, and e-Business puts 33.3% of its budget into digital platforms. Thank you;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chart" Target="..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5" Type="http://schemas.openxmlformats.org/officeDocument/2006/relationships/package" Target="../embeddings/Microsoft_Excel_Sheet1.xlsx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Budget 2026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department's budget is planned and shared across its four units.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893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in US$  ·  Source: Marketing_Department_Budget.xlsx</a:t>
            </a:r>
            <a:endParaRPr lang="en-US" sz="1200" dirty="0"/>
          </a:p>
        </p:txBody>
      </p:sp>
      <p:sp>
        <p:nvSpPr>
          <p:cNvPr id="6" name="Advertising circle"/>
          <p:cNvSpPr/>
          <p:nvPr/>
        </p:nvSpPr>
        <p:spPr>
          <a:xfrm>
            <a:off x="7018020" y="1325880"/>
            <a:ext cx="1234440" cy="1234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Adverti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630" y="1634490"/>
            <a:ext cx="617220" cy="6172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</a:t>
            </a:r>
            <a:endParaRPr lang="en-US" sz="1200" dirty="0"/>
          </a:p>
        </p:txBody>
      </p:sp>
      <p:sp>
        <p:nvSpPr>
          <p:cNvPr id="10" name="Marketing circle"/>
          <p:cNvSpPr/>
          <p:nvPr/>
        </p:nvSpPr>
        <p:spPr>
          <a:xfrm>
            <a:off x="9304020" y="1325880"/>
            <a:ext cx="1234440" cy="12344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Marke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630" y="1634490"/>
            <a:ext cx="617220" cy="6172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</a:t>
            </a:r>
            <a:endParaRPr lang="en-US" sz="1200" dirty="0"/>
          </a:p>
        </p:txBody>
      </p:sp>
      <p:sp>
        <p:nvSpPr>
          <p:cNvPr id="14" name="Public Relations circle"/>
          <p:cNvSpPr/>
          <p:nvPr/>
        </p:nvSpPr>
        <p:spPr>
          <a:xfrm>
            <a:off x="7018020" y="3657600"/>
            <a:ext cx="1234440" cy="12344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5" name="Image 2" descr="Public Rel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630" y="3966210"/>
            <a:ext cx="617220" cy="6172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37960" y="5029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537960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</a:t>
            </a:r>
            <a:endParaRPr lang="en-US" sz="1200" dirty="0"/>
          </a:p>
        </p:txBody>
      </p:sp>
      <p:sp>
        <p:nvSpPr>
          <p:cNvPr id="18" name="e-Business circle"/>
          <p:cNvSpPr/>
          <p:nvPr/>
        </p:nvSpPr>
        <p:spPr>
          <a:xfrm>
            <a:off x="9304020" y="3657600"/>
            <a:ext cx="1234440" cy="12344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9" name="Image 3" descr="e-Busine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2630" y="3966210"/>
            <a:ext cx="617220" cy="6172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823960" y="5029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8823960" y="5394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at a Glance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$890,000 department budget is shared across the four units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931920" cy="2057400"/>
          </a:xfrm>
          <a:prstGeom prst="roundRect">
            <a:avLst>
              <a:gd name="adj" fmla="val 533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1534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517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department budget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=SUM(B13:E13)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3931920" cy="2057400"/>
          </a:xfrm>
          <a:prstGeom prst="roundRect">
            <a:avLst>
              <a:gd name="adj" fmla="val 533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4343400"/>
            <a:ext cx="566928" cy="566928"/>
          </a:xfrm>
          <a:prstGeom prst="ellipse">
            <a:avLst/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44851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" y="49834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$222,500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5577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budget per unit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=AVERAGE(B13:E13)</a:t>
            </a:r>
            <a:endParaRPr lang="en-US" sz="1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846320" y="1691640"/>
          <a:ext cx="4389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035040" y="3520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9509760" y="1929384"/>
            <a:ext cx="237744" cy="23774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893808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893808" y="22402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 ·  36.0%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509760" y="2953512"/>
            <a:ext cx="237744" cy="23774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893808" y="28986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9893808" y="326440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  ·  29.2%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9509760" y="3977640"/>
            <a:ext cx="237744" cy="237744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893808" y="392277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9893808" y="428853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  ·  14.6%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9509760" y="5001768"/>
            <a:ext cx="237744" cy="237744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93808" y="49469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9893808" y="53126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  ·  20.2%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dvertising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Adverti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(Ads)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media campaigns on TV, radio, print, outdoor and online channels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=SUM(B5:B12)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1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$40,000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Media &amp; Advertising Space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keting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" name="Image 0" descr="Marke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research, sales promotions, product launches and trade shows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=SUM(C5:C12)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2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$32,500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Events, Sponsorships &amp; Promotions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ublic Relations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ublic Rel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 (PR)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relations, corporate events, sponsorships and community relations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=SUM(D5:D12)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4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$16,250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Staff Salaries &amp; Benefits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-Business circle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3" name="Image 0" descr="e-Busin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619963"/>
            <a:ext cx="451714" cy="4517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384048"/>
            <a:ext cx="9951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691640" y="1042416"/>
            <a:ext cx="9951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website, e-commerce platform, search and social media marketing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042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=SUM(E5:E12) in Excel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3410712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20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20.2%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044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department budget (rank 3 of 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" y="4306824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4165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$22,500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800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 (=AVERAGE)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68680" y="5202936"/>
            <a:ext cx="3291840" cy="0"/>
          </a:xfrm>
          <a:prstGeom prst="line">
            <a:avLst/>
          </a:prstGeom>
          <a:noFill/>
          <a:ln w="9525">
            <a:solidFill>
              <a:srgbClr val="D5DA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5312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$60,000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696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Digital Platforms &amp; Technology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7373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754880" y="210312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Table from Excel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from Marketing_Department_Budget.xlsx, sheet “Marketing Budget”, cells A4:G15</a:t>
            </a:r>
            <a:endParaRPr lang="en-US" sz="1500" dirty="0"/>
          </a:p>
        </p:txBody>
      </p:sp>
      <p:graphicFrame>
        <p:nvGraphicFramePr>
          <p:cNvPr id="9" name="Excel Budget Table" descr="Budget table from Excel: budget items by unit with SUM totals, AVERAGE rows and each unit's share of the total budget"/>
          <p:cNvGraphicFramePr>
            <a:graphicFrameLocks noGrp="1" noChangeAspect="1"/>
          </p:cNvGraphicFramePr>
          <p:nvPr/>
        </p:nvGraphicFramePr>
        <p:xfrm>
          <a:off x="548640" y="1645920"/>
          <a:ext cx="11094415" cy="3850782"/>
        </p:xfrm>
        <a:graphic>
          <a:graphicData uri="http://schemas.openxmlformats.org/presentationml/2006/ole">
            <p:oleObj r:id="rId5" imgW="9747504" imgH="3383280" progId="Excel.Sheet.12" name="Worksheet">
              <p:embed/>
              <p:pic>
                <p:nvPicPr>
                  <p:cNvPr id="10" name="Excel Budget Table picture"/>
                  <p:cNvPicPr/>
                  <p:nvPr/>
                </p:nvPicPr>
                <p:blipFill>
                  <a:blip r:embed="rId1"/>
                  <a:stretch>
                    <a:fillRect/>
                  </a:stretch>
                </p:blipFill>
                <p:spPr>
                  <a:xfrm>
                    <a:off x="548640" y="1645920"/>
                    <a:ext cx="11094415" cy="385078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5" name="Image 1" descr="Excel f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716158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32688" y="5679582"/>
            <a:ext cx="107103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Double-click the table to open it in Excel.  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figures are the budget inputs; black figures are SUM and AVERAGE formulas.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Budgets vs. the Average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unit's total (SUM) compared with the average of $222,500 per unit (AVERAGE)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55864" y="2066544"/>
            <a:ext cx="457200" cy="0"/>
          </a:xfrm>
          <a:prstGeom prst="line">
            <a:avLst/>
          </a:prstGeom>
          <a:noFill/>
          <a:ln w="25400">
            <a:solidFill>
              <a:srgbClr val="1B2436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8778240" y="17465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unit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0756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$222,500  (dashed line)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001000" y="2743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4071" y="2896271"/>
            <a:ext cx="260787" cy="260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78240" y="27066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778240" y="30358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$97,500 above the average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01000" y="36576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4071" y="3810671"/>
            <a:ext cx="260787" cy="2607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6210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778240" y="39502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$37,500 above the average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01000" y="45720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071" y="4725071"/>
            <a:ext cx="260787" cy="26078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778240" y="45354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778240" y="48646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$92,500 below the average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01000" y="5486400"/>
            <a:ext cx="566928" cy="56692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1" name="Image 3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4071" y="5639471"/>
            <a:ext cx="260787" cy="26078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778240" y="54498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778240" y="57790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$42,500 below the average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 Budget 2026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0574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64592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 in total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of the four unit budgets. The AVERAGE budget per unit is $222,500.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248095" y="14630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613855" y="2057400"/>
            <a:ext cx="731520" cy="7315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22402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73975" y="164592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is the largest unit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(36.0% of the total). Media space alone costs $150,000.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48640" y="370332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14400" y="42976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48056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74520" y="388620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costs are the biggest item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 come to $234,000 across all units, 26.3% of the budget.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48095" y="370332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613855" y="4297680"/>
            <a:ext cx="731520" cy="7315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7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735" y="448056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573975" y="3886200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leads e-Business</a:t>
            </a:r>
            <a:endParaRPr lang="en-US" sz="20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C9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$60,000 of its $180,000 (33.3%) goes to digital platforms and technology.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Questions?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Marketing Department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Department Budget 2026</dc:title>
  <dc:subject>Budget for the Advertising, Marketing, Public Relations and e-Business units</dc:subject>
  <dc:creator>Marketing Department</dc:creator>
  <cp:lastModifiedBy>Marketing Department</cp:lastModifiedBy>
  <cp:revision>1</cp:revision>
  <dcterms:created xsi:type="dcterms:W3CDTF">2026-09-24T21:56:57Z</dcterms:created>
  <dcterms:modified xsi:type="dcterms:W3CDTF">2026-09-24T21:56:57Z</dcterms:modified>
</cp:coreProperties>
</file>