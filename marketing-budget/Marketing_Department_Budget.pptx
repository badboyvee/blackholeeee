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total budget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472C4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55A11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030A0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548235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Advertising</c:v>
                </c:pt>
                <c:pt idx="1">
                  <c:v>Marketing</c:v>
                </c:pt>
                <c:pt idx="2">
                  <c:v>Public Relations</c:v>
                </c:pt>
                <c:pt idx="3">
                  <c:v>e-Business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Advertising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Media &amp; Advertising Space</c:v>
                  </c:pt>
                  <c:pt idx="1">
                    <c:v>Staff Salaries &amp; Benefits</c:v>
                  </c:pt>
                  <c:pt idx="2">
                    <c:v>Agency &amp; Consultancy Fees</c:v>
                  </c:pt>
                  <c:pt idx="3">
                    <c:v>Printing &amp; Promotional Materials</c:v>
                  </c:pt>
                  <c:pt idx="4">
                    <c:v>Events, Sponsorships &amp; Promotions</c:v>
                  </c:pt>
                  <c:pt idx="5">
                    <c:v>Digital Platforms &amp; Technology</c:v>
                  </c:pt>
                  <c:pt idx="6">
                    <c:v>Market Research &amp; Analytics</c:v>
                  </c:pt>
                  <c:pt idx="7">
                    <c:v>Training &amp; Travel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150000</c:v>
                </c:pt>
                <c:pt idx="1">
                  <c:v>66000</c:v>
                </c:pt>
                <c:pt idx="2">
                  <c:v>40000</c:v>
                </c:pt>
                <c:pt idx="3">
                  <c:v>28000</c:v>
                </c:pt>
                <c:pt idx="4">
                  <c:v>12000</c:v>
                </c:pt>
                <c:pt idx="5">
                  <c:v>10000</c:v>
                </c:pt>
                <c:pt idx="6">
                  <c:v>8000</c:v>
                </c:pt>
                <c:pt idx="7">
                  <c:v>6000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</c:v>
                </c:pt>
              </c:strCache>
            </c:strRef>
          </c:tx>
          <c:spPr>
            <a:solidFill>
              <a:srgbClr val="C55A1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Events, Sponsorships &amp; Promotions</c:v>
                  </c:pt>
                  <c:pt idx="1">
                    <c:v>Staff Salaries &amp; Benefits</c:v>
                  </c:pt>
                  <c:pt idx="2">
                    <c:v>Market Research &amp; Analytics</c:v>
                  </c:pt>
                  <c:pt idx="3">
                    <c:v>Printing &amp; Promotional Materials</c:v>
                  </c:pt>
                  <c:pt idx="4">
                    <c:v>Media &amp; Advertising Space</c:v>
                  </c:pt>
                  <c:pt idx="5">
                    <c:v>Training &amp; Travel</c:v>
                  </c:pt>
                  <c:pt idx="6">
                    <c:v>Digital Platforms &amp; Technology</c:v>
                  </c:pt>
                  <c:pt idx="7">
                    <c:v>Agency &amp; Consultancy Fees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70000</c:v>
                </c:pt>
                <c:pt idx="1">
                  <c:v>68000</c:v>
                </c:pt>
                <c:pt idx="2">
                  <c:v>35000</c:v>
                </c:pt>
                <c:pt idx="3">
                  <c:v>25000</c:v>
                </c:pt>
                <c:pt idx="4">
                  <c:v>20000</c:v>
                </c:pt>
                <c:pt idx="5">
                  <c:v>18000</c:v>
                </c:pt>
                <c:pt idx="6">
                  <c:v>12000</c:v>
                </c:pt>
                <c:pt idx="7">
                  <c:v>12000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Relations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Staff Salaries &amp; Benefits</c:v>
                  </c:pt>
                  <c:pt idx="1">
                    <c:v>Events, Sponsorships &amp; Promotions</c:v>
                  </c:pt>
                  <c:pt idx="2">
                    <c:v>Printing &amp; Promotional Materials</c:v>
                  </c:pt>
                  <c:pt idx="3">
                    <c:v>Training &amp; Travel</c:v>
                  </c:pt>
                  <c:pt idx="4">
                    <c:v>Media &amp; Advertising Space</c:v>
                  </c:pt>
                  <c:pt idx="5">
                    <c:v>Agency &amp; Consultancy Fees</c:v>
                  </c:pt>
                  <c:pt idx="6">
                    <c:v>Digital Platforms &amp; Technology</c:v>
                  </c:pt>
                  <c:pt idx="7">
                    <c:v>Market Research &amp; Analytics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44000</c:v>
                </c:pt>
                <c:pt idx="1">
                  <c:v>38000</c:v>
                </c:pt>
                <c:pt idx="2">
                  <c:v>12000</c:v>
                </c:pt>
                <c:pt idx="3">
                  <c:v>9000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5000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e-Business</c:v>
                </c:pt>
              </c:strCache>
            </c:strRef>
          </c:tx>
          <c:spPr>
            <a:solidFill>
              <a:srgbClr val="54823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Digital Platforms &amp; Technology</c:v>
                  </c:pt>
                  <c:pt idx="1">
                    <c:v>Staff Salaries &amp; Benefits</c:v>
                  </c:pt>
                  <c:pt idx="2">
                    <c:v>Media &amp; Advertising Space</c:v>
                  </c:pt>
                  <c:pt idx="3">
                    <c:v>Market Research &amp; Analytics</c:v>
                  </c:pt>
                  <c:pt idx="4">
                    <c:v>Events, Sponsorships &amp; Promotions</c:v>
                  </c:pt>
                  <c:pt idx="5">
                    <c:v>Agency &amp; Consultancy Fees</c:v>
                  </c:pt>
                  <c:pt idx="6">
                    <c:v>Training &amp; Travel</c:v>
                  </c:pt>
                  <c:pt idx="7">
                    <c:v>Printing &amp; Promotional Materials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60000</c:v>
                </c:pt>
                <c:pt idx="1">
                  <c:v>56000</c:v>
                </c:pt>
                <c:pt idx="2">
                  <c:v>28000</c:v>
                </c:pt>
                <c:pt idx="3">
                  <c:v>12000</c:v>
                </c:pt>
                <c:pt idx="4">
                  <c:v>8000</c:v>
                </c:pt>
                <c:pt idx="5">
                  <c:v>8000</c:v>
                </c:pt>
                <c:pt idx="6">
                  <c:v>6000</c:v>
                </c:pt>
                <c:pt idx="7">
                  <c:v>2000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budget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4472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5A1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030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48235"/>
              </a:solidFill>
              <a:effectLst/>
            </c:spPr>
          </c:dPt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320000</c:v>
                </c:pt>
                <c:pt idx="1">
                  <c:v>260000</c:v>
                </c:pt>
                <c:pt idx="2">
                  <c:v>130000</c:v>
                </c:pt>
                <c:pt idx="3">
                  <c:v>180000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Average per unit</c:v>
                </c:pt>
              </c:strCache>
            </c:strRef>
          </c:tx>
          <c:spPr>
            <a:solidFill>
              <a:srgbClr val="000000"/>
            </a:solidFill>
            <a:ln w="25400" cap="flat">
              <a:solidFill>
                <a:srgbClr val="000000"/>
              </a:solidFill>
              <a:prstDash val="dash"/>
              <a:round/>
            </a:ln>
            <a:effectLst/>
          </c:spPr>
          <c:marker>
            <c:symbol val="non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dLbls>
            <c:numFmt formatCode="$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Advertising</c:v>
                  </c:pt>
                  <c:pt idx="1">
                    <c:v>Marketing</c:v>
                  </c:pt>
                  <c:pt idx="2">
                    <c:v>Public Relations</c:v>
                  </c:pt>
                  <c:pt idx="3">
                    <c:v>e-Business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222500</c:v>
                </c:pt>
                <c:pt idx="1">
                  <c:v>222500</c:v>
                </c:pt>
                <c:pt idx="2">
                  <c:v>222500</c:v>
                </c:pt>
                <c:pt idx="3">
                  <c:v>222500</c:v>
                </c:pt>
              </c:numCache>
            </c:numRef>
          </c:val>
          <c:smooth val="0"/>
        </c:ser>
        <c:dLbls>
          <c:numFmt formatCode="$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day. This presentation covers the 2026 budget of the Marketing Department. The department has four units: Advertising (Ads), Marketing, Public Relations (PR) and e-Business. The figures were prepared in Microsoft Excel, where SUM and AVERAGE formulas calculate the totals and averages.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total the department plans to spend $890,000. In Excel this is the SUM of the four unit budgets. The average budget per unit is $222,500, calculated with the AVERAGE formula. Advertising takes the largest share (36.0%), followed by Marketing (29.2%), e-Business (20.2%) and Public Relations (14.6%).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Advertising (Ads): this unit covers paid media campaigns on TV, radio, print, outdoor and online channels. Its total budget is $320,000, the SUM of its 8 budget items. That is 36.0% of the department budget, making it the largest of the 4 units. The largest item is Media &amp; Advertising Space at $150,000 (46.9% of the unit's budget), followed by Staff Salaries &amp; Benefits at $66,000. On average the unit spends $40,000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Marketing: this unit covers market research, sales promotions, product launches and trade shows. Its total budget is $260,000, the SUM of its 8 budget items. That is 29.2% of the department budget, making it the second largest of the 4 units. The largest item is Events, Sponsorships &amp; Promotions at $70,000 (26.9% of the unit's budget), followed by Staff Salaries &amp; Benefits at $68,000. On average the unit spends $32,500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Relations (PR): this unit covers media relations, corporate events, sponsorships and community relations. Its total budget is $130,000, the SUM of its 8 budget items. That is 14.6% of the department budget, making it the smallest of the 4 units. The largest item is Staff Salaries &amp; Benefits at $44,000 (33.8% of the unit's budget), followed by Events, Sponsorships &amp; Promotions at $38,000. On average the unit spends $16,250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e-Business: this unit covers company website, e-commerce platform, search and social media marketing. Its total budget is $180,000, the SUM of its 8 budget items. That is 20.2% of the department budget, making it the third largest of the 4 units. The largest item is Digital Platforms &amp; Technology at $60,000 (33.3% of the unit's budget), followed by Staff Salaries &amp; Benefits at $56,000. On average the unit spends $22,500 per budget item (AVERAGE formula).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budget table imported directly from the Excel workbook as an embedded Excel worksheet object, so double-clicking it opens the live spreadsheet. Each row is a budget item and each column is a unit. The Total column and the Total Budget row use SUM; the Average per Unit column and the Average per Budget Item row use AVERAGE. The department total is $890,000 and the average per unit is $222,500.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dashed line marks the average budget per unit, $222,500. Advertising and Marketing are above the average; Public Relations and e-Business are below it. Advertising is $97,500 above the average, while Public Relations is $92,500 below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summarise: the department budget is $890,000 with an average of $222,500 per unit. Advertising is the largest unit at $320,000, staff salaries and benefits are the biggest single item at $234,000, and e-Business puts 33.3% of its budget into digital platforms. Thank you; I am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8FAADC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package" Target="../embeddings/Microsoft_Excel_Sheet1.xlsx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7286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DEPARTMENT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2286000" y="2743200"/>
            <a:ext cx="76196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8803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Budget 2026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93192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department's budget is planned and shared across its four units: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  •   Marketing   •   Public Relations   •   e-Business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Amounts in US$  ·  Source: Marketing_Department_Budget.xlsx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at a Glance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$890,000 department budget is shared across the four units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3931920" cy="196596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1284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$890,000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99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department budget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015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Excel: =SUM(B13:E13)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4160520"/>
            <a:ext cx="3931920" cy="196596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36168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$222,500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1480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budget per unit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55040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Excel: =AVERAGE(B13:E13)</a:t>
            </a:r>
            <a:endParaRPr lang="en-US" sz="16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937760" y="2103120"/>
          <a:ext cx="39319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98932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52560" y="2304288"/>
            <a:ext cx="219456" cy="219456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400032" y="22402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  ·  36.0%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9052560" y="3264408"/>
            <a:ext cx="219456" cy="21945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400032" y="32004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$260,000  ·  29.2%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9052560" y="4224528"/>
            <a:ext cx="219456" cy="219456"/>
          </a:xfrm>
          <a:prstGeom prst="rect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00032" y="41605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$130,000  ·  14.6%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052560" y="5184648"/>
            <a:ext cx="219456" cy="219456"/>
          </a:xfrm>
          <a:prstGeom prst="rect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00032" y="51206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$180,000  ·  20.2%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(Ads)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media campaigns on TV, radio, print, outdoor and online channels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=SUM(B5:B12)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36.0%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1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&amp; Advertising Space, $150,000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research, sales promotions, product launches and trade shows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=SUM(C5:C12)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29.2%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2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$32,500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Events, Sponsorships &amp; Promotions, $70,000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 (PR)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relations, corporate events, sponsorships and community relations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=SUM(D5:D12)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4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$16,250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Salaries &amp; Benefits, $44,000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website, e-commerce platform, search and social media marketing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4023360" cy="41605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148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Figures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697480"/>
            <a:ext cx="3611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budget: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$180,000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formula: =SUM(E5:E12)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the department: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20.2%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(rank 3 of 4)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budget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$22,500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item: </a:t>
            </a: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Platforms &amp; Technology, $60,000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011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 (US$)</a:t>
            </a:r>
            <a:endParaRPr lang="en-US" sz="2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74920" y="2514600"/>
          <a:ext cx="6446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Table from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from Marketing_Department_Budget.xlsx, sheet “Marketing Budget”, cells A4:G15</a:t>
            </a:r>
            <a:endParaRPr lang="en-US" sz="1800" dirty="0"/>
          </a:p>
        </p:txBody>
      </p:sp>
      <p:graphicFrame>
        <p:nvGraphicFramePr>
          <p:cNvPr id="7" name="Excel Budget Table" descr="Budget table from Excel: budget items by unit with SUM totals, AVERAGE rows and each unit's share of the total budget"/>
          <p:cNvGraphicFramePr>
            <a:graphicFrameLocks noGrp="1" noChangeAspect="1"/>
          </p:cNvGraphicFramePr>
          <p:nvPr/>
        </p:nvGraphicFramePr>
        <p:xfrm>
          <a:off x="792328" y="2011680"/>
          <a:ext cx="10607040" cy="3681618"/>
        </p:xfrm>
        <a:graphic>
          <a:graphicData uri="http://schemas.openxmlformats.org/presentationml/2006/ole">
            <p:oleObj r:id="rId4" imgW="9747504" imgH="3383280" progId="Excel.Sheet.12" name="Worksheet">
              <p:embed/>
              <p:pic>
                <p:nvPicPr>
                  <p:cNvPr id="8" name="Excel Budget Table picture"/>
                  <p:cNvPicPr/>
                  <p:nvPr/>
                </p:nvPicPr>
                <p:blipFill>
                  <a:blip r:embed="rId1"/>
                  <a:stretch>
                    <a:fillRect/>
                  </a:stretch>
                </p:blipFill>
                <p:spPr>
                  <a:xfrm>
                    <a:off x="792328" y="2011680"/>
                    <a:ext cx="10607040" cy="36816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1520" y="583045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Double-click the table to open it in Excel. 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figures are the budget inputs; black figures are SUM and AVERAGE formulas.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Budgets vs. the Average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unit's total (SUM) compared with the average of $222,500 per unit (AVERAGE)</a:t>
            </a:r>
            <a:endParaRPr lang="en-US" sz="1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965960"/>
          <a:ext cx="66751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2057400"/>
            <a:ext cx="3703320" cy="411480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01000" y="2487168"/>
            <a:ext cx="4572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8549640" y="224028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per unit: $222,500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92608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$97,500 above the average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$37,500 above the average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Relations: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$92,500 below the average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e-Business: </a:t>
            </a: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$42,500 below the average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298448"/>
            <a:ext cx="1036289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$890,000 in Total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88720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 of the four unit budgets. The AVERAGE budget per unit is $222,500.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516554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3714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Is the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Unit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882314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9434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$320,000 (36.0% of the total). Media space alone costs $150,000.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10148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47308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Costs Are the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Item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75908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3028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Salaries &amp; Benefits come to $234,000 across all units, 26.3% of the budget.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903741" y="1691640"/>
            <a:ext cx="2464994" cy="2788920"/>
          </a:xfrm>
          <a:prstGeom prst="rect">
            <a:avLst/>
          </a:prstGeom>
          <a:solidFill>
            <a:srgbClr val="DEEBF7"/>
          </a:solidFill>
          <a:ln w="12700">
            <a:solidFill>
              <a:srgbClr val="DEEB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40901" y="1828800"/>
            <a:ext cx="21906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Leads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e-Business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269501" y="2606040"/>
            <a:ext cx="1733474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86621" y="2743200"/>
            <a:ext cx="2099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$60,000 of its $180,000 (33.3%) goes to digital platforms and technology.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2926080" y="4937760"/>
            <a:ext cx="6339535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1206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Questions?</a:t>
            </a:r>
            <a:endParaRPr lang="en-US" sz="3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Department Budget 2026</dc:title>
  <dc:subject>Budget for the Advertising, Marketing, Public Relations and e-Business units</dc:subject>
  <dc:creator>PptxGenJS</dc:creator>
  <cp:lastModifiedBy>PptxGenJS</cp:lastModifiedBy>
  <cp:revision>1</cp:revision>
  <dcterms:created xsi:type="dcterms:W3CDTF">2026-09-24T23:23:57Z</dcterms:created>
  <dcterms:modified xsi:type="dcterms:W3CDTF">2026-09-24T23:23:57Z</dcterms:modified>
</cp:coreProperties>
</file>